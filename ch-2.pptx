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83" r:id="rId2"/>
    <p:sldId id="292" r:id="rId3"/>
    <p:sldId id="481" r:id="rId4"/>
    <p:sldId id="483" r:id="rId5"/>
    <p:sldId id="482" r:id="rId6"/>
    <p:sldId id="484" r:id="rId7"/>
    <p:sldId id="485" r:id="rId8"/>
    <p:sldId id="526" r:id="rId9"/>
    <p:sldId id="527" r:id="rId10"/>
    <p:sldId id="528" r:id="rId11"/>
    <p:sldId id="507" r:id="rId12"/>
    <p:sldId id="493" r:id="rId13"/>
    <p:sldId id="495" r:id="rId14"/>
    <p:sldId id="496" r:id="rId15"/>
    <p:sldId id="497" r:id="rId16"/>
    <p:sldId id="498" r:id="rId17"/>
    <p:sldId id="381" r:id="rId18"/>
    <p:sldId id="502" r:id="rId19"/>
    <p:sldId id="501" r:id="rId20"/>
    <p:sldId id="486" r:id="rId21"/>
    <p:sldId id="488" r:id="rId22"/>
    <p:sldId id="489" r:id="rId23"/>
    <p:sldId id="494" r:id="rId24"/>
    <p:sldId id="490" r:id="rId25"/>
    <p:sldId id="491" r:id="rId26"/>
    <p:sldId id="492" r:id="rId27"/>
    <p:sldId id="499" r:id="rId28"/>
    <p:sldId id="500" r:id="rId29"/>
    <p:sldId id="506" r:id="rId30"/>
    <p:sldId id="508" r:id="rId31"/>
    <p:sldId id="509" r:id="rId32"/>
    <p:sldId id="510" r:id="rId33"/>
    <p:sldId id="382" r:id="rId34"/>
    <p:sldId id="503" r:id="rId35"/>
    <p:sldId id="504" r:id="rId36"/>
    <p:sldId id="505" r:id="rId37"/>
    <p:sldId id="518" r:id="rId38"/>
    <p:sldId id="519" r:id="rId39"/>
    <p:sldId id="512" r:id="rId40"/>
    <p:sldId id="514" r:id="rId41"/>
    <p:sldId id="511" r:id="rId42"/>
    <p:sldId id="516" r:id="rId43"/>
    <p:sldId id="524" r:id="rId44"/>
    <p:sldId id="517" r:id="rId45"/>
    <p:sldId id="525" r:id="rId46"/>
    <p:sldId id="521" r:id="rId47"/>
    <p:sldId id="522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d71mzOpWaw01KwZKMYzkJw==" hashData="cHWm1QTxlkmqXHr5tgVL7gVQWYR4KYuyruVokWFSzBLISbVDCVejV4Fjvbmsqt7WOEcsgYqa0kcUKsJzagnLf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ED524F"/>
    <a:srgbClr val="00CC99"/>
    <a:srgbClr val="301B92"/>
    <a:srgbClr val="673BB7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43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3956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FD703-A923-5FFC-49A0-8C313F0B42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62" y="596629"/>
            <a:ext cx="2976891" cy="90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52AF9-0738-907E-5BBA-0ED5F6A1485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61" y="1741817"/>
            <a:ext cx="2976891" cy="118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969" y="556389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43663646-67F9-47C4-84E3-B4EEDA5FB900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0958F6-32DB-4A2F-BFC3-1FBEA359C54B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323F2-F0D8-4EB7-83AE-DFAA81BC49DE}"/>
              </a:ext>
            </a:extLst>
          </p:cNvPr>
          <p:cNvSpPr/>
          <p:nvPr userDrawn="1"/>
        </p:nvSpPr>
        <p:spPr>
          <a:xfrm rot="10800000">
            <a:off x="7678346" y="2221532"/>
            <a:ext cx="4513654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D27AE-1148-4B42-8B61-FEBB2397EFD9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3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408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 Regression 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920005"/>
            <a:ext cx="11929641" cy="553400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F0D05C3-99AA-773B-0F49-09924E81855A}"/>
              </a:ext>
            </a:extLst>
          </p:cNvPr>
          <p:cNvGrpSpPr/>
          <p:nvPr userDrawn="1"/>
        </p:nvGrpSpPr>
        <p:grpSpPr>
          <a:xfrm>
            <a:off x="10411778" y="921114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79EDFC-ED4D-861A-E37D-14D7E6B051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E3FA7F-857D-E61D-5C28-13E2D70838D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8021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 Regression 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785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ebdings" panose="05030102010509060703" pitchFamily="18" charset="2"/>
              <a:buChar char="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1618DA6-ADDC-7E6E-7A51-8D40B3889FE6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D5E089-7BE6-03A1-CD63-E67BAD576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C36E20-EF18-6B0D-305F-4B32B1F5F4C6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24815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 Regression 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26739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A3AED85-A54D-97C1-DD2C-9FDEA4914919}"/>
              </a:ext>
            </a:extLst>
          </p:cNvPr>
          <p:cNvGrpSpPr/>
          <p:nvPr userDrawn="1"/>
        </p:nvGrpSpPr>
        <p:grpSpPr>
          <a:xfrm>
            <a:off x="131180" y="5988910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01B37D-BAE9-0650-58F2-BC78CED44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A2DE62-0FAB-499C-3FF7-8E3E8DDDF86C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8F205C-D692-3A8F-DB67-62DFE62B7370}"/>
              </a:ext>
            </a:extLst>
          </p:cNvPr>
          <p:cNvGrpSpPr/>
          <p:nvPr userDrawn="1"/>
        </p:nvGrpSpPr>
        <p:grpSpPr>
          <a:xfrm>
            <a:off x="10359675" y="6131022"/>
            <a:ext cx="1649043" cy="501287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DDAE99-2697-C009-4B54-2913BF8DCC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BF6B26-56F5-A99C-23BA-B1DAF78C0F4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EA6E7FD-9D74-A53E-354C-AEDE33361F68}"/>
              </a:ext>
            </a:extLst>
          </p:cNvPr>
          <p:cNvGrpSpPr/>
          <p:nvPr userDrawn="1"/>
        </p:nvGrpSpPr>
        <p:grpSpPr>
          <a:xfrm>
            <a:off x="10253733" y="119603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648CBA-7265-39F8-D1B9-0E15C03485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50395-FD5C-D870-AB87-21ADE7A84320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D3440BC-6A73-AF16-1513-F5FFB0D86493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E47C1E-ADCB-A740-5C5D-E07477F1CD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6726FA-F8E4-08AE-4611-17B220D84286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11904-2EF7-7EB7-D8E1-64D669405E2D}"/>
              </a:ext>
            </a:extLst>
          </p:cNvPr>
          <p:cNvGrpSpPr/>
          <p:nvPr userDrawn="1"/>
        </p:nvGrpSpPr>
        <p:grpSpPr>
          <a:xfrm>
            <a:off x="164674" y="5980196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E576EA-E9D4-7CEC-3198-56D174FDDB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54B836-2324-D134-A2A1-533073B97009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9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sv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sv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sv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sv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scalablelabs.com/PythonNotes/Unit_5/Regression/WorldBank.csv" TargetMode="Externa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374" y="1019474"/>
            <a:ext cx="7060510" cy="24974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</a:t>
            </a:r>
            <a:r>
              <a:rPr lang="en-US" dirty="0"/>
              <a:t> </a:t>
            </a:r>
            <a:br>
              <a:rPr lang="en-US" dirty="0"/>
            </a:br>
            <a:r>
              <a:rPr lang="en-US" sz="4800" dirty="0"/>
              <a:t>Regression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jayesh.vagadiya@darshan.ac.in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9537133260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46560"/>
            <a:ext cx="3735998" cy="290081"/>
          </a:xfrm>
        </p:spPr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Jayesh D. </a:t>
            </a:r>
            <a:r>
              <a:rPr lang="en-US" dirty="0" err="1"/>
              <a:t>vagadiya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Machine Learning </a:t>
            </a:r>
            <a:r>
              <a:rPr lang="en-US" sz="20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(ML)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2301CS621 </a:t>
            </a:r>
            <a:r>
              <a:rPr lang="en-IN" sz="2000" dirty="0">
                <a:effectLst/>
              </a:rPr>
              <a:t> </a:t>
            </a:r>
            <a:endParaRPr lang="en-US" sz="20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53A6AA-5BE7-25F7-2841-55E5AC4CF8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9" name="Picture Placeholder 4">
            <a:extLst>
              <a:ext uri="{FF2B5EF4-FFF2-40B4-BE49-F238E27FC236}">
                <a16:creationId xmlns:a16="http://schemas.microsoft.com/office/drawing/2014/main" id="{C9D17E62-5C4C-182E-001B-DBEFCFD2D42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569" y="5211250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42995"/>
            <a:ext cx="8810452" cy="428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Introduction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Simple linear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Multiple linear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Polynomial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Support vector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Logistic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Ridge regression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C30F3-4A96-D5C0-63BA-F9E64BF13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54748-654B-C0DB-EE4E-DDF422E1A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755578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Regression</a:t>
            </a:r>
            <a:r>
              <a:rPr lang="en-US" dirty="0"/>
              <a:t> is used </a:t>
            </a:r>
            <a:r>
              <a:rPr lang="en-US" dirty="0">
                <a:solidFill>
                  <a:srgbClr val="C00000"/>
                </a:solidFill>
              </a:rPr>
              <a:t>when you want to predict a numerical value </a:t>
            </a:r>
            <a:r>
              <a:rPr lang="en-US" dirty="0"/>
              <a:t>(e.g., </a:t>
            </a:r>
            <a:r>
              <a:rPr lang="en-US" dirty="0">
                <a:solidFill>
                  <a:srgbClr val="C00000"/>
                </a:solidFill>
              </a:rPr>
              <a:t>predicting salary, sales, temperature</a:t>
            </a:r>
            <a:r>
              <a:rPr lang="en-US" dirty="0"/>
              <a:t>).</a:t>
            </a:r>
          </a:p>
          <a:p>
            <a:r>
              <a:rPr lang="en-US" dirty="0"/>
              <a:t>Regression is a statistical method used to examine the relationship between a dependent </a:t>
            </a:r>
            <a:r>
              <a:rPr lang="en-US" dirty="0">
                <a:solidFill>
                  <a:srgbClr val="C00000"/>
                </a:solidFill>
              </a:rPr>
              <a:t>variable (target) </a:t>
            </a:r>
            <a:r>
              <a:rPr lang="en-US" dirty="0"/>
              <a:t>and </a:t>
            </a:r>
            <a:r>
              <a:rPr lang="en-US" b="1" dirty="0"/>
              <a:t>one or more </a:t>
            </a:r>
            <a:r>
              <a:rPr lang="en-US" dirty="0">
                <a:solidFill>
                  <a:srgbClr val="C00000"/>
                </a:solidFill>
              </a:rPr>
              <a:t>independent variables (features).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C873A-4C10-1301-F332-3441EDB94E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644" y="3771195"/>
            <a:ext cx="1227667" cy="1227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846368-282D-0665-A716-A41395353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34" y="3573991"/>
            <a:ext cx="1329973" cy="1329973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30526FDD-0600-977A-790A-1DA402EC4639}"/>
              </a:ext>
            </a:extLst>
          </p:cNvPr>
          <p:cNvSpPr/>
          <p:nvPr/>
        </p:nvSpPr>
        <p:spPr>
          <a:xfrm>
            <a:off x="2178756" y="4097867"/>
            <a:ext cx="1230488" cy="395111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4DA31-994F-DF92-1683-235486ADF566}"/>
              </a:ext>
            </a:extLst>
          </p:cNvPr>
          <p:cNvSpPr txBox="1"/>
          <p:nvPr/>
        </p:nvSpPr>
        <p:spPr>
          <a:xfrm>
            <a:off x="544833" y="4998862"/>
            <a:ext cx="1202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House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0AE5A0-2961-3748-4E7A-9C08013C48CC}"/>
              </a:ext>
            </a:extLst>
          </p:cNvPr>
          <p:cNvSpPr txBox="1"/>
          <p:nvPr/>
        </p:nvSpPr>
        <p:spPr>
          <a:xfrm>
            <a:off x="4103907" y="4998862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DA42CE5A-6715-54FA-32DF-087E6B4595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5942031"/>
              </p:ext>
            </p:extLst>
          </p:nvPr>
        </p:nvGraphicFramePr>
        <p:xfrm>
          <a:off x="6096000" y="2771267"/>
          <a:ext cx="5461621" cy="27554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02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House Size (sq ft)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Price ($)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2500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222526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700,000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72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82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54E6-B66D-E14B-ED27-D62ABF2C6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A4C55-6FD4-C0C0-74B2-432D4A7E1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342651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Simple Linear Regression </a:t>
            </a:r>
            <a:r>
              <a:rPr lang="en-US" dirty="0"/>
              <a:t>is a </a:t>
            </a:r>
            <a:r>
              <a:rPr lang="en-US" dirty="0">
                <a:solidFill>
                  <a:srgbClr val="C00000"/>
                </a:solidFill>
              </a:rPr>
              <a:t>statistical method </a:t>
            </a:r>
            <a:r>
              <a:rPr lang="en-US" dirty="0"/>
              <a:t>used to model the relationship between a </a:t>
            </a:r>
            <a:r>
              <a:rPr lang="en-US" dirty="0">
                <a:solidFill>
                  <a:srgbClr val="C00000"/>
                </a:solidFill>
              </a:rPr>
              <a:t>dependent variable Y </a:t>
            </a:r>
            <a:r>
              <a:rPr lang="en-US" dirty="0"/>
              <a:t>and a </a:t>
            </a:r>
            <a:r>
              <a:rPr lang="en-US" dirty="0">
                <a:solidFill>
                  <a:srgbClr val="C00000"/>
                </a:solidFill>
              </a:rPr>
              <a:t>single independent variable X</a:t>
            </a:r>
            <a:r>
              <a:rPr lang="en-US" dirty="0"/>
              <a:t>. The goal is to find a linear equation that predicts Y based on X.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E7FAE-36FE-C21D-BCD2-A7B97B50DDA3}"/>
              </a:ext>
            </a:extLst>
          </p:cNvPr>
          <p:cNvSpPr txBox="1"/>
          <p:nvPr/>
        </p:nvSpPr>
        <p:spPr>
          <a:xfrm>
            <a:off x="2415822" y="2551289"/>
            <a:ext cx="64685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Y= b</a:t>
            </a:r>
            <a:r>
              <a:rPr lang="en-US" sz="8000" baseline="-25000" dirty="0"/>
              <a:t>0 </a:t>
            </a:r>
            <a:r>
              <a:rPr lang="en-US" sz="8000" dirty="0"/>
              <a:t>+ b</a:t>
            </a:r>
            <a:r>
              <a:rPr lang="en-US" sz="8000" baseline="-25000" dirty="0"/>
              <a:t>1</a:t>
            </a:r>
            <a:r>
              <a:rPr lang="en-US" sz="8000" dirty="0"/>
              <a:t>X</a:t>
            </a:r>
            <a:r>
              <a:rPr lang="en-US" sz="8000" baseline="-25000" dirty="0"/>
              <a:t>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3D745BD-FEE7-5EE2-0DB1-BB2E685F1590}"/>
              </a:ext>
            </a:extLst>
          </p:cNvPr>
          <p:cNvCxnSpPr/>
          <p:nvPr/>
        </p:nvCxnSpPr>
        <p:spPr>
          <a:xfrm>
            <a:off x="3172178" y="3874728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95093F-979C-38E7-CDE1-B5DBA0DE0D6E}"/>
              </a:ext>
            </a:extLst>
          </p:cNvPr>
          <p:cNvCxnSpPr/>
          <p:nvPr/>
        </p:nvCxnSpPr>
        <p:spPr>
          <a:xfrm>
            <a:off x="4611511" y="3883012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8463CC-9B5F-58A4-593D-6362EC682891}"/>
              </a:ext>
            </a:extLst>
          </p:cNvPr>
          <p:cNvCxnSpPr/>
          <p:nvPr/>
        </p:nvCxnSpPr>
        <p:spPr>
          <a:xfrm>
            <a:off x="6310488" y="3874728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D8C90-17D3-1E7D-D612-105253AAE200}"/>
              </a:ext>
            </a:extLst>
          </p:cNvPr>
          <p:cNvCxnSpPr/>
          <p:nvPr/>
        </p:nvCxnSpPr>
        <p:spPr>
          <a:xfrm>
            <a:off x="7196666" y="3874728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D35083-6EF2-E1A7-B659-73CC3B43E868}"/>
              </a:ext>
            </a:extLst>
          </p:cNvPr>
          <p:cNvCxnSpPr>
            <a:cxnSpLocks/>
          </p:cNvCxnSpPr>
          <p:nvPr/>
        </p:nvCxnSpPr>
        <p:spPr>
          <a:xfrm>
            <a:off x="3499555" y="3874728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CB80346-273B-D40B-E8F4-0B533D29CB17}"/>
              </a:ext>
            </a:extLst>
          </p:cNvPr>
          <p:cNvSpPr txBox="1"/>
          <p:nvPr/>
        </p:nvSpPr>
        <p:spPr>
          <a:xfrm>
            <a:off x="2890036" y="4753143"/>
            <a:ext cx="121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Dependent </a:t>
            </a:r>
          </a:p>
          <a:p>
            <a:pPr algn="ctr"/>
            <a:r>
              <a:rPr lang="en-US" dirty="0"/>
              <a:t>Variable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F2A54E-5FDC-1115-F022-9BCFF0AC55FF}"/>
              </a:ext>
            </a:extLst>
          </p:cNvPr>
          <p:cNvSpPr txBox="1"/>
          <p:nvPr/>
        </p:nvSpPr>
        <p:spPr>
          <a:xfrm>
            <a:off x="4354433" y="5377907"/>
            <a:ext cx="1168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intercept</a:t>
            </a:r>
          </a:p>
          <a:p>
            <a:r>
              <a:rPr lang="en-US" dirty="0"/>
              <a:t>(constant)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1147AF-0F5F-1E3D-1790-8C3D63E47A09}"/>
              </a:ext>
            </a:extLst>
          </p:cNvPr>
          <p:cNvCxnSpPr>
            <a:cxnSpLocks/>
          </p:cNvCxnSpPr>
          <p:nvPr/>
        </p:nvCxnSpPr>
        <p:spPr>
          <a:xfrm>
            <a:off x="4938888" y="3883012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6464790-D5B7-A389-352D-01B23130FB41}"/>
              </a:ext>
            </a:extLst>
          </p:cNvPr>
          <p:cNvSpPr txBox="1"/>
          <p:nvPr/>
        </p:nvSpPr>
        <p:spPr>
          <a:xfrm>
            <a:off x="6318701" y="5377907"/>
            <a:ext cx="587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3A080D-8F28-B5F2-D70A-A1E34589482B}"/>
              </a:ext>
            </a:extLst>
          </p:cNvPr>
          <p:cNvCxnSpPr>
            <a:cxnSpLocks/>
          </p:cNvCxnSpPr>
          <p:nvPr/>
        </p:nvCxnSpPr>
        <p:spPr>
          <a:xfrm>
            <a:off x="6612211" y="3855747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31025BE-4036-FCF9-B736-D0A5362154F7}"/>
              </a:ext>
            </a:extLst>
          </p:cNvPr>
          <p:cNvCxnSpPr>
            <a:cxnSpLocks/>
          </p:cNvCxnSpPr>
          <p:nvPr/>
        </p:nvCxnSpPr>
        <p:spPr>
          <a:xfrm>
            <a:off x="7524043" y="3883012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02C54E8-4DDA-6D2C-9DFD-ABC4891D58B5}"/>
              </a:ext>
            </a:extLst>
          </p:cNvPr>
          <p:cNvSpPr txBox="1"/>
          <p:nvPr/>
        </p:nvSpPr>
        <p:spPr>
          <a:xfrm>
            <a:off x="6889101" y="4693173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</a:t>
            </a:r>
          </a:p>
        </p:txBody>
      </p:sp>
    </p:spTree>
    <p:extLst>
      <p:ext uri="{BB962C8B-B14F-4D97-AF65-F5344CB8AC3E}">
        <p14:creationId xmlns:p14="http://schemas.microsoft.com/office/powerpoint/2010/main" val="4113148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  <p:bldP spid="19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42F4-ECD7-97F7-B0EC-2889892BC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 Linear Regression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456878-AA1E-713F-34B7-2D8AC1107226}"/>
              </a:ext>
            </a:extLst>
          </p:cNvPr>
          <p:cNvCxnSpPr>
            <a:cxnSpLocks/>
          </p:cNvCxnSpPr>
          <p:nvPr/>
        </p:nvCxnSpPr>
        <p:spPr>
          <a:xfrm flipV="1">
            <a:off x="6705601" y="1298222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6E38915-8411-9A4C-D077-6DBDFD03DD7A}"/>
              </a:ext>
            </a:extLst>
          </p:cNvPr>
          <p:cNvCxnSpPr>
            <a:cxnSpLocks/>
          </p:cNvCxnSpPr>
          <p:nvPr/>
        </p:nvCxnSpPr>
        <p:spPr>
          <a:xfrm>
            <a:off x="6310489" y="4713111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B97251CE-7CA0-725F-C20A-62B606A83B5B}"/>
              </a:ext>
            </a:extLst>
          </p:cNvPr>
          <p:cNvSpPr/>
          <p:nvPr/>
        </p:nvSpPr>
        <p:spPr>
          <a:xfrm>
            <a:off x="7569201" y="308186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943821D-CCDE-C2EF-49B1-D005A83A36B8}"/>
              </a:ext>
            </a:extLst>
          </p:cNvPr>
          <p:cNvSpPr/>
          <p:nvPr/>
        </p:nvSpPr>
        <p:spPr>
          <a:xfrm>
            <a:off x="7648223" y="379871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EC98B0-DCF0-491E-81C6-727E50B7B4C2}"/>
              </a:ext>
            </a:extLst>
          </p:cNvPr>
          <p:cNvSpPr/>
          <p:nvPr/>
        </p:nvSpPr>
        <p:spPr>
          <a:xfrm>
            <a:off x="8252179" y="302541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CBF1BF-4B9F-EBEA-DC58-ADF05BFCE2A0}"/>
              </a:ext>
            </a:extLst>
          </p:cNvPr>
          <p:cNvSpPr/>
          <p:nvPr/>
        </p:nvSpPr>
        <p:spPr>
          <a:xfrm>
            <a:off x="8585201" y="243275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1BCAEE-ADDB-E76A-A65E-F5DA7689E2BC}"/>
              </a:ext>
            </a:extLst>
          </p:cNvPr>
          <p:cNvSpPr/>
          <p:nvPr/>
        </p:nvSpPr>
        <p:spPr>
          <a:xfrm>
            <a:off x="9110134" y="316652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0135241-5874-EFEF-9619-3013FD87493F}"/>
              </a:ext>
            </a:extLst>
          </p:cNvPr>
          <p:cNvSpPr/>
          <p:nvPr/>
        </p:nvSpPr>
        <p:spPr>
          <a:xfrm>
            <a:off x="9347201" y="202071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4790B83-5E8E-EAFB-8134-EFBF47A56CFC}"/>
              </a:ext>
            </a:extLst>
          </p:cNvPr>
          <p:cNvSpPr/>
          <p:nvPr/>
        </p:nvSpPr>
        <p:spPr>
          <a:xfrm>
            <a:off x="9725378" y="251177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1005D3E-357D-2CF1-F238-EEB4A9F43B2A}"/>
              </a:ext>
            </a:extLst>
          </p:cNvPr>
          <p:cNvCxnSpPr>
            <a:cxnSpLocks/>
          </p:cNvCxnSpPr>
          <p:nvPr/>
        </p:nvCxnSpPr>
        <p:spPr>
          <a:xfrm flipV="1">
            <a:off x="6310489" y="1964262"/>
            <a:ext cx="4272845" cy="23593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9F48A39-54C8-EAB4-DEE7-9D835C538925}"/>
              </a:ext>
            </a:extLst>
          </p:cNvPr>
          <p:cNvCxnSpPr>
            <a:cxnSpLocks/>
          </p:cNvCxnSpPr>
          <p:nvPr/>
        </p:nvCxnSpPr>
        <p:spPr>
          <a:xfrm>
            <a:off x="8139289" y="3341511"/>
            <a:ext cx="0" cy="137160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0278749-8F62-23CA-5C33-C01B1493C15D}"/>
              </a:ext>
            </a:extLst>
          </p:cNvPr>
          <p:cNvCxnSpPr>
            <a:cxnSpLocks/>
          </p:cNvCxnSpPr>
          <p:nvPr/>
        </p:nvCxnSpPr>
        <p:spPr>
          <a:xfrm>
            <a:off x="6705601" y="3318933"/>
            <a:ext cx="1433688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17AB6D2-A1B4-247D-37B4-0142844529EC}"/>
              </a:ext>
            </a:extLst>
          </p:cNvPr>
          <p:cNvCxnSpPr>
            <a:cxnSpLocks/>
          </p:cNvCxnSpPr>
          <p:nvPr/>
        </p:nvCxnSpPr>
        <p:spPr>
          <a:xfrm>
            <a:off x="8935155" y="2878667"/>
            <a:ext cx="0" cy="1834444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83DDFB2-7752-26E8-6430-F8DBAC096020}"/>
              </a:ext>
            </a:extLst>
          </p:cNvPr>
          <p:cNvCxnSpPr>
            <a:cxnSpLocks/>
          </p:cNvCxnSpPr>
          <p:nvPr/>
        </p:nvCxnSpPr>
        <p:spPr>
          <a:xfrm>
            <a:off x="6705601" y="2878667"/>
            <a:ext cx="2274710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9" name="Right Arrow 48">
            <a:extLst>
              <a:ext uri="{FF2B5EF4-FFF2-40B4-BE49-F238E27FC236}">
                <a16:creationId xmlns:a16="http://schemas.microsoft.com/office/drawing/2014/main" id="{C3F0A649-6028-B0D8-D731-430A85373C8F}"/>
              </a:ext>
            </a:extLst>
          </p:cNvPr>
          <p:cNvSpPr/>
          <p:nvPr/>
        </p:nvSpPr>
        <p:spPr>
          <a:xfrm>
            <a:off x="8167512" y="4617164"/>
            <a:ext cx="767643" cy="186253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50"/>
              </a:solidFill>
            </a:endParaRPr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40B47A36-0D92-AB0D-2B9B-0CF0E26C6A89}"/>
              </a:ext>
            </a:extLst>
          </p:cNvPr>
          <p:cNvSpPr/>
          <p:nvPr/>
        </p:nvSpPr>
        <p:spPr>
          <a:xfrm rot="16200000">
            <a:off x="6468555" y="3028246"/>
            <a:ext cx="488230" cy="186259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67751693-1EE6-3AA4-5063-C3FFA79E2D09}"/>
              </a:ext>
            </a:extLst>
          </p:cNvPr>
          <p:cNvSpPr/>
          <p:nvPr/>
        </p:nvSpPr>
        <p:spPr>
          <a:xfrm rot="19812210">
            <a:off x="8079954" y="3001832"/>
            <a:ext cx="890820" cy="20061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739EA-3F17-ED86-4BCE-C0FC207BB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69" y="987586"/>
            <a:ext cx="1227667" cy="1227667"/>
          </a:xfrm>
          <a:prstGeom prst="rect">
            <a:avLst/>
          </a:prstGeom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F897F86B-0C3D-020A-0C96-2945F0ED9965}"/>
              </a:ext>
            </a:extLst>
          </p:cNvPr>
          <p:cNvSpPr/>
          <p:nvPr/>
        </p:nvSpPr>
        <p:spPr>
          <a:xfrm>
            <a:off x="2138514" y="1461343"/>
            <a:ext cx="1230488" cy="395111"/>
          </a:xfrm>
          <a:prstGeom prst="rightArrow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C2D77-58D4-CEFF-783A-BA958A728DBA}"/>
              </a:ext>
            </a:extLst>
          </p:cNvPr>
          <p:cNvSpPr txBox="1"/>
          <p:nvPr/>
        </p:nvSpPr>
        <p:spPr>
          <a:xfrm>
            <a:off x="3749524" y="2221227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Product sales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99618-FACE-AF90-C79A-DAFB4D1EC1DF}"/>
              </a:ext>
            </a:extLst>
          </p:cNvPr>
          <p:cNvSpPr txBox="1"/>
          <p:nvPr/>
        </p:nvSpPr>
        <p:spPr>
          <a:xfrm>
            <a:off x="291315" y="2230929"/>
            <a:ext cx="1380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Advertising budget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7E1CB7-D12E-C72C-CBD5-4348BD123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9524" y="1069427"/>
            <a:ext cx="1063983" cy="1063983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B1E562B-B5F8-D69E-1534-3DB096A42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3012731"/>
            <a:ext cx="4480332" cy="1581847"/>
          </a:xfrm>
        </p:spPr>
        <p:txBody>
          <a:bodyPr/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2400" b="1" baseline="-25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b="1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</a:t>
            </a:r>
            <a:r>
              <a:rPr lang="en-US" sz="2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2400" b="1" baseline="-25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b="1" baseline="-25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2400" b="1" baseline="-25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-&gt; 7 unit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b="1" baseline="-25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-&gt; 20[units/thousand]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/>
          </a:p>
          <a:p>
            <a:endParaRPr lang="en-US" dirty="0"/>
          </a:p>
          <a:p>
            <a:endParaRPr lang="en-US" sz="2400" baseline="-25000" dirty="0"/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A711A-6BD4-645D-5647-3108FB8DD609}"/>
              </a:ext>
            </a:extLst>
          </p:cNvPr>
          <p:cNvSpPr txBox="1"/>
          <p:nvPr/>
        </p:nvSpPr>
        <p:spPr>
          <a:xfrm rot="16200000">
            <a:off x="5281445" y="1337190"/>
            <a:ext cx="2305255" cy="37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 sales(Unit)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4B67E-0F87-6D32-777E-346A3F0AAB79}"/>
              </a:ext>
            </a:extLst>
          </p:cNvPr>
          <p:cNvSpPr txBox="1"/>
          <p:nvPr/>
        </p:nvSpPr>
        <p:spPr>
          <a:xfrm>
            <a:off x="9347201" y="4805015"/>
            <a:ext cx="3630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Advertising budget</a:t>
            </a:r>
          </a:p>
          <a:p>
            <a:r>
              <a:rPr lang="en-US" dirty="0"/>
              <a:t>(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thousands</a:t>
            </a:r>
            <a:r>
              <a:rPr lang="en-US" dirty="0"/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209447-3ADE-0457-4A94-C5D849F01EC8}"/>
              </a:ext>
            </a:extLst>
          </p:cNvPr>
          <p:cNvSpPr txBox="1"/>
          <p:nvPr/>
        </p:nvSpPr>
        <p:spPr>
          <a:xfrm>
            <a:off x="8331201" y="4793725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+1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F34C9C-574C-D3AF-2426-A1A9EE908E29}"/>
              </a:ext>
            </a:extLst>
          </p:cNvPr>
          <p:cNvSpPr txBox="1"/>
          <p:nvPr/>
        </p:nvSpPr>
        <p:spPr>
          <a:xfrm>
            <a:off x="5689152" y="2958253"/>
            <a:ext cx="1085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+20 units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A2C6792-5AD3-B0CD-11EF-66087FE9E1D6}"/>
              </a:ext>
            </a:extLst>
          </p:cNvPr>
          <p:cNvSpPr/>
          <p:nvPr/>
        </p:nvSpPr>
        <p:spPr>
          <a:xfrm>
            <a:off x="6619540" y="4022906"/>
            <a:ext cx="186260" cy="1598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5E6BC8-A097-AA0A-6EA7-C85F1D7E5058}"/>
              </a:ext>
            </a:extLst>
          </p:cNvPr>
          <p:cNvSpPr txBox="1"/>
          <p:nvPr/>
        </p:nvSpPr>
        <p:spPr>
          <a:xfrm>
            <a:off x="6641691" y="410281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7 unit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B9FB26-CC57-9A67-D371-F1761A4C63C2}"/>
              </a:ext>
            </a:extLst>
          </p:cNvPr>
          <p:cNvSpPr txBox="1"/>
          <p:nvPr/>
        </p:nvSpPr>
        <p:spPr>
          <a:xfrm>
            <a:off x="6491111" y="45945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9410E8-74DA-78FF-CC7E-FF616CDD57C5}"/>
              </a:ext>
            </a:extLst>
          </p:cNvPr>
          <p:cNvSpPr txBox="1"/>
          <p:nvPr/>
        </p:nvSpPr>
        <p:spPr>
          <a:xfrm>
            <a:off x="6559423" y="99416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905520-98F2-CA46-08B0-2D409720C356}"/>
              </a:ext>
            </a:extLst>
          </p:cNvPr>
          <p:cNvSpPr txBox="1"/>
          <p:nvPr/>
        </p:nvSpPr>
        <p:spPr>
          <a:xfrm>
            <a:off x="11290429" y="452684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63A53C-40F1-DCF2-8B22-DFF24E04506E}"/>
              </a:ext>
            </a:extLst>
          </p:cNvPr>
          <p:cNvSpPr txBox="1"/>
          <p:nvPr/>
        </p:nvSpPr>
        <p:spPr>
          <a:xfrm>
            <a:off x="142926" y="5427877"/>
            <a:ext cx="88188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Product sales(Unit) =  </a:t>
            </a:r>
            <a:r>
              <a:rPr lang="en-US" sz="1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="1" baseline="-25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18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  <a:r>
              <a:rPr lang="en-US" sz="1800" b="1" baseline="-25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Advertising budget(</a:t>
            </a:r>
            <a:r>
              <a:rPr lang="en-IN" b="1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thousands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8168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49" grpId="0" animBg="1"/>
      <p:bldP spid="50" grpId="0" animBg="1"/>
      <p:bldP spid="51" grpId="0" animBg="1"/>
      <p:bldP spid="5" grpId="0" animBg="1"/>
      <p:bldP spid="6" grpId="0"/>
      <p:bldP spid="8" grpId="0"/>
      <p:bldP spid="14" grpId="0"/>
      <p:bldP spid="15" grpId="0"/>
      <p:bldP spid="16" grpId="0"/>
      <p:bldP spid="17" grpId="0"/>
      <p:bldP spid="18" grpId="0" animBg="1"/>
      <p:bldP spid="26" grpId="0"/>
      <p:bldP spid="30" grpId="0"/>
      <p:bldP spid="31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600DC-4720-02BA-E0B0-DCE2ADEC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Ordinary Least Squares (OLS)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688E5-AD94-A7FA-B574-3AF8E0238A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2349156"/>
                <a:ext cx="6303487" cy="1515817"/>
              </a:xfrm>
            </p:spPr>
            <p:txBody>
              <a:bodyPr/>
              <a:lstStyle/>
              <a:p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OLS minimizes the </a:t>
                </a:r>
                <a:r>
                  <a:rPr lang="en-IN" b="1" i="0" u="none" strike="noStrike" dirty="0">
                    <a:solidFill>
                      <a:srgbClr val="C00000"/>
                    </a:solidFill>
                    <a:effectLst/>
                    <a:latin typeface="-webkit-standard"/>
                  </a:rPr>
                  <a:t>Residual </a:t>
                </a:r>
                <a:r>
                  <a:rPr lang="en-IN" b="1" dirty="0">
                    <a:solidFill>
                      <a:srgbClr val="C00000"/>
                    </a:solidFill>
                    <a:latin typeface="-webkit-standard"/>
                  </a:rPr>
                  <a:t>S</a:t>
                </a:r>
                <a:r>
                  <a:rPr lang="en-IN" b="1" i="0" u="none" strike="noStrike" dirty="0">
                    <a:solidFill>
                      <a:srgbClr val="C00000"/>
                    </a:solidFill>
                    <a:effectLst/>
                    <a:latin typeface="-webkit-standard"/>
                  </a:rPr>
                  <a:t>um of squares</a:t>
                </a:r>
                <a:r>
                  <a:rPr lang="en-IN" b="1" i="0" u="none" strike="noStrike" dirty="0">
                    <a:solidFill>
                      <a:srgbClr val="000000"/>
                    </a:solidFill>
                    <a:effectLst/>
                    <a:latin typeface="-webkit-standard"/>
                  </a:rPr>
                  <a:t> </a:t>
                </a:r>
                <a:r>
                  <a:rPr lang="en-IN" b="1" i="0" u="none" strike="noStrike" dirty="0">
                    <a:solidFill>
                      <a:srgbClr val="C00000"/>
                    </a:solidFill>
                    <a:effectLst/>
                    <a:latin typeface="-webkit-standard"/>
                  </a:rPr>
                  <a:t>(RSS)</a:t>
                </a:r>
              </a:p>
              <a:p>
                <a:r>
                  <a:rPr lang="en-US" sz="2400" dirty="0">
                    <a:solidFill>
                      <a:srgbClr val="00B05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00B050"/>
                    </a:solidFill>
                  </a:rPr>
                  <a:t>0</a:t>
                </a:r>
                <a:r>
                  <a:rPr lang="en-US" sz="2400" dirty="0"/>
                  <a:t> and  </a:t>
                </a:r>
                <a:r>
                  <a:rPr lang="en-US" sz="2400" dirty="0">
                    <a:solidFill>
                      <a:srgbClr val="00B05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00B050"/>
                    </a:solidFill>
                  </a:rPr>
                  <a:t>1</a:t>
                </a:r>
                <a:r>
                  <a:rPr lang="en-US" sz="2400" dirty="0"/>
                  <a:t> such that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SUM(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u="none" strike="noStrike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u="none" strike="noStrike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 u="none" strike="noStrike" smtClean="0">
                            <a:solidFill>
                              <a:srgbClr val="C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baseline="-25000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2400" b="1" dirty="0">
                    <a:solidFill>
                      <a:srgbClr val="C00000"/>
                    </a:solidFill>
                  </a:rPr>
                  <a:t>)</a:t>
                </a:r>
                <a:r>
                  <a:rPr lang="en-US" sz="2400" b="1" baseline="30000" dirty="0">
                    <a:solidFill>
                      <a:srgbClr val="C00000"/>
                    </a:solidFill>
                  </a:rPr>
                  <a:t>2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400" dirty="0"/>
                  <a:t>is minimum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688E5-AD94-A7FA-B574-3AF8E0238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2349156"/>
                <a:ext cx="6303487" cy="1515817"/>
              </a:xfrm>
              <a:blipFill>
                <a:blip r:embed="rId2"/>
                <a:stretch>
                  <a:fillRect l="-1006" t="-4132" r="-1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D062AD-CE68-2CEB-EC3F-68E228F3C3AC}"/>
              </a:ext>
            </a:extLst>
          </p:cNvPr>
          <p:cNvCxnSpPr>
            <a:cxnSpLocks/>
          </p:cNvCxnSpPr>
          <p:nvPr/>
        </p:nvCxnSpPr>
        <p:spPr>
          <a:xfrm flipV="1">
            <a:off x="7270046" y="1378316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F7B91D9-4F2A-3D40-BB8A-9DD13D281C69}"/>
              </a:ext>
            </a:extLst>
          </p:cNvPr>
          <p:cNvCxnSpPr>
            <a:cxnSpLocks/>
          </p:cNvCxnSpPr>
          <p:nvPr/>
        </p:nvCxnSpPr>
        <p:spPr>
          <a:xfrm>
            <a:off x="6874934" y="4793205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FDC75DD-4EF2-D411-5119-2DC0FAEED16B}"/>
              </a:ext>
            </a:extLst>
          </p:cNvPr>
          <p:cNvSpPr/>
          <p:nvPr/>
        </p:nvSpPr>
        <p:spPr>
          <a:xfrm>
            <a:off x="8133646" y="316195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14F0C9-AB53-0960-DB5E-1BB75895E45C}"/>
              </a:ext>
            </a:extLst>
          </p:cNvPr>
          <p:cNvSpPr/>
          <p:nvPr/>
        </p:nvSpPr>
        <p:spPr>
          <a:xfrm>
            <a:off x="8212668" y="387880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0BF327-867E-349B-D8ED-4EC3D6D0D842}"/>
              </a:ext>
            </a:extLst>
          </p:cNvPr>
          <p:cNvSpPr/>
          <p:nvPr/>
        </p:nvSpPr>
        <p:spPr>
          <a:xfrm>
            <a:off x="8816624" y="310551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B8528C-8E36-9CEC-C8A1-842E5FE300E6}"/>
              </a:ext>
            </a:extLst>
          </p:cNvPr>
          <p:cNvSpPr/>
          <p:nvPr/>
        </p:nvSpPr>
        <p:spPr>
          <a:xfrm>
            <a:off x="9149646" y="251284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259188-8938-B212-78F1-D44B18D09D97}"/>
              </a:ext>
            </a:extLst>
          </p:cNvPr>
          <p:cNvSpPr/>
          <p:nvPr/>
        </p:nvSpPr>
        <p:spPr>
          <a:xfrm>
            <a:off x="9674579" y="324662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1816B1-2DC9-8940-4330-AF9E20F1A7BB}"/>
              </a:ext>
            </a:extLst>
          </p:cNvPr>
          <p:cNvSpPr/>
          <p:nvPr/>
        </p:nvSpPr>
        <p:spPr>
          <a:xfrm>
            <a:off x="9911646" y="210080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5E3314-F88C-D51B-B55B-9CCA99166213}"/>
              </a:ext>
            </a:extLst>
          </p:cNvPr>
          <p:cNvSpPr/>
          <p:nvPr/>
        </p:nvSpPr>
        <p:spPr>
          <a:xfrm>
            <a:off x="10289823" y="259186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B0CB69-4310-E656-22F7-C174F8011B7E}"/>
              </a:ext>
            </a:extLst>
          </p:cNvPr>
          <p:cNvCxnSpPr>
            <a:cxnSpLocks/>
          </p:cNvCxnSpPr>
          <p:nvPr/>
        </p:nvCxnSpPr>
        <p:spPr>
          <a:xfrm flipV="1">
            <a:off x="6874934" y="2044356"/>
            <a:ext cx="4272845" cy="23593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1D30B3-470E-EB7E-999A-E1372D001460}"/>
              </a:ext>
            </a:extLst>
          </p:cNvPr>
          <p:cNvSpPr txBox="1"/>
          <p:nvPr/>
        </p:nvSpPr>
        <p:spPr>
          <a:xfrm rot="16200000">
            <a:off x="5923318" y="1369103"/>
            <a:ext cx="2305255" cy="37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 sales(Unit)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65DEC8-253A-4472-D9F7-98E0F71DBE27}"/>
              </a:ext>
            </a:extLst>
          </p:cNvPr>
          <p:cNvSpPr txBox="1"/>
          <p:nvPr/>
        </p:nvSpPr>
        <p:spPr>
          <a:xfrm>
            <a:off x="9989074" y="4836928"/>
            <a:ext cx="36305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advertising budget</a:t>
            </a:r>
          </a:p>
          <a:p>
            <a:r>
              <a:rPr lang="en-US" dirty="0"/>
              <a:t>(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thousands</a:t>
            </a:r>
            <a:r>
              <a:rPr lang="en-US" dirty="0"/>
              <a:t>)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73B7695-CE0A-7148-93DC-5AA771EC1CEA}"/>
              </a:ext>
            </a:extLst>
          </p:cNvPr>
          <p:cNvCxnSpPr>
            <a:cxnSpLocks/>
          </p:cNvCxnSpPr>
          <p:nvPr/>
        </p:nvCxnSpPr>
        <p:spPr>
          <a:xfrm flipV="1">
            <a:off x="6996132" y="2145955"/>
            <a:ext cx="4272845" cy="235938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BB1DA1A-C5CD-208B-D03E-CD596B383336}"/>
              </a:ext>
            </a:extLst>
          </p:cNvPr>
          <p:cNvCxnSpPr>
            <a:cxnSpLocks/>
          </p:cNvCxnSpPr>
          <p:nvPr/>
        </p:nvCxnSpPr>
        <p:spPr>
          <a:xfrm flipV="1">
            <a:off x="7203804" y="2415140"/>
            <a:ext cx="4272845" cy="235938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0C20C0-EAA6-51EA-0613-37D527704366}"/>
              </a:ext>
            </a:extLst>
          </p:cNvPr>
          <p:cNvCxnSpPr>
            <a:cxnSpLocks/>
          </p:cNvCxnSpPr>
          <p:nvPr/>
        </p:nvCxnSpPr>
        <p:spPr>
          <a:xfrm flipV="1">
            <a:off x="6571492" y="1505591"/>
            <a:ext cx="4272845" cy="235938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B1C0FF8-3900-4E51-A23E-AB90DC17AA4C}"/>
              </a:ext>
            </a:extLst>
          </p:cNvPr>
          <p:cNvCxnSpPr>
            <a:cxnSpLocks/>
          </p:cNvCxnSpPr>
          <p:nvPr/>
        </p:nvCxnSpPr>
        <p:spPr>
          <a:xfrm flipV="1">
            <a:off x="6647692" y="1824734"/>
            <a:ext cx="4272845" cy="2359382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C97564C-F2A9-245D-EE19-8F1271A70AD3}"/>
              </a:ext>
            </a:extLst>
          </p:cNvPr>
          <p:cNvCxnSpPr>
            <a:cxnSpLocks/>
          </p:cNvCxnSpPr>
          <p:nvPr/>
        </p:nvCxnSpPr>
        <p:spPr>
          <a:xfrm>
            <a:off x="8178801" y="3240982"/>
            <a:ext cx="0" cy="417689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867B5C8-D04B-6A63-ECB9-E11ACEA5289E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8246250" y="3658671"/>
            <a:ext cx="5929" cy="220133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6838E87-1695-DFF8-CE24-2F719DFE5472}"/>
              </a:ext>
            </a:extLst>
          </p:cNvPr>
          <p:cNvCxnSpPr>
            <a:cxnSpLocks/>
          </p:cNvCxnSpPr>
          <p:nvPr/>
        </p:nvCxnSpPr>
        <p:spPr>
          <a:xfrm>
            <a:off x="8873068" y="3184535"/>
            <a:ext cx="0" cy="141111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54625BA-886B-3694-2462-0045A6B1AEC8}"/>
              </a:ext>
            </a:extLst>
          </p:cNvPr>
          <p:cNvCxnSpPr>
            <a:cxnSpLocks/>
          </p:cNvCxnSpPr>
          <p:nvPr/>
        </p:nvCxnSpPr>
        <p:spPr>
          <a:xfrm>
            <a:off x="9194802" y="2569291"/>
            <a:ext cx="0" cy="570090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AAFAC1F-413B-FF3A-2356-A6A0A8422B51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9708448" y="2856089"/>
            <a:ext cx="5642" cy="39053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A173F51-4E13-C957-2B16-EABFB2DABBF7}"/>
              </a:ext>
            </a:extLst>
          </p:cNvPr>
          <p:cNvCxnSpPr>
            <a:cxnSpLocks/>
          </p:cNvCxnSpPr>
          <p:nvPr/>
        </p:nvCxnSpPr>
        <p:spPr>
          <a:xfrm>
            <a:off x="9955207" y="2179827"/>
            <a:ext cx="0" cy="49106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D477C0FF-1D91-7984-260A-D4E540359CFA}"/>
              </a:ext>
            </a:extLst>
          </p:cNvPr>
          <p:cNvCxnSpPr>
            <a:cxnSpLocks/>
          </p:cNvCxnSpPr>
          <p:nvPr/>
        </p:nvCxnSpPr>
        <p:spPr>
          <a:xfrm>
            <a:off x="10305163" y="2512846"/>
            <a:ext cx="0" cy="79023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7A66F0F-A262-EEA9-C77C-DA919CF42A64}"/>
              </a:ext>
            </a:extLst>
          </p:cNvPr>
          <p:cNvCxnSpPr>
            <a:cxnSpLocks/>
          </p:cNvCxnSpPr>
          <p:nvPr/>
        </p:nvCxnSpPr>
        <p:spPr>
          <a:xfrm flipV="1">
            <a:off x="7270046" y="3207114"/>
            <a:ext cx="863600" cy="33868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BE1CC41-8228-C59D-834E-72CBDCEF8C3C}"/>
              </a:ext>
            </a:extLst>
          </p:cNvPr>
          <p:cNvCxnSpPr>
            <a:cxnSpLocks/>
          </p:cNvCxnSpPr>
          <p:nvPr/>
        </p:nvCxnSpPr>
        <p:spPr>
          <a:xfrm flipV="1">
            <a:off x="7261414" y="3652694"/>
            <a:ext cx="936346" cy="5977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773375-F9AA-31F4-75B1-B6FEC749703F}"/>
                  </a:ext>
                </a:extLst>
              </p:cNvPr>
              <p:cNvSpPr txBox="1"/>
              <p:nvPr/>
            </p:nvSpPr>
            <p:spPr>
              <a:xfrm>
                <a:off x="2604237" y="800563"/>
                <a:ext cx="3989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u="none" strike="noStrike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u="none" strike="noStrike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u="none" strike="noStrike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D773375-F9AA-31F4-75B1-B6FEC74970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237" y="800563"/>
                <a:ext cx="398988" cy="369332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A5167C7-B73B-5C22-0F1D-03A1113FC28F}"/>
                  </a:ext>
                </a:extLst>
              </p:cNvPr>
              <p:cNvSpPr txBox="1"/>
              <p:nvPr/>
            </p:nvSpPr>
            <p:spPr>
              <a:xfrm>
                <a:off x="2604237" y="1859690"/>
                <a:ext cx="447558" cy="369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A5167C7-B73B-5C22-0F1D-03A1113FC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237" y="1859690"/>
                <a:ext cx="447558" cy="369588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49B56B54-8BEA-DD76-8C5A-8F1EB3259F6B}"/>
              </a:ext>
            </a:extLst>
          </p:cNvPr>
          <p:cNvSpPr txBox="1"/>
          <p:nvPr/>
        </p:nvSpPr>
        <p:spPr>
          <a:xfrm>
            <a:off x="7125753" y="106005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5FB2D8-B08B-3024-9F70-4B3976914CC6}"/>
              </a:ext>
            </a:extLst>
          </p:cNvPr>
          <p:cNvSpPr txBox="1"/>
          <p:nvPr/>
        </p:nvSpPr>
        <p:spPr>
          <a:xfrm>
            <a:off x="11846254" y="460853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0B773C65-54B6-6DE1-B7AF-3E74969088AA}"/>
              </a:ext>
            </a:extLst>
          </p:cNvPr>
          <p:cNvSpPr/>
          <p:nvPr/>
        </p:nvSpPr>
        <p:spPr>
          <a:xfrm>
            <a:off x="1911155" y="1085584"/>
            <a:ext cx="554006" cy="958772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D8CCF7-B9DF-E17A-3976-5008E3AA860C}"/>
              </a:ext>
            </a:extLst>
          </p:cNvPr>
          <p:cNvSpPr txBox="1"/>
          <p:nvPr/>
        </p:nvSpPr>
        <p:spPr>
          <a:xfrm>
            <a:off x="843851" y="1380304"/>
            <a:ext cx="1178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Residual = 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E613886-5FD9-B300-9BE2-3A9AA4AFC527}"/>
              </a:ext>
            </a:extLst>
          </p:cNvPr>
          <p:cNvCxnSpPr>
            <a:cxnSpLocks/>
          </p:cNvCxnSpPr>
          <p:nvPr/>
        </p:nvCxnSpPr>
        <p:spPr>
          <a:xfrm>
            <a:off x="2772857" y="1244725"/>
            <a:ext cx="13413" cy="61496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5109AF-36CB-ED1C-88C1-47854B67869D}"/>
                  </a:ext>
                </a:extLst>
              </p:cNvPr>
              <p:cNvSpPr txBox="1"/>
              <p:nvPr/>
            </p:nvSpPr>
            <p:spPr>
              <a:xfrm>
                <a:off x="3086417" y="1345512"/>
                <a:ext cx="1220014" cy="404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800" b="1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b="1" baseline="-250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5">
                        <a:lumMod val="75000"/>
                      </a:schemeClr>
                    </a:solidFill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1" i="1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>
                        <m:r>
                          <a:rPr lang="en-US" b="1" i="1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b="1" baseline="-250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A5109AF-36CB-ED1C-88C1-47854B678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417" y="1345512"/>
                <a:ext cx="1220014" cy="404663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AEFAE2B-9F17-D3CF-7289-7E298E90AED1}"/>
                  </a:ext>
                </a:extLst>
              </p:cNvPr>
              <p:cNvSpPr txBox="1"/>
              <p:nvPr/>
            </p:nvSpPr>
            <p:spPr>
              <a:xfrm>
                <a:off x="548185" y="4238751"/>
                <a:ext cx="5313378" cy="9213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4800" b="1" i="0" u="none" strike="noStrike" dirty="0">
                    <a:solidFill>
                      <a:srgbClr val="C00000"/>
                    </a:solidFill>
                    <a:effectLst/>
                  </a:rPr>
                  <a:t>RSS</a:t>
                </a:r>
                <a:r>
                  <a:rPr lang="en-IN" sz="4800" b="0" i="0" u="none" strike="noStrike" dirty="0">
                    <a:solidFill>
                      <a:srgbClr val="000000"/>
                    </a:solidFill>
                    <a:effectLst/>
                  </a:rPr>
                  <a:t>=​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4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4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4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4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4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48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8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4800" baseline="-25000" dirty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</a:rPr>
                          <m:t> </m:t>
                        </m:r>
                        <m:r>
                          <a:rPr lang="en-US" sz="4800" b="0" i="1" dirty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4800" i="1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8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48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48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4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4800" b="0" i="1" u="none" strike="noStrike" baseline="3000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4800" baseline="30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AEFAE2B-9F17-D3CF-7289-7E298E90AE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85" y="4238751"/>
                <a:ext cx="5313378" cy="921342"/>
              </a:xfrm>
              <a:prstGeom prst="rect">
                <a:avLst/>
              </a:prstGeom>
              <a:blipFill>
                <a:blip r:embed="rId6"/>
                <a:stretch>
                  <a:fillRect l="-5251" t="-120270" r="-716" b="-1972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8B9278-CA56-A026-C008-2083499DB0D5}"/>
                  </a:ext>
                </a:extLst>
              </p:cNvPr>
              <p:cNvSpPr txBox="1"/>
              <p:nvPr/>
            </p:nvSpPr>
            <p:spPr>
              <a:xfrm>
                <a:off x="6838448" y="3051341"/>
                <a:ext cx="4189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aseline="-25000" dirty="0">
                    <a:solidFill>
                      <a:schemeClr val="tx1">
                        <a:lumMod val="90000"/>
                        <a:lumOff val="10000"/>
                      </a:schemeClr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8B9278-CA56-A026-C008-2083499DB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448" y="3051341"/>
                <a:ext cx="41895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2A1E62-700F-B174-6D7E-D085AA0F0571}"/>
                  </a:ext>
                </a:extLst>
              </p:cNvPr>
              <p:cNvSpPr txBox="1"/>
              <p:nvPr/>
            </p:nvSpPr>
            <p:spPr>
              <a:xfrm>
                <a:off x="6849611" y="3518629"/>
                <a:ext cx="4799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42A1E62-700F-B174-6D7E-D085AA0F0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611" y="3518629"/>
                <a:ext cx="479910" cy="369332"/>
              </a:xfrm>
              <a:prstGeom prst="rect">
                <a:avLst/>
              </a:prstGeom>
              <a:blipFill>
                <a:blip r:embed="rId8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7D878366-4524-65A7-B826-29DC16C9C012}"/>
              </a:ext>
            </a:extLst>
          </p:cNvPr>
          <p:cNvSpPr txBox="1"/>
          <p:nvPr/>
        </p:nvSpPr>
        <p:spPr>
          <a:xfrm>
            <a:off x="2831433" y="1385280"/>
            <a:ext cx="479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673058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5" grpId="0"/>
      <p:bldP spid="26" grpId="0"/>
      <p:bldP spid="51" grpId="0"/>
      <p:bldP spid="52" grpId="0"/>
      <p:bldP spid="54" grpId="0"/>
      <p:bldP spid="55" grpId="0"/>
      <p:bldP spid="59" grpId="0" animBg="1"/>
      <p:bldP spid="60" grpId="0"/>
      <p:bldP spid="63" grpId="0"/>
      <p:bldP spid="64" grpId="0"/>
      <p:bldP spid="15" grpId="0"/>
      <p:bldP spid="17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B699A-A622-F7CD-96AC-26FB72187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Ordinary Least Squares (OLS)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D650F-28F6-9A38-3D9B-DD6367FAF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089534"/>
          </a:xfrm>
        </p:spPr>
        <p:txBody>
          <a:bodyPr/>
          <a:lstStyle/>
          <a:p>
            <a:r>
              <a:rPr lang="en-US" dirty="0"/>
              <a:t>(OLS) method is a </a:t>
            </a:r>
            <a:r>
              <a:rPr lang="en-US" dirty="0">
                <a:solidFill>
                  <a:srgbClr val="C00000"/>
                </a:solidFill>
              </a:rPr>
              <a:t>fundamental technique </a:t>
            </a:r>
            <a:r>
              <a:rPr lang="en-US" dirty="0"/>
              <a:t>in linear regression used to </a:t>
            </a:r>
            <a:r>
              <a:rPr lang="en-US" dirty="0">
                <a:solidFill>
                  <a:srgbClr val="C00000"/>
                </a:solidFill>
              </a:rPr>
              <a:t>estimate the parameters (b</a:t>
            </a:r>
            <a:r>
              <a:rPr lang="en-US" baseline="-25000" dirty="0">
                <a:solidFill>
                  <a:srgbClr val="C00000"/>
                </a:solidFill>
              </a:rPr>
              <a:t>0</a:t>
            </a:r>
            <a:r>
              <a:rPr lang="en-US" dirty="0">
                <a:solidFill>
                  <a:srgbClr val="C00000"/>
                </a:solidFill>
              </a:rPr>
              <a:t>,b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,..,b</a:t>
            </a:r>
            <a:r>
              <a:rPr lang="en-US" baseline="-25000" dirty="0">
                <a:solidFill>
                  <a:srgbClr val="C00000"/>
                </a:solidFill>
              </a:rPr>
              <a:t>n</a:t>
            </a:r>
            <a:r>
              <a:rPr lang="en-US" dirty="0">
                <a:solidFill>
                  <a:srgbClr val="C00000"/>
                </a:solidFill>
              </a:rPr>
              <a:t>) of a linear model </a:t>
            </a:r>
            <a:r>
              <a:rPr lang="en-US" dirty="0"/>
              <a:t>by minimizing the </a:t>
            </a:r>
            <a:r>
              <a:rPr lang="en-US" dirty="0">
                <a:solidFill>
                  <a:srgbClr val="C00000"/>
                </a:solidFill>
              </a:rPr>
              <a:t>sum of the squared differences between observed values and predicted values.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339387-B345-F45C-2434-48425F5526D9}"/>
                  </a:ext>
                </a:extLst>
              </p:cNvPr>
              <p:cNvSpPr txBox="1"/>
              <p:nvPr/>
            </p:nvSpPr>
            <p:spPr>
              <a:xfrm>
                <a:off x="3883378" y="2325510"/>
                <a:ext cx="6423378" cy="913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</a:t>
                </a:r>
                <a:r>
                  <a:rPr lang="en-US" sz="3000" b="1" baseline="-2500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sz="3000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3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3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𝑥𝑖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 −</m:t>
                        </m:r>
                        <m:acc>
                          <m:accPr>
                            <m:chr m:val="̅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3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𝑥𝑖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acc>
                              <m:accPr>
                                <m:chr m:val="̅"/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sz="30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3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339387-B345-F45C-2434-48425F552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378" y="2325510"/>
                <a:ext cx="6423378" cy="913199"/>
              </a:xfrm>
              <a:prstGeom prst="rect">
                <a:avLst/>
              </a:prstGeom>
              <a:blipFill>
                <a:blip r:embed="rId2"/>
                <a:stretch>
                  <a:fillRect l="-2170" t="-52055" b="-87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1BE43C-D0E6-684C-0541-4582D6A25A56}"/>
                  </a:ext>
                </a:extLst>
              </p:cNvPr>
              <p:cNvSpPr txBox="1"/>
              <p:nvPr/>
            </p:nvSpPr>
            <p:spPr>
              <a:xfrm>
                <a:off x="3883378" y="3445932"/>
                <a:ext cx="6423378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000" b="1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B</a:t>
                </a:r>
                <a:r>
                  <a:rPr lang="en-US" sz="3000" b="1" baseline="-25000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sz="3000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3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3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- B</a:t>
                </a:r>
                <a:r>
                  <a:rPr lang="en-US" sz="3000" baseline="-25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 </a:t>
                </a:r>
                <a14:m>
                  <m:oMath xmlns:m="http://schemas.openxmlformats.org/officeDocument/2006/math">
                    <m:r>
                      <a:rPr lang="en-US" sz="3000" b="0" i="0" smtClean="0">
                        <a:latin typeface="Cambria Math" panose="02040503050406030204" pitchFamily="18" charset="0"/>
                      </a:rPr>
                      <m:t>∗ </m:t>
                    </m:r>
                    <m:acc>
                      <m:accPr>
                        <m:chr m:val="̅"/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sz="3000" baseline="-250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21BE43C-D0E6-684C-0541-4582D6A25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378" y="3445932"/>
                <a:ext cx="6423378" cy="553998"/>
              </a:xfrm>
              <a:prstGeom prst="rect">
                <a:avLst/>
              </a:prstGeom>
              <a:blipFill>
                <a:blip r:embed="rId3"/>
                <a:stretch>
                  <a:fillRect l="-2170" t="-13636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3962602-F0EA-6F44-2841-68B8DFECDE72}"/>
              </a:ext>
            </a:extLst>
          </p:cNvPr>
          <p:cNvSpPr txBox="1"/>
          <p:nvPr/>
        </p:nvSpPr>
        <p:spPr>
          <a:xfrm>
            <a:off x="857956" y="498968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nsolas" panose="020B0609020204030204" pitchFamily="49" charset="0"/>
              </a:rPr>
              <a:t>Where,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AB01BD-FA91-6099-2556-26823F9BD381}"/>
                  </a:ext>
                </a:extLst>
              </p:cNvPr>
              <p:cNvSpPr txBox="1"/>
              <p:nvPr/>
            </p:nvSpPr>
            <p:spPr>
              <a:xfrm>
                <a:off x="282223" y="5359021"/>
                <a:ext cx="5524552" cy="1100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𝑦𝑖</m:t>
                          </m:r>
                        </m:e>
                      </m:nary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and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̅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</m:oMath>
                  </m:oMathPara>
                </a14:m>
                <a:endParaRPr lang="en-US" sz="24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AB01BD-FA91-6099-2556-26823F9BD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23" y="5359021"/>
                <a:ext cx="5524552" cy="1100879"/>
              </a:xfrm>
              <a:prstGeom prst="rect">
                <a:avLst/>
              </a:prstGeom>
              <a:blipFill>
                <a:blip r:embed="rId4"/>
                <a:stretch>
                  <a:fillRect t="-105682" b="-16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247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3257-F451-433C-175A-9BBB42B87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EF0BA-AE73-70B8-8376-A0635EF32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is an </a:t>
            </a:r>
            <a:r>
              <a:rPr lang="en-US" dirty="0">
                <a:solidFill>
                  <a:srgbClr val="C00000"/>
                </a:solidFill>
              </a:rPr>
              <a:t>optimization algorithm </a:t>
            </a:r>
            <a:r>
              <a:rPr lang="en-US" dirty="0"/>
              <a:t>used to </a:t>
            </a:r>
            <a:r>
              <a:rPr lang="en-US" dirty="0">
                <a:solidFill>
                  <a:srgbClr val="C00000"/>
                </a:solidFill>
              </a:rPr>
              <a:t>minimize the loss function</a:t>
            </a:r>
            <a:r>
              <a:rPr lang="en-US" dirty="0"/>
              <a:t> in machine </a:t>
            </a:r>
            <a:r>
              <a:rPr lang="en-US" dirty="0">
                <a:solidFill>
                  <a:srgbClr val="C00000"/>
                </a:solidFill>
              </a:rPr>
              <a:t>learning models, such as linear regression and neural networks</a:t>
            </a:r>
            <a:r>
              <a:rPr lang="en-US" dirty="0"/>
              <a:t>.</a:t>
            </a:r>
          </a:p>
          <a:p>
            <a:r>
              <a:rPr lang="en-US" dirty="0"/>
              <a:t>It iteratively adjusts </a:t>
            </a:r>
            <a:r>
              <a:rPr lang="en-US" dirty="0">
                <a:solidFill>
                  <a:srgbClr val="C00000"/>
                </a:solidFill>
              </a:rPr>
              <a:t>model parameters to find the best-fit solution</a:t>
            </a:r>
            <a:r>
              <a:rPr lang="en-US" dirty="0"/>
              <a:t>.</a:t>
            </a:r>
          </a:p>
          <a:p>
            <a:r>
              <a:rPr lang="en-US" b="1" dirty="0"/>
              <a:t>Applications: </a:t>
            </a:r>
            <a:r>
              <a:rPr lang="en-US" dirty="0"/>
              <a:t>Used in models </a:t>
            </a:r>
            <a:r>
              <a:rPr lang="en-US" dirty="0">
                <a:solidFill>
                  <a:srgbClr val="C00000"/>
                </a:solidFill>
              </a:rPr>
              <a:t>like Linear Regression, Logistic Regression, and Neural Networks</a:t>
            </a:r>
            <a:r>
              <a:rPr lang="en-US" dirty="0"/>
              <a:t>.</a:t>
            </a:r>
          </a:p>
          <a:p>
            <a:r>
              <a:rPr lang="en-US" b="1" dirty="0"/>
              <a:t>Loss Function: </a:t>
            </a:r>
            <a:r>
              <a:rPr lang="en-US" dirty="0"/>
              <a:t>A measure of how far the model's predictions are from the actual values.</a:t>
            </a:r>
          </a:p>
          <a:p>
            <a:r>
              <a:rPr lang="en-US" b="1" dirty="0"/>
              <a:t>Example: </a:t>
            </a:r>
            <a:r>
              <a:rPr lang="en-US" dirty="0"/>
              <a:t>Mean Squared Error (MSE) for regression.</a:t>
            </a:r>
          </a:p>
          <a:p>
            <a:r>
              <a:rPr lang="en-US" b="1" dirty="0"/>
              <a:t>Goal: </a:t>
            </a:r>
            <a:r>
              <a:rPr lang="en-US" dirty="0"/>
              <a:t>Minimize the loss function by finding optimal parameters (weights and bias).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30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E964A-808A-AD0B-F8B2-33FF2D27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Does Gradient Descent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8F7F8-20A4-C249-5583-F4858E084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712102"/>
          </a:xfrm>
        </p:spPr>
        <p:txBody>
          <a:bodyPr/>
          <a:lstStyle/>
          <a:p>
            <a:r>
              <a:rPr lang="en-IN" dirty="0"/>
              <a:t>1) Start with random </a:t>
            </a:r>
            <a:r>
              <a:rPr lang="en-IN" dirty="0">
                <a:solidFill>
                  <a:srgbClr val="C00000"/>
                </a:solidFill>
              </a:rPr>
              <a:t>initial values for parameters (weights).</a:t>
            </a:r>
          </a:p>
          <a:p>
            <a:r>
              <a:rPr lang="en-IN" dirty="0"/>
              <a:t>2) Compute the </a:t>
            </a:r>
            <a:r>
              <a:rPr lang="en-IN" dirty="0">
                <a:solidFill>
                  <a:srgbClr val="C00000"/>
                </a:solidFill>
              </a:rPr>
              <a:t>gradient (slope of the loss function).</a:t>
            </a:r>
          </a:p>
          <a:p>
            <a:r>
              <a:rPr lang="en-IN" dirty="0"/>
              <a:t>3) Adjust </a:t>
            </a:r>
            <a:r>
              <a:rPr lang="en-IN" dirty="0">
                <a:solidFill>
                  <a:srgbClr val="C00000"/>
                </a:solidFill>
              </a:rPr>
              <a:t>parameters in the opposite direction of the gradient</a:t>
            </a:r>
            <a:r>
              <a:rPr lang="en-IN" dirty="0"/>
              <a:t>.</a:t>
            </a:r>
          </a:p>
          <a:p>
            <a:r>
              <a:rPr lang="en-IN" dirty="0"/>
              <a:t>4) Repeat until the </a:t>
            </a:r>
            <a:r>
              <a:rPr lang="en-IN" dirty="0">
                <a:solidFill>
                  <a:srgbClr val="C00000"/>
                </a:solidFill>
              </a:rPr>
              <a:t>loss converges to a minimum value</a:t>
            </a:r>
            <a:r>
              <a:rPr lang="en-IN" dirty="0"/>
              <a:t>.</a:t>
            </a:r>
          </a:p>
          <a:p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92437D0-7B7D-174B-4A35-42FE7F57FBEE}"/>
              </a:ext>
            </a:extLst>
          </p:cNvPr>
          <p:cNvCxnSpPr>
            <a:cxnSpLocks/>
          </p:cNvCxnSpPr>
          <p:nvPr/>
        </p:nvCxnSpPr>
        <p:spPr>
          <a:xfrm flipV="1">
            <a:off x="2720624" y="2842390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1A18206-538E-6AE2-1E9E-F4D0C47981A1}"/>
              </a:ext>
            </a:extLst>
          </p:cNvPr>
          <p:cNvCxnSpPr>
            <a:cxnSpLocks/>
          </p:cNvCxnSpPr>
          <p:nvPr/>
        </p:nvCxnSpPr>
        <p:spPr>
          <a:xfrm>
            <a:off x="2325512" y="6257279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804E3B4-B938-DF97-E5D1-03CBDB2596CA}"/>
              </a:ext>
            </a:extLst>
          </p:cNvPr>
          <p:cNvSpPr txBox="1"/>
          <p:nvPr/>
        </p:nvSpPr>
        <p:spPr>
          <a:xfrm>
            <a:off x="2576331" y="2524133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BABFF-89E6-5800-C237-452F5FCCB2FF}"/>
              </a:ext>
            </a:extLst>
          </p:cNvPr>
          <p:cNvSpPr txBox="1"/>
          <p:nvPr/>
        </p:nvSpPr>
        <p:spPr>
          <a:xfrm>
            <a:off x="7296832" y="607261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387EADD-15B9-BDCB-437A-F6B664E3C75C}"/>
              </a:ext>
            </a:extLst>
          </p:cNvPr>
          <p:cNvSpPr/>
          <p:nvPr/>
        </p:nvSpPr>
        <p:spPr>
          <a:xfrm>
            <a:off x="3149600" y="3341511"/>
            <a:ext cx="3725333" cy="2551297"/>
          </a:xfrm>
          <a:custGeom>
            <a:avLst/>
            <a:gdLst>
              <a:gd name="connsiteX0" fmla="*/ 0 w 3725333"/>
              <a:gd name="connsiteY0" fmla="*/ 22578 h 2551297"/>
              <a:gd name="connsiteX1" fmla="*/ 1151467 w 3725333"/>
              <a:gd name="connsiteY1" fmla="*/ 2551289 h 2551297"/>
              <a:gd name="connsiteX2" fmla="*/ 3725333 w 3725333"/>
              <a:gd name="connsiteY2" fmla="*/ 0 h 2551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25333" h="2551297">
                <a:moveTo>
                  <a:pt x="0" y="22578"/>
                </a:moveTo>
                <a:cubicBezTo>
                  <a:pt x="265289" y="1288815"/>
                  <a:pt x="530578" y="2555052"/>
                  <a:pt x="1151467" y="2551289"/>
                </a:cubicBezTo>
                <a:cubicBezTo>
                  <a:pt x="1772356" y="2547526"/>
                  <a:pt x="3245555" y="421452"/>
                  <a:pt x="372533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EFBBC537-BFB0-85CE-86DE-38E104A1A57B}"/>
              </a:ext>
            </a:extLst>
          </p:cNvPr>
          <p:cNvSpPr/>
          <p:nvPr/>
        </p:nvSpPr>
        <p:spPr>
          <a:xfrm>
            <a:off x="4120445" y="5746870"/>
            <a:ext cx="248355" cy="179805"/>
          </a:xfrm>
          <a:prstGeom prst="triangl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B8BF1E9-D7CE-3ABA-EDAB-CFE7FE29152D}"/>
              </a:ext>
            </a:extLst>
          </p:cNvPr>
          <p:cNvCxnSpPr>
            <a:cxnSpLocks/>
          </p:cNvCxnSpPr>
          <p:nvPr/>
        </p:nvCxnSpPr>
        <p:spPr>
          <a:xfrm>
            <a:off x="3152426" y="3643584"/>
            <a:ext cx="245529" cy="849394"/>
          </a:xfrm>
          <a:prstGeom prst="line">
            <a:avLst/>
          </a:prstGeom>
          <a:ln w="762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ECE6EA-36F9-0F28-2428-02B6D679458B}"/>
              </a:ext>
            </a:extLst>
          </p:cNvPr>
          <p:cNvCxnSpPr>
            <a:cxnSpLocks/>
          </p:cNvCxnSpPr>
          <p:nvPr/>
        </p:nvCxnSpPr>
        <p:spPr>
          <a:xfrm>
            <a:off x="3567294" y="5256633"/>
            <a:ext cx="428975" cy="594911"/>
          </a:xfrm>
          <a:prstGeom prst="line">
            <a:avLst/>
          </a:prstGeom>
          <a:ln w="762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29BB56-3C1C-329C-39DF-5082853AA576}"/>
              </a:ext>
            </a:extLst>
          </p:cNvPr>
          <p:cNvSpPr txBox="1"/>
          <p:nvPr/>
        </p:nvSpPr>
        <p:spPr>
          <a:xfrm>
            <a:off x="3275190" y="3595701"/>
            <a:ext cx="2978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Steep slop: so take large steps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37973A-3608-046B-72E0-E32E5402DC5F}"/>
              </a:ext>
            </a:extLst>
          </p:cNvPr>
          <p:cNvSpPr txBox="1"/>
          <p:nvPr/>
        </p:nvSpPr>
        <p:spPr>
          <a:xfrm>
            <a:off x="3781781" y="5256633"/>
            <a:ext cx="3655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is less steep: so take small steps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61083-ED94-5D12-02A5-1E7AE534354A}"/>
              </a:ext>
            </a:extLst>
          </p:cNvPr>
          <p:cNvSpPr txBox="1"/>
          <p:nvPr/>
        </p:nvSpPr>
        <p:spPr>
          <a:xfrm>
            <a:off x="3276602" y="6266125"/>
            <a:ext cx="360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9812D-D0E6-3E63-2241-E1098FE61CB0}"/>
              </a:ext>
            </a:extLst>
          </p:cNvPr>
          <p:cNvSpPr txBox="1"/>
          <p:nvPr/>
        </p:nvSpPr>
        <p:spPr>
          <a:xfrm rot="16200000">
            <a:off x="1942707" y="3228554"/>
            <a:ext cx="11416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Total Loss</a:t>
            </a:r>
          </a:p>
        </p:txBody>
      </p:sp>
    </p:spTree>
    <p:extLst>
      <p:ext uri="{BB962C8B-B14F-4D97-AF65-F5344CB8AC3E}">
        <p14:creationId xmlns:p14="http://schemas.microsoft.com/office/powerpoint/2010/main" val="58519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 animBg="1"/>
      <p:bldP spid="11" grpId="0" animBg="1"/>
      <p:bldP spid="18" grpId="0"/>
      <p:bldP spid="19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9429B-DF04-864A-7B28-79C2ABA91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Gradient Descent Formula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AF0AB-A6FC-214E-462E-9970B92D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2133600"/>
            <a:ext cx="11929641" cy="4308345"/>
          </a:xfrm>
        </p:spPr>
        <p:txBody>
          <a:bodyPr/>
          <a:lstStyle/>
          <a:p>
            <a:r>
              <a:rPr lang="en-IN" dirty="0">
                <a:solidFill>
                  <a:schemeClr val="accent3">
                    <a:lumMod val="50000"/>
                  </a:schemeClr>
                </a:solidFill>
              </a:rPr>
              <a:t>w: Weight (parameter) </a:t>
            </a:r>
          </a:p>
          <a:p>
            <a:r>
              <a:rPr lang="el-GR" dirty="0">
                <a:solidFill>
                  <a:schemeClr val="accent6">
                    <a:lumMod val="75000"/>
                  </a:schemeClr>
                </a:solidFill>
              </a:rPr>
              <a:t>α: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Learning rate (step size) -&gt; Determines step size. Too large overshoots; too small converges slowly.</a:t>
            </a:r>
          </a:p>
          <a:p>
            <a:r>
              <a:rPr lang="en-IN" dirty="0">
                <a:solidFill>
                  <a:schemeClr val="accent5">
                    <a:lumMod val="75000"/>
                  </a:schemeClr>
                </a:solidFill>
              </a:rPr>
              <a:t>∂Loss/∂w: Gradient of the loss function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02A73-085E-81B8-5753-8C4623990F48}"/>
              </a:ext>
            </a:extLst>
          </p:cNvPr>
          <p:cNvSpPr txBox="1"/>
          <p:nvPr/>
        </p:nvSpPr>
        <p:spPr>
          <a:xfrm>
            <a:off x="285044" y="941191"/>
            <a:ext cx="61242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Parameter Update Rule:</a:t>
            </a:r>
          </a:p>
          <a:p>
            <a:r>
              <a:rPr lang="en-IN" sz="2800" b="1" dirty="0">
                <a:solidFill>
                  <a:schemeClr val="accent3">
                    <a:lumMod val="50000"/>
                  </a:schemeClr>
                </a:solidFill>
              </a:rPr>
              <a:t>w </a:t>
            </a:r>
            <a:r>
              <a:rPr lang="en-IN" sz="2800" b="1" dirty="0"/>
              <a:t>= </a:t>
            </a:r>
            <a:r>
              <a:rPr lang="en-IN" sz="2800" b="1" dirty="0">
                <a:solidFill>
                  <a:schemeClr val="accent3">
                    <a:lumMod val="50000"/>
                  </a:schemeClr>
                </a:solidFill>
              </a:rPr>
              <a:t>w</a:t>
            </a:r>
            <a:r>
              <a:rPr lang="en-IN" sz="2800" b="1" dirty="0"/>
              <a:t> - </a:t>
            </a:r>
            <a:r>
              <a:rPr lang="el-GR" sz="2800" b="1" dirty="0">
                <a:solidFill>
                  <a:schemeClr val="accent6">
                    <a:lumMod val="75000"/>
                  </a:schemeClr>
                </a:solidFill>
              </a:rPr>
              <a:t>α</a:t>
            </a:r>
            <a:r>
              <a:rPr lang="el-GR" sz="2800" b="1" dirty="0"/>
              <a:t> </a:t>
            </a:r>
            <a:r>
              <a:rPr lang="en-US" sz="2800" b="1" dirty="0"/>
              <a:t>*</a:t>
            </a:r>
            <a:r>
              <a:rPr lang="el-GR" sz="2800" b="1" dirty="0"/>
              <a:t> </a:t>
            </a:r>
            <a:r>
              <a:rPr lang="el-GR" sz="2800" b="1" dirty="0">
                <a:solidFill>
                  <a:schemeClr val="accent5">
                    <a:lumMod val="75000"/>
                  </a:schemeClr>
                </a:solidFill>
              </a:rPr>
              <a:t>∂</a:t>
            </a:r>
            <a:r>
              <a:rPr lang="en-IN" sz="2800" b="1" dirty="0">
                <a:solidFill>
                  <a:schemeClr val="accent5">
                    <a:lumMod val="75000"/>
                  </a:schemeClr>
                </a:solidFill>
              </a:rPr>
              <a:t>Loss/∂w</a:t>
            </a:r>
          </a:p>
        </p:txBody>
      </p:sp>
    </p:spTree>
    <p:extLst>
      <p:ext uri="{BB962C8B-B14F-4D97-AF65-F5344CB8AC3E}">
        <p14:creationId xmlns:p14="http://schemas.microsoft.com/office/powerpoint/2010/main" val="311092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AAF2-A24C-D5F3-2502-05729645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Sum of squares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4C5284-6E98-059F-5130-86F1BB850545}"/>
              </a:ext>
            </a:extLst>
          </p:cNvPr>
          <p:cNvSpPr/>
          <p:nvPr/>
        </p:nvSpPr>
        <p:spPr>
          <a:xfrm>
            <a:off x="1076308" y="3763048"/>
            <a:ext cx="6051496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Menlo" panose="020B060903080402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mean_squared_error</a:t>
            </a:r>
            <a:endParaRPr lang="en-IN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mean_squared_error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(y,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 *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len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(y)</a:t>
            </a:r>
          </a:p>
          <a:p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Menlo" panose="020B0609030804020204" pitchFamily="49" charset="0"/>
              </a:rPr>
              <a:t>"Residual Sum of Squares (RSS):"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rss</a:t>
            </a:r>
            <a:r>
              <a:rPr lang="en-IN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DD034-51DA-3D6F-8957-DF78150BF6C7}"/>
              </a:ext>
            </a:extLst>
          </p:cNvPr>
          <p:cNvSpPr/>
          <p:nvPr/>
        </p:nvSpPr>
        <p:spPr>
          <a:xfrm>
            <a:off x="576315" y="376304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32E69436-99A7-507C-AABC-BCBC51776360}"/>
              </a:ext>
            </a:extLst>
          </p:cNvPr>
          <p:cNvSpPr/>
          <p:nvPr/>
        </p:nvSpPr>
        <p:spPr>
          <a:xfrm>
            <a:off x="576315" y="3433864"/>
            <a:ext cx="139924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/>
              <a:t>Residual</a:t>
            </a:r>
            <a:r>
              <a:rPr lang="en-US" sz="1600" dirty="0" err="1">
                <a:solidFill>
                  <a:schemeClr val="bg1"/>
                </a:solidFill>
              </a:rPr>
              <a:t>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0B507B-8ADA-92C3-625D-BDBB36A79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565556"/>
          </a:xfrm>
        </p:spPr>
        <p:txBody>
          <a:bodyPr/>
          <a:lstStyle/>
          <a:p>
            <a:r>
              <a:rPr lang="en-US" dirty="0"/>
              <a:t>If </a:t>
            </a:r>
            <a:r>
              <a:rPr lang="en-US" dirty="0">
                <a:solidFill>
                  <a:srgbClr val="C00000"/>
                </a:solidFill>
              </a:rPr>
              <a:t>RSS is very close to zero.</a:t>
            </a:r>
            <a:r>
              <a:rPr lang="en-US" dirty="0"/>
              <a:t> it means the model </a:t>
            </a:r>
            <a:r>
              <a:rPr lang="en-US" dirty="0">
                <a:solidFill>
                  <a:srgbClr val="C00000"/>
                </a:solidFill>
              </a:rPr>
              <a:t>fits the data almost perfectly</a:t>
            </a:r>
            <a:r>
              <a:rPr lang="en-US" dirty="0"/>
              <a:t>.</a:t>
            </a:r>
          </a:p>
          <a:p>
            <a:r>
              <a:rPr lang="en-US" dirty="0"/>
              <a:t>However, </a:t>
            </a:r>
            <a:r>
              <a:rPr lang="en-US" dirty="0">
                <a:solidFill>
                  <a:srgbClr val="C00000"/>
                </a:solidFill>
              </a:rPr>
              <a:t>a small RSS does not guarantee a good model in general</a:t>
            </a:r>
            <a:r>
              <a:rPr lang="en-US" dirty="0"/>
              <a:t>. For example, overfitting might lead to a </a:t>
            </a:r>
            <a:r>
              <a:rPr lang="en-US" dirty="0">
                <a:solidFill>
                  <a:srgbClr val="C00000"/>
                </a:solidFill>
              </a:rPr>
              <a:t>near-zero RSS </a:t>
            </a:r>
            <a:r>
              <a:rPr lang="en-US" dirty="0"/>
              <a:t>on training data </a:t>
            </a:r>
            <a:r>
              <a:rPr lang="en-US" dirty="0">
                <a:solidFill>
                  <a:srgbClr val="C00000"/>
                </a:solidFill>
              </a:rPr>
              <a:t>but poor generalization on unseen data</a:t>
            </a:r>
            <a:r>
              <a:rPr lang="en-US" dirty="0"/>
              <a:t>.</a:t>
            </a:r>
          </a:p>
          <a:p>
            <a:r>
              <a:rPr lang="en-IN" dirty="0"/>
              <a:t>RSS allows you to compare the performance of different </a:t>
            </a:r>
            <a:r>
              <a:rPr lang="en-IN" dirty="0">
                <a:solidFill>
                  <a:srgbClr val="C00000"/>
                </a:solidFill>
              </a:rPr>
              <a:t>regression models on the same dataset</a:t>
            </a:r>
            <a:r>
              <a:rPr lang="en-IN" dirty="0"/>
              <a:t>. A model with a </a:t>
            </a:r>
            <a:r>
              <a:rPr lang="en-IN" dirty="0">
                <a:solidFill>
                  <a:srgbClr val="C00000"/>
                </a:solidFill>
              </a:rPr>
              <a:t>lower RSS is generally preferred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We can fund RSS using scikit-</a:t>
            </a:r>
            <a:r>
              <a:rPr lang="en-US" dirty="0" err="1"/>
              <a:t>learn’s</a:t>
            </a:r>
            <a:r>
              <a:rPr lang="en-US" dirty="0"/>
              <a:t> </a:t>
            </a:r>
            <a:r>
              <a:rPr lang="en-US" dirty="0" err="1">
                <a:solidFill>
                  <a:srgbClr val="C00000"/>
                </a:solidFill>
              </a:rPr>
              <a:t>mean_squared_error</a:t>
            </a:r>
            <a:r>
              <a:rPr lang="en-US" dirty="0">
                <a:solidFill>
                  <a:srgbClr val="C00000"/>
                </a:solidFill>
              </a:rPr>
              <a:t> </a:t>
            </a:r>
            <a:r>
              <a:rPr lang="en-US" dirty="0"/>
              <a:t>function.</a:t>
            </a:r>
          </a:p>
        </p:txBody>
      </p:sp>
    </p:spTree>
    <p:extLst>
      <p:ext uri="{BB962C8B-B14F-4D97-AF65-F5344CB8AC3E}">
        <p14:creationId xmlns:p14="http://schemas.microsoft.com/office/powerpoint/2010/main" val="1076679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5855-0558-BBEB-D555-F92F02CD0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Properties of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B77B-9B30-1A7A-1973-EEAE7FB8E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regression line where the regression parameters </a:t>
            </a:r>
            <a:r>
              <a:rPr lang="en-US" dirty="0">
                <a:solidFill>
                  <a:srgbClr val="00B050"/>
                </a:solidFill>
              </a:rPr>
              <a:t>b</a:t>
            </a:r>
            <a:r>
              <a:rPr lang="en-US" baseline="-25000" dirty="0">
                <a:solidFill>
                  <a:srgbClr val="00B050"/>
                </a:solidFill>
              </a:rPr>
              <a:t>0</a:t>
            </a:r>
            <a:r>
              <a:rPr lang="en-US" dirty="0"/>
              <a:t> and </a:t>
            </a:r>
            <a:r>
              <a:rPr lang="en-US" dirty="0">
                <a:solidFill>
                  <a:srgbClr val="00B050"/>
                </a:solidFill>
              </a:rPr>
              <a:t>b</a:t>
            </a:r>
            <a:r>
              <a:rPr lang="en-US" baseline="-25000" dirty="0">
                <a:solidFill>
                  <a:srgbClr val="00B050"/>
                </a:solidFill>
              </a:rPr>
              <a:t>1</a:t>
            </a:r>
            <a:r>
              <a:rPr lang="en-US" dirty="0"/>
              <a:t> are defined, the properties are given as:</a:t>
            </a:r>
          </a:p>
          <a:p>
            <a:r>
              <a:rPr lang="en-US" dirty="0"/>
              <a:t>The line reduces the </a:t>
            </a:r>
            <a:r>
              <a:rPr lang="en-US" dirty="0">
                <a:solidFill>
                  <a:srgbClr val="C00000"/>
                </a:solidFill>
              </a:rPr>
              <a:t>sum of squared differences</a:t>
            </a:r>
            <a:r>
              <a:rPr lang="en-US" dirty="0"/>
              <a:t> between </a:t>
            </a:r>
            <a:r>
              <a:rPr lang="en-US" dirty="0">
                <a:solidFill>
                  <a:srgbClr val="C00000"/>
                </a:solidFill>
              </a:rPr>
              <a:t>observed values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predicted values.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regression line passes through the mean of X and Y variable values</a:t>
            </a:r>
          </a:p>
          <a:p>
            <a:r>
              <a:rPr lang="en-IN" b="0" i="0" u="none" strike="noStrike" dirty="0">
                <a:solidFill>
                  <a:srgbClr val="273239"/>
                </a:solidFill>
                <a:effectLst/>
              </a:rPr>
              <a:t>Linear regression constant (</a:t>
            </a:r>
            <a:r>
              <a:rPr lang="en-IN" b="0" i="0" u="none" strike="noStrike" dirty="0">
                <a:solidFill>
                  <a:srgbClr val="00B050"/>
                </a:solidFill>
                <a:effectLst/>
              </a:rPr>
              <a:t>b</a:t>
            </a:r>
            <a:r>
              <a:rPr lang="en-IN" baseline="-25000" dirty="0">
                <a:solidFill>
                  <a:srgbClr val="00B050"/>
                </a:solidFill>
              </a:rPr>
              <a:t>0</a:t>
            </a:r>
            <a:r>
              <a:rPr lang="en-IN" b="0" i="0" u="none" strike="noStrike" dirty="0">
                <a:solidFill>
                  <a:srgbClr val="273239"/>
                </a:solidFill>
                <a:effectLst/>
              </a:rPr>
              <a:t>) is equal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to the y-intercept of the linear regression</a:t>
            </a:r>
            <a:r>
              <a:rPr lang="en-IN" b="0" i="0" u="none" strike="noStrike" dirty="0">
                <a:solidFill>
                  <a:srgbClr val="273239"/>
                </a:solidFill>
                <a:effectLst/>
              </a:rPr>
              <a:t>.</a:t>
            </a:r>
          </a:p>
          <a:p>
            <a:r>
              <a:rPr lang="en-US" dirty="0"/>
              <a:t>Linear regression coefficient (</a:t>
            </a:r>
            <a:r>
              <a:rPr lang="en-US" dirty="0">
                <a:solidFill>
                  <a:srgbClr val="00B050"/>
                </a:solidFill>
              </a:rPr>
              <a:t>b</a:t>
            </a:r>
            <a:r>
              <a:rPr lang="en-US" baseline="-25000" dirty="0">
                <a:solidFill>
                  <a:srgbClr val="00B050"/>
                </a:solidFill>
              </a:rPr>
              <a:t>1</a:t>
            </a:r>
            <a:r>
              <a:rPr lang="en-US" dirty="0"/>
              <a:t>) is the </a:t>
            </a:r>
            <a:r>
              <a:rPr lang="en-US" dirty="0">
                <a:solidFill>
                  <a:srgbClr val="C00000"/>
                </a:solidFill>
              </a:rPr>
              <a:t>slope of the regression line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FDD1-2294-768D-3F6D-97E6EDD5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Assumptions of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B8A8B-5E87-261E-86F8-164B359E2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676556"/>
          </a:xfrm>
        </p:spPr>
        <p:txBody>
          <a:bodyPr/>
          <a:lstStyle/>
          <a:p>
            <a:r>
              <a:rPr lang="en-US" dirty="0"/>
              <a:t>Regression is a </a:t>
            </a:r>
            <a:r>
              <a:rPr lang="en-US" dirty="0">
                <a:solidFill>
                  <a:srgbClr val="C00000"/>
                </a:solidFill>
              </a:rPr>
              <a:t>parametric approach</a:t>
            </a:r>
            <a:r>
              <a:rPr lang="en-US" dirty="0"/>
              <a:t>. ‘Parametric’ means </a:t>
            </a:r>
            <a:r>
              <a:rPr lang="en-US" dirty="0">
                <a:solidFill>
                  <a:srgbClr val="C00000"/>
                </a:solidFill>
              </a:rPr>
              <a:t>it makes assumptions about data for the purpose of analysis. </a:t>
            </a:r>
          </a:p>
          <a:p>
            <a:r>
              <a:rPr lang="en-US" dirty="0"/>
              <a:t>It fails to deliver good </a:t>
            </a:r>
            <a:r>
              <a:rPr lang="en-US" dirty="0">
                <a:solidFill>
                  <a:srgbClr val="C00000"/>
                </a:solidFill>
              </a:rPr>
              <a:t>results with data sets which doesn’t fulfill its assumptions</a:t>
            </a:r>
            <a:r>
              <a:rPr lang="en-US" dirty="0"/>
              <a:t>.</a:t>
            </a:r>
          </a:p>
          <a:p>
            <a:r>
              <a:rPr lang="en-US" dirty="0"/>
              <a:t>Therefore, for a successful regression analysis, it’s </a:t>
            </a:r>
            <a:r>
              <a:rPr lang="en-US" dirty="0">
                <a:solidFill>
                  <a:srgbClr val="C00000"/>
                </a:solidFill>
              </a:rPr>
              <a:t>essential to validate these assumptions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ADAFBE-CC82-B739-7C5C-7CA2432E11AF}"/>
              </a:ext>
            </a:extLst>
          </p:cNvPr>
          <p:cNvSpPr txBox="1">
            <a:spLocks/>
          </p:cNvSpPr>
          <p:nvPr/>
        </p:nvSpPr>
        <p:spPr>
          <a:xfrm>
            <a:off x="131181" y="2692245"/>
            <a:ext cx="5558420" cy="26488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Linearity:</a:t>
            </a:r>
          </a:p>
          <a:p>
            <a:pPr lvl="1"/>
            <a:r>
              <a:rPr lang="en-US" dirty="0"/>
              <a:t>The relationship between the </a:t>
            </a:r>
            <a:r>
              <a:rPr lang="en-US" dirty="0">
                <a:solidFill>
                  <a:srgbClr val="C00000"/>
                </a:solidFill>
              </a:rPr>
              <a:t>dependent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independent variables is linear.</a:t>
            </a:r>
          </a:p>
          <a:p>
            <a:pPr lvl="1"/>
            <a:r>
              <a:rPr lang="en-US" dirty="0"/>
              <a:t>The expected value of the </a:t>
            </a:r>
            <a:r>
              <a:rPr lang="en-US" dirty="0">
                <a:solidFill>
                  <a:srgbClr val="C00000"/>
                </a:solidFill>
              </a:rPr>
              <a:t>dependent variable </a:t>
            </a:r>
            <a:r>
              <a:rPr lang="en-US" dirty="0"/>
              <a:t>is a linear function of the </a:t>
            </a:r>
            <a:r>
              <a:rPr lang="en-US" dirty="0">
                <a:solidFill>
                  <a:srgbClr val="C00000"/>
                </a:solidFill>
              </a:rPr>
              <a:t>independent variable(s).</a:t>
            </a: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B6C1879-9282-654B-8C95-455AF8888B3D}"/>
              </a:ext>
            </a:extLst>
          </p:cNvPr>
          <p:cNvCxnSpPr>
            <a:cxnSpLocks/>
          </p:cNvCxnSpPr>
          <p:nvPr/>
        </p:nvCxnSpPr>
        <p:spPr>
          <a:xfrm flipV="1">
            <a:off x="6637867" y="3389488"/>
            <a:ext cx="2122311" cy="1216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15D2FA94-9D81-7A13-3620-6C7DA1809BDC}"/>
              </a:ext>
            </a:extLst>
          </p:cNvPr>
          <p:cNvSpPr/>
          <p:nvPr/>
        </p:nvSpPr>
        <p:spPr>
          <a:xfrm>
            <a:off x="8319912" y="351573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EFFA41-7960-3E50-D850-3B5E5B427C65}"/>
              </a:ext>
            </a:extLst>
          </p:cNvPr>
          <p:cNvSpPr/>
          <p:nvPr/>
        </p:nvSpPr>
        <p:spPr>
          <a:xfrm>
            <a:off x="7117647" y="41577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254D73-E9EC-3F49-C152-44E2F958F205}"/>
              </a:ext>
            </a:extLst>
          </p:cNvPr>
          <p:cNvSpPr/>
          <p:nvPr/>
        </p:nvSpPr>
        <p:spPr>
          <a:xfrm>
            <a:off x="6925736" y="438291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7B903B-A314-A1E3-3BB0-4CA23A6FF40E}"/>
              </a:ext>
            </a:extLst>
          </p:cNvPr>
          <p:cNvSpPr/>
          <p:nvPr/>
        </p:nvSpPr>
        <p:spPr>
          <a:xfrm>
            <a:off x="7840135" y="402232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A618BD-C3C3-BEA7-79FA-FA83092A1EAF}"/>
              </a:ext>
            </a:extLst>
          </p:cNvPr>
          <p:cNvSpPr/>
          <p:nvPr/>
        </p:nvSpPr>
        <p:spPr>
          <a:xfrm>
            <a:off x="8240890" y="373661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775CF2-65E4-B580-A3A4-19EB45F37CC5}"/>
              </a:ext>
            </a:extLst>
          </p:cNvPr>
          <p:cNvSpPr/>
          <p:nvPr/>
        </p:nvSpPr>
        <p:spPr>
          <a:xfrm>
            <a:off x="7371645" y="392637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E94E08-EB71-C57D-D511-6AECC70A1E70}"/>
              </a:ext>
            </a:extLst>
          </p:cNvPr>
          <p:cNvSpPr/>
          <p:nvPr/>
        </p:nvSpPr>
        <p:spPr>
          <a:xfrm>
            <a:off x="7535334" y="396588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02FF0F6-28FD-EE5A-7299-4BF619E8BC35}"/>
              </a:ext>
            </a:extLst>
          </p:cNvPr>
          <p:cNvSpPr/>
          <p:nvPr/>
        </p:nvSpPr>
        <p:spPr>
          <a:xfrm>
            <a:off x="8060267" y="387340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AF9953-6360-F7A4-832D-5ED4E135B5CC}"/>
              </a:ext>
            </a:extLst>
          </p:cNvPr>
          <p:cNvSpPr/>
          <p:nvPr/>
        </p:nvSpPr>
        <p:spPr>
          <a:xfrm>
            <a:off x="7004757" y="431235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098721-8B0F-E18A-1325-215711F97933}"/>
              </a:ext>
            </a:extLst>
          </p:cNvPr>
          <p:cNvSpPr/>
          <p:nvPr/>
        </p:nvSpPr>
        <p:spPr>
          <a:xfrm>
            <a:off x="7089423" y="437858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ABAFB24-54F3-3B3B-7926-471F55C6B8FF}"/>
              </a:ext>
            </a:extLst>
          </p:cNvPr>
          <p:cNvSpPr/>
          <p:nvPr/>
        </p:nvSpPr>
        <p:spPr>
          <a:xfrm>
            <a:off x="8060267" y="356728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953968C-33A0-A00A-708C-C0996B246843}"/>
              </a:ext>
            </a:extLst>
          </p:cNvPr>
          <p:cNvSpPr/>
          <p:nvPr/>
        </p:nvSpPr>
        <p:spPr>
          <a:xfrm>
            <a:off x="7332135" y="422660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B13C90E-2DE4-BA36-CAD4-92E9055FFB5C}"/>
              </a:ext>
            </a:extLst>
          </p:cNvPr>
          <p:cNvSpPr/>
          <p:nvPr/>
        </p:nvSpPr>
        <p:spPr>
          <a:xfrm>
            <a:off x="7524045" y="407877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6D5DCED-D791-6C9D-577A-E8A0D4BB4F9A}"/>
              </a:ext>
            </a:extLst>
          </p:cNvPr>
          <p:cNvSpPr/>
          <p:nvPr/>
        </p:nvSpPr>
        <p:spPr>
          <a:xfrm>
            <a:off x="7800624" y="373661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8B0A16E-2218-AF90-5085-2681F74B2B26}"/>
              </a:ext>
            </a:extLst>
          </p:cNvPr>
          <p:cNvSpPr/>
          <p:nvPr/>
        </p:nvSpPr>
        <p:spPr>
          <a:xfrm>
            <a:off x="7941735" y="365759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3079C7C-D6A4-84CB-E782-7FDE89F5DE0E}"/>
              </a:ext>
            </a:extLst>
          </p:cNvPr>
          <p:cNvSpPr/>
          <p:nvPr/>
        </p:nvSpPr>
        <p:spPr>
          <a:xfrm>
            <a:off x="8500535" y="355308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CE74315-ACD0-7176-EC39-1ADC1A05C604}"/>
              </a:ext>
            </a:extLst>
          </p:cNvPr>
          <p:cNvSpPr/>
          <p:nvPr/>
        </p:nvSpPr>
        <p:spPr>
          <a:xfrm>
            <a:off x="8427157" y="338516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 descr="Tick">
            <a:extLst>
              <a:ext uri="{FF2B5EF4-FFF2-40B4-BE49-F238E27FC236}">
                <a16:creationId xmlns:a16="http://schemas.microsoft.com/office/drawing/2014/main" id="{E553D52B-A67A-41A5-A6BB-5FBC0891AE4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51046" y="4970590"/>
            <a:ext cx="457200" cy="457200"/>
          </a:xfrm>
          <a:prstGeom prst="rect">
            <a:avLst/>
          </a:prstGeom>
        </p:spPr>
      </p:pic>
      <p:pic>
        <p:nvPicPr>
          <p:cNvPr id="29" name="Graphic 28" descr="Close">
            <a:extLst>
              <a:ext uri="{FF2B5EF4-FFF2-40B4-BE49-F238E27FC236}">
                <a16:creationId xmlns:a16="http://schemas.microsoft.com/office/drawing/2014/main" id="{7779882B-C555-4D19-A9B7-BE9B27CE3B0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549471" y="4934656"/>
            <a:ext cx="457200" cy="4572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73F890-128E-5101-DF59-4D468C5171DD}"/>
              </a:ext>
            </a:extLst>
          </p:cNvPr>
          <p:cNvCxnSpPr>
            <a:cxnSpLocks/>
          </p:cNvCxnSpPr>
          <p:nvPr/>
        </p:nvCxnSpPr>
        <p:spPr>
          <a:xfrm flipV="1">
            <a:off x="9522180" y="3249128"/>
            <a:ext cx="2122311" cy="1216379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177D9C83-5DFB-D630-D82F-7F7D2A657F44}"/>
              </a:ext>
            </a:extLst>
          </p:cNvPr>
          <p:cNvSpPr/>
          <p:nvPr/>
        </p:nvSpPr>
        <p:spPr>
          <a:xfrm>
            <a:off x="11204225" y="337537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36B466C-88AB-77DD-03D5-CF95617A6A50}"/>
              </a:ext>
            </a:extLst>
          </p:cNvPr>
          <p:cNvSpPr/>
          <p:nvPr/>
        </p:nvSpPr>
        <p:spPr>
          <a:xfrm>
            <a:off x="10001960" y="401743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D3645D-26C3-71C4-BB4F-EA8AAA397DF4}"/>
              </a:ext>
            </a:extLst>
          </p:cNvPr>
          <p:cNvSpPr/>
          <p:nvPr/>
        </p:nvSpPr>
        <p:spPr>
          <a:xfrm>
            <a:off x="9810049" y="424255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B56CD1B-DF09-ADD8-62B8-5D0425CAB2D0}"/>
              </a:ext>
            </a:extLst>
          </p:cNvPr>
          <p:cNvSpPr/>
          <p:nvPr/>
        </p:nvSpPr>
        <p:spPr>
          <a:xfrm>
            <a:off x="10724448" y="388196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2BCF4B5-16CF-0F02-5DCA-9EC59D7EC952}"/>
              </a:ext>
            </a:extLst>
          </p:cNvPr>
          <p:cNvSpPr/>
          <p:nvPr/>
        </p:nvSpPr>
        <p:spPr>
          <a:xfrm>
            <a:off x="11125203" y="359625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163B353-BA10-14C4-A38C-79D48535D4BC}"/>
              </a:ext>
            </a:extLst>
          </p:cNvPr>
          <p:cNvSpPr/>
          <p:nvPr/>
        </p:nvSpPr>
        <p:spPr>
          <a:xfrm>
            <a:off x="10910716" y="407877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741AEF-8672-65C3-6BD1-30098E4354D7}"/>
              </a:ext>
            </a:extLst>
          </p:cNvPr>
          <p:cNvSpPr/>
          <p:nvPr/>
        </p:nvSpPr>
        <p:spPr>
          <a:xfrm>
            <a:off x="10419647" y="382552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75A34BE-720A-C251-0D79-589E03D97BE1}"/>
              </a:ext>
            </a:extLst>
          </p:cNvPr>
          <p:cNvSpPr/>
          <p:nvPr/>
        </p:nvSpPr>
        <p:spPr>
          <a:xfrm>
            <a:off x="10944580" y="373304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5699605-A1A1-7FF7-9ACD-9E6EE7E697A2}"/>
              </a:ext>
            </a:extLst>
          </p:cNvPr>
          <p:cNvSpPr/>
          <p:nvPr/>
        </p:nvSpPr>
        <p:spPr>
          <a:xfrm>
            <a:off x="9889070" y="417199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89B3D3A-2D89-15D9-23BB-15280065A0DD}"/>
              </a:ext>
            </a:extLst>
          </p:cNvPr>
          <p:cNvSpPr/>
          <p:nvPr/>
        </p:nvSpPr>
        <p:spPr>
          <a:xfrm>
            <a:off x="9973736" y="423822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37413A6-3755-5FDD-5E0E-A95AB30186F2}"/>
              </a:ext>
            </a:extLst>
          </p:cNvPr>
          <p:cNvSpPr/>
          <p:nvPr/>
        </p:nvSpPr>
        <p:spPr>
          <a:xfrm>
            <a:off x="11136491" y="418055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C72CEE0-FDA1-1ED6-7CFD-E935815CD47D}"/>
              </a:ext>
            </a:extLst>
          </p:cNvPr>
          <p:cNvSpPr/>
          <p:nvPr/>
        </p:nvSpPr>
        <p:spPr>
          <a:xfrm>
            <a:off x="10216448" y="408624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B8D3F98-6011-71C1-80AE-62C25C876449}"/>
              </a:ext>
            </a:extLst>
          </p:cNvPr>
          <p:cNvSpPr/>
          <p:nvPr/>
        </p:nvSpPr>
        <p:spPr>
          <a:xfrm>
            <a:off x="10408358" y="393841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FB4BDFC-2141-F7B7-7C9A-AB5962001695}"/>
              </a:ext>
            </a:extLst>
          </p:cNvPr>
          <p:cNvSpPr/>
          <p:nvPr/>
        </p:nvSpPr>
        <p:spPr>
          <a:xfrm>
            <a:off x="10989738" y="396682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3D838F8-BB36-4D08-F3D4-7A7584B0C81C}"/>
              </a:ext>
            </a:extLst>
          </p:cNvPr>
          <p:cNvSpPr/>
          <p:nvPr/>
        </p:nvSpPr>
        <p:spPr>
          <a:xfrm>
            <a:off x="11164714" y="396804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2B5C73E-6C36-74A0-3E9F-F7F1EBEBEDB9}"/>
              </a:ext>
            </a:extLst>
          </p:cNvPr>
          <p:cNvSpPr/>
          <p:nvPr/>
        </p:nvSpPr>
        <p:spPr>
          <a:xfrm>
            <a:off x="11384848" y="341272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F9169E7-10A4-D938-CD70-2B5882BE4A09}"/>
              </a:ext>
            </a:extLst>
          </p:cNvPr>
          <p:cNvSpPr/>
          <p:nvPr/>
        </p:nvSpPr>
        <p:spPr>
          <a:xfrm>
            <a:off x="11311470" y="324480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6D84689-2BA8-ADA5-8491-F280A8CF29AE}"/>
              </a:ext>
            </a:extLst>
          </p:cNvPr>
          <p:cNvCxnSpPr>
            <a:cxnSpLocks/>
          </p:cNvCxnSpPr>
          <p:nvPr/>
        </p:nvCxnSpPr>
        <p:spPr>
          <a:xfrm flipV="1">
            <a:off x="9443157" y="3545460"/>
            <a:ext cx="2410179" cy="795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A5C784E5-C43C-1788-D1B9-E8282DECD8F5}"/>
              </a:ext>
            </a:extLst>
          </p:cNvPr>
          <p:cNvSpPr/>
          <p:nvPr/>
        </p:nvSpPr>
        <p:spPr>
          <a:xfrm>
            <a:off x="10560757" y="413539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FDC2D87-77DC-7D8C-3B66-19FACA31F71B}"/>
              </a:ext>
            </a:extLst>
          </p:cNvPr>
          <p:cNvSpPr/>
          <p:nvPr/>
        </p:nvSpPr>
        <p:spPr>
          <a:xfrm>
            <a:off x="10329335" y="329635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DC3598C-B15F-AF28-42B9-62675AFF41BB}"/>
              </a:ext>
            </a:extLst>
          </p:cNvPr>
          <p:cNvSpPr/>
          <p:nvPr/>
        </p:nvSpPr>
        <p:spPr>
          <a:xfrm>
            <a:off x="10408358" y="393841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56A8DAD-7BAD-6232-1DEC-C131D37A27FC}"/>
              </a:ext>
            </a:extLst>
          </p:cNvPr>
          <p:cNvSpPr/>
          <p:nvPr/>
        </p:nvSpPr>
        <p:spPr>
          <a:xfrm>
            <a:off x="10182582" y="350594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438FE6C-6D36-EFF9-7B24-F10F2139FE41}"/>
              </a:ext>
            </a:extLst>
          </p:cNvPr>
          <p:cNvSpPr/>
          <p:nvPr/>
        </p:nvSpPr>
        <p:spPr>
          <a:xfrm>
            <a:off x="10713157" y="426686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604ADDD-9849-0CBD-1013-961C4AFBCFD8}"/>
              </a:ext>
            </a:extLst>
          </p:cNvPr>
          <p:cNvSpPr/>
          <p:nvPr/>
        </p:nvSpPr>
        <p:spPr>
          <a:xfrm>
            <a:off x="10639779" y="334724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3A47518F-C0EC-E70D-B71B-20FCB43B13B8}"/>
              </a:ext>
            </a:extLst>
          </p:cNvPr>
          <p:cNvSpPr/>
          <p:nvPr/>
        </p:nvSpPr>
        <p:spPr>
          <a:xfrm>
            <a:off x="10509959" y="325392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3D0232-5614-1491-E30E-6B0C72425112}"/>
              </a:ext>
            </a:extLst>
          </p:cNvPr>
          <p:cNvSpPr/>
          <p:nvPr/>
        </p:nvSpPr>
        <p:spPr>
          <a:xfrm>
            <a:off x="10555112" y="366813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53DB84C-450C-5E81-7C00-877B7E4E9C15}"/>
              </a:ext>
            </a:extLst>
          </p:cNvPr>
          <p:cNvSpPr/>
          <p:nvPr/>
        </p:nvSpPr>
        <p:spPr>
          <a:xfrm>
            <a:off x="10080982" y="367781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27CACEA4-A771-C015-908C-D8D573644C8C}"/>
              </a:ext>
            </a:extLst>
          </p:cNvPr>
          <p:cNvSpPr/>
          <p:nvPr/>
        </p:nvSpPr>
        <p:spPr>
          <a:xfrm>
            <a:off x="10481735" y="344875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E7EC23E-5FC8-3B6F-27C5-B34E48118278}"/>
              </a:ext>
            </a:extLst>
          </p:cNvPr>
          <p:cNvSpPr/>
          <p:nvPr/>
        </p:nvSpPr>
        <p:spPr>
          <a:xfrm>
            <a:off x="10408358" y="393841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84FFADBA-2205-96EE-8C32-21F4F2502C6F}"/>
              </a:ext>
            </a:extLst>
          </p:cNvPr>
          <p:cNvSpPr/>
          <p:nvPr/>
        </p:nvSpPr>
        <p:spPr>
          <a:xfrm>
            <a:off x="10572047" y="397792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ADD984F-3F09-30D5-EBF9-7B8C81F9DF31}"/>
              </a:ext>
            </a:extLst>
          </p:cNvPr>
          <p:cNvSpPr/>
          <p:nvPr/>
        </p:nvSpPr>
        <p:spPr>
          <a:xfrm>
            <a:off x="10837337" y="374865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D8A488A-E0F6-03E8-2476-BE8CF8829B1B}"/>
              </a:ext>
            </a:extLst>
          </p:cNvPr>
          <p:cNvSpPr/>
          <p:nvPr/>
        </p:nvSpPr>
        <p:spPr>
          <a:xfrm>
            <a:off x="10792179" y="349964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58A6FDE-9EA6-8A99-D95A-2A51A105414F}"/>
              </a:ext>
            </a:extLst>
          </p:cNvPr>
          <p:cNvSpPr/>
          <p:nvPr/>
        </p:nvSpPr>
        <p:spPr>
          <a:xfrm>
            <a:off x="10233382" y="383021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33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40C7-70A0-FA16-AA59-A1E5AE4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Regression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8FB4BB-9FB6-B013-3771-CFA3D0B4F1BB}"/>
              </a:ext>
            </a:extLst>
          </p:cNvPr>
          <p:cNvSpPr txBox="1">
            <a:spLocks/>
          </p:cNvSpPr>
          <p:nvPr/>
        </p:nvSpPr>
        <p:spPr>
          <a:xfrm>
            <a:off x="131181" y="780121"/>
            <a:ext cx="5558420" cy="5654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Homoscedasticity:</a:t>
            </a:r>
          </a:p>
          <a:p>
            <a:pPr lvl="1"/>
            <a:r>
              <a:rPr lang="en-US" dirty="0"/>
              <a:t>The variance of residuals (errors) is constant across all </a:t>
            </a:r>
            <a:r>
              <a:rPr lang="en-US" dirty="0">
                <a:solidFill>
                  <a:srgbClr val="C00000"/>
                </a:solidFill>
              </a:rPr>
              <a:t>levels of the independent variable(s)</a:t>
            </a:r>
          </a:p>
          <a:p>
            <a:pPr lvl="1"/>
            <a:r>
              <a:rPr lang="en-US" dirty="0"/>
              <a:t>If </a:t>
            </a:r>
            <a:r>
              <a:rPr lang="en-US" dirty="0">
                <a:solidFill>
                  <a:srgbClr val="C00000"/>
                </a:solidFill>
              </a:rPr>
              <a:t>the variance changes (heteroscedasticity), it can lead to inefficient estimates and affect hypothesis tests.</a:t>
            </a:r>
          </a:p>
          <a:p>
            <a:pPr lvl="1"/>
            <a:endParaRPr lang="en-US" dirty="0"/>
          </a:p>
          <a:p>
            <a:r>
              <a:rPr lang="en-US" b="1" dirty="0"/>
              <a:t>Normality of 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Residuals(Error)</a:t>
            </a:r>
            <a:endParaRPr lang="en-US" b="1" dirty="0"/>
          </a:p>
          <a:p>
            <a:pPr lvl="1"/>
            <a:r>
              <a:rPr lang="en-US" dirty="0"/>
              <a:t>The residuals (errors) are </a:t>
            </a:r>
            <a:r>
              <a:rPr lang="en-US" dirty="0">
                <a:solidFill>
                  <a:srgbClr val="C00000"/>
                </a:solidFill>
              </a:rPr>
              <a:t>normally distributed.</a:t>
            </a:r>
          </a:p>
          <a:p>
            <a:pPr lvl="1"/>
            <a:r>
              <a:rPr lang="en-US" dirty="0"/>
              <a:t>This assumption is </a:t>
            </a:r>
            <a:r>
              <a:rPr lang="en-US" dirty="0">
                <a:solidFill>
                  <a:srgbClr val="C00000"/>
                </a:solidFill>
              </a:rPr>
              <a:t>important for hypothesis testing and constructing confidence intervals.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5FCB7B-C4F3-ED17-2ACA-C8B931C12F0E}"/>
              </a:ext>
            </a:extLst>
          </p:cNvPr>
          <p:cNvCxnSpPr>
            <a:cxnSpLocks/>
          </p:cNvCxnSpPr>
          <p:nvPr/>
        </p:nvCxnSpPr>
        <p:spPr>
          <a:xfrm flipV="1">
            <a:off x="6502401" y="1154288"/>
            <a:ext cx="2122311" cy="1216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FB0DA64-092E-8A14-0D06-BABA11493513}"/>
              </a:ext>
            </a:extLst>
          </p:cNvPr>
          <p:cNvSpPr/>
          <p:nvPr/>
        </p:nvSpPr>
        <p:spPr>
          <a:xfrm>
            <a:off x="8184446" y="128053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63BA5A-4F1F-002C-7276-7030E6F54276}"/>
              </a:ext>
            </a:extLst>
          </p:cNvPr>
          <p:cNvSpPr/>
          <p:nvPr/>
        </p:nvSpPr>
        <p:spPr>
          <a:xfrm>
            <a:off x="6982181" y="19225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C014DC0-916D-4978-EFFA-B32C966A351E}"/>
              </a:ext>
            </a:extLst>
          </p:cNvPr>
          <p:cNvSpPr/>
          <p:nvPr/>
        </p:nvSpPr>
        <p:spPr>
          <a:xfrm>
            <a:off x="6790270" y="214771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A43558-E59C-BDB1-C6C9-D357183DE746}"/>
              </a:ext>
            </a:extLst>
          </p:cNvPr>
          <p:cNvSpPr/>
          <p:nvPr/>
        </p:nvSpPr>
        <p:spPr>
          <a:xfrm>
            <a:off x="7704669" y="178712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28693E-C2EA-A672-1336-C41D11760DEF}"/>
              </a:ext>
            </a:extLst>
          </p:cNvPr>
          <p:cNvSpPr/>
          <p:nvPr/>
        </p:nvSpPr>
        <p:spPr>
          <a:xfrm>
            <a:off x="8105424" y="150141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EA8A4D6-CFEB-3CDF-B3AC-8BF6B02A40F9}"/>
              </a:ext>
            </a:extLst>
          </p:cNvPr>
          <p:cNvSpPr/>
          <p:nvPr/>
        </p:nvSpPr>
        <p:spPr>
          <a:xfrm>
            <a:off x="7236179" y="169117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2B47FA-6D7F-A81C-C3E8-8C38FF337BA5}"/>
              </a:ext>
            </a:extLst>
          </p:cNvPr>
          <p:cNvSpPr/>
          <p:nvPr/>
        </p:nvSpPr>
        <p:spPr>
          <a:xfrm>
            <a:off x="7399868" y="173068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D98A8E-C130-6E58-B0CE-58CBB5191329}"/>
              </a:ext>
            </a:extLst>
          </p:cNvPr>
          <p:cNvSpPr/>
          <p:nvPr/>
        </p:nvSpPr>
        <p:spPr>
          <a:xfrm>
            <a:off x="7924801" y="163820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4ABDE3B-2CDA-CAE2-961F-7A97CC3EDBAF}"/>
              </a:ext>
            </a:extLst>
          </p:cNvPr>
          <p:cNvSpPr/>
          <p:nvPr/>
        </p:nvSpPr>
        <p:spPr>
          <a:xfrm>
            <a:off x="6869291" y="207715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354A85-8962-6950-EF1C-A9A584E4015B}"/>
              </a:ext>
            </a:extLst>
          </p:cNvPr>
          <p:cNvSpPr/>
          <p:nvPr/>
        </p:nvSpPr>
        <p:spPr>
          <a:xfrm>
            <a:off x="6953957" y="214338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6148CE4-850C-2E1B-149D-7F50FD3D61D8}"/>
              </a:ext>
            </a:extLst>
          </p:cNvPr>
          <p:cNvSpPr/>
          <p:nvPr/>
        </p:nvSpPr>
        <p:spPr>
          <a:xfrm>
            <a:off x="7924801" y="133208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1252EB-5EF9-0DA2-8E56-409B46BA83DA}"/>
              </a:ext>
            </a:extLst>
          </p:cNvPr>
          <p:cNvSpPr/>
          <p:nvPr/>
        </p:nvSpPr>
        <p:spPr>
          <a:xfrm>
            <a:off x="7196669" y="199140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E45142D-CA23-3AE5-DC66-781D199C7DC0}"/>
              </a:ext>
            </a:extLst>
          </p:cNvPr>
          <p:cNvSpPr/>
          <p:nvPr/>
        </p:nvSpPr>
        <p:spPr>
          <a:xfrm>
            <a:off x="7388579" y="184357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E4FEE-BE3C-BFE5-D393-4F5ECEE2D166}"/>
              </a:ext>
            </a:extLst>
          </p:cNvPr>
          <p:cNvSpPr/>
          <p:nvPr/>
        </p:nvSpPr>
        <p:spPr>
          <a:xfrm>
            <a:off x="7665158" y="150141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C317E6-5DF8-FF51-741F-4D0548EFA79B}"/>
              </a:ext>
            </a:extLst>
          </p:cNvPr>
          <p:cNvSpPr/>
          <p:nvPr/>
        </p:nvSpPr>
        <p:spPr>
          <a:xfrm>
            <a:off x="7806269" y="142239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133AB56-2C5F-E145-7D6E-7F8E7F8B2A73}"/>
              </a:ext>
            </a:extLst>
          </p:cNvPr>
          <p:cNvSpPr/>
          <p:nvPr/>
        </p:nvSpPr>
        <p:spPr>
          <a:xfrm>
            <a:off x="8365069" y="131788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D852FEB-9A66-93B2-B89C-72685CBF2EE0}"/>
              </a:ext>
            </a:extLst>
          </p:cNvPr>
          <p:cNvSpPr/>
          <p:nvPr/>
        </p:nvSpPr>
        <p:spPr>
          <a:xfrm>
            <a:off x="8291691" y="114996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Tick">
            <a:extLst>
              <a:ext uri="{FF2B5EF4-FFF2-40B4-BE49-F238E27FC236}">
                <a16:creationId xmlns:a16="http://schemas.microsoft.com/office/drawing/2014/main" id="{9376E3E8-A869-F312-CE00-6B3E1CC3500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422449" y="2470856"/>
            <a:ext cx="457200" cy="457200"/>
          </a:xfrm>
          <a:prstGeom prst="rect">
            <a:avLst/>
          </a:prstGeom>
        </p:spPr>
      </p:pic>
      <p:pic>
        <p:nvPicPr>
          <p:cNvPr id="24" name="Graphic 23" descr="Close">
            <a:extLst>
              <a:ext uri="{FF2B5EF4-FFF2-40B4-BE49-F238E27FC236}">
                <a16:creationId xmlns:a16="http://schemas.microsoft.com/office/drawing/2014/main" id="{325DE08E-0903-97F1-E0F5-1092B198B70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270068" y="2442541"/>
            <a:ext cx="457200" cy="457200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C417FA2-C625-74FA-7E97-CC43C3F7949A}"/>
              </a:ext>
            </a:extLst>
          </p:cNvPr>
          <p:cNvCxnSpPr>
            <a:cxnSpLocks/>
          </p:cNvCxnSpPr>
          <p:nvPr/>
        </p:nvCxnSpPr>
        <p:spPr>
          <a:xfrm flipV="1">
            <a:off x="9386714" y="1013928"/>
            <a:ext cx="2122311" cy="1216379"/>
          </a:xfrm>
          <a:prstGeom prst="line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0B95543F-0920-70EB-A4AB-0D26708703F6}"/>
              </a:ext>
            </a:extLst>
          </p:cNvPr>
          <p:cNvSpPr/>
          <p:nvPr/>
        </p:nvSpPr>
        <p:spPr>
          <a:xfrm>
            <a:off x="10481738" y="120828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034DED1-D34A-DFCB-C23D-6CFE96F705C8}"/>
              </a:ext>
            </a:extLst>
          </p:cNvPr>
          <p:cNvSpPr/>
          <p:nvPr/>
        </p:nvSpPr>
        <p:spPr>
          <a:xfrm>
            <a:off x="9866494" y="178223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FCF118-6706-0566-4F6C-506083273D81}"/>
              </a:ext>
            </a:extLst>
          </p:cNvPr>
          <p:cNvSpPr/>
          <p:nvPr/>
        </p:nvSpPr>
        <p:spPr>
          <a:xfrm>
            <a:off x="10148715" y="112651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4FD28C-2CF0-F693-CA56-018B68948A9B}"/>
              </a:ext>
            </a:extLst>
          </p:cNvPr>
          <p:cNvSpPr/>
          <p:nvPr/>
        </p:nvSpPr>
        <p:spPr>
          <a:xfrm>
            <a:off x="10450695" y="172419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F6260A-5B07-0182-C88E-7299136F866B}"/>
              </a:ext>
            </a:extLst>
          </p:cNvPr>
          <p:cNvSpPr/>
          <p:nvPr/>
        </p:nvSpPr>
        <p:spPr>
          <a:xfrm>
            <a:off x="10221390" y="186125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71D87B8-6465-1232-1F37-8A7ACB98C39E}"/>
              </a:ext>
            </a:extLst>
          </p:cNvPr>
          <p:cNvSpPr/>
          <p:nvPr/>
        </p:nvSpPr>
        <p:spPr>
          <a:xfrm>
            <a:off x="10320872" y="112040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74D5436-BE20-B6E2-DB69-AC6D04C1C97C}"/>
              </a:ext>
            </a:extLst>
          </p:cNvPr>
          <p:cNvSpPr/>
          <p:nvPr/>
        </p:nvSpPr>
        <p:spPr>
          <a:xfrm>
            <a:off x="10284181" y="159032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C812660-12A7-A489-309C-ED3D50DC175F}"/>
              </a:ext>
            </a:extLst>
          </p:cNvPr>
          <p:cNvSpPr/>
          <p:nvPr/>
        </p:nvSpPr>
        <p:spPr>
          <a:xfrm>
            <a:off x="10710337" y="153184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71E0D80-E435-A009-AA35-DFDA50F4DBAE}"/>
              </a:ext>
            </a:extLst>
          </p:cNvPr>
          <p:cNvSpPr/>
          <p:nvPr/>
        </p:nvSpPr>
        <p:spPr>
          <a:xfrm>
            <a:off x="9674584" y="198336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754EDBF-EC5B-9FB2-FFC8-4B6157B9F1A8}"/>
              </a:ext>
            </a:extLst>
          </p:cNvPr>
          <p:cNvSpPr/>
          <p:nvPr/>
        </p:nvSpPr>
        <p:spPr>
          <a:xfrm>
            <a:off x="9423400" y="202635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DD15C37-C16A-075B-59E5-D40653F51019}"/>
              </a:ext>
            </a:extLst>
          </p:cNvPr>
          <p:cNvSpPr/>
          <p:nvPr/>
        </p:nvSpPr>
        <p:spPr>
          <a:xfrm>
            <a:off x="10007607" y="151601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51BF98-570D-FEBA-AB45-F16E4AA94598}"/>
              </a:ext>
            </a:extLst>
          </p:cNvPr>
          <p:cNvSpPr/>
          <p:nvPr/>
        </p:nvSpPr>
        <p:spPr>
          <a:xfrm>
            <a:off x="9530648" y="184356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D16BD85-A639-7C13-0FFE-5512C97988FA}"/>
              </a:ext>
            </a:extLst>
          </p:cNvPr>
          <p:cNvSpPr/>
          <p:nvPr/>
        </p:nvSpPr>
        <p:spPr>
          <a:xfrm>
            <a:off x="10272892" y="170321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915E3DB-BB48-A980-38F3-C009506486D2}"/>
              </a:ext>
            </a:extLst>
          </p:cNvPr>
          <p:cNvSpPr/>
          <p:nvPr/>
        </p:nvSpPr>
        <p:spPr>
          <a:xfrm>
            <a:off x="10314526" y="130554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337212-2C24-8873-3028-F387B234D0C3}"/>
              </a:ext>
            </a:extLst>
          </p:cNvPr>
          <p:cNvSpPr/>
          <p:nvPr/>
        </p:nvSpPr>
        <p:spPr>
          <a:xfrm>
            <a:off x="10538188" y="155233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C12A5DC-9C42-EBB8-5EA0-8BBB83F78ACB}"/>
              </a:ext>
            </a:extLst>
          </p:cNvPr>
          <p:cNvSpPr/>
          <p:nvPr/>
        </p:nvSpPr>
        <p:spPr>
          <a:xfrm>
            <a:off x="10078159" y="138278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CB283CA-4BD0-E968-5CF8-491C40B1F1C1}"/>
              </a:ext>
            </a:extLst>
          </p:cNvPr>
          <p:cNvSpPr/>
          <p:nvPr/>
        </p:nvSpPr>
        <p:spPr>
          <a:xfrm>
            <a:off x="10545239" y="135739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5068B0D-90D9-817D-1A4F-0C18E2694547}"/>
              </a:ext>
            </a:extLst>
          </p:cNvPr>
          <p:cNvCxnSpPr>
            <a:cxnSpLocks/>
          </p:cNvCxnSpPr>
          <p:nvPr/>
        </p:nvCxnSpPr>
        <p:spPr>
          <a:xfrm flipV="1">
            <a:off x="9033941" y="1092059"/>
            <a:ext cx="2105376" cy="11303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06188C6-187A-177B-6F95-247A3808F1F4}"/>
              </a:ext>
            </a:extLst>
          </p:cNvPr>
          <p:cNvSpPr/>
          <p:nvPr/>
        </p:nvSpPr>
        <p:spPr>
          <a:xfrm>
            <a:off x="9893305" y="191205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32D348B-C260-BAFA-8E05-01FB859054B3}"/>
              </a:ext>
            </a:extLst>
          </p:cNvPr>
          <p:cNvSpPr/>
          <p:nvPr/>
        </p:nvSpPr>
        <p:spPr>
          <a:xfrm>
            <a:off x="9764893" y="153418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951A3EB-9F77-3E45-6108-E0F13AAEBB76}"/>
              </a:ext>
            </a:extLst>
          </p:cNvPr>
          <p:cNvSpPr/>
          <p:nvPr/>
        </p:nvSpPr>
        <p:spPr>
          <a:xfrm>
            <a:off x="10272892" y="170321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9B20FFF-EC2D-07F8-CC25-DE46C7BB5345}"/>
              </a:ext>
            </a:extLst>
          </p:cNvPr>
          <p:cNvSpPr/>
          <p:nvPr/>
        </p:nvSpPr>
        <p:spPr>
          <a:xfrm>
            <a:off x="9911649" y="154309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85A00D8-6660-234E-44A0-44DA801BB4BD}"/>
              </a:ext>
            </a:extLst>
          </p:cNvPr>
          <p:cNvSpPr/>
          <p:nvPr/>
        </p:nvSpPr>
        <p:spPr>
          <a:xfrm>
            <a:off x="10058405" y="185104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04AE46D-BFB2-3892-FD14-1346ADFE2930}"/>
              </a:ext>
            </a:extLst>
          </p:cNvPr>
          <p:cNvSpPr/>
          <p:nvPr/>
        </p:nvSpPr>
        <p:spPr>
          <a:xfrm>
            <a:off x="9959623" y="121919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6C3BC5E-474F-3DCB-804A-E5AC674E263E}"/>
              </a:ext>
            </a:extLst>
          </p:cNvPr>
          <p:cNvSpPr/>
          <p:nvPr/>
        </p:nvSpPr>
        <p:spPr>
          <a:xfrm>
            <a:off x="9853794" y="134910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A544CE3-F4F6-8396-56DC-4BF21DA18978}"/>
              </a:ext>
            </a:extLst>
          </p:cNvPr>
          <p:cNvSpPr/>
          <p:nvPr/>
        </p:nvSpPr>
        <p:spPr>
          <a:xfrm>
            <a:off x="10419646" y="143293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4962209-32E6-67E7-15F5-1CFC63E6FADC}"/>
              </a:ext>
            </a:extLst>
          </p:cNvPr>
          <p:cNvSpPr/>
          <p:nvPr/>
        </p:nvSpPr>
        <p:spPr>
          <a:xfrm>
            <a:off x="9716920" y="168091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F0E15B1-8139-FC62-B639-AE440853B36C}"/>
              </a:ext>
            </a:extLst>
          </p:cNvPr>
          <p:cNvSpPr/>
          <p:nvPr/>
        </p:nvSpPr>
        <p:spPr>
          <a:xfrm>
            <a:off x="10253139" y="143051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2E2F84B-B398-57DD-4443-7E64DFC7D5DB}"/>
              </a:ext>
            </a:extLst>
          </p:cNvPr>
          <p:cNvSpPr/>
          <p:nvPr/>
        </p:nvSpPr>
        <p:spPr>
          <a:xfrm>
            <a:off x="10272892" y="170321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7FBD392-1986-1765-7F5E-AC94592F18D7}"/>
              </a:ext>
            </a:extLst>
          </p:cNvPr>
          <p:cNvSpPr/>
          <p:nvPr/>
        </p:nvSpPr>
        <p:spPr>
          <a:xfrm>
            <a:off x="10075336" y="173068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0092E86-2DED-826C-59F5-C12AFAB9B060}"/>
              </a:ext>
            </a:extLst>
          </p:cNvPr>
          <p:cNvSpPr/>
          <p:nvPr/>
        </p:nvSpPr>
        <p:spPr>
          <a:xfrm>
            <a:off x="10556522" y="168318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94F06DC-F2D6-0200-5770-07CA848A8EC1}"/>
              </a:ext>
            </a:extLst>
          </p:cNvPr>
          <p:cNvSpPr/>
          <p:nvPr/>
        </p:nvSpPr>
        <p:spPr>
          <a:xfrm>
            <a:off x="10137427" y="127487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85F7444C-CD61-B8FD-CE7C-9B6449821521}"/>
              </a:ext>
            </a:extLst>
          </p:cNvPr>
          <p:cNvSpPr/>
          <p:nvPr/>
        </p:nvSpPr>
        <p:spPr>
          <a:xfrm>
            <a:off x="10097916" y="159501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1EB0979-BD84-06E8-5D0C-9101FE425267}"/>
              </a:ext>
            </a:extLst>
          </p:cNvPr>
          <p:cNvCxnSpPr>
            <a:cxnSpLocks/>
          </p:cNvCxnSpPr>
          <p:nvPr/>
        </p:nvCxnSpPr>
        <p:spPr>
          <a:xfrm flipV="1">
            <a:off x="6635043" y="3784509"/>
            <a:ext cx="2122311" cy="1216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0795D75C-6B59-4083-B9CA-C2F2CC07C0E5}"/>
              </a:ext>
            </a:extLst>
          </p:cNvPr>
          <p:cNvSpPr/>
          <p:nvPr/>
        </p:nvSpPr>
        <p:spPr>
          <a:xfrm>
            <a:off x="8317088" y="391075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EE3DF6B-8AF7-3E93-AA80-1A1DF66E3CD7}"/>
              </a:ext>
            </a:extLst>
          </p:cNvPr>
          <p:cNvSpPr/>
          <p:nvPr/>
        </p:nvSpPr>
        <p:spPr>
          <a:xfrm>
            <a:off x="7114823" y="455281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6F0037E6-C0AE-1284-6FD9-CFC55BB070C5}"/>
              </a:ext>
            </a:extLst>
          </p:cNvPr>
          <p:cNvSpPr/>
          <p:nvPr/>
        </p:nvSpPr>
        <p:spPr>
          <a:xfrm>
            <a:off x="6922912" y="477793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3354877-E5E6-F64E-C183-5C372EBDAFAC}"/>
              </a:ext>
            </a:extLst>
          </p:cNvPr>
          <p:cNvSpPr/>
          <p:nvPr/>
        </p:nvSpPr>
        <p:spPr>
          <a:xfrm>
            <a:off x="7837311" y="441734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7A4D8DE-85F3-500A-CA33-53D72324F5DC}"/>
              </a:ext>
            </a:extLst>
          </p:cNvPr>
          <p:cNvSpPr/>
          <p:nvPr/>
        </p:nvSpPr>
        <p:spPr>
          <a:xfrm>
            <a:off x="8238066" y="413163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D69FCF5-6560-63D9-F860-26E6DC15E2D2}"/>
              </a:ext>
            </a:extLst>
          </p:cNvPr>
          <p:cNvSpPr/>
          <p:nvPr/>
        </p:nvSpPr>
        <p:spPr>
          <a:xfrm>
            <a:off x="7368821" y="432139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B4773683-CC48-2DB3-6120-43BAD3F5A0B8}"/>
              </a:ext>
            </a:extLst>
          </p:cNvPr>
          <p:cNvSpPr/>
          <p:nvPr/>
        </p:nvSpPr>
        <p:spPr>
          <a:xfrm>
            <a:off x="7532510" y="436090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03A94BD6-D726-87FB-A74F-DF1E8EA7C754}"/>
              </a:ext>
            </a:extLst>
          </p:cNvPr>
          <p:cNvSpPr/>
          <p:nvPr/>
        </p:nvSpPr>
        <p:spPr>
          <a:xfrm>
            <a:off x="8057443" y="426842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DBE21F5-9388-6BFC-2AC9-C64A4D0F47B3}"/>
              </a:ext>
            </a:extLst>
          </p:cNvPr>
          <p:cNvSpPr/>
          <p:nvPr/>
        </p:nvSpPr>
        <p:spPr>
          <a:xfrm>
            <a:off x="7001933" y="470737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260A4237-BE2A-A598-61EA-3159D424252B}"/>
              </a:ext>
            </a:extLst>
          </p:cNvPr>
          <p:cNvSpPr/>
          <p:nvPr/>
        </p:nvSpPr>
        <p:spPr>
          <a:xfrm>
            <a:off x="7086599" y="477360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9392F5E4-E57C-1395-355A-B18F542CB24B}"/>
              </a:ext>
            </a:extLst>
          </p:cNvPr>
          <p:cNvSpPr/>
          <p:nvPr/>
        </p:nvSpPr>
        <p:spPr>
          <a:xfrm>
            <a:off x="8057443" y="396230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58DE71CA-A2A8-50AF-9BA3-7E0F9CE6C5F8}"/>
              </a:ext>
            </a:extLst>
          </p:cNvPr>
          <p:cNvSpPr/>
          <p:nvPr/>
        </p:nvSpPr>
        <p:spPr>
          <a:xfrm>
            <a:off x="7329311" y="462162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C5986025-818D-ACD6-DFCC-F96A242B9699}"/>
              </a:ext>
            </a:extLst>
          </p:cNvPr>
          <p:cNvSpPr/>
          <p:nvPr/>
        </p:nvSpPr>
        <p:spPr>
          <a:xfrm>
            <a:off x="7521221" y="447379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F383BCE3-8616-9DD8-904F-24D2B860872A}"/>
              </a:ext>
            </a:extLst>
          </p:cNvPr>
          <p:cNvSpPr/>
          <p:nvPr/>
        </p:nvSpPr>
        <p:spPr>
          <a:xfrm>
            <a:off x="7797800" y="413164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46F54443-B0C5-4515-93C8-6BE9C41CE0C7}"/>
              </a:ext>
            </a:extLst>
          </p:cNvPr>
          <p:cNvSpPr/>
          <p:nvPr/>
        </p:nvSpPr>
        <p:spPr>
          <a:xfrm>
            <a:off x="7938911" y="405261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1F231668-7A7E-E914-6635-0A06B649ADCF}"/>
              </a:ext>
            </a:extLst>
          </p:cNvPr>
          <p:cNvSpPr/>
          <p:nvPr/>
        </p:nvSpPr>
        <p:spPr>
          <a:xfrm>
            <a:off x="8497711" y="394810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CED16C1-A3BC-30AB-9EE5-B40602906790}"/>
              </a:ext>
            </a:extLst>
          </p:cNvPr>
          <p:cNvSpPr/>
          <p:nvPr/>
        </p:nvSpPr>
        <p:spPr>
          <a:xfrm>
            <a:off x="8424333" y="378018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Graphic 77" descr="Tick">
            <a:extLst>
              <a:ext uri="{FF2B5EF4-FFF2-40B4-BE49-F238E27FC236}">
                <a16:creationId xmlns:a16="http://schemas.microsoft.com/office/drawing/2014/main" id="{8BBAAC27-3034-6A3C-5861-B90176297C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55091" y="5101077"/>
            <a:ext cx="457200" cy="457200"/>
          </a:xfrm>
          <a:prstGeom prst="rect">
            <a:avLst/>
          </a:prstGeom>
        </p:spPr>
      </p:pic>
      <p:pic>
        <p:nvPicPr>
          <p:cNvPr id="79" name="Graphic 78" descr="Close">
            <a:extLst>
              <a:ext uri="{FF2B5EF4-FFF2-40B4-BE49-F238E27FC236}">
                <a16:creationId xmlns:a16="http://schemas.microsoft.com/office/drawing/2014/main" id="{00D59874-F28B-9279-EEE9-38C726C63E6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402710" y="5072762"/>
            <a:ext cx="457200" cy="457200"/>
          </a:xfrm>
          <a:prstGeom prst="rect">
            <a:avLst/>
          </a:prstGeom>
        </p:spPr>
      </p:pic>
      <p:sp>
        <p:nvSpPr>
          <p:cNvPr id="80" name="Oval 79">
            <a:extLst>
              <a:ext uri="{FF2B5EF4-FFF2-40B4-BE49-F238E27FC236}">
                <a16:creationId xmlns:a16="http://schemas.microsoft.com/office/drawing/2014/main" id="{84C53324-AA61-9469-6080-D09F32356AF5}"/>
              </a:ext>
            </a:extLst>
          </p:cNvPr>
          <p:cNvSpPr/>
          <p:nvPr/>
        </p:nvSpPr>
        <p:spPr>
          <a:xfrm>
            <a:off x="10773834" y="398404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6B5D117A-84ED-2956-A7BB-FDDA77570A5D}"/>
              </a:ext>
            </a:extLst>
          </p:cNvPr>
          <p:cNvSpPr/>
          <p:nvPr/>
        </p:nvSpPr>
        <p:spPr>
          <a:xfrm>
            <a:off x="10018901" y="462835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86C9FC9B-4FA1-5F89-2760-234A31BAD54A}"/>
              </a:ext>
            </a:extLst>
          </p:cNvPr>
          <p:cNvSpPr/>
          <p:nvPr/>
        </p:nvSpPr>
        <p:spPr>
          <a:xfrm>
            <a:off x="10281357" y="375674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9AA7C74-D14E-2968-9580-BDC31CD7A3D8}"/>
              </a:ext>
            </a:extLst>
          </p:cNvPr>
          <p:cNvSpPr/>
          <p:nvPr/>
        </p:nvSpPr>
        <p:spPr>
          <a:xfrm>
            <a:off x="10583337" y="435441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FE88902-F281-975B-1963-7038B6CE0AFB}"/>
              </a:ext>
            </a:extLst>
          </p:cNvPr>
          <p:cNvSpPr/>
          <p:nvPr/>
        </p:nvSpPr>
        <p:spPr>
          <a:xfrm>
            <a:off x="10354032" y="449147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D2D3851E-4298-AE88-16FA-AA0FBDD07A05}"/>
              </a:ext>
            </a:extLst>
          </p:cNvPr>
          <p:cNvSpPr/>
          <p:nvPr/>
        </p:nvSpPr>
        <p:spPr>
          <a:xfrm>
            <a:off x="10453514" y="375062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8FD32F51-4A9E-F2ED-913E-AA0C81AC8EDE}"/>
              </a:ext>
            </a:extLst>
          </p:cNvPr>
          <p:cNvSpPr/>
          <p:nvPr/>
        </p:nvSpPr>
        <p:spPr>
          <a:xfrm>
            <a:off x="10416823" y="422054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ABF7B4C-3C5F-EB9B-A8B4-22CACF9C2D19}"/>
              </a:ext>
            </a:extLst>
          </p:cNvPr>
          <p:cNvSpPr/>
          <p:nvPr/>
        </p:nvSpPr>
        <p:spPr>
          <a:xfrm>
            <a:off x="10842979" y="416206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B54423B-B2D0-97BD-E02E-55D5CE33AFD7}"/>
              </a:ext>
            </a:extLst>
          </p:cNvPr>
          <p:cNvSpPr/>
          <p:nvPr/>
        </p:nvSpPr>
        <p:spPr>
          <a:xfrm>
            <a:off x="9807226" y="461358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5D1E1798-A77B-BB1E-7D0E-7F767B2D2752}"/>
              </a:ext>
            </a:extLst>
          </p:cNvPr>
          <p:cNvSpPr/>
          <p:nvPr/>
        </p:nvSpPr>
        <p:spPr>
          <a:xfrm>
            <a:off x="9623782" y="439392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D5D9666C-CB92-135D-C745-8BBD51B94F0B}"/>
              </a:ext>
            </a:extLst>
          </p:cNvPr>
          <p:cNvSpPr/>
          <p:nvPr/>
        </p:nvSpPr>
        <p:spPr>
          <a:xfrm>
            <a:off x="9698565" y="405801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9ECDD04-6DA7-31B8-C97D-DB9FF806B59D}"/>
              </a:ext>
            </a:extLst>
          </p:cNvPr>
          <p:cNvSpPr/>
          <p:nvPr/>
        </p:nvSpPr>
        <p:spPr>
          <a:xfrm>
            <a:off x="9491137" y="445196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85D6F0C0-D04D-0139-A39D-AA2A0B453EAD}"/>
              </a:ext>
            </a:extLst>
          </p:cNvPr>
          <p:cNvSpPr/>
          <p:nvPr/>
        </p:nvSpPr>
        <p:spPr>
          <a:xfrm>
            <a:off x="10405534" y="43334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D5632F97-D94B-6921-416D-777E02AF89FD}"/>
              </a:ext>
            </a:extLst>
          </p:cNvPr>
          <p:cNvSpPr/>
          <p:nvPr/>
        </p:nvSpPr>
        <p:spPr>
          <a:xfrm>
            <a:off x="10233381" y="394493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4F78FA20-35B9-0F5D-3137-F753389BCAAD}"/>
              </a:ext>
            </a:extLst>
          </p:cNvPr>
          <p:cNvSpPr/>
          <p:nvPr/>
        </p:nvSpPr>
        <p:spPr>
          <a:xfrm>
            <a:off x="10670830" y="418255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E49FF200-D34A-9AD5-3DF6-BD4C7E6CE4FA}"/>
              </a:ext>
            </a:extLst>
          </p:cNvPr>
          <p:cNvSpPr/>
          <p:nvPr/>
        </p:nvSpPr>
        <p:spPr>
          <a:xfrm>
            <a:off x="10030182" y="402395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2B1F83F9-D4AD-7A33-00E4-F4280001A1D7}"/>
              </a:ext>
            </a:extLst>
          </p:cNvPr>
          <p:cNvSpPr/>
          <p:nvPr/>
        </p:nvSpPr>
        <p:spPr>
          <a:xfrm>
            <a:off x="11006663" y="408993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8590E67B-01C3-35BD-C2AB-72A5969C22E7}"/>
              </a:ext>
            </a:extLst>
          </p:cNvPr>
          <p:cNvSpPr/>
          <p:nvPr/>
        </p:nvSpPr>
        <p:spPr>
          <a:xfrm>
            <a:off x="9776186" y="477210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6E736CA1-BDB3-2BE1-5AF7-466ED98B373F}"/>
              </a:ext>
            </a:extLst>
          </p:cNvPr>
          <p:cNvSpPr/>
          <p:nvPr/>
        </p:nvSpPr>
        <p:spPr>
          <a:xfrm>
            <a:off x="9626613" y="419635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661D683-8FBE-5F4B-D8E1-9062AFD3D6FB}"/>
              </a:ext>
            </a:extLst>
          </p:cNvPr>
          <p:cNvSpPr/>
          <p:nvPr/>
        </p:nvSpPr>
        <p:spPr>
          <a:xfrm>
            <a:off x="10405534" y="43334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B4BCFA55-210C-E4B1-63BA-2FF1CE67EA96}"/>
              </a:ext>
            </a:extLst>
          </p:cNvPr>
          <p:cNvSpPr/>
          <p:nvPr/>
        </p:nvSpPr>
        <p:spPr>
          <a:xfrm>
            <a:off x="9841089" y="408304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044594BB-D491-73F1-4865-6C980C11AE9D}"/>
              </a:ext>
            </a:extLst>
          </p:cNvPr>
          <p:cNvSpPr/>
          <p:nvPr/>
        </p:nvSpPr>
        <p:spPr>
          <a:xfrm>
            <a:off x="10191047" y="448126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521B48D-E1BF-C09D-038B-C8A84C15C4A2}"/>
              </a:ext>
            </a:extLst>
          </p:cNvPr>
          <p:cNvSpPr/>
          <p:nvPr/>
        </p:nvSpPr>
        <p:spPr>
          <a:xfrm>
            <a:off x="10092265" y="384942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AD012439-F8F7-E918-E8C7-7F0ADC9BA239}"/>
              </a:ext>
            </a:extLst>
          </p:cNvPr>
          <p:cNvSpPr/>
          <p:nvPr/>
        </p:nvSpPr>
        <p:spPr>
          <a:xfrm>
            <a:off x="9793116" y="421282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02BB944D-0C9C-A00A-FAC5-51B9C428E5C3}"/>
              </a:ext>
            </a:extLst>
          </p:cNvPr>
          <p:cNvSpPr/>
          <p:nvPr/>
        </p:nvSpPr>
        <p:spPr>
          <a:xfrm>
            <a:off x="10552288" y="406315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A6B9EA32-6B74-F137-9C33-963741061F6F}"/>
              </a:ext>
            </a:extLst>
          </p:cNvPr>
          <p:cNvSpPr/>
          <p:nvPr/>
        </p:nvSpPr>
        <p:spPr>
          <a:xfrm>
            <a:off x="9525004" y="43334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5F44169-75E7-48E9-9B5A-CA2CAA8BD582}"/>
              </a:ext>
            </a:extLst>
          </p:cNvPr>
          <p:cNvSpPr/>
          <p:nvPr/>
        </p:nvSpPr>
        <p:spPr>
          <a:xfrm>
            <a:off x="10027358" y="382382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B6A570F9-FE0D-E8B8-377D-24DD5DD4776A}"/>
              </a:ext>
            </a:extLst>
          </p:cNvPr>
          <p:cNvSpPr/>
          <p:nvPr/>
        </p:nvSpPr>
        <p:spPr>
          <a:xfrm>
            <a:off x="10405534" y="43334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D2E88C8-FE31-2E65-2453-BBACE1E841F5}"/>
              </a:ext>
            </a:extLst>
          </p:cNvPr>
          <p:cNvSpPr/>
          <p:nvPr/>
        </p:nvSpPr>
        <p:spPr>
          <a:xfrm>
            <a:off x="10207978" y="436090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26264F20-279C-880F-CE28-0422C6ACC635}"/>
              </a:ext>
            </a:extLst>
          </p:cNvPr>
          <p:cNvSpPr/>
          <p:nvPr/>
        </p:nvSpPr>
        <p:spPr>
          <a:xfrm>
            <a:off x="10689164" y="431340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FF4EB40-73F2-8985-8A77-C5A7E8B21329}"/>
              </a:ext>
            </a:extLst>
          </p:cNvPr>
          <p:cNvSpPr/>
          <p:nvPr/>
        </p:nvSpPr>
        <p:spPr>
          <a:xfrm>
            <a:off x="9896129" y="390425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8077ADD-B8BA-8FB3-297C-E9D517962A1D}"/>
              </a:ext>
            </a:extLst>
          </p:cNvPr>
          <p:cNvSpPr/>
          <p:nvPr/>
        </p:nvSpPr>
        <p:spPr>
          <a:xfrm>
            <a:off x="10038645" y="443992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E25CF8E2-6ECD-150E-EA04-EE7C4B599849}"/>
              </a:ext>
            </a:extLst>
          </p:cNvPr>
          <p:cNvCxnSpPr>
            <a:cxnSpLocks/>
          </p:cNvCxnSpPr>
          <p:nvPr/>
        </p:nvCxnSpPr>
        <p:spPr>
          <a:xfrm flipV="1">
            <a:off x="9282288" y="3471243"/>
            <a:ext cx="1848554" cy="1433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44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3B9F-0CE8-1246-6D24-A30BB523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Regression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0ADA9E-9C01-7922-8E2F-393BAF6AA4CC}"/>
              </a:ext>
            </a:extLst>
          </p:cNvPr>
          <p:cNvSpPr txBox="1">
            <a:spLocks/>
          </p:cNvSpPr>
          <p:nvPr/>
        </p:nvSpPr>
        <p:spPr>
          <a:xfrm>
            <a:off x="131181" y="780121"/>
            <a:ext cx="5558420" cy="5654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Independence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Observations </a:t>
            </a:r>
            <a:r>
              <a:rPr lang="en-US" dirty="0">
                <a:solidFill>
                  <a:srgbClr val="C00000"/>
                </a:solidFill>
              </a:rPr>
              <a:t>are independent of each other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There </a:t>
            </a:r>
            <a:r>
              <a:rPr lang="en-US" dirty="0">
                <a:solidFill>
                  <a:srgbClr val="C00000"/>
                </a:solidFill>
              </a:rPr>
              <a:t>should be no correlation between residuals (errors). </a:t>
            </a:r>
          </a:p>
          <a:p>
            <a:pPr lvl="1"/>
            <a:r>
              <a:rPr lang="en-US" dirty="0"/>
              <a:t>This is particularly </a:t>
            </a:r>
            <a:r>
              <a:rPr lang="en-US" dirty="0">
                <a:solidFill>
                  <a:srgbClr val="C00000"/>
                </a:solidFill>
              </a:rPr>
              <a:t>important in time series data, where autocorrelation can occur.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b="1" dirty="0"/>
              <a:t>No Perfect Multicollinearity(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for multiple regression</a:t>
            </a:r>
            <a:r>
              <a:rPr lang="en-US" b="1" dirty="0"/>
              <a:t>)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If you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are using multiple independent variables, they should not be perfectly correlated with each other. 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Perfect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multicollinearity occurs when one independent variable is a perfect linear function of another. 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E3C4C8-4B63-917E-38A8-FBAD37ED136D}"/>
              </a:ext>
            </a:extLst>
          </p:cNvPr>
          <p:cNvCxnSpPr>
            <a:cxnSpLocks/>
          </p:cNvCxnSpPr>
          <p:nvPr/>
        </p:nvCxnSpPr>
        <p:spPr>
          <a:xfrm flipV="1">
            <a:off x="6646332" y="1255798"/>
            <a:ext cx="2122311" cy="1216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02A9939-FFE9-A2A2-7AC5-5DE3B15E5317}"/>
              </a:ext>
            </a:extLst>
          </p:cNvPr>
          <p:cNvSpPr/>
          <p:nvPr/>
        </p:nvSpPr>
        <p:spPr>
          <a:xfrm>
            <a:off x="8328377" y="138204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85D6F7-9581-F1EC-C23D-68EE05D6D0B1}"/>
              </a:ext>
            </a:extLst>
          </p:cNvPr>
          <p:cNvSpPr/>
          <p:nvPr/>
        </p:nvSpPr>
        <p:spPr>
          <a:xfrm>
            <a:off x="7126112" y="202410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D83833-71DF-13A5-BDC8-92C44E592CC3}"/>
              </a:ext>
            </a:extLst>
          </p:cNvPr>
          <p:cNvSpPr/>
          <p:nvPr/>
        </p:nvSpPr>
        <p:spPr>
          <a:xfrm>
            <a:off x="6934201" y="224922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4F04B7-EABE-BDC6-3E33-FB4FF7352043}"/>
              </a:ext>
            </a:extLst>
          </p:cNvPr>
          <p:cNvSpPr/>
          <p:nvPr/>
        </p:nvSpPr>
        <p:spPr>
          <a:xfrm>
            <a:off x="7848600" y="188863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DAACE0-6409-3CD6-EA0C-9F8BE5EEF909}"/>
              </a:ext>
            </a:extLst>
          </p:cNvPr>
          <p:cNvSpPr/>
          <p:nvPr/>
        </p:nvSpPr>
        <p:spPr>
          <a:xfrm>
            <a:off x="8249355" y="160292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A65F1A-127F-7529-0ECE-B6EA46A96822}"/>
              </a:ext>
            </a:extLst>
          </p:cNvPr>
          <p:cNvSpPr/>
          <p:nvPr/>
        </p:nvSpPr>
        <p:spPr>
          <a:xfrm>
            <a:off x="7380110" y="17926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DC6BD34-A044-E743-0D9E-5085A84F872D}"/>
              </a:ext>
            </a:extLst>
          </p:cNvPr>
          <p:cNvSpPr/>
          <p:nvPr/>
        </p:nvSpPr>
        <p:spPr>
          <a:xfrm>
            <a:off x="7543799" y="18321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F5065FF-54E1-5502-5737-98F0644DA472}"/>
              </a:ext>
            </a:extLst>
          </p:cNvPr>
          <p:cNvSpPr/>
          <p:nvPr/>
        </p:nvSpPr>
        <p:spPr>
          <a:xfrm>
            <a:off x="8068732" y="173971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94A093-A54A-1E21-9277-34449EA1D298}"/>
              </a:ext>
            </a:extLst>
          </p:cNvPr>
          <p:cNvSpPr/>
          <p:nvPr/>
        </p:nvSpPr>
        <p:spPr>
          <a:xfrm>
            <a:off x="7013222" y="217866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0808AB-56F8-D313-A86B-0619E9D45414}"/>
              </a:ext>
            </a:extLst>
          </p:cNvPr>
          <p:cNvSpPr/>
          <p:nvPr/>
        </p:nvSpPr>
        <p:spPr>
          <a:xfrm>
            <a:off x="7097888" y="224489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E9E944-43EA-B259-C1F3-9E5CEDE0DAE3}"/>
              </a:ext>
            </a:extLst>
          </p:cNvPr>
          <p:cNvSpPr/>
          <p:nvPr/>
        </p:nvSpPr>
        <p:spPr>
          <a:xfrm>
            <a:off x="8068732" y="143359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477840-495E-10F0-5163-C06A1AD78827}"/>
              </a:ext>
            </a:extLst>
          </p:cNvPr>
          <p:cNvSpPr/>
          <p:nvPr/>
        </p:nvSpPr>
        <p:spPr>
          <a:xfrm>
            <a:off x="7340600" y="209291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940A9C-4729-439C-5B05-0691AC46184B}"/>
              </a:ext>
            </a:extLst>
          </p:cNvPr>
          <p:cNvSpPr/>
          <p:nvPr/>
        </p:nvSpPr>
        <p:spPr>
          <a:xfrm>
            <a:off x="7532510" y="19450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FBF63F-276A-C172-EC32-3D3F0CF3895B}"/>
              </a:ext>
            </a:extLst>
          </p:cNvPr>
          <p:cNvSpPr/>
          <p:nvPr/>
        </p:nvSpPr>
        <p:spPr>
          <a:xfrm>
            <a:off x="7809089" y="160292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C0D171-B19E-8C49-553E-C584FB10682E}"/>
              </a:ext>
            </a:extLst>
          </p:cNvPr>
          <p:cNvSpPr/>
          <p:nvPr/>
        </p:nvSpPr>
        <p:spPr>
          <a:xfrm>
            <a:off x="7950200" y="152390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460CEFF-CBFF-EDC4-2DF1-FCD49B03A20D}"/>
              </a:ext>
            </a:extLst>
          </p:cNvPr>
          <p:cNvSpPr/>
          <p:nvPr/>
        </p:nvSpPr>
        <p:spPr>
          <a:xfrm>
            <a:off x="8509000" y="14193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572482-0879-1A70-15B5-826AF1BBD022}"/>
              </a:ext>
            </a:extLst>
          </p:cNvPr>
          <p:cNvSpPr/>
          <p:nvPr/>
        </p:nvSpPr>
        <p:spPr>
          <a:xfrm>
            <a:off x="8435622" y="125147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 descr="Tick">
            <a:extLst>
              <a:ext uri="{FF2B5EF4-FFF2-40B4-BE49-F238E27FC236}">
                <a16:creationId xmlns:a16="http://schemas.microsoft.com/office/drawing/2014/main" id="{6AA3E45D-EFCE-62C0-FB16-F218FE45F3D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66380" y="2572366"/>
            <a:ext cx="457200" cy="457200"/>
          </a:xfrm>
          <a:prstGeom prst="rect">
            <a:avLst/>
          </a:prstGeom>
        </p:spPr>
      </p:pic>
      <p:pic>
        <p:nvPicPr>
          <p:cNvPr id="23" name="Graphic 22" descr="Close">
            <a:extLst>
              <a:ext uri="{FF2B5EF4-FFF2-40B4-BE49-F238E27FC236}">
                <a16:creationId xmlns:a16="http://schemas.microsoft.com/office/drawing/2014/main" id="{A3F82A41-F307-B2AA-EDF7-ADA1C24A98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413999" y="2544051"/>
            <a:ext cx="457200" cy="4572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32B32375-B712-2D74-AC3F-19447186730B}"/>
              </a:ext>
            </a:extLst>
          </p:cNvPr>
          <p:cNvSpPr/>
          <p:nvPr/>
        </p:nvSpPr>
        <p:spPr>
          <a:xfrm>
            <a:off x="10828867" y="106274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ED6ED6-2008-6F11-EB79-1A16D553C905}"/>
              </a:ext>
            </a:extLst>
          </p:cNvPr>
          <p:cNvSpPr/>
          <p:nvPr/>
        </p:nvSpPr>
        <p:spPr>
          <a:xfrm>
            <a:off x="10030190" y="209964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955863-C4F8-A332-29F0-04F4745ACD9C}"/>
              </a:ext>
            </a:extLst>
          </p:cNvPr>
          <p:cNvSpPr/>
          <p:nvPr/>
        </p:nvSpPr>
        <p:spPr>
          <a:xfrm>
            <a:off x="10292646" y="122802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86C79A-9560-986F-535D-DD11C45EF023}"/>
              </a:ext>
            </a:extLst>
          </p:cNvPr>
          <p:cNvSpPr/>
          <p:nvPr/>
        </p:nvSpPr>
        <p:spPr>
          <a:xfrm>
            <a:off x="10786539" y="93009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961BC4-F82A-8976-0C5C-6A9A3D1C4C80}"/>
              </a:ext>
            </a:extLst>
          </p:cNvPr>
          <p:cNvSpPr/>
          <p:nvPr/>
        </p:nvSpPr>
        <p:spPr>
          <a:xfrm>
            <a:off x="10998205" y="138717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54478F-322A-9DC7-4287-4B206931478D}"/>
              </a:ext>
            </a:extLst>
          </p:cNvPr>
          <p:cNvSpPr/>
          <p:nvPr/>
        </p:nvSpPr>
        <p:spPr>
          <a:xfrm>
            <a:off x="10374488" y="13220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A626A7-565C-15DC-DBFF-71A1A3378EC6}"/>
              </a:ext>
            </a:extLst>
          </p:cNvPr>
          <p:cNvSpPr/>
          <p:nvPr/>
        </p:nvSpPr>
        <p:spPr>
          <a:xfrm>
            <a:off x="10933293" y="80524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1DD95B5-34D3-2A68-8038-1C0BF5F8EF3B}"/>
              </a:ext>
            </a:extLst>
          </p:cNvPr>
          <p:cNvSpPr/>
          <p:nvPr/>
        </p:nvSpPr>
        <p:spPr>
          <a:xfrm>
            <a:off x="10854268" y="163335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CBA96C-C43C-5A50-D091-DC133CAC6EEB}"/>
              </a:ext>
            </a:extLst>
          </p:cNvPr>
          <p:cNvSpPr/>
          <p:nvPr/>
        </p:nvSpPr>
        <p:spPr>
          <a:xfrm>
            <a:off x="9818515" y="208487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049294-5F93-650E-289D-9C09CC91FBFD}"/>
              </a:ext>
            </a:extLst>
          </p:cNvPr>
          <p:cNvSpPr/>
          <p:nvPr/>
        </p:nvSpPr>
        <p:spPr>
          <a:xfrm>
            <a:off x="9487619" y="203605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F3BCD05-BB34-5D5E-AF4A-EE6BE665911B}"/>
              </a:ext>
            </a:extLst>
          </p:cNvPr>
          <p:cNvSpPr/>
          <p:nvPr/>
        </p:nvSpPr>
        <p:spPr>
          <a:xfrm>
            <a:off x="9822748" y="132675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EC6FD95-1933-16FB-A1CB-2FE1AEBCC800}"/>
              </a:ext>
            </a:extLst>
          </p:cNvPr>
          <p:cNvSpPr/>
          <p:nvPr/>
        </p:nvSpPr>
        <p:spPr>
          <a:xfrm>
            <a:off x="9293577" y="206361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5B3B542-8615-6AF2-1012-8039B1159471}"/>
              </a:ext>
            </a:extLst>
          </p:cNvPr>
          <p:cNvSpPr/>
          <p:nvPr/>
        </p:nvSpPr>
        <p:spPr>
          <a:xfrm>
            <a:off x="10781597" y="173703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0ED677-10FD-1202-5FBC-7F8C742249EC}"/>
              </a:ext>
            </a:extLst>
          </p:cNvPr>
          <p:cNvSpPr/>
          <p:nvPr/>
        </p:nvSpPr>
        <p:spPr>
          <a:xfrm>
            <a:off x="10244670" y="141622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4AE071A-EA20-75BA-3197-1480077E07E3}"/>
              </a:ext>
            </a:extLst>
          </p:cNvPr>
          <p:cNvSpPr/>
          <p:nvPr/>
        </p:nvSpPr>
        <p:spPr>
          <a:xfrm>
            <a:off x="10682119" y="165384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0A1453-DA81-A839-4AB3-D72858545448}"/>
              </a:ext>
            </a:extLst>
          </p:cNvPr>
          <p:cNvSpPr/>
          <p:nvPr/>
        </p:nvSpPr>
        <p:spPr>
          <a:xfrm>
            <a:off x="10041471" y="149524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8D1145C-F908-AB7C-5809-60BB95F6C46C}"/>
              </a:ext>
            </a:extLst>
          </p:cNvPr>
          <p:cNvSpPr/>
          <p:nvPr/>
        </p:nvSpPr>
        <p:spPr>
          <a:xfrm>
            <a:off x="11017952" y="156122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6C3089C-F900-3EEF-E539-12B8C28564A2}"/>
              </a:ext>
            </a:extLst>
          </p:cNvPr>
          <p:cNvSpPr/>
          <p:nvPr/>
        </p:nvSpPr>
        <p:spPr>
          <a:xfrm>
            <a:off x="9764894" y="205331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9CE2EA-C53E-8E03-4AB2-2C46833A40DE}"/>
              </a:ext>
            </a:extLst>
          </p:cNvPr>
          <p:cNvSpPr/>
          <p:nvPr/>
        </p:nvSpPr>
        <p:spPr>
          <a:xfrm>
            <a:off x="9797348" y="146106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60A3DC-EC19-C35B-35A6-DCF811080785}"/>
              </a:ext>
            </a:extLst>
          </p:cNvPr>
          <p:cNvSpPr/>
          <p:nvPr/>
        </p:nvSpPr>
        <p:spPr>
          <a:xfrm>
            <a:off x="10483851" y="169335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CE688E-B466-A765-F1D6-1234CC7A6810}"/>
              </a:ext>
            </a:extLst>
          </p:cNvPr>
          <p:cNvSpPr/>
          <p:nvPr/>
        </p:nvSpPr>
        <p:spPr>
          <a:xfrm>
            <a:off x="9852378" y="15543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A7089CD-D99E-9A73-16E3-FA6F9B203A97}"/>
              </a:ext>
            </a:extLst>
          </p:cNvPr>
          <p:cNvSpPr/>
          <p:nvPr/>
        </p:nvSpPr>
        <p:spPr>
          <a:xfrm>
            <a:off x="10991154" y="122530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29D247F-22FB-7E7F-EEB6-F726256EAA31}"/>
              </a:ext>
            </a:extLst>
          </p:cNvPr>
          <p:cNvSpPr/>
          <p:nvPr/>
        </p:nvSpPr>
        <p:spPr>
          <a:xfrm>
            <a:off x="10103554" y="132070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7B04CF6-39A4-4388-FEC0-B1D5BCD79010}"/>
              </a:ext>
            </a:extLst>
          </p:cNvPr>
          <p:cNvSpPr/>
          <p:nvPr/>
        </p:nvSpPr>
        <p:spPr>
          <a:xfrm>
            <a:off x="9963153" y="173971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ED34D2D-07C6-4071-F396-A9DB53B1ADE6}"/>
              </a:ext>
            </a:extLst>
          </p:cNvPr>
          <p:cNvSpPr/>
          <p:nvPr/>
        </p:nvSpPr>
        <p:spPr>
          <a:xfrm>
            <a:off x="10563577" y="1534445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A7116F6-E470-A4B8-E91B-B36E8DE8E15F}"/>
              </a:ext>
            </a:extLst>
          </p:cNvPr>
          <p:cNvSpPr/>
          <p:nvPr/>
        </p:nvSpPr>
        <p:spPr>
          <a:xfrm>
            <a:off x="9375777" y="188374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1823CB8-A7D4-FA1C-1DC4-EB6B400FB17B}"/>
              </a:ext>
            </a:extLst>
          </p:cNvPr>
          <p:cNvSpPr/>
          <p:nvPr/>
        </p:nvSpPr>
        <p:spPr>
          <a:xfrm>
            <a:off x="10038647" y="129511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E34764-19AB-F6DB-6C5A-0536EFF40AC6}"/>
              </a:ext>
            </a:extLst>
          </p:cNvPr>
          <p:cNvSpPr/>
          <p:nvPr/>
        </p:nvSpPr>
        <p:spPr>
          <a:xfrm>
            <a:off x="10848626" y="150099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C2A9533-78EB-DA52-A621-59D5F21DA2A8}"/>
              </a:ext>
            </a:extLst>
          </p:cNvPr>
          <p:cNvSpPr/>
          <p:nvPr/>
        </p:nvSpPr>
        <p:spPr>
          <a:xfrm>
            <a:off x="11077227" y="129038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ECAE7FF-1CA3-9DC9-8976-5E317FFF6DB7}"/>
              </a:ext>
            </a:extLst>
          </p:cNvPr>
          <p:cNvSpPr/>
          <p:nvPr/>
        </p:nvSpPr>
        <p:spPr>
          <a:xfrm>
            <a:off x="11085688" y="149493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720A491-982B-4659-1F13-89AF040B5B53}"/>
              </a:ext>
            </a:extLst>
          </p:cNvPr>
          <p:cNvSpPr/>
          <p:nvPr/>
        </p:nvSpPr>
        <p:spPr>
          <a:xfrm>
            <a:off x="9907418" y="137554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D3D211D-77C2-A815-E576-F1D6436E7C90}"/>
              </a:ext>
            </a:extLst>
          </p:cNvPr>
          <p:cNvSpPr/>
          <p:nvPr/>
        </p:nvSpPr>
        <p:spPr>
          <a:xfrm>
            <a:off x="10049934" y="191121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E9E3BD-ABED-86CC-B06D-2457ED3CC7FC}"/>
              </a:ext>
            </a:extLst>
          </p:cNvPr>
          <p:cNvCxnSpPr>
            <a:cxnSpLocks/>
          </p:cNvCxnSpPr>
          <p:nvPr/>
        </p:nvCxnSpPr>
        <p:spPr>
          <a:xfrm flipV="1">
            <a:off x="9293577" y="942532"/>
            <a:ext cx="1848554" cy="1433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Tick">
            <a:extLst>
              <a:ext uri="{FF2B5EF4-FFF2-40B4-BE49-F238E27FC236}">
                <a16:creationId xmlns:a16="http://schemas.microsoft.com/office/drawing/2014/main" id="{F52D9E2D-8C9E-AB06-DD48-6B03B30D67A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94611" y="5156723"/>
            <a:ext cx="457200" cy="457200"/>
          </a:xfrm>
          <a:prstGeom prst="rect">
            <a:avLst/>
          </a:prstGeom>
        </p:spPr>
      </p:pic>
      <p:pic>
        <p:nvPicPr>
          <p:cNvPr id="59" name="Graphic 58" descr="Close">
            <a:extLst>
              <a:ext uri="{FF2B5EF4-FFF2-40B4-BE49-F238E27FC236}">
                <a16:creationId xmlns:a16="http://schemas.microsoft.com/office/drawing/2014/main" id="{63CEC29D-19D0-C201-5BA0-55E6314AAD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442230" y="5128408"/>
            <a:ext cx="457200" cy="4572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4666CA27-2958-1DEF-C660-51A344F985DA}"/>
              </a:ext>
            </a:extLst>
          </p:cNvPr>
          <p:cNvSpPr txBox="1"/>
          <p:nvPr/>
        </p:nvSpPr>
        <p:spPr>
          <a:xfrm>
            <a:off x="7340600" y="4503287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 !~ X2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71347F-1083-878C-9F1E-A35ACE1B2ED6}"/>
              </a:ext>
            </a:extLst>
          </p:cNvPr>
          <p:cNvSpPr txBox="1"/>
          <p:nvPr/>
        </p:nvSpPr>
        <p:spPr>
          <a:xfrm>
            <a:off x="10130095" y="4443983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X1 ~ X2</a:t>
            </a:r>
          </a:p>
        </p:txBody>
      </p:sp>
    </p:spTree>
    <p:extLst>
      <p:ext uri="{BB962C8B-B14F-4D97-AF65-F5344CB8AC3E}">
        <p14:creationId xmlns:p14="http://schemas.microsoft.com/office/powerpoint/2010/main" val="255406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0" grpId="0"/>
      <p:bldP spid="6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43B9F-0CE8-1246-6D24-A30BB5239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of Linear Regression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0ADA9E-9C01-7922-8E2F-393BAF6AA4CC}"/>
              </a:ext>
            </a:extLst>
          </p:cNvPr>
          <p:cNvSpPr txBox="1">
            <a:spLocks/>
          </p:cNvSpPr>
          <p:nvPr/>
        </p:nvSpPr>
        <p:spPr>
          <a:xfrm>
            <a:off x="131181" y="780121"/>
            <a:ext cx="5558420" cy="5654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Outlier check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Outlier might effect the </a:t>
            </a:r>
            <a:r>
              <a:rPr lang="en-US" dirty="0">
                <a:solidFill>
                  <a:srgbClr val="C00000"/>
                </a:solidFill>
              </a:rPr>
              <a:t>prediction</a:t>
            </a:r>
            <a:r>
              <a:rPr lang="en-US" dirty="0"/>
              <a:t>.</a:t>
            </a:r>
          </a:p>
          <a:p>
            <a:pPr lvl="1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E3C4C8-4B63-917E-38A8-FBAD37ED136D}"/>
              </a:ext>
            </a:extLst>
          </p:cNvPr>
          <p:cNvCxnSpPr>
            <a:cxnSpLocks/>
          </p:cNvCxnSpPr>
          <p:nvPr/>
        </p:nvCxnSpPr>
        <p:spPr>
          <a:xfrm flipV="1">
            <a:off x="6646332" y="1255798"/>
            <a:ext cx="2122311" cy="1216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02A9939-FFE9-A2A2-7AC5-5DE3B15E5317}"/>
              </a:ext>
            </a:extLst>
          </p:cNvPr>
          <p:cNvSpPr/>
          <p:nvPr/>
        </p:nvSpPr>
        <p:spPr>
          <a:xfrm>
            <a:off x="8328377" y="138204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85D6F7-9581-F1EC-C23D-68EE05D6D0B1}"/>
              </a:ext>
            </a:extLst>
          </p:cNvPr>
          <p:cNvSpPr/>
          <p:nvPr/>
        </p:nvSpPr>
        <p:spPr>
          <a:xfrm>
            <a:off x="7126112" y="202410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D83833-71DF-13A5-BDC8-92C44E592CC3}"/>
              </a:ext>
            </a:extLst>
          </p:cNvPr>
          <p:cNvSpPr/>
          <p:nvPr/>
        </p:nvSpPr>
        <p:spPr>
          <a:xfrm>
            <a:off x="6934201" y="224922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4F04B7-EABE-BDC6-3E33-FB4FF7352043}"/>
              </a:ext>
            </a:extLst>
          </p:cNvPr>
          <p:cNvSpPr/>
          <p:nvPr/>
        </p:nvSpPr>
        <p:spPr>
          <a:xfrm>
            <a:off x="7848600" y="188863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CDAACE0-6409-3CD6-EA0C-9F8BE5EEF909}"/>
              </a:ext>
            </a:extLst>
          </p:cNvPr>
          <p:cNvSpPr/>
          <p:nvPr/>
        </p:nvSpPr>
        <p:spPr>
          <a:xfrm>
            <a:off x="8249355" y="160292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A65F1A-127F-7529-0ECE-B6EA46A96822}"/>
              </a:ext>
            </a:extLst>
          </p:cNvPr>
          <p:cNvSpPr/>
          <p:nvPr/>
        </p:nvSpPr>
        <p:spPr>
          <a:xfrm>
            <a:off x="7380110" y="17926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DC6BD34-A044-E743-0D9E-5085A84F872D}"/>
              </a:ext>
            </a:extLst>
          </p:cNvPr>
          <p:cNvSpPr/>
          <p:nvPr/>
        </p:nvSpPr>
        <p:spPr>
          <a:xfrm>
            <a:off x="7543799" y="18321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F5065FF-54E1-5502-5737-98F0644DA472}"/>
              </a:ext>
            </a:extLst>
          </p:cNvPr>
          <p:cNvSpPr/>
          <p:nvPr/>
        </p:nvSpPr>
        <p:spPr>
          <a:xfrm>
            <a:off x="8068732" y="173971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A94A093-A54A-1E21-9277-34449EA1D298}"/>
              </a:ext>
            </a:extLst>
          </p:cNvPr>
          <p:cNvSpPr/>
          <p:nvPr/>
        </p:nvSpPr>
        <p:spPr>
          <a:xfrm>
            <a:off x="7013222" y="217866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0808AB-56F8-D313-A86B-0619E9D45414}"/>
              </a:ext>
            </a:extLst>
          </p:cNvPr>
          <p:cNvSpPr/>
          <p:nvPr/>
        </p:nvSpPr>
        <p:spPr>
          <a:xfrm>
            <a:off x="7097888" y="224489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E9E944-43EA-B259-C1F3-9E5CEDE0DAE3}"/>
              </a:ext>
            </a:extLst>
          </p:cNvPr>
          <p:cNvSpPr/>
          <p:nvPr/>
        </p:nvSpPr>
        <p:spPr>
          <a:xfrm>
            <a:off x="8068732" y="143359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477840-495E-10F0-5163-C06A1AD78827}"/>
              </a:ext>
            </a:extLst>
          </p:cNvPr>
          <p:cNvSpPr/>
          <p:nvPr/>
        </p:nvSpPr>
        <p:spPr>
          <a:xfrm>
            <a:off x="7340600" y="209291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2940A9C-4729-439C-5B05-0691AC46184B}"/>
              </a:ext>
            </a:extLst>
          </p:cNvPr>
          <p:cNvSpPr/>
          <p:nvPr/>
        </p:nvSpPr>
        <p:spPr>
          <a:xfrm>
            <a:off x="7532510" y="19450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FBF63F-276A-C172-EC32-3D3F0CF3895B}"/>
              </a:ext>
            </a:extLst>
          </p:cNvPr>
          <p:cNvSpPr/>
          <p:nvPr/>
        </p:nvSpPr>
        <p:spPr>
          <a:xfrm>
            <a:off x="7809089" y="160292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7C0D171-B19E-8C49-553E-C584FB10682E}"/>
              </a:ext>
            </a:extLst>
          </p:cNvPr>
          <p:cNvSpPr/>
          <p:nvPr/>
        </p:nvSpPr>
        <p:spPr>
          <a:xfrm>
            <a:off x="7950200" y="1523905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460CEFF-CBFF-EDC4-2DF1-FCD49B03A20D}"/>
              </a:ext>
            </a:extLst>
          </p:cNvPr>
          <p:cNvSpPr/>
          <p:nvPr/>
        </p:nvSpPr>
        <p:spPr>
          <a:xfrm>
            <a:off x="8509000" y="141939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D572482-0879-1A70-15B5-826AF1BBD022}"/>
              </a:ext>
            </a:extLst>
          </p:cNvPr>
          <p:cNvSpPr/>
          <p:nvPr/>
        </p:nvSpPr>
        <p:spPr>
          <a:xfrm>
            <a:off x="8435622" y="125147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Graphic 21" descr="Tick">
            <a:extLst>
              <a:ext uri="{FF2B5EF4-FFF2-40B4-BE49-F238E27FC236}">
                <a16:creationId xmlns:a16="http://schemas.microsoft.com/office/drawing/2014/main" id="{6AA3E45D-EFCE-62C0-FB16-F218FE45F3D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566380" y="2572366"/>
            <a:ext cx="457200" cy="457200"/>
          </a:xfrm>
          <a:prstGeom prst="rect">
            <a:avLst/>
          </a:prstGeom>
        </p:spPr>
      </p:pic>
      <p:pic>
        <p:nvPicPr>
          <p:cNvPr id="23" name="Graphic 22" descr="Close">
            <a:extLst>
              <a:ext uri="{FF2B5EF4-FFF2-40B4-BE49-F238E27FC236}">
                <a16:creationId xmlns:a16="http://schemas.microsoft.com/office/drawing/2014/main" id="{A3F82A41-F307-B2AA-EDF7-ADA1C24A98F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413999" y="2544051"/>
            <a:ext cx="457200" cy="45720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32B32375-B712-2D74-AC3F-19447186730B}"/>
              </a:ext>
            </a:extLst>
          </p:cNvPr>
          <p:cNvSpPr/>
          <p:nvPr/>
        </p:nvSpPr>
        <p:spPr>
          <a:xfrm>
            <a:off x="10828867" y="106274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6ED6ED6-2008-6F11-EB79-1A16D553C905}"/>
              </a:ext>
            </a:extLst>
          </p:cNvPr>
          <p:cNvSpPr/>
          <p:nvPr/>
        </p:nvSpPr>
        <p:spPr>
          <a:xfrm>
            <a:off x="9783237" y="178487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8955863-C4F8-A332-29F0-04F4745ACD9C}"/>
              </a:ext>
            </a:extLst>
          </p:cNvPr>
          <p:cNvSpPr/>
          <p:nvPr/>
        </p:nvSpPr>
        <p:spPr>
          <a:xfrm>
            <a:off x="10292646" y="122802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86C79A-9560-986F-535D-DD11C45EF023}"/>
              </a:ext>
            </a:extLst>
          </p:cNvPr>
          <p:cNvSpPr/>
          <p:nvPr/>
        </p:nvSpPr>
        <p:spPr>
          <a:xfrm>
            <a:off x="10786539" y="93009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B961BC4-F82A-8976-0C5C-6A9A3D1C4C80}"/>
              </a:ext>
            </a:extLst>
          </p:cNvPr>
          <p:cNvSpPr/>
          <p:nvPr/>
        </p:nvSpPr>
        <p:spPr>
          <a:xfrm>
            <a:off x="11064535" y="108291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C54478F-322A-9DC7-4287-4B206931478D}"/>
              </a:ext>
            </a:extLst>
          </p:cNvPr>
          <p:cNvSpPr/>
          <p:nvPr/>
        </p:nvSpPr>
        <p:spPr>
          <a:xfrm>
            <a:off x="10374488" y="13220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A626A7-565C-15DC-DBFF-71A1A3378EC6}"/>
              </a:ext>
            </a:extLst>
          </p:cNvPr>
          <p:cNvSpPr/>
          <p:nvPr/>
        </p:nvSpPr>
        <p:spPr>
          <a:xfrm>
            <a:off x="10933293" y="80524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1DD95B5-34D3-2A68-8038-1C0BF5F8EF3B}"/>
              </a:ext>
            </a:extLst>
          </p:cNvPr>
          <p:cNvSpPr/>
          <p:nvPr/>
        </p:nvSpPr>
        <p:spPr>
          <a:xfrm>
            <a:off x="10542062" y="154503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8CBA96C-C43C-5A50-D091-DC133CAC6EEB}"/>
              </a:ext>
            </a:extLst>
          </p:cNvPr>
          <p:cNvSpPr/>
          <p:nvPr/>
        </p:nvSpPr>
        <p:spPr>
          <a:xfrm>
            <a:off x="9818515" y="208487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5049294-5F93-650E-289D-9C09CC91FBFD}"/>
              </a:ext>
            </a:extLst>
          </p:cNvPr>
          <p:cNvSpPr/>
          <p:nvPr/>
        </p:nvSpPr>
        <p:spPr>
          <a:xfrm>
            <a:off x="9487619" y="203605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F3BCD05-BB34-5D5E-AF4A-EE6BE665911B}"/>
              </a:ext>
            </a:extLst>
          </p:cNvPr>
          <p:cNvSpPr/>
          <p:nvPr/>
        </p:nvSpPr>
        <p:spPr>
          <a:xfrm>
            <a:off x="10431992" y="159828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EC6FD95-1933-16FB-A1CB-2FE1AEBCC800}"/>
              </a:ext>
            </a:extLst>
          </p:cNvPr>
          <p:cNvSpPr/>
          <p:nvPr/>
        </p:nvSpPr>
        <p:spPr>
          <a:xfrm>
            <a:off x="9293577" y="206361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5B3B542-8615-6AF2-1012-8039B1159471}"/>
              </a:ext>
            </a:extLst>
          </p:cNvPr>
          <p:cNvSpPr/>
          <p:nvPr/>
        </p:nvSpPr>
        <p:spPr>
          <a:xfrm>
            <a:off x="10588980" y="142155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0ED677-10FD-1202-5FBC-7F8C742249EC}"/>
              </a:ext>
            </a:extLst>
          </p:cNvPr>
          <p:cNvSpPr/>
          <p:nvPr/>
        </p:nvSpPr>
        <p:spPr>
          <a:xfrm>
            <a:off x="10244670" y="141622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4AE071A-EA20-75BA-3197-1480077E07E3}"/>
              </a:ext>
            </a:extLst>
          </p:cNvPr>
          <p:cNvSpPr/>
          <p:nvPr/>
        </p:nvSpPr>
        <p:spPr>
          <a:xfrm>
            <a:off x="10433762" y="1075106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E0A1453-DA81-A839-4AB3-D72858545448}"/>
              </a:ext>
            </a:extLst>
          </p:cNvPr>
          <p:cNvSpPr/>
          <p:nvPr/>
        </p:nvSpPr>
        <p:spPr>
          <a:xfrm>
            <a:off x="10041471" y="1495247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8D1145C-F908-AB7C-5809-60BB95F6C46C}"/>
              </a:ext>
            </a:extLst>
          </p:cNvPr>
          <p:cNvSpPr/>
          <p:nvPr/>
        </p:nvSpPr>
        <p:spPr>
          <a:xfrm>
            <a:off x="10776671" y="158454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6C3089C-F900-3EEF-E539-12B8C28564A2}"/>
              </a:ext>
            </a:extLst>
          </p:cNvPr>
          <p:cNvSpPr/>
          <p:nvPr/>
        </p:nvSpPr>
        <p:spPr>
          <a:xfrm>
            <a:off x="9764894" y="205331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9CE2EA-C53E-8E03-4AB2-2C46833A40DE}"/>
              </a:ext>
            </a:extLst>
          </p:cNvPr>
          <p:cNvSpPr/>
          <p:nvPr/>
        </p:nvSpPr>
        <p:spPr>
          <a:xfrm>
            <a:off x="9797348" y="146106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660A3DC-EC19-C35B-35A6-DCF811080785}"/>
              </a:ext>
            </a:extLst>
          </p:cNvPr>
          <p:cNvSpPr/>
          <p:nvPr/>
        </p:nvSpPr>
        <p:spPr>
          <a:xfrm>
            <a:off x="10268308" y="168195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CCE688E-B466-A765-F1D6-1234CC7A6810}"/>
              </a:ext>
            </a:extLst>
          </p:cNvPr>
          <p:cNvSpPr/>
          <p:nvPr/>
        </p:nvSpPr>
        <p:spPr>
          <a:xfrm>
            <a:off x="9852378" y="155433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A7089CD-D99E-9A73-16E3-FA6F9B203A97}"/>
              </a:ext>
            </a:extLst>
          </p:cNvPr>
          <p:cNvSpPr/>
          <p:nvPr/>
        </p:nvSpPr>
        <p:spPr>
          <a:xfrm>
            <a:off x="10991154" y="122530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29D247F-22FB-7E7F-EEB6-F726256EAA31}"/>
              </a:ext>
            </a:extLst>
          </p:cNvPr>
          <p:cNvSpPr/>
          <p:nvPr/>
        </p:nvSpPr>
        <p:spPr>
          <a:xfrm>
            <a:off x="10103554" y="1320709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7B04CF6-39A4-4388-FEC0-B1D5BCD79010}"/>
              </a:ext>
            </a:extLst>
          </p:cNvPr>
          <p:cNvSpPr/>
          <p:nvPr/>
        </p:nvSpPr>
        <p:spPr>
          <a:xfrm>
            <a:off x="9963153" y="1739718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ED34D2D-07C6-4071-F396-A9DB53B1ADE6}"/>
              </a:ext>
            </a:extLst>
          </p:cNvPr>
          <p:cNvSpPr/>
          <p:nvPr/>
        </p:nvSpPr>
        <p:spPr>
          <a:xfrm>
            <a:off x="10526889" y="113948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A7116F6-E470-A4B8-E91B-B36E8DE8E15F}"/>
              </a:ext>
            </a:extLst>
          </p:cNvPr>
          <p:cNvSpPr/>
          <p:nvPr/>
        </p:nvSpPr>
        <p:spPr>
          <a:xfrm>
            <a:off x="9375777" y="1883743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1823CB8-A7D4-FA1C-1DC4-EB6B400FB17B}"/>
              </a:ext>
            </a:extLst>
          </p:cNvPr>
          <p:cNvSpPr/>
          <p:nvPr/>
        </p:nvSpPr>
        <p:spPr>
          <a:xfrm>
            <a:off x="10038647" y="129511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FE34764-19AB-F6DB-6C5A-0536EFF40AC6}"/>
              </a:ext>
            </a:extLst>
          </p:cNvPr>
          <p:cNvSpPr/>
          <p:nvPr/>
        </p:nvSpPr>
        <p:spPr>
          <a:xfrm>
            <a:off x="10668002" y="1139481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C2A9533-78EB-DA52-A621-59D5F21DA2A8}"/>
              </a:ext>
            </a:extLst>
          </p:cNvPr>
          <p:cNvSpPr/>
          <p:nvPr/>
        </p:nvSpPr>
        <p:spPr>
          <a:xfrm>
            <a:off x="11509025" y="214761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2ECAE7FF-1CA3-9DC9-8976-5E317FFF6DB7}"/>
              </a:ext>
            </a:extLst>
          </p:cNvPr>
          <p:cNvSpPr/>
          <p:nvPr/>
        </p:nvSpPr>
        <p:spPr>
          <a:xfrm>
            <a:off x="10792177" y="1360220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D720A491-982B-4659-1F13-89AF040B5B53}"/>
              </a:ext>
            </a:extLst>
          </p:cNvPr>
          <p:cNvSpPr/>
          <p:nvPr/>
        </p:nvSpPr>
        <p:spPr>
          <a:xfrm>
            <a:off x="10079572" y="1940204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D3D211D-77C2-A815-E576-F1D6436E7C90}"/>
              </a:ext>
            </a:extLst>
          </p:cNvPr>
          <p:cNvSpPr/>
          <p:nvPr/>
        </p:nvSpPr>
        <p:spPr>
          <a:xfrm>
            <a:off x="9634012" y="1819402"/>
            <a:ext cx="79022" cy="790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BE9E3BD-ABED-86CC-B06D-2457ED3CC7FC}"/>
              </a:ext>
            </a:extLst>
          </p:cNvPr>
          <p:cNvCxnSpPr>
            <a:cxnSpLocks/>
          </p:cNvCxnSpPr>
          <p:nvPr/>
        </p:nvCxnSpPr>
        <p:spPr>
          <a:xfrm flipV="1">
            <a:off x="9320393" y="1102253"/>
            <a:ext cx="2188632" cy="11719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314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(Example) (iPhone Prices)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15064" y="1228181"/>
            <a:ext cx="6051496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pandas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pd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pd.read_csv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'iphones.csv'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sklearn.linear_model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LinearRegression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lr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LinearRegression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iphonenumber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].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values.reshape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(-1,1)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'price'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lr.fit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X,y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lr.predict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([[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14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]]) </a:t>
            </a:r>
            <a:r>
              <a:rPr lang="en-US" sz="1600" dirty="0">
                <a:solidFill>
                  <a:srgbClr val="00B050"/>
                </a:solidFill>
                <a:latin typeface="Consolas"/>
              </a:rPr>
              <a:t># price for the next </a:t>
            </a:r>
            <a:r>
              <a:rPr lang="en-US" sz="1600" dirty="0" err="1">
                <a:solidFill>
                  <a:srgbClr val="00B050"/>
                </a:solidFill>
                <a:latin typeface="Consolas"/>
              </a:rPr>
              <a:t>iphone</a:t>
            </a:r>
            <a:endParaRPr lang="en-US" sz="1600" dirty="0">
              <a:solidFill>
                <a:srgbClr val="00B050"/>
              </a:solidFill>
              <a:latin typeface="Consolas"/>
            </a:endParaRP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predicted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lr.predict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(X)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plt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%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matplotlib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inline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plt.scatter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iphonenumber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'price'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],c=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'r'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plt.scatter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1600" dirty="0" err="1">
                <a:solidFill>
                  <a:srgbClr val="FF0000"/>
                </a:solidFill>
                <a:latin typeface="Consolas"/>
              </a:rPr>
              <a:t>iphonenumber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],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predicted,c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'b'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215071" y="1228181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iPhoneLinReg.py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942" y="1677068"/>
            <a:ext cx="3535282" cy="17560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306" y="3837895"/>
            <a:ext cx="4166620" cy="2745786"/>
          </a:xfrm>
          <a:prstGeom prst="rect">
            <a:avLst/>
          </a:prstGeom>
        </p:spPr>
      </p:pic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781942" y="134788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iphones.csv</a:t>
            </a:r>
          </a:p>
        </p:txBody>
      </p:sp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781942" y="3597748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85603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11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10A5-0110-2566-BFD9-473403BA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Squared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5644-B90C-1E3D-E71D-999BF2C10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R-squared is a goodness-of-fit measure for linear regression models</a:t>
            </a:r>
          </a:p>
          <a:p>
            <a:r>
              <a:rPr lang="en-US" dirty="0"/>
              <a:t>R-squared (R2) is defined as a number that tells you how well the independent variable(s) in a statistical model </a:t>
            </a:r>
            <a:r>
              <a:rPr lang="en-US" dirty="0">
                <a:solidFill>
                  <a:srgbClr val="C00000"/>
                </a:solidFill>
              </a:rPr>
              <a:t>explains the variation in the dependent variable</a:t>
            </a:r>
            <a:r>
              <a:rPr lang="en-US" dirty="0"/>
              <a:t>.</a:t>
            </a:r>
          </a:p>
          <a:p>
            <a:r>
              <a:rPr lang="en-US" dirty="0"/>
              <a:t>R² values range from </a:t>
            </a:r>
            <a:r>
              <a:rPr lang="en-US" dirty="0">
                <a:solidFill>
                  <a:srgbClr val="C00000"/>
                </a:solidFill>
              </a:rPr>
              <a:t>0 to 1</a:t>
            </a:r>
            <a:r>
              <a:rPr lang="en-US" dirty="0"/>
              <a:t>.</a:t>
            </a:r>
          </a:p>
          <a:p>
            <a:r>
              <a:rPr lang="en-US" dirty="0"/>
              <a:t>0: Indicates that the model </a:t>
            </a:r>
            <a:r>
              <a:rPr lang="en-US" dirty="0">
                <a:solidFill>
                  <a:srgbClr val="C00000"/>
                </a:solidFill>
              </a:rPr>
              <a:t>does not explain any of the variance in the dependent variable</a:t>
            </a:r>
            <a:r>
              <a:rPr lang="en-US" dirty="0"/>
              <a:t>.</a:t>
            </a:r>
          </a:p>
          <a:p>
            <a:r>
              <a:rPr lang="en-US" dirty="0"/>
              <a:t>1: Indicates that the model explains </a:t>
            </a:r>
            <a:r>
              <a:rPr lang="en-US" dirty="0">
                <a:solidFill>
                  <a:srgbClr val="C00000"/>
                </a:solidFill>
              </a:rPr>
              <a:t>all the variance in the dependent variable</a:t>
            </a:r>
            <a:r>
              <a:rPr lang="en-US" dirty="0"/>
              <a:t>.</a:t>
            </a:r>
          </a:p>
          <a:p>
            <a:r>
              <a:rPr lang="en-US" dirty="0"/>
              <a:t>Intermediate Values: The closer to </a:t>
            </a:r>
            <a:r>
              <a:rPr lang="en-US" dirty="0">
                <a:solidFill>
                  <a:srgbClr val="C00000"/>
                </a:solidFill>
              </a:rPr>
              <a:t>1, the better the model fits the data</a:t>
            </a:r>
            <a:r>
              <a:rPr lang="en-US" dirty="0"/>
              <a:t>.</a:t>
            </a:r>
          </a:p>
          <a:p>
            <a:r>
              <a:rPr lang="en-US" dirty="0"/>
              <a:t>An R² of 0.7 means 70% of the </a:t>
            </a:r>
            <a:r>
              <a:rPr lang="en-US" dirty="0">
                <a:solidFill>
                  <a:srgbClr val="C00000"/>
                </a:solidFill>
              </a:rPr>
              <a:t>variance in the dependent variable is explained by the model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it doesn’t tell you whether your chosen model is good or bad, nor will it tell you whether the data and predictions are biased.</a:t>
            </a:r>
          </a:p>
          <a:p>
            <a:r>
              <a:rPr lang="en-US" dirty="0"/>
              <a:t>A high or low R-squared isn’t necessarily good or bad—it doesn’t convey the reliability of the model or whether you’ve chosen the right regression. You can get a low R-squared for a good model, or a high R-squared for a poorly fitted model,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290987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1C97-BF4B-088E-2FBF-80E3B7CEB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Squared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9465D90-FE08-68D3-D146-F85AA6345ADD}"/>
              </a:ext>
            </a:extLst>
          </p:cNvPr>
          <p:cNvCxnSpPr>
            <a:cxnSpLocks/>
          </p:cNvCxnSpPr>
          <p:nvPr/>
        </p:nvCxnSpPr>
        <p:spPr>
          <a:xfrm flipV="1">
            <a:off x="790224" y="1344450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A6244DD-4B4D-67EE-A76C-343FCDE538C6}"/>
              </a:ext>
            </a:extLst>
          </p:cNvPr>
          <p:cNvCxnSpPr>
            <a:cxnSpLocks/>
          </p:cNvCxnSpPr>
          <p:nvPr/>
        </p:nvCxnSpPr>
        <p:spPr>
          <a:xfrm>
            <a:off x="395112" y="4759339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6815822-11F5-0D01-0C5B-98EAD1DDB0AF}"/>
              </a:ext>
            </a:extLst>
          </p:cNvPr>
          <p:cNvSpPr/>
          <p:nvPr/>
        </p:nvSpPr>
        <p:spPr>
          <a:xfrm>
            <a:off x="1653824" y="312809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F5D111-E9E7-545F-7B3C-0B8ECAF0F666}"/>
              </a:ext>
            </a:extLst>
          </p:cNvPr>
          <p:cNvSpPr/>
          <p:nvPr/>
        </p:nvSpPr>
        <p:spPr>
          <a:xfrm>
            <a:off x="1732846" y="384493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D47127A-1630-F1AC-8D86-5F176B42A440}"/>
              </a:ext>
            </a:extLst>
          </p:cNvPr>
          <p:cNvSpPr/>
          <p:nvPr/>
        </p:nvSpPr>
        <p:spPr>
          <a:xfrm>
            <a:off x="2336802" y="307164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585BA5-BA71-168A-63DD-76B8336C8B8B}"/>
              </a:ext>
            </a:extLst>
          </p:cNvPr>
          <p:cNvSpPr/>
          <p:nvPr/>
        </p:nvSpPr>
        <p:spPr>
          <a:xfrm>
            <a:off x="2669824" y="24789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5A3813-6534-D3B5-1ADD-F8A5709471C1}"/>
              </a:ext>
            </a:extLst>
          </p:cNvPr>
          <p:cNvSpPr/>
          <p:nvPr/>
        </p:nvSpPr>
        <p:spPr>
          <a:xfrm>
            <a:off x="3194757" y="321275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0DB020-5B6B-A62D-4AF9-29C8B96CD8D1}"/>
              </a:ext>
            </a:extLst>
          </p:cNvPr>
          <p:cNvSpPr/>
          <p:nvPr/>
        </p:nvSpPr>
        <p:spPr>
          <a:xfrm>
            <a:off x="3431824" y="206693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025672-6A42-98FD-E276-AD45DBA0E92B}"/>
              </a:ext>
            </a:extLst>
          </p:cNvPr>
          <p:cNvSpPr/>
          <p:nvPr/>
        </p:nvSpPr>
        <p:spPr>
          <a:xfrm>
            <a:off x="3810001" y="255800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FC3969-7161-C1C0-C531-383F505FD282}"/>
              </a:ext>
            </a:extLst>
          </p:cNvPr>
          <p:cNvCxnSpPr>
            <a:cxnSpLocks/>
          </p:cNvCxnSpPr>
          <p:nvPr/>
        </p:nvCxnSpPr>
        <p:spPr>
          <a:xfrm flipV="1">
            <a:off x="395112" y="2010490"/>
            <a:ext cx="4272845" cy="23593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501FC1-5B96-D987-CF43-F3F070EB4359}"/>
              </a:ext>
            </a:extLst>
          </p:cNvPr>
          <p:cNvSpPr txBox="1"/>
          <p:nvPr/>
        </p:nvSpPr>
        <p:spPr>
          <a:xfrm rot="16200000">
            <a:off x="-556504" y="1335237"/>
            <a:ext cx="2305255" cy="37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 sales(Unit)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AA9D9A-B65D-4833-1E0C-9E473B3C8863}"/>
              </a:ext>
            </a:extLst>
          </p:cNvPr>
          <p:cNvSpPr txBox="1"/>
          <p:nvPr/>
        </p:nvSpPr>
        <p:spPr>
          <a:xfrm>
            <a:off x="3509252" y="4803062"/>
            <a:ext cx="1875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advertising budget</a:t>
            </a:r>
          </a:p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 thousands</a:t>
            </a:r>
            <a:r>
              <a:rPr lang="en-US" dirty="0"/>
              <a:t>)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75CE12-D899-E7DF-BB1F-CC31CA3D5073}"/>
              </a:ext>
            </a:extLst>
          </p:cNvPr>
          <p:cNvCxnSpPr>
            <a:cxnSpLocks/>
          </p:cNvCxnSpPr>
          <p:nvPr/>
        </p:nvCxnSpPr>
        <p:spPr>
          <a:xfrm>
            <a:off x="1698979" y="3207116"/>
            <a:ext cx="0" cy="417689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5349B23-F28C-196B-8D8E-DFACCC360C28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766428" y="3624805"/>
            <a:ext cx="5929" cy="220133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8D76F6A-F4C9-5340-E7A1-D04A4AA4BE91}"/>
              </a:ext>
            </a:extLst>
          </p:cNvPr>
          <p:cNvCxnSpPr>
            <a:cxnSpLocks/>
          </p:cNvCxnSpPr>
          <p:nvPr/>
        </p:nvCxnSpPr>
        <p:spPr>
          <a:xfrm>
            <a:off x="2393246" y="3150669"/>
            <a:ext cx="0" cy="141111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B823AB5-EDAB-43AF-A2DA-486634616B04}"/>
              </a:ext>
            </a:extLst>
          </p:cNvPr>
          <p:cNvCxnSpPr>
            <a:cxnSpLocks/>
          </p:cNvCxnSpPr>
          <p:nvPr/>
        </p:nvCxnSpPr>
        <p:spPr>
          <a:xfrm>
            <a:off x="2714980" y="2535425"/>
            <a:ext cx="0" cy="57009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57C14A3-86FB-DF4F-A0F7-57CE3A4FFDE3}"/>
              </a:ext>
            </a:extLst>
          </p:cNvPr>
          <p:cNvCxnSpPr>
            <a:cxnSpLocks/>
          </p:cNvCxnSpPr>
          <p:nvPr/>
        </p:nvCxnSpPr>
        <p:spPr>
          <a:xfrm>
            <a:off x="3228626" y="2822223"/>
            <a:ext cx="0" cy="42120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A3F1387-F9AB-53AA-8FA9-BC32E7EE0AED}"/>
              </a:ext>
            </a:extLst>
          </p:cNvPr>
          <p:cNvCxnSpPr>
            <a:cxnSpLocks/>
          </p:cNvCxnSpPr>
          <p:nvPr/>
        </p:nvCxnSpPr>
        <p:spPr>
          <a:xfrm>
            <a:off x="3475385" y="2145961"/>
            <a:ext cx="0" cy="491065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176E917-CD70-7116-72EF-0F0AA1E5499A}"/>
              </a:ext>
            </a:extLst>
          </p:cNvPr>
          <p:cNvCxnSpPr>
            <a:cxnSpLocks/>
          </p:cNvCxnSpPr>
          <p:nvPr/>
        </p:nvCxnSpPr>
        <p:spPr>
          <a:xfrm>
            <a:off x="3825341" y="2478980"/>
            <a:ext cx="0" cy="79023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6C409F-8542-73B5-527D-A5975C3900E7}"/>
              </a:ext>
            </a:extLst>
          </p:cNvPr>
          <p:cNvCxnSpPr>
            <a:cxnSpLocks/>
          </p:cNvCxnSpPr>
          <p:nvPr/>
        </p:nvCxnSpPr>
        <p:spPr>
          <a:xfrm flipV="1">
            <a:off x="790224" y="3173248"/>
            <a:ext cx="863600" cy="33868"/>
          </a:xfrm>
          <a:prstGeom prst="line">
            <a:avLst/>
          </a:prstGeom>
          <a:ln w="9525" cap="flat" cmpd="sng" algn="ctr">
            <a:solidFill>
              <a:schemeClr val="tx1">
                <a:lumMod val="90000"/>
                <a:lumOff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44D0438-6550-77CE-7CE4-B815DFFC1CE4}"/>
              </a:ext>
            </a:extLst>
          </p:cNvPr>
          <p:cNvCxnSpPr>
            <a:cxnSpLocks/>
          </p:cNvCxnSpPr>
          <p:nvPr/>
        </p:nvCxnSpPr>
        <p:spPr>
          <a:xfrm flipV="1">
            <a:off x="781592" y="3618828"/>
            <a:ext cx="936346" cy="5977"/>
          </a:xfrm>
          <a:prstGeom prst="line">
            <a:avLst/>
          </a:prstGeom>
          <a:ln w="9525" cap="flat" cmpd="sng" algn="ctr">
            <a:solidFill>
              <a:schemeClr val="tx1">
                <a:lumMod val="90000"/>
                <a:lumOff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8E94B01-544E-5892-96B0-7840FD2AB3A1}"/>
              </a:ext>
            </a:extLst>
          </p:cNvPr>
          <p:cNvSpPr txBox="1"/>
          <p:nvPr/>
        </p:nvSpPr>
        <p:spPr>
          <a:xfrm>
            <a:off x="645931" y="1026193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2090D4-A60F-0555-84DA-B4AF04D3CF77}"/>
              </a:ext>
            </a:extLst>
          </p:cNvPr>
          <p:cNvSpPr txBox="1"/>
          <p:nvPr/>
        </p:nvSpPr>
        <p:spPr>
          <a:xfrm>
            <a:off x="5366432" y="457467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367B473-B05D-8A49-F052-2441B8E48A3B}"/>
              </a:ext>
            </a:extLst>
          </p:cNvPr>
          <p:cNvSpPr txBox="1"/>
          <p:nvPr/>
        </p:nvSpPr>
        <p:spPr>
          <a:xfrm>
            <a:off x="358626" y="3017475"/>
            <a:ext cx="418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Y</a:t>
            </a:r>
            <a:r>
              <a:rPr lang="en-US" baseline="-25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i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7AB967-6BA5-483E-D0A5-0B1EC39F5765}"/>
                  </a:ext>
                </a:extLst>
              </p:cNvPr>
              <p:cNvSpPr txBox="1"/>
              <p:nvPr/>
            </p:nvSpPr>
            <p:spPr>
              <a:xfrm>
                <a:off x="369789" y="3484763"/>
                <a:ext cx="4799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E7AB967-6BA5-483E-D0A5-0B1EC39F5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789" y="3484763"/>
                <a:ext cx="479910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6AC74B-A77E-F588-F1CD-309A0569881C}"/>
                  </a:ext>
                </a:extLst>
              </p:cNvPr>
              <p:cNvSpPr txBox="1"/>
              <p:nvPr/>
            </p:nvSpPr>
            <p:spPr>
              <a:xfrm>
                <a:off x="1222024" y="5527892"/>
                <a:ext cx="2900772" cy="4632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0" i="0" u="none" strike="noStrike" dirty="0" err="1">
                    <a:solidFill>
                      <a:srgbClr val="000000"/>
                    </a:solidFill>
                    <a:effectLst/>
                    <a:latin typeface="+mj-lt"/>
                  </a:rPr>
                  <a:t>SS</a:t>
                </a:r>
                <a:r>
                  <a:rPr lang="en-IN" sz="2400" b="0" i="0" u="none" strike="noStrike" baseline="-25000" dirty="0" err="1">
                    <a:solidFill>
                      <a:srgbClr val="000000"/>
                    </a:solidFill>
                    <a:effectLst/>
                    <a:latin typeface="+mj-lt"/>
                  </a:rPr>
                  <a:t>res</a:t>
                </a:r>
                <a:r>
                  <a:rPr lang="en-IN" sz="2400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=​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+mj-lt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2400" i="1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u="none" strike="noStrike" baseline="3000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baseline="30000" dirty="0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16AC74B-A77E-F588-F1CD-309A05698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024" y="5527892"/>
                <a:ext cx="2900772" cy="463268"/>
              </a:xfrm>
              <a:prstGeom prst="rect">
                <a:avLst/>
              </a:prstGeom>
              <a:blipFill>
                <a:blip r:embed="rId3"/>
                <a:stretch>
                  <a:fillRect l="-3493" t="-127027" b="-19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9953BEB-E338-8E2C-E379-5DADD33CCB74}"/>
              </a:ext>
            </a:extLst>
          </p:cNvPr>
          <p:cNvCxnSpPr>
            <a:cxnSpLocks/>
          </p:cNvCxnSpPr>
          <p:nvPr/>
        </p:nvCxnSpPr>
        <p:spPr>
          <a:xfrm flipV="1">
            <a:off x="6920569" y="1308144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DEA5882-BD11-E251-FB7D-743E230A9590}"/>
              </a:ext>
            </a:extLst>
          </p:cNvPr>
          <p:cNvCxnSpPr>
            <a:cxnSpLocks/>
          </p:cNvCxnSpPr>
          <p:nvPr/>
        </p:nvCxnSpPr>
        <p:spPr>
          <a:xfrm>
            <a:off x="6525457" y="4723033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814D8524-E8A9-3FC6-BC0D-1938BEF852BB}"/>
              </a:ext>
            </a:extLst>
          </p:cNvPr>
          <p:cNvSpPr/>
          <p:nvPr/>
        </p:nvSpPr>
        <p:spPr>
          <a:xfrm>
            <a:off x="7784169" y="309178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BA02E7A9-282E-17D7-424C-CE61257ACB81}"/>
              </a:ext>
            </a:extLst>
          </p:cNvPr>
          <p:cNvSpPr/>
          <p:nvPr/>
        </p:nvSpPr>
        <p:spPr>
          <a:xfrm>
            <a:off x="8077395" y="381778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DE1D64D-E284-89A1-6A64-25D254C9F073}"/>
              </a:ext>
            </a:extLst>
          </p:cNvPr>
          <p:cNvSpPr/>
          <p:nvPr/>
        </p:nvSpPr>
        <p:spPr>
          <a:xfrm>
            <a:off x="8467147" y="303534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EAFFE9D-76C1-1005-69C6-CDDFB1EE2BE3}"/>
              </a:ext>
            </a:extLst>
          </p:cNvPr>
          <p:cNvSpPr/>
          <p:nvPr/>
        </p:nvSpPr>
        <p:spPr>
          <a:xfrm>
            <a:off x="8800169" y="244267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566CB74-4725-BD82-833F-EE63125DE8AE}"/>
              </a:ext>
            </a:extLst>
          </p:cNvPr>
          <p:cNvSpPr/>
          <p:nvPr/>
        </p:nvSpPr>
        <p:spPr>
          <a:xfrm>
            <a:off x="9325102" y="317645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68D6F6E-6F28-82E9-574A-DF922EB141E7}"/>
              </a:ext>
            </a:extLst>
          </p:cNvPr>
          <p:cNvSpPr/>
          <p:nvPr/>
        </p:nvSpPr>
        <p:spPr>
          <a:xfrm>
            <a:off x="9562169" y="203063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CCAEB5B-694E-88D0-579F-0F234DE37110}"/>
              </a:ext>
            </a:extLst>
          </p:cNvPr>
          <p:cNvSpPr/>
          <p:nvPr/>
        </p:nvSpPr>
        <p:spPr>
          <a:xfrm>
            <a:off x="9940346" y="252169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B39A645-B971-4077-F794-B825A988181E}"/>
              </a:ext>
            </a:extLst>
          </p:cNvPr>
          <p:cNvCxnSpPr>
            <a:cxnSpLocks/>
          </p:cNvCxnSpPr>
          <p:nvPr/>
        </p:nvCxnSpPr>
        <p:spPr>
          <a:xfrm flipV="1">
            <a:off x="6907929" y="2929698"/>
            <a:ext cx="4607210" cy="8273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D032E4C-37F0-EC93-8780-2FA5AADE0379}"/>
              </a:ext>
            </a:extLst>
          </p:cNvPr>
          <p:cNvSpPr txBox="1"/>
          <p:nvPr/>
        </p:nvSpPr>
        <p:spPr>
          <a:xfrm rot="16200000">
            <a:off x="5573841" y="1298931"/>
            <a:ext cx="2305255" cy="37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Product sales(Unit)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0DF56E-F6E7-8033-AC90-353798E7E056}"/>
              </a:ext>
            </a:extLst>
          </p:cNvPr>
          <p:cNvSpPr txBox="1"/>
          <p:nvPr/>
        </p:nvSpPr>
        <p:spPr>
          <a:xfrm>
            <a:off x="9639597" y="4766756"/>
            <a:ext cx="1875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advertising budget</a:t>
            </a:r>
          </a:p>
          <a:p>
            <a:r>
              <a:rPr lang="en-US" dirty="0"/>
              <a:t>(</a:t>
            </a:r>
            <a:r>
              <a:rPr lang="en-US" dirty="0" err="1"/>
              <a:t>i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 thousands</a:t>
            </a:r>
            <a:r>
              <a:rPr lang="en-US" dirty="0"/>
              <a:t>)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D5305029-BB39-B2DC-0186-173DD28B5AE2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7784169" y="3032823"/>
            <a:ext cx="39511" cy="58964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444C537-4F37-3AB1-F0CE-3FC7108B7E73}"/>
              </a:ext>
            </a:extLst>
          </p:cNvPr>
          <p:cNvCxnSpPr>
            <a:cxnSpLocks/>
          </p:cNvCxnSpPr>
          <p:nvPr/>
        </p:nvCxnSpPr>
        <p:spPr>
          <a:xfrm>
            <a:off x="8116906" y="3032823"/>
            <a:ext cx="195" cy="780397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ADABFF8-5AB8-DE3A-8B08-F202E68A000F}"/>
              </a:ext>
            </a:extLst>
          </p:cNvPr>
          <p:cNvCxnSpPr>
            <a:cxnSpLocks/>
            <a:endCxn id="54" idx="7"/>
          </p:cNvCxnSpPr>
          <p:nvPr/>
        </p:nvCxnSpPr>
        <p:spPr>
          <a:xfrm>
            <a:off x="8495849" y="2981169"/>
            <a:ext cx="38747" cy="65744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E89B070-52A2-523C-8472-5E090A933C8D}"/>
              </a:ext>
            </a:extLst>
          </p:cNvPr>
          <p:cNvCxnSpPr>
            <a:cxnSpLocks/>
          </p:cNvCxnSpPr>
          <p:nvPr/>
        </p:nvCxnSpPr>
        <p:spPr>
          <a:xfrm>
            <a:off x="8845325" y="2558003"/>
            <a:ext cx="0" cy="47482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346F7F9-AAA8-86FB-B408-AF868EDDD54A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9364613" y="2929698"/>
            <a:ext cx="0" cy="246753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C62330C-7141-D33F-844F-12075902FB70}"/>
              </a:ext>
            </a:extLst>
          </p:cNvPr>
          <p:cNvCxnSpPr>
            <a:cxnSpLocks/>
          </p:cNvCxnSpPr>
          <p:nvPr/>
        </p:nvCxnSpPr>
        <p:spPr>
          <a:xfrm>
            <a:off x="9605730" y="2109655"/>
            <a:ext cx="22146" cy="871514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8FFD0B6-EB8A-001F-51A8-47CC0FA067A5}"/>
              </a:ext>
            </a:extLst>
          </p:cNvPr>
          <p:cNvCxnSpPr>
            <a:cxnSpLocks/>
            <a:endCxn id="58" idx="4"/>
          </p:cNvCxnSpPr>
          <p:nvPr/>
        </p:nvCxnSpPr>
        <p:spPr>
          <a:xfrm flipH="1" flipV="1">
            <a:off x="9979857" y="2600720"/>
            <a:ext cx="22578" cy="380449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3419B9D-A089-4D37-D659-141C488E22A2}"/>
              </a:ext>
            </a:extLst>
          </p:cNvPr>
          <p:cNvCxnSpPr>
            <a:cxnSpLocks/>
            <a:endCxn id="53" idx="2"/>
          </p:cNvCxnSpPr>
          <p:nvPr/>
        </p:nvCxnSpPr>
        <p:spPr>
          <a:xfrm flipV="1">
            <a:off x="6913782" y="3857301"/>
            <a:ext cx="1163613" cy="2165"/>
          </a:xfrm>
          <a:prstGeom prst="line">
            <a:avLst/>
          </a:prstGeom>
          <a:ln w="9525" cap="flat" cmpd="sng" algn="ctr">
            <a:solidFill>
              <a:schemeClr val="tx1">
                <a:lumMod val="90000"/>
                <a:lumOff val="1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DC92713-79E5-2879-C5A9-B5F1BAEF648E}"/>
              </a:ext>
            </a:extLst>
          </p:cNvPr>
          <p:cNvSpPr txBox="1"/>
          <p:nvPr/>
        </p:nvSpPr>
        <p:spPr>
          <a:xfrm>
            <a:off x="6776276" y="989887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8DD892-749A-7B6E-85C2-A10A71E39A98}"/>
              </a:ext>
            </a:extLst>
          </p:cNvPr>
          <p:cNvSpPr txBox="1"/>
          <p:nvPr/>
        </p:nvSpPr>
        <p:spPr>
          <a:xfrm>
            <a:off x="11496777" y="4538367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FC42D3-1DFE-4E8F-D707-C96DEBA33E60}"/>
              </a:ext>
            </a:extLst>
          </p:cNvPr>
          <p:cNvSpPr txBox="1"/>
          <p:nvPr/>
        </p:nvSpPr>
        <p:spPr>
          <a:xfrm>
            <a:off x="6357121" y="2779801"/>
            <a:ext cx="562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Y</a:t>
            </a:r>
            <a:r>
              <a:rPr lang="en-US" baseline="-25000" dirty="0" err="1">
                <a:solidFill>
                  <a:schemeClr val="tx1">
                    <a:lumMod val="90000"/>
                    <a:lumOff val="10000"/>
                  </a:schemeClr>
                </a:solidFill>
              </a:rPr>
              <a:t>avg</a:t>
            </a:r>
            <a:r>
              <a:rPr lang="en-US" baseline="-25000" dirty="0">
                <a:solidFill>
                  <a:schemeClr val="tx1">
                    <a:lumMod val="90000"/>
                    <a:lumOff val="10000"/>
                  </a:schemeClr>
                </a:solidFill>
              </a:rPr>
              <a:t>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AE51294-B396-1D0E-D2D4-F389F3ABC40B}"/>
                  </a:ext>
                </a:extLst>
              </p:cNvPr>
              <p:cNvSpPr txBox="1"/>
              <p:nvPr/>
            </p:nvSpPr>
            <p:spPr>
              <a:xfrm>
                <a:off x="6420904" y="3608805"/>
                <a:ext cx="479910" cy="4088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80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>
                                  <a:lumMod val="90000"/>
                                  <a:lumOff val="1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</m:sSubSup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AE51294-B396-1D0E-D2D4-F389F3ABC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904" y="3608805"/>
                <a:ext cx="479910" cy="408830"/>
              </a:xfrm>
              <a:prstGeom prst="rect">
                <a:avLst/>
              </a:prstGeom>
              <a:blipFill>
                <a:blip r:embed="rId4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4D54273-0855-5240-858D-C526FCFE89B7}"/>
                  </a:ext>
                </a:extLst>
              </p:cNvPr>
              <p:cNvSpPr txBox="1"/>
              <p:nvPr/>
            </p:nvSpPr>
            <p:spPr>
              <a:xfrm>
                <a:off x="7602135" y="5360875"/>
                <a:ext cx="3445933" cy="531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SS</a:t>
                </a:r>
                <a:r>
                  <a:rPr lang="en-IN" sz="2400" baseline="-25000" dirty="0" err="1">
                    <a:solidFill>
                      <a:srgbClr val="000000"/>
                    </a:solidFill>
                    <a:latin typeface="+mj-lt"/>
                  </a:rPr>
                  <a:t>total</a:t>
                </a:r>
                <a:r>
                  <a:rPr lang="en-IN" sz="2400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=​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aseline="-25000" dirty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+mj-lt"/>
                          </a:rPr>
                          <m:t> </m:t>
                        </m:r>
                        <m:r>
                          <a:rPr lang="en-US" sz="2400" b="0" i="1" dirty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2400" i="1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𝑎𝑣𝑔</m:t>
                            </m:r>
                          </m:sub>
                          <m:sup/>
                        </m:sSubSup>
                        <m:r>
                          <a:rPr lang="en-US" sz="24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u="none" strike="noStrike" baseline="3000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400" baseline="30000" dirty="0">
                  <a:latin typeface="+mj-lt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4D54273-0855-5240-858D-C526FCFE8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135" y="5360875"/>
                <a:ext cx="3445933" cy="531877"/>
              </a:xfrm>
              <a:prstGeom prst="rect">
                <a:avLst/>
              </a:prstGeom>
              <a:blipFill>
                <a:blip r:embed="rId5"/>
                <a:stretch>
                  <a:fillRect l="-2941" t="-97727" b="-15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1CD4A9A-AC0B-783B-0DE5-64995092A989}"/>
                  </a:ext>
                </a:extLst>
              </p:cNvPr>
              <p:cNvSpPr txBox="1"/>
              <p:nvPr/>
            </p:nvSpPr>
            <p:spPr>
              <a:xfrm>
                <a:off x="4589866" y="5573463"/>
                <a:ext cx="2620782" cy="8601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 =1 − 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600" dirty="0">
                              <a:solidFill>
                                <a:srgbClr val="000000"/>
                              </a:solidFill>
                            </a:rPr>
                            <m:t>SS</m:t>
                          </m:r>
                          <m:r>
                            <m:rPr>
                              <m:nor/>
                            </m:rPr>
                            <a:rPr lang="en-IN" sz="2600" baseline="-25000" dirty="0">
                              <a:solidFill>
                                <a:srgbClr val="000000"/>
                              </a:solidFill>
                            </a:rPr>
                            <m:t>res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600" dirty="0">
                              <a:solidFill>
                                <a:srgbClr val="000000"/>
                              </a:solidFill>
                            </a:rPr>
                            <m:t>SS</m:t>
                          </m:r>
                          <m:r>
                            <m:rPr>
                              <m:nor/>
                            </m:rPr>
                            <a:rPr lang="en-IN" sz="2600" baseline="-25000" dirty="0">
                              <a:solidFill>
                                <a:srgbClr val="000000"/>
                              </a:solidFill>
                            </a:rPr>
                            <m:t>total</m:t>
                          </m:r>
                        </m:den>
                      </m:f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1CD4A9A-AC0B-783B-0DE5-64995092A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9866" y="5573463"/>
                <a:ext cx="2620782" cy="860172"/>
              </a:xfrm>
              <a:prstGeom prst="rect">
                <a:avLst/>
              </a:prstGeom>
              <a:blipFill>
                <a:blip r:embed="rId6"/>
                <a:stretch>
                  <a:fillRect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TextBox 88">
            <a:extLst>
              <a:ext uri="{FF2B5EF4-FFF2-40B4-BE49-F238E27FC236}">
                <a16:creationId xmlns:a16="http://schemas.microsoft.com/office/drawing/2014/main" id="{6B6E8377-1D6A-7620-1667-2F395D91A465}"/>
              </a:ext>
            </a:extLst>
          </p:cNvPr>
          <p:cNvSpPr txBox="1"/>
          <p:nvPr/>
        </p:nvSpPr>
        <p:spPr>
          <a:xfrm>
            <a:off x="8410768" y="5954455"/>
            <a:ext cx="1828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Total Variance</a:t>
            </a:r>
            <a:endParaRPr 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6E7E69E-E054-9216-B111-438F0B636199}"/>
              </a:ext>
            </a:extLst>
          </p:cNvPr>
          <p:cNvSpPr txBox="1"/>
          <p:nvPr/>
        </p:nvSpPr>
        <p:spPr>
          <a:xfrm>
            <a:off x="1721358" y="6070852"/>
            <a:ext cx="22861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Unexplained Variance</a:t>
            </a:r>
            <a:endParaRPr lang="en-US" dirty="0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267723A-D837-1EB6-B161-39D3B9BAD43B}"/>
              </a:ext>
            </a:extLst>
          </p:cNvPr>
          <p:cNvSpPr/>
          <p:nvPr/>
        </p:nvSpPr>
        <p:spPr>
          <a:xfrm>
            <a:off x="4514283" y="5493115"/>
            <a:ext cx="2770095" cy="1033114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0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/>
      <p:bldP spid="15" grpId="0"/>
      <p:bldP spid="28" grpId="0"/>
      <p:bldP spid="29" grpId="0"/>
      <p:bldP spid="30" grpId="0"/>
      <p:bldP spid="31" grpId="0"/>
      <p:bldP spid="49" grpId="0"/>
      <p:bldP spid="52" grpId="0" animBg="1"/>
      <p:bldP spid="53" grpId="0" animBg="1"/>
      <p:bldP spid="54" grpId="0" animBg="1"/>
      <p:bldP spid="55" grpId="0" animBg="1"/>
      <p:bldP spid="56" grpId="0" animBg="1"/>
      <p:bldP spid="56" grpId="1" animBg="1"/>
      <p:bldP spid="57" grpId="0" animBg="1"/>
      <p:bldP spid="58" grpId="0" animBg="1"/>
      <p:bldP spid="60" grpId="0"/>
      <p:bldP spid="61" grpId="0"/>
      <p:bldP spid="71" grpId="0"/>
      <p:bldP spid="72" grpId="0"/>
      <p:bldP spid="73" grpId="0"/>
      <p:bldP spid="74" grpId="0"/>
      <p:bldP spid="86" grpId="0"/>
      <p:bldP spid="87" grpId="0"/>
      <p:bldP spid="89" grpId="0"/>
      <p:bldP spid="90" grpId="0"/>
      <p:bldP spid="3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153C-B7E1-A4AC-5808-5702F3E01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49A30-9A90-52E3-544C-A48D2E857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540062"/>
          </a:xfrm>
        </p:spPr>
        <p:txBody>
          <a:bodyPr/>
          <a:lstStyle/>
          <a:p>
            <a:r>
              <a:rPr lang="en-US" dirty="0"/>
              <a:t>Multiple linear regression is a </a:t>
            </a:r>
            <a:r>
              <a:rPr lang="en-US" dirty="0">
                <a:solidFill>
                  <a:srgbClr val="C00000"/>
                </a:solidFill>
              </a:rPr>
              <a:t>simple extension of linear regression</a:t>
            </a:r>
            <a:r>
              <a:rPr lang="en-US" dirty="0"/>
              <a:t>, but instead of </a:t>
            </a:r>
            <a:r>
              <a:rPr lang="en-US" dirty="0">
                <a:solidFill>
                  <a:srgbClr val="C00000"/>
                </a:solidFill>
              </a:rPr>
              <a:t>relating one dependent outcome variable y to one independent variable x</a:t>
            </a:r>
            <a:r>
              <a:rPr lang="en-US" dirty="0"/>
              <a:t>, one tries to explain the outcome value y as </a:t>
            </a:r>
            <a:r>
              <a:rPr lang="en-US" dirty="0">
                <a:solidFill>
                  <a:srgbClr val="C00000"/>
                </a:solidFill>
              </a:rPr>
              <a:t>the weighted sum of influences from multiple independent variables x1, x2, x3</a:t>
            </a:r>
            <a:r>
              <a:rPr lang="en-US" dirty="0"/>
              <a:t>,….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49A51-BB3C-67B6-EA21-05303CB73CDD}"/>
              </a:ext>
            </a:extLst>
          </p:cNvPr>
          <p:cNvSpPr txBox="1"/>
          <p:nvPr/>
        </p:nvSpPr>
        <p:spPr>
          <a:xfrm>
            <a:off x="0" y="2574961"/>
            <a:ext cx="1233872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/>
              <a:t>Y= b</a:t>
            </a:r>
            <a:r>
              <a:rPr lang="en-US" sz="8000" baseline="-25000" dirty="0"/>
              <a:t>0 </a:t>
            </a:r>
            <a:r>
              <a:rPr lang="en-US" sz="8000" dirty="0"/>
              <a:t>+ b</a:t>
            </a:r>
            <a:r>
              <a:rPr lang="en-US" sz="8000" baseline="-25000" dirty="0"/>
              <a:t>1</a:t>
            </a:r>
            <a:r>
              <a:rPr lang="en-US" sz="8000" dirty="0"/>
              <a:t>X</a:t>
            </a:r>
            <a:r>
              <a:rPr lang="en-US" sz="8000" baseline="-25000" dirty="0"/>
              <a:t>1 </a:t>
            </a:r>
            <a:r>
              <a:rPr lang="en-US" sz="8000" dirty="0"/>
              <a:t>+ b</a:t>
            </a:r>
            <a:r>
              <a:rPr lang="en-US" sz="8000" baseline="-25000" dirty="0"/>
              <a:t>2</a:t>
            </a:r>
            <a:r>
              <a:rPr lang="en-US" sz="8000" dirty="0"/>
              <a:t>X</a:t>
            </a:r>
            <a:r>
              <a:rPr lang="en-US" sz="8000" baseline="-25000" dirty="0"/>
              <a:t>2</a:t>
            </a:r>
            <a:r>
              <a:rPr lang="en-US" sz="8000" dirty="0"/>
              <a:t>+ … + </a:t>
            </a:r>
            <a:r>
              <a:rPr lang="en-US" sz="8000" dirty="0" err="1"/>
              <a:t>b</a:t>
            </a:r>
            <a:r>
              <a:rPr lang="en-US" sz="8000" baseline="-25000" dirty="0" err="1"/>
              <a:t>n</a:t>
            </a:r>
            <a:r>
              <a:rPr lang="en-US" sz="8000" dirty="0" err="1"/>
              <a:t>X</a:t>
            </a:r>
            <a:r>
              <a:rPr lang="en-US" sz="8000" baseline="-25000" dirty="0" err="1"/>
              <a:t>n</a:t>
            </a:r>
            <a:r>
              <a:rPr lang="en-US" sz="8000" dirty="0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F6AEEA-2F17-8E99-0738-780D50025FCE}"/>
              </a:ext>
            </a:extLst>
          </p:cNvPr>
          <p:cNvCxnSpPr/>
          <p:nvPr/>
        </p:nvCxnSpPr>
        <p:spPr>
          <a:xfrm>
            <a:off x="433589" y="3853161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A119CE-8756-DFFE-FBFE-230B4C712957}"/>
              </a:ext>
            </a:extLst>
          </p:cNvPr>
          <p:cNvCxnSpPr/>
          <p:nvPr/>
        </p:nvCxnSpPr>
        <p:spPr>
          <a:xfrm>
            <a:off x="1640983" y="3898400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8956EB-7143-A3DE-9848-49A9D19AD842}"/>
              </a:ext>
            </a:extLst>
          </p:cNvPr>
          <p:cNvCxnSpPr/>
          <p:nvPr/>
        </p:nvCxnSpPr>
        <p:spPr>
          <a:xfrm>
            <a:off x="3339960" y="3890116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AEC79D-49D5-B913-C08F-1268F5917588}"/>
              </a:ext>
            </a:extLst>
          </p:cNvPr>
          <p:cNvCxnSpPr/>
          <p:nvPr/>
        </p:nvCxnSpPr>
        <p:spPr>
          <a:xfrm>
            <a:off x="4226138" y="3890116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E7C13D7-2FCC-FC9F-4946-A9C1632F0227}"/>
              </a:ext>
            </a:extLst>
          </p:cNvPr>
          <p:cNvCxnSpPr>
            <a:cxnSpLocks/>
          </p:cNvCxnSpPr>
          <p:nvPr/>
        </p:nvCxnSpPr>
        <p:spPr>
          <a:xfrm>
            <a:off x="760966" y="3853161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BFFA1E-26D4-FB99-3374-4910934F1490}"/>
              </a:ext>
            </a:extLst>
          </p:cNvPr>
          <p:cNvSpPr txBox="1"/>
          <p:nvPr/>
        </p:nvSpPr>
        <p:spPr>
          <a:xfrm>
            <a:off x="151447" y="4731576"/>
            <a:ext cx="121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Dependent </a:t>
            </a:r>
          </a:p>
          <a:p>
            <a:pPr algn="ctr"/>
            <a:r>
              <a:rPr lang="en-US" dirty="0"/>
              <a:t>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2D618-9681-84D3-83B4-37C2CBBBDA51}"/>
              </a:ext>
            </a:extLst>
          </p:cNvPr>
          <p:cNvSpPr txBox="1"/>
          <p:nvPr/>
        </p:nvSpPr>
        <p:spPr>
          <a:xfrm>
            <a:off x="1383905" y="5393295"/>
            <a:ext cx="1168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intercept</a:t>
            </a:r>
          </a:p>
          <a:p>
            <a:r>
              <a:rPr lang="en-US" dirty="0"/>
              <a:t>(constant)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149397-242E-321C-9F5D-E216D6676234}"/>
              </a:ext>
            </a:extLst>
          </p:cNvPr>
          <p:cNvCxnSpPr>
            <a:cxnSpLocks/>
          </p:cNvCxnSpPr>
          <p:nvPr/>
        </p:nvCxnSpPr>
        <p:spPr>
          <a:xfrm>
            <a:off x="1968360" y="3898400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26E8CD1-F87A-B2BC-DA00-6C584FDF08D4}"/>
              </a:ext>
            </a:extLst>
          </p:cNvPr>
          <p:cNvSpPr txBox="1"/>
          <p:nvPr/>
        </p:nvSpPr>
        <p:spPr>
          <a:xfrm>
            <a:off x="3348173" y="5393295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-1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58EA2C9-471B-ECE0-E1D4-2128B2F82E90}"/>
              </a:ext>
            </a:extLst>
          </p:cNvPr>
          <p:cNvCxnSpPr>
            <a:cxnSpLocks/>
          </p:cNvCxnSpPr>
          <p:nvPr/>
        </p:nvCxnSpPr>
        <p:spPr>
          <a:xfrm>
            <a:off x="3641683" y="3871135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9D1A97-F8DB-5359-991D-063D0E2BEB1A}"/>
              </a:ext>
            </a:extLst>
          </p:cNvPr>
          <p:cNvCxnSpPr>
            <a:cxnSpLocks/>
          </p:cNvCxnSpPr>
          <p:nvPr/>
        </p:nvCxnSpPr>
        <p:spPr>
          <a:xfrm>
            <a:off x="4553515" y="3898400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11D35C1-FC98-D8B4-5D04-C968ED097CA4}"/>
              </a:ext>
            </a:extLst>
          </p:cNvPr>
          <p:cNvSpPr txBox="1"/>
          <p:nvPr/>
        </p:nvSpPr>
        <p:spPr>
          <a:xfrm>
            <a:off x="3918573" y="4708561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 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127FC7A-0D44-1A36-4888-D44DB7C3CBEA}"/>
              </a:ext>
            </a:extLst>
          </p:cNvPr>
          <p:cNvCxnSpPr/>
          <p:nvPr/>
        </p:nvCxnSpPr>
        <p:spPr>
          <a:xfrm>
            <a:off x="6089299" y="3975932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CFE753-1373-EEB4-3BA9-4673701EE36E}"/>
              </a:ext>
            </a:extLst>
          </p:cNvPr>
          <p:cNvCxnSpPr/>
          <p:nvPr/>
        </p:nvCxnSpPr>
        <p:spPr>
          <a:xfrm>
            <a:off x="6975477" y="3975932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CE7D65B-E4D5-E2A8-774B-1EBDBB744EBA}"/>
              </a:ext>
            </a:extLst>
          </p:cNvPr>
          <p:cNvSpPr txBox="1"/>
          <p:nvPr/>
        </p:nvSpPr>
        <p:spPr>
          <a:xfrm>
            <a:off x="6097512" y="5479111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-2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3846BF-1A4E-3698-5131-5C84DEC0F6AB}"/>
              </a:ext>
            </a:extLst>
          </p:cNvPr>
          <p:cNvCxnSpPr>
            <a:cxnSpLocks/>
          </p:cNvCxnSpPr>
          <p:nvPr/>
        </p:nvCxnSpPr>
        <p:spPr>
          <a:xfrm>
            <a:off x="6391022" y="3956951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CCA5BF7-034A-611A-57A6-569B18EFA3F4}"/>
              </a:ext>
            </a:extLst>
          </p:cNvPr>
          <p:cNvCxnSpPr>
            <a:cxnSpLocks/>
          </p:cNvCxnSpPr>
          <p:nvPr/>
        </p:nvCxnSpPr>
        <p:spPr>
          <a:xfrm>
            <a:off x="7302854" y="3984216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863C4B-10E5-DF15-715B-7541FDDF68B9}"/>
              </a:ext>
            </a:extLst>
          </p:cNvPr>
          <p:cNvSpPr txBox="1"/>
          <p:nvPr/>
        </p:nvSpPr>
        <p:spPr>
          <a:xfrm>
            <a:off x="6667912" y="4794377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 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FD5660-8284-E080-8BBF-1CA5684ECE35}"/>
              </a:ext>
            </a:extLst>
          </p:cNvPr>
          <p:cNvCxnSpPr/>
          <p:nvPr/>
        </p:nvCxnSpPr>
        <p:spPr>
          <a:xfrm>
            <a:off x="9926743" y="4042359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89C5EB2-8CF7-FCF7-27DB-3DD2A7FA8C06}"/>
              </a:ext>
            </a:extLst>
          </p:cNvPr>
          <p:cNvCxnSpPr/>
          <p:nvPr/>
        </p:nvCxnSpPr>
        <p:spPr>
          <a:xfrm>
            <a:off x="10812921" y="4042359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8ECD697-B97B-AC7E-1A19-BE1E84342643}"/>
              </a:ext>
            </a:extLst>
          </p:cNvPr>
          <p:cNvSpPr txBox="1"/>
          <p:nvPr/>
        </p:nvSpPr>
        <p:spPr>
          <a:xfrm>
            <a:off x="9934956" y="5545538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-n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0CF19B-D2E3-02AA-B415-DE6FA04D0A41}"/>
              </a:ext>
            </a:extLst>
          </p:cNvPr>
          <p:cNvCxnSpPr>
            <a:cxnSpLocks/>
          </p:cNvCxnSpPr>
          <p:nvPr/>
        </p:nvCxnSpPr>
        <p:spPr>
          <a:xfrm>
            <a:off x="10228466" y="4023378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7C8A352-F9A4-5EEB-A343-20B103233FD9}"/>
              </a:ext>
            </a:extLst>
          </p:cNvPr>
          <p:cNvCxnSpPr>
            <a:cxnSpLocks/>
          </p:cNvCxnSpPr>
          <p:nvPr/>
        </p:nvCxnSpPr>
        <p:spPr>
          <a:xfrm>
            <a:off x="11140298" y="4050643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2AFCE95-3CD6-B056-6106-1E528C49AD9E}"/>
              </a:ext>
            </a:extLst>
          </p:cNvPr>
          <p:cNvSpPr txBox="1"/>
          <p:nvPr/>
        </p:nvSpPr>
        <p:spPr>
          <a:xfrm>
            <a:off x="10505356" y="4860804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 n</a:t>
            </a:r>
          </a:p>
        </p:txBody>
      </p:sp>
    </p:spTree>
    <p:extLst>
      <p:ext uri="{BB962C8B-B14F-4D97-AF65-F5344CB8AC3E}">
        <p14:creationId xmlns:p14="http://schemas.microsoft.com/office/powerpoint/2010/main" val="187392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3" grpId="0"/>
      <p:bldP spid="16" grpId="0"/>
      <p:bldP spid="19" grpId="0"/>
      <p:bldP spid="22" grpId="0"/>
      <p:bldP spid="25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3F0A-922C-DC1C-129C-302E28F4D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6E4E9-8F6F-2123-AA70-391A389A5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57356"/>
          </a:xfrm>
        </p:spPr>
        <p:txBody>
          <a:bodyPr/>
          <a:lstStyle/>
          <a:p>
            <a:r>
              <a:rPr lang="en-US" dirty="0"/>
              <a:t>If you want to </a:t>
            </a:r>
            <a:r>
              <a:rPr lang="en-US" dirty="0">
                <a:solidFill>
                  <a:srgbClr val="C00000"/>
                </a:solidFill>
              </a:rPr>
              <a:t>model CO₂ emissions </a:t>
            </a:r>
            <a:r>
              <a:rPr lang="en-US" dirty="0"/>
              <a:t>(Y) based on </a:t>
            </a:r>
            <a:r>
              <a:rPr lang="en-US" dirty="0">
                <a:solidFill>
                  <a:srgbClr val="C00000"/>
                </a:solidFill>
              </a:rPr>
              <a:t>volume (X1​) and weight (X2​), 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8CAC5C67-01E0-4F42-DC20-2BCFC82E36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0731872"/>
              </p:ext>
            </p:extLst>
          </p:nvPr>
        </p:nvGraphicFramePr>
        <p:xfrm>
          <a:off x="634381" y="1552067"/>
          <a:ext cx="7997553" cy="27554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665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5851">
                  <a:extLst>
                    <a:ext uri="{9D8B030D-6E8A-4147-A177-3AD203B41FA5}">
                      <a16:colId xmlns:a16="http://schemas.microsoft.com/office/drawing/2014/main" val="1284048445"/>
                    </a:ext>
                  </a:extLst>
                </a:gridCol>
                <a:gridCol w="2665851">
                  <a:extLst>
                    <a:ext uri="{9D8B030D-6E8A-4147-A177-3AD203B41FA5}">
                      <a16:colId xmlns:a16="http://schemas.microsoft.com/office/drawing/2014/main" val="25798092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Volume (L)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Weight (kg)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CO₂ 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1300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40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2.0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1400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1280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115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1500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165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222526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1625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72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08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0D8AC-DB4B-ECEC-2F04-59C1D4C56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Linear Regression (Example) (Emissions)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FC12E3-5AF5-3935-324B-755930DB2D87}"/>
              </a:ext>
            </a:extLst>
          </p:cNvPr>
          <p:cNvSpPr/>
          <p:nvPr/>
        </p:nvSpPr>
        <p:spPr>
          <a:xfrm>
            <a:off x="715063" y="1228181"/>
            <a:ext cx="11261866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pandas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pd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sklearn.linear_model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LinearRegression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mean_squared_error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pd.read_csv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car_data.csv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'Volume (L)'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'Weight (kg)'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'CO₂ Emissions (g/km)'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linear_model.LinearRegression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mean_squared_error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"Mean Squared Error (MSE):"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#predict the CO2 emission of a car where the weight is 1000kg, and the volume is 1.2: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]])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63F658-6B8B-53BA-66AD-A88F3A7C61C6}"/>
              </a:ext>
            </a:extLst>
          </p:cNvPr>
          <p:cNvSpPr/>
          <p:nvPr/>
        </p:nvSpPr>
        <p:spPr>
          <a:xfrm>
            <a:off x="215071" y="1228181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DA860A04-C332-50EE-6F6B-B436DC16FDD4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Emissions.py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0564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907EA-A888-F9E9-FA12-05D1BD85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E6A82-0EF6-E381-0115-D1CD97EDA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70067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Polynomial regression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is an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extension of linear regression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that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models the relationship between a dependent variable and one or more independent variables as an nth-degree polynomial.</a:t>
            </a:r>
          </a:p>
          <a:p>
            <a:r>
              <a:rPr lang="en-US" dirty="0"/>
              <a:t>This approach is especially useful when the data </a:t>
            </a:r>
            <a:r>
              <a:rPr lang="en-US" dirty="0">
                <a:solidFill>
                  <a:srgbClr val="C00000"/>
                </a:solidFill>
              </a:rPr>
              <a:t>exhibits a non-linear relationship</a:t>
            </a:r>
            <a:r>
              <a:rPr lang="en-US" dirty="0"/>
              <a:t>, as it allows the model to capture </a:t>
            </a:r>
            <a:r>
              <a:rPr lang="en-US" dirty="0">
                <a:solidFill>
                  <a:srgbClr val="C00000"/>
                </a:solidFill>
              </a:rPr>
              <a:t>complex trends and curvatures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EA8FF0-737E-92EC-64CE-EAFD87321A1D}"/>
                  </a:ext>
                </a:extLst>
              </p:cNvPr>
              <p:cNvSpPr txBox="1"/>
              <p:nvPr/>
            </p:nvSpPr>
            <p:spPr>
              <a:xfrm>
                <a:off x="0" y="2767280"/>
                <a:ext cx="12338723" cy="13113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200" dirty="0"/>
                  <a:t>Y= b</a:t>
                </a:r>
                <a:r>
                  <a:rPr lang="en-US" sz="7200" baseline="-25000" dirty="0"/>
                  <a:t>0 </a:t>
                </a:r>
                <a:r>
                  <a:rPr lang="en-US" sz="7200" dirty="0"/>
                  <a:t>+ b</a:t>
                </a:r>
                <a:r>
                  <a:rPr lang="en-US" sz="7200" baseline="-25000" dirty="0"/>
                  <a:t>1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7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en-US" sz="7200" baseline="-25000" dirty="0"/>
                  <a:t> </a:t>
                </a:r>
                <a:r>
                  <a:rPr lang="en-US" sz="7200" dirty="0"/>
                  <a:t>+ b</a:t>
                </a:r>
                <a:r>
                  <a:rPr lang="en-US" sz="7200" baseline="-25000" dirty="0"/>
                  <a:t>2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7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7200" dirty="0"/>
                  <a:t>+ … + b</a:t>
                </a:r>
                <a:r>
                  <a:rPr lang="en-US" sz="7200" baseline="-25000" dirty="0"/>
                  <a:t>n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7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7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7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7200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EA8FF0-737E-92EC-64CE-EAFD87321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67280"/>
                <a:ext cx="12338723" cy="1311385"/>
              </a:xfrm>
              <a:prstGeom prst="rect">
                <a:avLst/>
              </a:prstGeom>
              <a:blipFill>
                <a:blip r:embed="rId2"/>
                <a:stretch>
                  <a:fillRect l="-206" t="-8571" b="-36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34DFEE7-AECA-1CA0-A3CB-119019221C7E}"/>
              </a:ext>
            </a:extLst>
          </p:cNvPr>
          <p:cNvCxnSpPr/>
          <p:nvPr/>
        </p:nvCxnSpPr>
        <p:spPr>
          <a:xfrm>
            <a:off x="433589" y="4045480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15A337C-A07A-1D59-6902-8AFC58EC0C7B}"/>
              </a:ext>
            </a:extLst>
          </p:cNvPr>
          <p:cNvCxnSpPr/>
          <p:nvPr/>
        </p:nvCxnSpPr>
        <p:spPr>
          <a:xfrm>
            <a:off x="1640983" y="4090719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FE2957-9401-EF5E-4A6A-7767AC1E0B29}"/>
              </a:ext>
            </a:extLst>
          </p:cNvPr>
          <p:cNvCxnSpPr/>
          <p:nvPr/>
        </p:nvCxnSpPr>
        <p:spPr>
          <a:xfrm>
            <a:off x="3339960" y="4082435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E9F66-A3BE-BD2C-0308-EBF6B893CBE9}"/>
              </a:ext>
            </a:extLst>
          </p:cNvPr>
          <p:cNvCxnSpPr/>
          <p:nvPr/>
        </p:nvCxnSpPr>
        <p:spPr>
          <a:xfrm>
            <a:off x="4226138" y="4082435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C4970-428C-60BC-6D11-BE3A5B6EDAF3}"/>
              </a:ext>
            </a:extLst>
          </p:cNvPr>
          <p:cNvCxnSpPr>
            <a:cxnSpLocks/>
          </p:cNvCxnSpPr>
          <p:nvPr/>
        </p:nvCxnSpPr>
        <p:spPr>
          <a:xfrm>
            <a:off x="760966" y="4045480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BD5A92-6B98-689E-B6D2-E3179A8163DE}"/>
              </a:ext>
            </a:extLst>
          </p:cNvPr>
          <p:cNvSpPr txBox="1"/>
          <p:nvPr/>
        </p:nvSpPr>
        <p:spPr>
          <a:xfrm>
            <a:off x="151447" y="4923895"/>
            <a:ext cx="12121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Dependent </a:t>
            </a:r>
          </a:p>
          <a:p>
            <a:pPr algn="ctr"/>
            <a:r>
              <a:rPr lang="en-US" dirty="0"/>
              <a:t>Variable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A61FA1-F3FF-00FC-1F73-D7C6D424091B}"/>
              </a:ext>
            </a:extLst>
          </p:cNvPr>
          <p:cNvSpPr txBox="1"/>
          <p:nvPr/>
        </p:nvSpPr>
        <p:spPr>
          <a:xfrm>
            <a:off x="1383905" y="5585614"/>
            <a:ext cx="1168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intercept</a:t>
            </a:r>
          </a:p>
          <a:p>
            <a:r>
              <a:rPr lang="en-US" dirty="0"/>
              <a:t>(constant)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0BEB8EE-901D-AE22-C6CC-0F9BFF549085}"/>
              </a:ext>
            </a:extLst>
          </p:cNvPr>
          <p:cNvCxnSpPr>
            <a:cxnSpLocks/>
          </p:cNvCxnSpPr>
          <p:nvPr/>
        </p:nvCxnSpPr>
        <p:spPr>
          <a:xfrm>
            <a:off x="1968360" y="4090719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6C1179-D359-D61E-184B-2E219B0489CB}"/>
              </a:ext>
            </a:extLst>
          </p:cNvPr>
          <p:cNvSpPr txBox="1"/>
          <p:nvPr/>
        </p:nvSpPr>
        <p:spPr>
          <a:xfrm>
            <a:off x="3348173" y="5585614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-1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580CE5-8A5E-BEB1-59C4-08463A567E74}"/>
              </a:ext>
            </a:extLst>
          </p:cNvPr>
          <p:cNvCxnSpPr>
            <a:cxnSpLocks/>
          </p:cNvCxnSpPr>
          <p:nvPr/>
        </p:nvCxnSpPr>
        <p:spPr>
          <a:xfrm>
            <a:off x="3641683" y="4063454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71F3B8-BC2D-850D-2E69-A59CBD29947D}"/>
              </a:ext>
            </a:extLst>
          </p:cNvPr>
          <p:cNvCxnSpPr>
            <a:cxnSpLocks/>
          </p:cNvCxnSpPr>
          <p:nvPr/>
        </p:nvCxnSpPr>
        <p:spPr>
          <a:xfrm>
            <a:off x="4553515" y="4090719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ACFA67-6A33-DC8E-DBC0-B2332C1139E6}"/>
              </a:ext>
            </a:extLst>
          </p:cNvPr>
          <p:cNvSpPr txBox="1"/>
          <p:nvPr/>
        </p:nvSpPr>
        <p:spPr>
          <a:xfrm>
            <a:off x="3918573" y="4900880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 1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610F71-A662-C52B-F3BB-723E92DC28FF}"/>
              </a:ext>
            </a:extLst>
          </p:cNvPr>
          <p:cNvCxnSpPr/>
          <p:nvPr/>
        </p:nvCxnSpPr>
        <p:spPr>
          <a:xfrm>
            <a:off x="6089299" y="4168251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AFDACF-AF50-D0EA-ECEC-580C5D86520C}"/>
              </a:ext>
            </a:extLst>
          </p:cNvPr>
          <p:cNvCxnSpPr/>
          <p:nvPr/>
        </p:nvCxnSpPr>
        <p:spPr>
          <a:xfrm>
            <a:off x="6975477" y="4168251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2B9ECC-3883-ED24-E8FE-B92CDE6F7E3B}"/>
              </a:ext>
            </a:extLst>
          </p:cNvPr>
          <p:cNvSpPr txBox="1"/>
          <p:nvPr/>
        </p:nvSpPr>
        <p:spPr>
          <a:xfrm>
            <a:off x="6097512" y="567143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-2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22BA2F-96A8-2C18-4497-E2BAE6E5DB7D}"/>
              </a:ext>
            </a:extLst>
          </p:cNvPr>
          <p:cNvCxnSpPr>
            <a:cxnSpLocks/>
          </p:cNvCxnSpPr>
          <p:nvPr/>
        </p:nvCxnSpPr>
        <p:spPr>
          <a:xfrm>
            <a:off x="6391022" y="4149270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411F5D-03FA-65FE-CF38-C144A27D5738}"/>
              </a:ext>
            </a:extLst>
          </p:cNvPr>
          <p:cNvCxnSpPr>
            <a:cxnSpLocks/>
          </p:cNvCxnSpPr>
          <p:nvPr/>
        </p:nvCxnSpPr>
        <p:spPr>
          <a:xfrm>
            <a:off x="7302854" y="4176535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C997F91-4607-0DC6-617F-BE84D2378FA5}"/>
              </a:ext>
            </a:extLst>
          </p:cNvPr>
          <p:cNvSpPr txBox="1"/>
          <p:nvPr/>
        </p:nvSpPr>
        <p:spPr>
          <a:xfrm>
            <a:off x="6667912" y="4986696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 2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9876E5-EC7A-618D-3482-2E675640A921}"/>
              </a:ext>
            </a:extLst>
          </p:cNvPr>
          <p:cNvCxnSpPr/>
          <p:nvPr/>
        </p:nvCxnSpPr>
        <p:spPr>
          <a:xfrm>
            <a:off x="9926743" y="4234678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FA28F49-B4E5-AA5D-664F-DC83500977B2}"/>
              </a:ext>
            </a:extLst>
          </p:cNvPr>
          <p:cNvCxnSpPr/>
          <p:nvPr/>
        </p:nvCxnSpPr>
        <p:spPr>
          <a:xfrm>
            <a:off x="10812921" y="4234678"/>
            <a:ext cx="654755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78D954-3A65-9F36-1F69-EF5BE34F0DC3}"/>
              </a:ext>
            </a:extLst>
          </p:cNvPr>
          <p:cNvSpPr txBox="1"/>
          <p:nvPr/>
        </p:nvSpPr>
        <p:spPr>
          <a:xfrm>
            <a:off x="9934956" y="573785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Slop -n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FE8890D-1C24-0E1D-C26E-A03978B7C2EA}"/>
              </a:ext>
            </a:extLst>
          </p:cNvPr>
          <p:cNvCxnSpPr>
            <a:cxnSpLocks/>
          </p:cNvCxnSpPr>
          <p:nvPr/>
        </p:nvCxnSpPr>
        <p:spPr>
          <a:xfrm>
            <a:off x="10228466" y="4215697"/>
            <a:ext cx="0" cy="14948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0D8EC2-8168-C33C-7E89-2889A5639504}"/>
              </a:ext>
            </a:extLst>
          </p:cNvPr>
          <p:cNvCxnSpPr>
            <a:cxnSpLocks/>
          </p:cNvCxnSpPr>
          <p:nvPr/>
        </p:nvCxnSpPr>
        <p:spPr>
          <a:xfrm>
            <a:off x="11140298" y="4242962"/>
            <a:ext cx="0" cy="81016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C227AB7-CF3A-1317-4088-4CBC000F4F16}"/>
              </a:ext>
            </a:extLst>
          </p:cNvPr>
          <p:cNvSpPr txBox="1"/>
          <p:nvPr/>
        </p:nvSpPr>
        <p:spPr>
          <a:xfrm>
            <a:off x="10505356" y="5053123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Independent </a:t>
            </a:r>
          </a:p>
          <a:p>
            <a:pPr algn="ctr"/>
            <a:r>
              <a:rPr lang="en-US" dirty="0"/>
              <a:t>Variable n</a:t>
            </a:r>
          </a:p>
        </p:txBody>
      </p:sp>
    </p:spTree>
    <p:extLst>
      <p:ext uri="{BB962C8B-B14F-4D97-AF65-F5344CB8AC3E}">
        <p14:creationId xmlns:p14="http://schemas.microsoft.com/office/powerpoint/2010/main" val="292570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11" grpId="0"/>
      <p:bldP spid="13" grpId="0"/>
      <p:bldP spid="16" grpId="0"/>
      <p:bldP spid="19" grpId="0"/>
      <p:bldP spid="22" grpId="0"/>
      <p:bldP spid="25" grpId="0"/>
      <p:bldP spid="2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A3CA-2ADC-D442-F5A0-255ABC82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Regression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5E49EE3-4B82-F546-73A8-39E88AC8BFB6}"/>
              </a:ext>
            </a:extLst>
          </p:cNvPr>
          <p:cNvCxnSpPr>
            <a:cxnSpLocks/>
          </p:cNvCxnSpPr>
          <p:nvPr/>
        </p:nvCxnSpPr>
        <p:spPr>
          <a:xfrm flipV="1">
            <a:off x="970845" y="1538111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316716-6454-E0B6-4A6B-123BDE2865DC}"/>
              </a:ext>
            </a:extLst>
          </p:cNvPr>
          <p:cNvCxnSpPr>
            <a:cxnSpLocks/>
          </p:cNvCxnSpPr>
          <p:nvPr/>
        </p:nvCxnSpPr>
        <p:spPr>
          <a:xfrm>
            <a:off x="575733" y="4953000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CC90C64-457D-060B-F4EF-57B6885C2079}"/>
              </a:ext>
            </a:extLst>
          </p:cNvPr>
          <p:cNvSpPr/>
          <p:nvPr/>
        </p:nvSpPr>
        <p:spPr>
          <a:xfrm>
            <a:off x="1871134" y="376202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B97BEE-497C-30CB-0A5C-8076CDC553B5}"/>
              </a:ext>
            </a:extLst>
          </p:cNvPr>
          <p:cNvSpPr/>
          <p:nvPr/>
        </p:nvSpPr>
        <p:spPr>
          <a:xfrm>
            <a:off x="1363134" y="404988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4DCC8D5-2E76-3B2C-9704-56DB96584374}"/>
              </a:ext>
            </a:extLst>
          </p:cNvPr>
          <p:cNvSpPr/>
          <p:nvPr/>
        </p:nvSpPr>
        <p:spPr>
          <a:xfrm>
            <a:off x="2441224" y="34656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D184BE1-EDE5-8021-EFC4-BBD31A33B34E}"/>
              </a:ext>
            </a:extLst>
          </p:cNvPr>
          <p:cNvSpPr/>
          <p:nvPr/>
        </p:nvSpPr>
        <p:spPr>
          <a:xfrm>
            <a:off x="2991555" y="319193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09BCD7-80D8-120E-F3B5-7934C5B5C5FE}"/>
              </a:ext>
            </a:extLst>
          </p:cNvPr>
          <p:cNvSpPr/>
          <p:nvPr/>
        </p:nvSpPr>
        <p:spPr>
          <a:xfrm>
            <a:off x="4481689" y="236784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C31882-D5B9-312A-2C65-B4AEC9B51CB5}"/>
              </a:ext>
            </a:extLst>
          </p:cNvPr>
          <p:cNvSpPr/>
          <p:nvPr/>
        </p:nvSpPr>
        <p:spPr>
          <a:xfrm>
            <a:off x="3578578" y="285044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A1059C-A8BB-DAF2-5CD2-310149E1D04E}"/>
              </a:ext>
            </a:extLst>
          </p:cNvPr>
          <p:cNvSpPr/>
          <p:nvPr/>
        </p:nvSpPr>
        <p:spPr>
          <a:xfrm>
            <a:off x="4035778" y="258233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67F7BC0-2E80-3472-C7E6-4B01C5943ECF}"/>
              </a:ext>
            </a:extLst>
          </p:cNvPr>
          <p:cNvCxnSpPr>
            <a:cxnSpLocks/>
          </p:cNvCxnSpPr>
          <p:nvPr/>
        </p:nvCxnSpPr>
        <p:spPr>
          <a:xfrm flipV="1">
            <a:off x="575733" y="2204151"/>
            <a:ext cx="4272845" cy="23593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1C6ED4-56BD-CE81-8E05-8FFC37B86007}"/>
              </a:ext>
            </a:extLst>
          </p:cNvPr>
          <p:cNvSpPr txBox="1"/>
          <p:nvPr/>
        </p:nvSpPr>
        <p:spPr>
          <a:xfrm>
            <a:off x="1958622" y="5342468"/>
            <a:ext cx="1698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Y= b</a:t>
            </a:r>
            <a:r>
              <a:rPr lang="en-US" sz="2400" baseline="-25000" dirty="0"/>
              <a:t>0 </a:t>
            </a:r>
            <a:r>
              <a:rPr lang="en-US" sz="2400" dirty="0"/>
              <a:t>+ b</a:t>
            </a:r>
            <a:r>
              <a:rPr lang="en-US" sz="2400" baseline="-25000" dirty="0"/>
              <a:t>1</a:t>
            </a:r>
            <a:r>
              <a:rPr lang="en-US" sz="2400" dirty="0"/>
              <a:t>X</a:t>
            </a:r>
            <a:r>
              <a:rPr lang="en-US" sz="2400" baseline="-25000" dirty="0"/>
              <a:t>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81D019-A3C7-91F2-EC4C-7DB6D20483EB}"/>
              </a:ext>
            </a:extLst>
          </p:cNvPr>
          <p:cNvCxnSpPr>
            <a:cxnSpLocks/>
          </p:cNvCxnSpPr>
          <p:nvPr/>
        </p:nvCxnSpPr>
        <p:spPr>
          <a:xfrm flipV="1">
            <a:off x="6835422" y="1425222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2415359-CB6D-EDF4-80FB-A6DDC451CC23}"/>
              </a:ext>
            </a:extLst>
          </p:cNvPr>
          <p:cNvCxnSpPr>
            <a:cxnSpLocks/>
          </p:cNvCxnSpPr>
          <p:nvPr/>
        </p:nvCxnSpPr>
        <p:spPr>
          <a:xfrm>
            <a:off x="6440310" y="4840111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AC24685-7C52-761F-89A6-8CD90B91FCB6}"/>
              </a:ext>
            </a:extLst>
          </p:cNvPr>
          <p:cNvSpPr/>
          <p:nvPr/>
        </p:nvSpPr>
        <p:spPr>
          <a:xfrm>
            <a:off x="7464777" y="416277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692E90-E5F2-D353-1F1E-5753EAAE283C}"/>
                  </a:ext>
                </a:extLst>
              </p:cNvPr>
              <p:cNvSpPr txBox="1"/>
              <p:nvPr/>
            </p:nvSpPr>
            <p:spPr>
              <a:xfrm>
                <a:off x="7267222" y="5207000"/>
                <a:ext cx="4114800" cy="498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/>
                  <a:t>Y= b</a:t>
                </a:r>
                <a:r>
                  <a:rPr lang="en-US" sz="2400" baseline="-25000" dirty="0"/>
                  <a:t>0 </a:t>
                </a:r>
                <a:r>
                  <a:rPr lang="en-US" sz="2400" dirty="0"/>
                  <a:t>+ b</a:t>
                </a:r>
                <a:r>
                  <a:rPr lang="en-US" sz="2400" baseline="-25000" dirty="0"/>
                  <a:t>1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en-US" sz="2400" baseline="-25000" dirty="0"/>
                  <a:t> </a:t>
                </a:r>
                <a:r>
                  <a:rPr lang="en-US" sz="2400" dirty="0"/>
                  <a:t>+ b</a:t>
                </a:r>
                <a:r>
                  <a:rPr lang="en-US" sz="2400" baseline="-25000" dirty="0"/>
                  <a:t>2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D692E90-E5F2-D353-1F1E-5753EAAE2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222" y="5207000"/>
                <a:ext cx="4114800" cy="498663"/>
              </a:xfrm>
              <a:prstGeom prst="rect">
                <a:avLst/>
              </a:prstGeom>
              <a:blipFill>
                <a:blip r:embed="rId2"/>
                <a:stretch>
                  <a:fillRect t="-2439" b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reeform 27">
            <a:extLst>
              <a:ext uri="{FF2B5EF4-FFF2-40B4-BE49-F238E27FC236}">
                <a16:creationId xmlns:a16="http://schemas.microsoft.com/office/drawing/2014/main" id="{4FECA147-919C-AE21-B93B-03FF45524BAD}"/>
              </a:ext>
            </a:extLst>
          </p:cNvPr>
          <p:cNvSpPr/>
          <p:nvPr/>
        </p:nvSpPr>
        <p:spPr>
          <a:xfrm>
            <a:off x="6615289" y="1569156"/>
            <a:ext cx="4583289" cy="2777066"/>
          </a:xfrm>
          <a:custGeom>
            <a:avLst/>
            <a:gdLst>
              <a:gd name="connsiteX0" fmla="*/ 0 w 4583289"/>
              <a:gd name="connsiteY0" fmla="*/ 2777066 h 2777066"/>
              <a:gd name="connsiteX1" fmla="*/ 2968978 w 4583289"/>
              <a:gd name="connsiteY1" fmla="*/ 1964266 h 2777066"/>
              <a:gd name="connsiteX2" fmla="*/ 4583289 w 4583289"/>
              <a:gd name="connsiteY2" fmla="*/ 0 h 2777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83289" h="2777066">
                <a:moveTo>
                  <a:pt x="0" y="2777066"/>
                </a:moveTo>
                <a:cubicBezTo>
                  <a:pt x="1102548" y="2602088"/>
                  <a:pt x="2205097" y="2427110"/>
                  <a:pt x="2968978" y="1964266"/>
                </a:cubicBezTo>
                <a:cubicBezTo>
                  <a:pt x="3732859" y="1501422"/>
                  <a:pt x="4158074" y="750711"/>
                  <a:pt x="4583289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9F2D4FB-C6A1-7D7D-1248-8BF75B5F4A15}"/>
              </a:ext>
            </a:extLst>
          </p:cNvPr>
          <p:cNvSpPr/>
          <p:nvPr/>
        </p:nvSpPr>
        <p:spPr>
          <a:xfrm>
            <a:off x="8870243" y="378459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0454E60-4702-2F28-800E-813BE7871E17}"/>
              </a:ext>
            </a:extLst>
          </p:cNvPr>
          <p:cNvSpPr/>
          <p:nvPr/>
        </p:nvSpPr>
        <p:spPr>
          <a:xfrm>
            <a:off x="8209843" y="401037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89F495B-47C1-2E01-631C-06439226CB8A}"/>
              </a:ext>
            </a:extLst>
          </p:cNvPr>
          <p:cNvSpPr/>
          <p:nvPr/>
        </p:nvSpPr>
        <p:spPr>
          <a:xfrm>
            <a:off x="9429043" y="354470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3A634B5-7058-1087-0D60-13A00C1AF5B0}"/>
              </a:ext>
            </a:extLst>
          </p:cNvPr>
          <p:cNvSpPr/>
          <p:nvPr/>
        </p:nvSpPr>
        <p:spPr>
          <a:xfrm>
            <a:off x="9925754" y="323708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73DCA07-0D1F-D447-6E19-9A95BA1D6623}"/>
              </a:ext>
            </a:extLst>
          </p:cNvPr>
          <p:cNvSpPr/>
          <p:nvPr/>
        </p:nvSpPr>
        <p:spPr>
          <a:xfrm>
            <a:off x="10413999" y="275307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A92688-7731-6BB8-14F0-FE863871C19D}"/>
              </a:ext>
            </a:extLst>
          </p:cNvPr>
          <p:cNvSpPr/>
          <p:nvPr/>
        </p:nvSpPr>
        <p:spPr>
          <a:xfrm>
            <a:off x="10732908" y="229728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7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E97AD-2C1C-6BFC-9EDB-C4999941C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6FD745-E9AA-CB7F-6B54-D5FBF929C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9134" y="711201"/>
            <a:ext cx="5867400" cy="4400550"/>
          </a:xfrm>
          <a:prstGeom prst="rect">
            <a:avLst/>
          </a:prstGeom>
        </p:spPr>
      </p:pic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319A2A64-5D90-0C8A-CC80-5F4D587EAE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8457529"/>
              </p:ext>
            </p:extLst>
          </p:nvPr>
        </p:nvGraphicFramePr>
        <p:xfrm>
          <a:off x="316089" y="908600"/>
          <a:ext cx="5461621" cy="528538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702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Car Age (Years)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Car Price ($)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30,000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222526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19,000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972363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16,000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147305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15,000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583195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14,000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768347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13,000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586738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12,000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791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34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4690-B517-B6A8-310D-C0E99610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B1B4BF-2B64-1C8A-E629-45D808F7CF87}"/>
              </a:ext>
            </a:extLst>
          </p:cNvPr>
          <p:cNvSpPr/>
          <p:nvPr/>
        </p:nvSpPr>
        <p:spPr>
          <a:xfrm>
            <a:off x="715063" y="1228181"/>
            <a:ext cx="11261866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np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sklearn.preprocessing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PolynomialFeatures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sklearn.linear_model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LinearRegression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sklearn.metrics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mean_squared_error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np.array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]).reshape(-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np.array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([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27000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24000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19000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12000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degree = </a:t>
            </a:r>
            <a:r>
              <a:rPr lang="en-IN" sz="1600" b="1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en-IN" sz="16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 = </a:t>
            </a:r>
            <a:r>
              <a:rPr lang="en-IN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PolynomialFeatures</a:t>
            </a:r>
            <a:r>
              <a:rPr lang="en-I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(degree=degree)</a:t>
            </a:r>
          </a:p>
          <a:p>
            <a:r>
              <a:rPr lang="en-IN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X_poly</a:t>
            </a:r>
            <a:r>
              <a:rPr lang="en-I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poly.fit_transform</a:t>
            </a:r>
            <a:r>
              <a:rPr lang="en-IN" sz="16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LinearRegression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X_poly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y)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X_poly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mean_squared_error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(y,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print(</a:t>
            </a:r>
            <a:r>
              <a:rPr lang="en-IN" sz="16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"Mean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Squared Error: 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{mse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:.2f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A72E5-57C5-0D29-15E5-93D45218AC3E}"/>
              </a:ext>
            </a:extLst>
          </p:cNvPr>
          <p:cNvSpPr/>
          <p:nvPr/>
        </p:nvSpPr>
        <p:spPr>
          <a:xfrm>
            <a:off x="215071" y="1228181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B8D435F1-B106-7343-460E-D63F57BDBFB5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CarPrice.py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83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0AEFA-A8D1-D625-9B15-1121C8A7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394BA3-C8FB-D387-2E69-BAACC7823934}"/>
              </a:ext>
            </a:extLst>
          </p:cNvPr>
          <p:cNvSpPr/>
          <p:nvPr/>
        </p:nvSpPr>
        <p:spPr>
          <a:xfrm>
            <a:off x="715063" y="1228181"/>
            <a:ext cx="5380937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'blue'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label=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'Actual Prices'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plt.plot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'red'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label=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'Polynomial Fit (degree 2)'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plt.xlabel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'Car Age (years)'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plt.ylabel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'Car Price ($)'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plt.title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'Polynomial Regression: Car Price vs. Age'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plt.legend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plt.show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DBF44-B371-18AC-8175-222C352AD447}"/>
              </a:ext>
            </a:extLst>
          </p:cNvPr>
          <p:cNvSpPr/>
          <p:nvPr/>
        </p:nvSpPr>
        <p:spPr>
          <a:xfrm>
            <a:off x="215071" y="1228181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1E8E59E-B987-7E9D-4519-8A974E9AE00C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CarPrice.py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39F80A-FBB1-862F-D37E-54E82342C6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025" y="711201"/>
            <a:ext cx="5475629" cy="410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872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62DC3792-41DB-10AA-0B87-490D7AC37EDA}"/>
              </a:ext>
            </a:extLst>
          </p:cNvPr>
          <p:cNvSpPr/>
          <p:nvPr/>
        </p:nvSpPr>
        <p:spPr>
          <a:xfrm rot="19944870">
            <a:off x="7032822" y="2629744"/>
            <a:ext cx="4251359" cy="485427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42FC7-31C3-9A32-334A-FB134482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6DB45BC-F962-00D1-B58D-63C5C15DC3B0}"/>
              </a:ext>
            </a:extLst>
          </p:cNvPr>
          <p:cNvCxnSpPr>
            <a:cxnSpLocks/>
          </p:cNvCxnSpPr>
          <p:nvPr/>
        </p:nvCxnSpPr>
        <p:spPr>
          <a:xfrm flipV="1">
            <a:off x="790224" y="1344450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ACCE4C8-74D0-193A-6A20-A5B237787498}"/>
              </a:ext>
            </a:extLst>
          </p:cNvPr>
          <p:cNvCxnSpPr>
            <a:cxnSpLocks/>
          </p:cNvCxnSpPr>
          <p:nvPr/>
        </p:nvCxnSpPr>
        <p:spPr>
          <a:xfrm>
            <a:off x="395112" y="4759339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6178EC5B-B20B-FB30-6232-344CE774764D}"/>
              </a:ext>
            </a:extLst>
          </p:cNvPr>
          <p:cNvSpPr/>
          <p:nvPr/>
        </p:nvSpPr>
        <p:spPr>
          <a:xfrm>
            <a:off x="1653824" y="312809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09C748-06B3-6A14-96FE-1BA6B16FD895}"/>
              </a:ext>
            </a:extLst>
          </p:cNvPr>
          <p:cNvSpPr/>
          <p:nvPr/>
        </p:nvSpPr>
        <p:spPr>
          <a:xfrm>
            <a:off x="1732846" y="384493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8670649-41D2-C134-4A68-338F1D906AAA}"/>
              </a:ext>
            </a:extLst>
          </p:cNvPr>
          <p:cNvSpPr/>
          <p:nvPr/>
        </p:nvSpPr>
        <p:spPr>
          <a:xfrm>
            <a:off x="2336802" y="307164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845955-0F3A-3EEE-BA8B-C172E0C2956B}"/>
              </a:ext>
            </a:extLst>
          </p:cNvPr>
          <p:cNvSpPr/>
          <p:nvPr/>
        </p:nvSpPr>
        <p:spPr>
          <a:xfrm>
            <a:off x="2669824" y="247898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4696F6E-8283-CEC6-BD8C-A2BCD38C1856}"/>
              </a:ext>
            </a:extLst>
          </p:cNvPr>
          <p:cNvSpPr/>
          <p:nvPr/>
        </p:nvSpPr>
        <p:spPr>
          <a:xfrm>
            <a:off x="3194757" y="321275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D3BAADB-1651-6808-6797-7E609A8CC06F}"/>
              </a:ext>
            </a:extLst>
          </p:cNvPr>
          <p:cNvSpPr/>
          <p:nvPr/>
        </p:nvSpPr>
        <p:spPr>
          <a:xfrm>
            <a:off x="3431824" y="206693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1E12AF-CFB5-66F3-ECAE-558EB9C9B0E7}"/>
              </a:ext>
            </a:extLst>
          </p:cNvPr>
          <p:cNvSpPr/>
          <p:nvPr/>
        </p:nvSpPr>
        <p:spPr>
          <a:xfrm>
            <a:off x="3810001" y="255800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589458-69B5-6907-0833-9405BFFBC406}"/>
              </a:ext>
            </a:extLst>
          </p:cNvPr>
          <p:cNvCxnSpPr>
            <a:cxnSpLocks/>
          </p:cNvCxnSpPr>
          <p:nvPr/>
        </p:nvCxnSpPr>
        <p:spPr>
          <a:xfrm flipV="1">
            <a:off x="395112" y="2010490"/>
            <a:ext cx="4272845" cy="235938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7CA7BF-716B-5C64-BEB4-7B71C6240598}"/>
              </a:ext>
            </a:extLst>
          </p:cNvPr>
          <p:cNvCxnSpPr>
            <a:cxnSpLocks/>
          </p:cNvCxnSpPr>
          <p:nvPr/>
        </p:nvCxnSpPr>
        <p:spPr>
          <a:xfrm>
            <a:off x="1698979" y="3207116"/>
            <a:ext cx="0" cy="417689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1061A9-4F4C-0409-0A8A-2BA127CEE030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766428" y="3624805"/>
            <a:ext cx="5929" cy="220133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CBFBDF0-5689-8F08-8F39-F401F1B8D5D9}"/>
              </a:ext>
            </a:extLst>
          </p:cNvPr>
          <p:cNvCxnSpPr>
            <a:cxnSpLocks/>
          </p:cNvCxnSpPr>
          <p:nvPr/>
        </p:nvCxnSpPr>
        <p:spPr>
          <a:xfrm>
            <a:off x="2393246" y="3150669"/>
            <a:ext cx="0" cy="141111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20D475-AFE0-D55F-3F63-69E4269C97C5}"/>
              </a:ext>
            </a:extLst>
          </p:cNvPr>
          <p:cNvCxnSpPr>
            <a:cxnSpLocks/>
          </p:cNvCxnSpPr>
          <p:nvPr/>
        </p:nvCxnSpPr>
        <p:spPr>
          <a:xfrm>
            <a:off x="2714980" y="2535425"/>
            <a:ext cx="0" cy="57009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71AE0-EE3D-1C83-60AF-B8D4319C03FF}"/>
              </a:ext>
            </a:extLst>
          </p:cNvPr>
          <p:cNvCxnSpPr>
            <a:cxnSpLocks/>
          </p:cNvCxnSpPr>
          <p:nvPr/>
        </p:nvCxnSpPr>
        <p:spPr>
          <a:xfrm>
            <a:off x="3228626" y="2822223"/>
            <a:ext cx="0" cy="42120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C45AEF-84D0-EB79-F1CC-8DDBE565900E}"/>
              </a:ext>
            </a:extLst>
          </p:cNvPr>
          <p:cNvCxnSpPr>
            <a:cxnSpLocks/>
          </p:cNvCxnSpPr>
          <p:nvPr/>
        </p:nvCxnSpPr>
        <p:spPr>
          <a:xfrm>
            <a:off x="3475385" y="2145961"/>
            <a:ext cx="0" cy="491065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01B4522-0CC5-CCD5-96B9-2013A3012C31}"/>
              </a:ext>
            </a:extLst>
          </p:cNvPr>
          <p:cNvCxnSpPr>
            <a:cxnSpLocks/>
          </p:cNvCxnSpPr>
          <p:nvPr/>
        </p:nvCxnSpPr>
        <p:spPr>
          <a:xfrm>
            <a:off x="3825341" y="2478980"/>
            <a:ext cx="0" cy="79023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94E2EE-95A7-B19C-3C0B-91B828958363}"/>
              </a:ext>
            </a:extLst>
          </p:cNvPr>
          <p:cNvSpPr txBox="1"/>
          <p:nvPr/>
        </p:nvSpPr>
        <p:spPr>
          <a:xfrm>
            <a:off x="645931" y="1026193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E1B873-C1B6-8A08-BF1D-DA1CB47F8E4B}"/>
              </a:ext>
            </a:extLst>
          </p:cNvPr>
          <p:cNvSpPr txBox="1"/>
          <p:nvPr/>
        </p:nvSpPr>
        <p:spPr>
          <a:xfrm>
            <a:off x="5366432" y="457467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4299054-2409-6B93-BE28-0F55BCB12A7E}"/>
              </a:ext>
            </a:extLst>
          </p:cNvPr>
          <p:cNvCxnSpPr>
            <a:cxnSpLocks/>
          </p:cNvCxnSpPr>
          <p:nvPr/>
        </p:nvCxnSpPr>
        <p:spPr>
          <a:xfrm flipV="1">
            <a:off x="6920569" y="1308144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DDD8385-FA76-1275-A9D0-314AEABC4A60}"/>
              </a:ext>
            </a:extLst>
          </p:cNvPr>
          <p:cNvCxnSpPr>
            <a:cxnSpLocks/>
          </p:cNvCxnSpPr>
          <p:nvPr/>
        </p:nvCxnSpPr>
        <p:spPr>
          <a:xfrm>
            <a:off x="6525457" y="4723033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AE072877-40FD-2ADB-07D8-64E0F6A882D2}"/>
              </a:ext>
            </a:extLst>
          </p:cNvPr>
          <p:cNvSpPr/>
          <p:nvPr/>
        </p:nvSpPr>
        <p:spPr>
          <a:xfrm>
            <a:off x="7784169" y="309178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2996C30-9FA6-E4E3-AD60-EBB9D03E21EF}"/>
              </a:ext>
            </a:extLst>
          </p:cNvPr>
          <p:cNvSpPr/>
          <p:nvPr/>
        </p:nvSpPr>
        <p:spPr>
          <a:xfrm>
            <a:off x="8077395" y="3817789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0D23858-1F40-4EC8-D2FB-FC878DBF9473}"/>
              </a:ext>
            </a:extLst>
          </p:cNvPr>
          <p:cNvSpPr/>
          <p:nvPr/>
        </p:nvSpPr>
        <p:spPr>
          <a:xfrm>
            <a:off x="8467147" y="303534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8DC5CE7-AB2E-D4C4-AA00-3179D01EC517}"/>
              </a:ext>
            </a:extLst>
          </p:cNvPr>
          <p:cNvSpPr/>
          <p:nvPr/>
        </p:nvSpPr>
        <p:spPr>
          <a:xfrm>
            <a:off x="8800169" y="2442674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9388E77-A540-8D35-A858-ADF9D8955365}"/>
              </a:ext>
            </a:extLst>
          </p:cNvPr>
          <p:cNvSpPr/>
          <p:nvPr/>
        </p:nvSpPr>
        <p:spPr>
          <a:xfrm>
            <a:off x="9325102" y="317645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1688F17-686F-2C8A-9838-B8AC3B293DEB}"/>
              </a:ext>
            </a:extLst>
          </p:cNvPr>
          <p:cNvSpPr/>
          <p:nvPr/>
        </p:nvSpPr>
        <p:spPr>
          <a:xfrm>
            <a:off x="9562169" y="2030632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DF2AFD3-9486-AF9A-8721-20D425732BF7}"/>
              </a:ext>
            </a:extLst>
          </p:cNvPr>
          <p:cNvSpPr/>
          <p:nvPr/>
        </p:nvSpPr>
        <p:spPr>
          <a:xfrm>
            <a:off x="9940346" y="2521697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FE43ED-0765-BEC9-3BC6-62923C115E42}"/>
              </a:ext>
            </a:extLst>
          </p:cNvPr>
          <p:cNvSpPr txBox="1"/>
          <p:nvPr/>
        </p:nvSpPr>
        <p:spPr>
          <a:xfrm>
            <a:off x="6776276" y="989887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D773E9-F522-05DF-E153-13103384EB68}"/>
              </a:ext>
            </a:extLst>
          </p:cNvPr>
          <p:cNvSpPr txBox="1"/>
          <p:nvPr/>
        </p:nvSpPr>
        <p:spPr>
          <a:xfrm>
            <a:off x="11496777" y="4538367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373ACB2-48FD-5020-89F1-DC043FC4FD86}"/>
                  </a:ext>
                </a:extLst>
              </p:cNvPr>
              <p:cNvSpPr txBox="1"/>
              <p:nvPr/>
            </p:nvSpPr>
            <p:spPr>
              <a:xfrm>
                <a:off x="1811869" y="1122868"/>
                <a:ext cx="1663516" cy="370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IN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u="none" strike="noStrike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1800" baseline="-25000" dirty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+mj-lt"/>
                          </a:rPr>
                          <m:t> </m:t>
                        </m:r>
                        <m:r>
                          <a:rPr lang="en-US" sz="1800" b="0" i="1" dirty="0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IN" sz="1800" i="1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1800" b="0" i="1" smtClean="0">
                                <a:solidFill>
                                  <a:schemeClr val="tx1">
                                    <a:lumMod val="90000"/>
                                    <a:lumOff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US" sz="1800" b="0" i="1" u="none" strike="noStrike" smtClean="0">
                            <a:solidFill>
                              <a:schemeClr val="tx1">
                                <a:lumMod val="90000"/>
                                <a:lumOff val="10000"/>
                              </a:schemeClr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1800" b="0" i="1" u="none" strike="noStrike" baseline="30000" smtClean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effectLst/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373ACB2-48FD-5020-89F1-DC043FC4F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869" y="1122868"/>
                <a:ext cx="1663516" cy="370551"/>
              </a:xfrm>
              <a:prstGeom prst="rect">
                <a:avLst/>
              </a:prstGeom>
              <a:blipFill>
                <a:blip r:embed="rId2"/>
                <a:stretch>
                  <a:fillRect l="-18939" t="-110000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68">
            <a:extLst>
              <a:ext uri="{FF2B5EF4-FFF2-40B4-BE49-F238E27FC236}">
                <a16:creationId xmlns:a16="http://schemas.microsoft.com/office/drawing/2014/main" id="{6FE2D0C3-04C8-D512-DF9E-D259F0F5AE4B}"/>
              </a:ext>
            </a:extLst>
          </p:cNvPr>
          <p:cNvSpPr txBox="1"/>
          <p:nvPr/>
        </p:nvSpPr>
        <p:spPr>
          <a:xfrm>
            <a:off x="8149078" y="746832"/>
            <a:ext cx="3618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400" b="0" i="0" u="none" strike="noStrike" dirty="0">
                <a:solidFill>
                  <a:srgbClr val="001D35"/>
                </a:solidFill>
                <a:effectLst/>
              </a:rPr>
              <a:t>ε</a:t>
            </a:r>
            <a:r>
              <a:rPr lang="en-US" sz="2400" b="0" i="0" u="none" strike="noStrike" dirty="0">
                <a:solidFill>
                  <a:srgbClr val="001D35"/>
                </a:solidFill>
                <a:effectLst/>
              </a:rPr>
              <a:t> - </a:t>
            </a:r>
            <a:r>
              <a:rPr lang="en-US" sz="2400" dirty="0"/>
              <a:t>Insensitive Tube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53D2515-A6F9-0954-A6F2-973419CB1885}"/>
              </a:ext>
            </a:extLst>
          </p:cNvPr>
          <p:cNvSpPr/>
          <p:nvPr/>
        </p:nvSpPr>
        <p:spPr>
          <a:xfrm>
            <a:off x="7722223" y="3024357"/>
            <a:ext cx="186123" cy="219066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DEA79F5-7A43-C806-F3D1-E1BC49626737}"/>
              </a:ext>
            </a:extLst>
          </p:cNvPr>
          <p:cNvSpPr/>
          <p:nvPr/>
        </p:nvSpPr>
        <p:spPr>
          <a:xfrm>
            <a:off x="8746618" y="2379518"/>
            <a:ext cx="186123" cy="219066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C8FF54-54B3-8BF4-DFE6-BCD3FEB20A5F}"/>
              </a:ext>
            </a:extLst>
          </p:cNvPr>
          <p:cNvSpPr/>
          <p:nvPr/>
        </p:nvSpPr>
        <p:spPr>
          <a:xfrm>
            <a:off x="9508618" y="1957405"/>
            <a:ext cx="186123" cy="219066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DEEFF6A-DCFA-AE25-12C0-26E2AFC872B7}"/>
              </a:ext>
            </a:extLst>
          </p:cNvPr>
          <p:cNvSpPr/>
          <p:nvPr/>
        </p:nvSpPr>
        <p:spPr>
          <a:xfrm>
            <a:off x="8023844" y="3748838"/>
            <a:ext cx="186123" cy="219066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4A2C6747-C135-DBB9-F855-50D755D76B85}"/>
              </a:ext>
            </a:extLst>
          </p:cNvPr>
          <p:cNvSpPr/>
          <p:nvPr/>
        </p:nvSpPr>
        <p:spPr>
          <a:xfrm>
            <a:off x="9265909" y="3106429"/>
            <a:ext cx="186123" cy="219066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80C67D6-7A47-CCD1-38C8-B19CA4FA1BCD}"/>
              </a:ext>
            </a:extLst>
          </p:cNvPr>
          <p:cNvCxnSpPr>
            <a:cxnSpLocks/>
          </p:cNvCxnSpPr>
          <p:nvPr/>
        </p:nvCxnSpPr>
        <p:spPr>
          <a:xfrm>
            <a:off x="8839679" y="2607738"/>
            <a:ext cx="0" cy="212732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FE1DF74-C7E7-C1A5-E310-9C9AC6C579C4}"/>
              </a:ext>
            </a:extLst>
          </p:cNvPr>
          <p:cNvCxnSpPr>
            <a:cxnSpLocks/>
          </p:cNvCxnSpPr>
          <p:nvPr/>
        </p:nvCxnSpPr>
        <p:spPr>
          <a:xfrm>
            <a:off x="9624736" y="2176471"/>
            <a:ext cx="0" cy="215022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D41C253C-57D0-AFAE-D64E-953D1CAACDA1}"/>
              </a:ext>
            </a:extLst>
          </p:cNvPr>
          <p:cNvCxnSpPr>
            <a:cxnSpLocks/>
          </p:cNvCxnSpPr>
          <p:nvPr/>
        </p:nvCxnSpPr>
        <p:spPr>
          <a:xfrm flipH="1">
            <a:off x="7815284" y="3235339"/>
            <a:ext cx="14519" cy="9015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395345D-0406-99BC-14F7-682E9EA6F6B7}"/>
              </a:ext>
            </a:extLst>
          </p:cNvPr>
          <p:cNvCxnSpPr/>
          <p:nvPr/>
        </p:nvCxnSpPr>
        <p:spPr>
          <a:xfrm>
            <a:off x="10679289" y="1794933"/>
            <a:ext cx="0" cy="2720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4378C2-A8BB-9D39-1423-4C93CE8C2144}"/>
              </a:ext>
            </a:extLst>
          </p:cNvPr>
          <p:cNvCxnSpPr>
            <a:cxnSpLocks/>
          </p:cNvCxnSpPr>
          <p:nvPr/>
        </p:nvCxnSpPr>
        <p:spPr>
          <a:xfrm>
            <a:off x="10679289" y="2066938"/>
            <a:ext cx="0" cy="2720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DCEC1FC-D9BA-EF22-3F9B-2851F67F9335}"/>
              </a:ext>
            </a:extLst>
          </p:cNvPr>
          <p:cNvSpPr txBox="1"/>
          <p:nvPr/>
        </p:nvSpPr>
        <p:spPr>
          <a:xfrm>
            <a:off x="10693756" y="1973123"/>
            <a:ext cx="45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ε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6B174C-B963-DDBC-02B4-11647C56F12F}"/>
              </a:ext>
            </a:extLst>
          </p:cNvPr>
          <p:cNvSpPr txBox="1"/>
          <p:nvPr/>
        </p:nvSpPr>
        <p:spPr>
          <a:xfrm>
            <a:off x="10676543" y="1672993"/>
            <a:ext cx="458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b="0" i="0" u="none" strike="noStrike" dirty="0">
                <a:solidFill>
                  <a:srgbClr val="001D35"/>
                </a:solidFill>
                <a:effectLst/>
                <a:latin typeface="Google Sans"/>
              </a:rPr>
              <a:t>ε</a:t>
            </a:r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2937FE-984E-D398-B57F-E02F3506B0F4}"/>
              </a:ext>
            </a:extLst>
          </p:cNvPr>
          <p:cNvCxnSpPr>
            <a:cxnSpLocks/>
          </p:cNvCxnSpPr>
          <p:nvPr/>
        </p:nvCxnSpPr>
        <p:spPr>
          <a:xfrm flipV="1">
            <a:off x="6649156" y="1567302"/>
            <a:ext cx="5003273" cy="262087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85B4678-B38A-C155-78D0-B5D2DEC2825C}"/>
                  </a:ext>
                </a:extLst>
              </p:cNvPr>
              <p:cNvSpPr txBox="1"/>
              <p:nvPr/>
            </p:nvSpPr>
            <p:spPr>
              <a:xfrm>
                <a:off x="7837133" y="2709145"/>
                <a:ext cx="501997" cy="397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dirty="0">
                              <a:solidFill>
                                <a:srgbClr val="000000"/>
                              </a:solidFill>
                            </a:rPr>
                            <m:t>ξ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85B4678-B38A-C155-78D0-B5D2DEC28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133" y="2709145"/>
                <a:ext cx="501997" cy="397545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D6FB53-47DD-2538-B978-FBEEA3D8FF92}"/>
                  </a:ext>
                </a:extLst>
              </p:cNvPr>
              <p:cNvSpPr txBox="1"/>
              <p:nvPr/>
            </p:nvSpPr>
            <p:spPr>
              <a:xfrm>
                <a:off x="8231907" y="3610257"/>
                <a:ext cx="4389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dirty="0">
                              <a:solidFill>
                                <a:srgbClr val="000000"/>
                              </a:solidFill>
                            </a:rPr>
                            <m:t>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BD6FB53-47DD-2538-B978-FBEEA3D8F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907" y="3610257"/>
                <a:ext cx="438966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EF50F-6688-DEBC-D36E-D029D1048955}"/>
                  </a:ext>
                </a:extLst>
              </p:cNvPr>
              <p:cNvSpPr txBox="1"/>
              <p:nvPr/>
            </p:nvSpPr>
            <p:spPr>
              <a:xfrm>
                <a:off x="9389777" y="2900408"/>
                <a:ext cx="470304" cy="375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dirty="0">
                              <a:solidFill>
                                <a:srgbClr val="000000"/>
                              </a:solidFill>
                            </a:rPr>
                            <m:t>ξ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5EF50F-6688-DEBC-D36E-D029D1048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9777" y="2900408"/>
                <a:ext cx="470304" cy="375424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A8751B-BDFF-BF5D-AE97-C19935C2FB4B}"/>
                  </a:ext>
                </a:extLst>
              </p:cNvPr>
              <p:cNvSpPr txBox="1"/>
              <p:nvPr/>
            </p:nvSpPr>
            <p:spPr>
              <a:xfrm>
                <a:off x="8919796" y="2377798"/>
                <a:ext cx="426939" cy="398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dirty="0">
                              <a:solidFill>
                                <a:srgbClr val="000000"/>
                              </a:solidFill>
                            </a:rPr>
                            <m:t>ξ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A8751B-BDFF-BF5D-AE97-C19935C2F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9796" y="2377798"/>
                <a:ext cx="426939" cy="398955"/>
              </a:xfrm>
              <a:prstGeom prst="rect">
                <a:avLst/>
              </a:prstGeom>
              <a:blipFill>
                <a:blip r:embed="rId7"/>
                <a:stretch>
                  <a:fillRect l="-2941"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BCF6252-5BC3-AAF9-4F7F-ED2EFF73CF6C}"/>
                  </a:ext>
                </a:extLst>
              </p:cNvPr>
              <p:cNvSpPr txBox="1"/>
              <p:nvPr/>
            </p:nvSpPr>
            <p:spPr>
              <a:xfrm>
                <a:off x="9705734" y="1739138"/>
                <a:ext cx="426939" cy="403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nor/>
                            </m:rPr>
                            <a:rPr lang="el-GR" dirty="0">
                              <a:solidFill>
                                <a:srgbClr val="000000"/>
                              </a:solidFill>
                            </a:rPr>
                            <m:t>ξ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/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BCF6252-5BC3-AAF9-4F7F-ED2EFF73C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734" y="1739138"/>
                <a:ext cx="426939" cy="403187"/>
              </a:xfrm>
              <a:prstGeom prst="rect">
                <a:avLst/>
              </a:prstGeom>
              <a:blipFill>
                <a:blip r:embed="rId8"/>
                <a:stretch>
                  <a:fillRect l="-2941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70C2E7-9F03-CB37-1973-03EA05B49525}"/>
                  </a:ext>
                </a:extLst>
              </p:cNvPr>
              <p:cNvSpPr txBox="1"/>
              <p:nvPr/>
            </p:nvSpPr>
            <p:spPr>
              <a:xfrm>
                <a:off x="7201818" y="4914970"/>
                <a:ext cx="2798202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l-GR" dirty="0">
                                  <a:solidFill>
                                    <a:srgbClr val="000000"/>
                                  </a:solidFill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l-GR" dirty="0">
                                  <a:solidFill>
                                    <a:srgbClr val="000000"/>
                                  </a:solidFill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F70C2E7-9F03-CB37-1973-03EA05B49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1818" y="4914970"/>
                <a:ext cx="2798202" cy="848566"/>
              </a:xfrm>
              <a:prstGeom prst="rect">
                <a:avLst/>
              </a:prstGeom>
              <a:blipFill>
                <a:blip r:embed="rId9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ight Arrow 50">
            <a:extLst>
              <a:ext uri="{FF2B5EF4-FFF2-40B4-BE49-F238E27FC236}">
                <a16:creationId xmlns:a16="http://schemas.microsoft.com/office/drawing/2014/main" id="{11F3E61F-9894-D3AC-152A-B828DFAC347A}"/>
              </a:ext>
            </a:extLst>
          </p:cNvPr>
          <p:cNvSpPr/>
          <p:nvPr/>
        </p:nvSpPr>
        <p:spPr>
          <a:xfrm>
            <a:off x="10041942" y="5252187"/>
            <a:ext cx="651814" cy="1741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F72D93-83E6-F42F-4881-35A4FD673937}"/>
              </a:ext>
            </a:extLst>
          </p:cNvPr>
          <p:cNvSpPr txBox="1"/>
          <p:nvPr/>
        </p:nvSpPr>
        <p:spPr>
          <a:xfrm>
            <a:off x="10735678" y="5154587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14D0D0-62BE-5D09-E41A-8177EE45F185}"/>
              </a:ext>
            </a:extLst>
          </p:cNvPr>
          <p:cNvSpPr txBox="1"/>
          <p:nvPr/>
        </p:nvSpPr>
        <p:spPr>
          <a:xfrm>
            <a:off x="7342168" y="1750133"/>
            <a:ext cx="1552028" cy="36933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Support Vector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583C374-562C-1BAE-1D58-0826789B38AD}"/>
              </a:ext>
            </a:extLst>
          </p:cNvPr>
          <p:cNvCxnSpPr>
            <a:stCxn id="55" idx="2"/>
          </p:cNvCxnSpPr>
          <p:nvPr/>
        </p:nvCxnSpPr>
        <p:spPr>
          <a:xfrm>
            <a:off x="8118182" y="2119465"/>
            <a:ext cx="628436" cy="280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ight Arrow 58">
            <a:extLst>
              <a:ext uri="{FF2B5EF4-FFF2-40B4-BE49-F238E27FC236}">
                <a16:creationId xmlns:a16="http://schemas.microsoft.com/office/drawing/2014/main" id="{95A3F891-1BD4-C271-C50C-BC378923278D}"/>
              </a:ext>
            </a:extLst>
          </p:cNvPr>
          <p:cNvSpPr/>
          <p:nvPr/>
        </p:nvSpPr>
        <p:spPr>
          <a:xfrm>
            <a:off x="3529490" y="1259351"/>
            <a:ext cx="651814" cy="1741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EAC8D9-727A-7F74-8B88-1B9ADB2540AC}"/>
              </a:ext>
            </a:extLst>
          </p:cNvPr>
          <p:cNvSpPr txBox="1"/>
          <p:nvPr/>
        </p:nvSpPr>
        <p:spPr>
          <a:xfrm>
            <a:off x="4193715" y="1167989"/>
            <a:ext cx="52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FBE096-B131-F950-56B8-B5F5F8A1AB0E}"/>
                  </a:ext>
                </a:extLst>
              </p:cNvPr>
              <p:cNvSpPr txBox="1"/>
              <p:nvPr/>
            </p:nvSpPr>
            <p:spPr>
              <a:xfrm>
                <a:off x="8115471" y="1116490"/>
                <a:ext cx="2620207" cy="397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Slack Variables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sz="1800" dirty="0">
                            <a:solidFill>
                              <a:srgbClr val="000000"/>
                            </a:solidFill>
                          </a:rPr>
                          <m:t>ξ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/>
                    </m:sSubSup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nor/>
                          </m:rPr>
                          <a:rPr lang="el-GR" sz="1800" dirty="0">
                            <a:solidFill>
                              <a:srgbClr val="000000"/>
                            </a:solidFill>
                          </a:rPr>
                          <m:t>ξ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FBE096-B131-F950-56B8-B5F5F8A1A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5471" y="1116490"/>
                <a:ext cx="2620207" cy="397032"/>
              </a:xfrm>
              <a:prstGeom prst="rect">
                <a:avLst/>
              </a:prstGeom>
              <a:blipFill>
                <a:blip r:embed="rId10"/>
                <a:stretch>
                  <a:fillRect l="-1442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0762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28" grpId="0"/>
      <p:bldP spid="29" grpId="0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52" grpId="0"/>
      <p:bldP spid="53" grpId="0"/>
      <p:bldP spid="57" grpId="0"/>
      <p:bldP spid="69" grpId="0"/>
      <p:bldP spid="70" grpId="0" animBg="1"/>
      <p:bldP spid="71" grpId="0" animBg="1"/>
      <p:bldP spid="72" grpId="0" animBg="1"/>
      <p:bldP spid="73" grpId="0" animBg="1"/>
      <p:bldP spid="74" grpId="0" animBg="1"/>
      <p:bldP spid="18" grpId="0"/>
      <p:bldP spid="26" grpId="0"/>
      <p:bldP spid="42" grpId="0"/>
      <p:bldP spid="44" grpId="0"/>
      <p:bldP spid="46" grpId="0"/>
      <p:bldP spid="48" grpId="0"/>
      <p:bldP spid="49" grpId="0"/>
      <p:bldP spid="50" grpId="0"/>
      <p:bldP spid="51" grpId="0" animBg="1"/>
      <p:bldP spid="54" grpId="0"/>
      <p:bldP spid="55" grpId="0" animBg="1"/>
      <p:bldP spid="59" grpId="0" animBg="1"/>
      <p:bldP spid="60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A47A-CC34-3D9A-2F0F-5547F8534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EE15-8180-851B-B02B-3CF2083C6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Vector Regression (SVR) is a </a:t>
            </a:r>
            <a:r>
              <a:rPr lang="en-US" dirty="0">
                <a:solidFill>
                  <a:srgbClr val="C00000"/>
                </a:solidFill>
              </a:rPr>
              <a:t>supervised machine learning algorithm</a:t>
            </a:r>
            <a:r>
              <a:rPr lang="en-US" dirty="0"/>
              <a:t> that applies the principles of </a:t>
            </a:r>
            <a:r>
              <a:rPr lang="en-US" dirty="0">
                <a:solidFill>
                  <a:srgbClr val="C00000"/>
                </a:solidFill>
              </a:rPr>
              <a:t>Support Vector Machines (SVM)</a:t>
            </a:r>
            <a:r>
              <a:rPr lang="en-US" dirty="0"/>
              <a:t> to regression problems.</a:t>
            </a:r>
          </a:p>
          <a:p>
            <a:r>
              <a:rPr lang="en-US" b="1" dirty="0">
                <a:solidFill>
                  <a:srgbClr val="C00000"/>
                </a:solidFill>
              </a:rPr>
              <a:t>Terminology in SVR</a:t>
            </a:r>
            <a:r>
              <a:rPr lang="en-US" b="1" dirty="0"/>
              <a:t>:</a:t>
            </a:r>
          </a:p>
          <a:p>
            <a:r>
              <a:rPr lang="en-US" b="1" dirty="0"/>
              <a:t>Hyperplane:</a:t>
            </a:r>
          </a:p>
          <a:p>
            <a:pPr lvl="1"/>
            <a:r>
              <a:rPr lang="en-IN" dirty="0">
                <a:solidFill>
                  <a:srgbClr val="000000"/>
                </a:solidFill>
              </a:rPr>
              <a:t>In SVR, we try to find a</a:t>
            </a:r>
            <a:r>
              <a:rPr lang="en-IN" dirty="0">
                <a:solidFill>
                  <a:srgbClr val="C00000"/>
                </a:solidFill>
              </a:rPr>
              <a:t> hyperplane </a:t>
            </a:r>
            <a:r>
              <a:rPr lang="en-IN" dirty="0">
                <a:solidFill>
                  <a:srgbClr val="000000"/>
                </a:solidFill>
              </a:rPr>
              <a:t>that best </a:t>
            </a:r>
            <a:r>
              <a:rPr lang="en-IN" dirty="0">
                <a:solidFill>
                  <a:srgbClr val="C00000"/>
                </a:solidFill>
              </a:rPr>
              <a:t>fits the data points</a:t>
            </a:r>
            <a:r>
              <a:rPr lang="en-IN" dirty="0">
                <a:solidFill>
                  <a:srgbClr val="000000"/>
                </a:solidFill>
              </a:rPr>
              <a:t>.</a:t>
            </a:r>
            <a:endParaRPr lang="en-US" dirty="0"/>
          </a:p>
          <a:p>
            <a:pPr lvl="1"/>
            <a:r>
              <a:rPr lang="en-US" dirty="0"/>
              <a:t>C (Regularization parameter): Controls the trade-off between the model's complexity and the </a:t>
            </a:r>
            <a:r>
              <a:rPr lang="en-US" dirty="0">
                <a:solidFill>
                  <a:srgbClr val="C00000"/>
                </a:solidFill>
              </a:rPr>
              <a:t>slack variable penalty for outliers.</a:t>
            </a:r>
          </a:p>
          <a:p>
            <a:r>
              <a:rPr lang="en-US" b="1" dirty="0"/>
              <a:t>Margin (</a:t>
            </a:r>
            <a:r>
              <a:rPr lang="el-GR" b="1" dirty="0"/>
              <a:t>ε-</a:t>
            </a:r>
            <a:r>
              <a:rPr lang="en-US" b="1" dirty="0"/>
              <a:t>insensitive loss):</a:t>
            </a:r>
          </a:p>
          <a:p>
            <a:pPr lvl="1"/>
            <a:r>
              <a:rPr lang="en-US" dirty="0"/>
              <a:t>margin of </a:t>
            </a:r>
            <a:r>
              <a:rPr lang="en-US" dirty="0">
                <a:solidFill>
                  <a:srgbClr val="C00000"/>
                </a:solidFill>
              </a:rPr>
              <a:t>tolerance (denoted as </a:t>
            </a:r>
            <a:r>
              <a:rPr lang="el-GR" dirty="0">
                <a:solidFill>
                  <a:srgbClr val="C00000"/>
                </a:solidFill>
              </a:rPr>
              <a:t>ϵ)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level within </a:t>
            </a:r>
            <a:r>
              <a:rPr lang="en-US" dirty="0">
                <a:solidFill>
                  <a:srgbClr val="C00000"/>
                </a:solidFill>
              </a:rPr>
              <a:t>which predictions are considered accurate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Deviations </a:t>
            </a:r>
            <a:r>
              <a:rPr lang="en-US" dirty="0">
                <a:solidFill>
                  <a:srgbClr val="C00000"/>
                </a:solidFill>
              </a:rPr>
              <a:t>within this margin are ignored</a:t>
            </a:r>
            <a:r>
              <a:rPr lang="en-US" dirty="0"/>
              <a:t>, focusing the model only </a:t>
            </a:r>
            <a:r>
              <a:rPr lang="en-US" dirty="0">
                <a:solidFill>
                  <a:srgbClr val="C00000"/>
                </a:solidFill>
              </a:rPr>
              <a:t>on errors that exceed </a:t>
            </a:r>
            <a:r>
              <a:rPr lang="el-GR" dirty="0">
                <a:solidFill>
                  <a:srgbClr val="C00000"/>
                </a:solidFill>
              </a:rPr>
              <a:t>ϵ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r>
              <a:rPr lang="en-US" b="1" dirty="0"/>
              <a:t>Support Vectors:</a:t>
            </a:r>
          </a:p>
          <a:p>
            <a:pPr lvl="1"/>
            <a:r>
              <a:rPr lang="en-US" dirty="0"/>
              <a:t>Data points that lie on the </a:t>
            </a:r>
            <a:r>
              <a:rPr lang="en-US" dirty="0">
                <a:solidFill>
                  <a:srgbClr val="C00000"/>
                </a:solidFill>
              </a:rPr>
              <a:t>margin boundaries or outside of them</a:t>
            </a:r>
            <a:r>
              <a:rPr lang="en-US" dirty="0"/>
              <a:t>. </a:t>
            </a:r>
          </a:p>
          <a:p>
            <a:r>
              <a:rPr lang="en-US" b="1" dirty="0"/>
              <a:t>Kernel Trick:</a:t>
            </a:r>
          </a:p>
          <a:p>
            <a:pPr lvl="1"/>
            <a:r>
              <a:rPr lang="en-US" dirty="0"/>
              <a:t>Used to transform the data into a </a:t>
            </a:r>
            <a:r>
              <a:rPr lang="en-US" dirty="0">
                <a:solidFill>
                  <a:srgbClr val="C00000"/>
                </a:solidFill>
              </a:rPr>
              <a:t>higher-dimensional space if it's not linearly separable</a:t>
            </a:r>
            <a:r>
              <a:rPr lang="en-US" dirty="0"/>
              <a:t> in </a:t>
            </a:r>
          </a:p>
          <a:p>
            <a:pPr marL="457200" lvl="1" indent="0">
              <a:buNone/>
            </a:pPr>
            <a:r>
              <a:rPr lang="en-US" dirty="0"/>
              <a:t>the original space.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3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7D39C-18A7-78D1-A30D-05689BAF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CC4476-282E-7061-FE18-CA55C48B31D7}"/>
                  </a:ext>
                </a:extLst>
              </p:cNvPr>
              <p:cNvSpPr txBox="1"/>
              <p:nvPr/>
            </p:nvSpPr>
            <p:spPr>
              <a:xfrm>
                <a:off x="270441" y="1065459"/>
                <a:ext cx="2798202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l-GR" dirty="0">
                                  <a:solidFill>
                                    <a:srgbClr val="000000"/>
                                  </a:solidFill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nor/>
                                </m:rPr>
                                <a:rPr lang="el-GR" dirty="0">
                                  <a:solidFill>
                                    <a:srgbClr val="000000"/>
                                  </a:solidFill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b="0" i="1" dirty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ACC4476-282E-7061-FE18-CA55C48B3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41" y="1065459"/>
                <a:ext cx="2798202" cy="848566"/>
              </a:xfrm>
              <a:prstGeom prst="rect">
                <a:avLst/>
              </a:prstGeom>
              <a:blipFill>
                <a:blip r:embed="rId2"/>
                <a:stretch>
                  <a:fillRect t="-101493" b="-155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7D40F5F-DBAC-09A3-1462-2DF10D04F5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1511" y="863444"/>
                <a:ext cx="8719310" cy="5578501"/>
              </a:xfrm>
            </p:spPr>
            <p:txBody>
              <a:bodyPr/>
              <a:lstStyle/>
              <a:p>
                <a:r>
                  <a:rPr lang="en-US" b="1" dirty="0"/>
                  <a:t>W : </a:t>
                </a:r>
              </a:p>
              <a:p>
                <a:pPr lvl="1"/>
                <a:r>
                  <a:rPr lang="en-US" dirty="0"/>
                  <a:t>w is the weight vector in the regression model.</a:t>
                </a:r>
              </a:p>
              <a:p>
                <a:pPr lvl="1"/>
                <a:r>
                  <a:rPr lang="en-US" dirty="0"/>
                  <a:t>It defines the orientation and steepness of the hyperplane (or regression line/curve).</a:t>
                </a:r>
              </a:p>
              <a:p>
                <a:pPr lvl="1"/>
                <a:r>
                  <a:rPr lang="en-US" dirty="0"/>
                  <a:t>Minimizing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ensures that the model is simple and avoids overfitting.</a:t>
                </a:r>
              </a:p>
              <a:p>
                <a:r>
                  <a:rPr lang="en-US" b="1" dirty="0"/>
                  <a:t>C:</a:t>
                </a:r>
              </a:p>
              <a:p>
                <a:pPr lvl="1"/>
                <a:r>
                  <a:rPr lang="en-US" dirty="0"/>
                  <a:t>A hyperparameter controlling the trade-off between model complexity (smaller w) and tolerance to errors</a:t>
                </a:r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p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l-GR" b="1" dirty="0">
                                <a:solidFill>
                                  <a:srgbClr val="000000"/>
                                </a:solidFill>
                              </a:rPr>
                              <m:t>ξ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/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nor/>
                              </m:rPr>
                              <a:rPr lang="el-GR" b="1" dirty="0">
                                <a:solidFill>
                                  <a:srgbClr val="000000"/>
                                </a:solidFill>
                              </a:rPr>
                              <m:t>ξ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Represents the sum of slack variables for all data points, which measures deviations beyond the margin </a:t>
                </a:r>
                <a:r>
                  <a:rPr lang="el-GR" dirty="0"/>
                  <a:t>ϵ.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7D40F5F-DBAC-09A3-1462-2DF10D04F5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1511" y="863444"/>
                <a:ext cx="8719310" cy="5578501"/>
              </a:xfrm>
              <a:blipFill>
                <a:blip r:embed="rId3"/>
                <a:stretch>
                  <a:fillRect l="-1892" t="-1818" r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2332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5D85A-8BCE-613B-DF1B-A5D57AE4E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0C2BC-2E88-B932-3B68-94A86DA3F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</a:t>
            </a:r>
            <a:r>
              <a:rPr lang="en-US" dirty="0">
                <a:solidFill>
                  <a:srgbClr val="C00000"/>
                </a:solidFill>
              </a:rPr>
              <a:t>SVR can only model relationships that are linear</a:t>
            </a:r>
            <a:r>
              <a:rPr lang="en-US" dirty="0"/>
              <a:t> in the input space.</a:t>
            </a:r>
          </a:p>
          <a:p>
            <a:r>
              <a:rPr lang="en-US" dirty="0"/>
              <a:t>However, if the data is </a:t>
            </a:r>
            <a:r>
              <a:rPr lang="en-US" dirty="0">
                <a:solidFill>
                  <a:srgbClr val="C00000"/>
                </a:solidFill>
              </a:rPr>
              <a:t>not linearly separable</a:t>
            </a:r>
            <a:r>
              <a:rPr lang="en-US" dirty="0"/>
              <a:t>, the </a:t>
            </a:r>
            <a:r>
              <a:rPr lang="en-US" dirty="0">
                <a:solidFill>
                  <a:srgbClr val="C00000"/>
                </a:solidFill>
              </a:rPr>
              <a:t>kernel trick </a:t>
            </a:r>
            <a:r>
              <a:rPr lang="en-US" dirty="0"/>
              <a:t>can be used to map the data to a </a:t>
            </a:r>
            <a:r>
              <a:rPr lang="en-US" dirty="0">
                <a:solidFill>
                  <a:srgbClr val="C00000"/>
                </a:solidFill>
              </a:rPr>
              <a:t>higher dimensional </a:t>
            </a:r>
            <a:r>
              <a:rPr lang="en-US" dirty="0"/>
              <a:t>space </a:t>
            </a:r>
            <a:r>
              <a:rPr lang="en-US" dirty="0">
                <a:solidFill>
                  <a:srgbClr val="C00000"/>
                </a:solidFill>
              </a:rPr>
              <a:t>where it becomes linearly separable.</a:t>
            </a:r>
          </a:p>
          <a:p>
            <a:r>
              <a:rPr lang="en-US" b="1" dirty="0"/>
              <a:t>Common Kernel:-</a:t>
            </a:r>
          </a:p>
          <a:p>
            <a:r>
              <a:rPr lang="en-US" b="1" dirty="0"/>
              <a:t>Linear Kernel: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No mapping is </a:t>
            </a:r>
            <a:r>
              <a:rPr lang="en-IN" b="0" i="0" u="none" strike="noStrike" dirty="0">
                <a:solidFill>
                  <a:srgbClr val="C00000"/>
                </a:solidFill>
                <a:effectLst/>
                <a:latin typeface="-webkit-standard"/>
              </a:rPr>
              <a:t>needed as the data is already assumed to be linearly separable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</a:p>
          <a:p>
            <a:r>
              <a:rPr lang="en-US" b="1" dirty="0"/>
              <a:t>Polynomial Kernel:</a:t>
            </a:r>
          </a:p>
          <a:p>
            <a:pPr lvl="1"/>
            <a:r>
              <a:rPr lang="en-US" dirty="0"/>
              <a:t>Maps inputs into a </a:t>
            </a:r>
            <a:r>
              <a:rPr lang="en-US" dirty="0">
                <a:solidFill>
                  <a:srgbClr val="C00000"/>
                </a:solidFill>
              </a:rPr>
              <a:t>polynomial feature space, enhancing the classifier's ability </a:t>
            </a:r>
            <a:r>
              <a:rPr lang="en-US" dirty="0"/>
              <a:t>to capture interactions </a:t>
            </a:r>
            <a:r>
              <a:rPr lang="en-US" dirty="0">
                <a:solidFill>
                  <a:srgbClr val="C00000"/>
                </a:solidFill>
              </a:rPr>
              <a:t>between features</a:t>
            </a:r>
            <a:r>
              <a:rPr lang="en-US" dirty="0"/>
              <a:t>.</a:t>
            </a:r>
          </a:p>
          <a:p>
            <a:r>
              <a:rPr lang="en-US" b="1" dirty="0"/>
              <a:t>Radial Basis Function (RBF) Kernel:</a:t>
            </a:r>
          </a:p>
          <a:p>
            <a:pPr lvl="1"/>
            <a:r>
              <a:rPr lang="en-US" dirty="0"/>
              <a:t>Also known as </a:t>
            </a:r>
            <a:r>
              <a:rPr lang="en-US" dirty="0">
                <a:solidFill>
                  <a:srgbClr val="C00000"/>
                </a:solidFill>
              </a:rPr>
              <a:t>the Gaussian kernel</a:t>
            </a:r>
            <a:r>
              <a:rPr lang="en-US" dirty="0"/>
              <a:t>, it is useful for capturing complex regions by </a:t>
            </a:r>
            <a:r>
              <a:rPr lang="en-US" dirty="0">
                <a:solidFill>
                  <a:srgbClr val="C00000"/>
                </a:solidFill>
              </a:rPr>
              <a:t>considering the distance between points in the input space.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5010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89A3-9834-2B4D-8BB0-6D88DF4DF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1EA35-6B4E-53F0-1771-3533D659C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Sigmoid Kernel:</a:t>
            </a:r>
          </a:p>
          <a:p>
            <a:pPr lvl="1"/>
            <a:r>
              <a:rPr lang="en-IN" b="0" i="0" u="none" strike="noStrike" dirty="0">
                <a:solidFill>
                  <a:srgbClr val="273239"/>
                </a:solidFill>
                <a:effectLst/>
              </a:rPr>
              <a:t>Mimics the behaviour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of neural networks by using a sigmoid function as the kernel</a:t>
            </a:r>
            <a:r>
              <a:rPr lang="en-IN" b="0" i="0" u="none" strike="noStrike" dirty="0">
                <a:solidFill>
                  <a:srgbClr val="273239"/>
                </a:solidFill>
                <a:effectLst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743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Regression (SVR) (Example)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15064" y="1228181"/>
            <a:ext cx="6051496" cy="47705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pandas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pd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pd.read_csv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'WorldBank.csv'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pop15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df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'Indicator Name'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]==</a:t>
            </a:r>
            <a:r>
              <a:rPr lang="en-US" sz="1600" dirty="0">
                <a:solidFill>
                  <a:srgbClr val="FF0000"/>
                </a:solidFill>
                <a:latin typeface="Consolas"/>
              </a:rPr>
              <a:t>'Population ages 15-64 (% of total population)'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X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np.arange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(1960,2020)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y = pop15.values[0][4:-1]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sklearn.svm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SVR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model = SVR()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model.fit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X.reshape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(-1,1),y)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predictPoly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model.predict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X.reshape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(-1,1))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matplotlib.pyplot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Consolas"/>
              </a:rPr>
              <a:t>as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plt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%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matplotlib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inline</a:t>
            </a:r>
          </a:p>
          <a:p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plt.scatter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X,y,c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='r')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plt.scatter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X,predictPoly,c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='b')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215071" y="1228181"/>
            <a:ext cx="499993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PolyReg.py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781942" y="1347884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WorldBank.csv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781942" y="1675458"/>
            <a:ext cx="3811643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  <a:hlinkClick r:id="rId2"/>
              </a:rPr>
              <a:t>Download link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795" y="2540657"/>
            <a:ext cx="4562419" cy="3021244"/>
          </a:xfrm>
          <a:prstGeom prst="rect">
            <a:avLst/>
          </a:prstGeom>
        </p:spPr>
      </p:pic>
      <p:sp>
        <p:nvSpPr>
          <p:cNvPr id="13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781942" y="2331735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20616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  <p:bldP spid="11" grpId="0" uiExpand="1" animBg="1"/>
      <p:bldP spid="12" grpId="0" uiExpand="1" build="p" animBg="1"/>
      <p:bldP spid="13" grpId="0" uiExpan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ACBA-6E7F-311C-B6CC-07938324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09CC4-3A09-67C6-E337-B3E029512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218423"/>
          </a:xfrm>
        </p:spPr>
        <p:txBody>
          <a:bodyPr/>
          <a:lstStyle/>
          <a:p>
            <a:r>
              <a:rPr lang="en-US" dirty="0"/>
              <a:t>Logistic regression is a </a:t>
            </a:r>
            <a:r>
              <a:rPr lang="en-US" dirty="0">
                <a:solidFill>
                  <a:srgbClr val="C00000"/>
                </a:solidFill>
              </a:rPr>
              <a:t>supervised learning algorithm </a:t>
            </a:r>
            <a:r>
              <a:rPr lang="en-US" dirty="0"/>
              <a:t>that makes use of </a:t>
            </a:r>
            <a:r>
              <a:rPr lang="en-US" dirty="0">
                <a:solidFill>
                  <a:srgbClr val="C00000"/>
                </a:solidFill>
              </a:rPr>
              <a:t>logistic functions</a:t>
            </a:r>
            <a:r>
              <a:rPr lang="en-US" dirty="0"/>
              <a:t> to predict the </a:t>
            </a:r>
            <a:r>
              <a:rPr lang="en-US" dirty="0">
                <a:solidFill>
                  <a:srgbClr val="C00000"/>
                </a:solidFill>
              </a:rPr>
              <a:t>probability of a binary outcome</a:t>
            </a:r>
            <a:r>
              <a:rPr lang="en-US" dirty="0"/>
              <a:t>.</a:t>
            </a:r>
          </a:p>
          <a:p>
            <a:r>
              <a:rPr lang="en-US" dirty="0"/>
              <a:t>Instead of predicting a </a:t>
            </a:r>
            <a:r>
              <a:rPr lang="en-US" dirty="0">
                <a:solidFill>
                  <a:srgbClr val="C00000"/>
                </a:solidFill>
              </a:rPr>
              <a:t>continuous output like in linear regression</a:t>
            </a:r>
            <a:r>
              <a:rPr lang="en-US" dirty="0"/>
              <a:t>, it predicts the probability of an </a:t>
            </a:r>
            <a:r>
              <a:rPr lang="en-US" dirty="0">
                <a:solidFill>
                  <a:srgbClr val="C00000"/>
                </a:solidFill>
              </a:rPr>
              <a:t>outcome belonging to one of two classes</a:t>
            </a:r>
            <a:r>
              <a:rPr lang="en-US" dirty="0"/>
              <a:t>.</a:t>
            </a:r>
          </a:p>
          <a:p>
            <a:r>
              <a:rPr lang="en-US" dirty="0"/>
              <a:t>It predict the </a:t>
            </a:r>
            <a:r>
              <a:rPr lang="en-US" dirty="0">
                <a:solidFill>
                  <a:srgbClr val="C00000"/>
                </a:solidFill>
              </a:rPr>
              <a:t>categorical dependent variable from a number of independent variables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3180BC-4C02-B818-BD32-186E6FB1CD8D}"/>
              </a:ext>
            </a:extLst>
          </p:cNvPr>
          <p:cNvSpPr/>
          <p:nvPr/>
        </p:nvSpPr>
        <p:spPr>
          <a:xfrm>
            <a:off x="1411111" y="4007556"/>
            <a:ext cx="1049867" cy="936977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5F6C24-1C05-69FB-0C1B-46CA125936CA}"/>
              </a:ext>
            </a:extLst>
          </p:cNvPr>
          <p:cNvSpPr/>
          <p:nvPr/>
        </p:nvSpPr>
        <p:spPr>
          <a:xfrm>
            <a:off x="2675467" y="4006355"/>
            <a:ext cx="1049867" cy="936977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Salary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B781035F-A8A1-5A39-75F9-4AAF67A60155}"/>
              </a:ext>
            </a:extLst>
          </p:cNvPr>
          <p:cNvSpPr/>
          <p:nvPr/>
        </p:nvSpPr>
        <p:spPr>
          <a:xfrm>
            <a:off x="4193822" y="4332532"/>
            <a:ext cx="2511778" cy="28462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F3ABB41-113E-3604-3EBD-0456B505CFDF}"/>
              </a:ext>
            </a:extLst>
          </p:cNvPr>
          <p:cNvSpPr/>
          <p:nvPr/>
        </p:nvSpPr>
        <p:spPr>
          <a:xfrm>
            <a:off x="6948312" y="4006355"/>
            <a:ext cx="1049867" cy="93697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buys the product</a:t>
            </a:r>
          </a:p>
        </p:txBody>
      </p:sp>
      <p:sp>
        <p:nvSpPr>
          <p:cNvPr id="9" name="Explosion 1 8">
            <a:extLst>
              <a:ext uri="{FF2B5EF4-FFF2-40B4-BE49-F238E27FC236}">
                <a16:creationId xmlns:a16="http://schemas.microsoft.com/office/drawing/2014/main" id="{1FA46107-259C-21A2-F872-39D2B64E6A32}"/>
              </a:ext>
            </a:extLst>
          </p:cNvPr>
          <p:cNvSpPr/>
          <p:nvPr/>
        </p:nvSpPr>
        <p:spPr>
          <a:xfrm>
            <a:off x="8466667" y="3657600"/>
            <a:ext cx="1749777" cy="1478844"/>
          </a:xfrm>
          <a:prstGeom prst="irregularSeal1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YES</a:t>
            </a:r>
            <a:r>
              <a:rPr lang="en-US" dirty="0"/>
              <a:t>/</a:t>
            </a:r>
            <a:r>
              <a:rPr lang="en-US" dirty="0">
                <a:solidFill>
                  <a:srgbClr val="C0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582473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CC44-083E-2246-CB9D-06F886575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0F2DFF0-9D7A-55BF-8D05-192B44D4CD03}"/>
              </a:ext>
            </a:extLst>
          </p:cNvPr>
          <p:cNvCxnSpPr>
            <a:cxnSpLocks/>
          </p:cNvCxnSpPr>
          <p:nvPr/>
        </p:nvCxnSpPr>
        <p:spPr>
          <a:xfrm flipV="1">
            <a:off x="790224" y="1344450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C14218-EC6D-5780-9D4B-DEA8A3D32FB0}"/>
              </a:ext>
            </a:extLst>
          </p:cNvPr>
          <p:cNvCxnSpPr>
            <a:cxnSpLocks/>
          </p:cNvCxnSpPr>
          <p:nvPr/>
        </p:nvCxnSpPr>
        <p:spPr>
          <a:xfrm flipV="1">
            <a:off x="764445" y="4759339"/>
            <a:ext cx="4620356" cy="20136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5D54DCD-A45A-EFB6-14DF-EE5443464F0B}"/>
              </a:ext>
            </a:extLst>
          </p:cNvPr>
          <p:cNvCxnSpPr>
            <a:cxnSpLocks/>
          </p:cNvCxnSpPr>
          <p:nvPr/>
        </p:nvCxnSpPr>
        <p:spPr>
          <a:xfrm flipV="1">
            <a:off x="799178" y="2236124"/>
            <a:ext cx="4567254" cy="177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AE7574-6876-C40C-30B0-17807B25240F}"/>
              </a:ext>
            </a:extLst>
          </p:cNvPr>
          <p:cNvSpPr txBox="1"/>
          <p:nvPr/>
        </p:nvSpPr>
        <p:spPr>
          <a:xfrm>
            <a:off x="645931" y="1026193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B953DF-A08A-A9D9-0F06-8AC78D68413A}"/>
              </a:ext>
            </a:extLst>
          </p:cNvPr>
          <p:cNvSpPr txBox="1"/>
          <p:nvPr/>
        </p:nvSpPr>
        <p:spPr>
          <a:xfrm>
            <a:off x="5366432" y="457467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07A186-D015-5426-EF16-D18B5DA58BED}"/>
              </a:ext>
            </a:extLst>
          </p:cNvPr>
          <p:cNvSpPr txBox="1"/>
          <p:nvPr/>
        </p:nvSpPr>
        <p:spPr>
          <a:xfrm>
            <a:off x="4796195" y="4779475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5FF068-CB5E-756A-CB9D-C92418218803}"/>
              </a:ext>
            </a:extLst>
          </p:cNvPr>
          <p:cNvSpPr txBox="1"/>
          <p:nvPr/>
        </p:nvSpPr>
        <p:spPr>
          <a:xfrm rot="16200000">
            <a:off x="285476" y="1368988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BAF142-E65C-AE42-0700-2C85D34F7E70}"/>
              </a:ext>
            </a:extLst>
          </p:cNvPr>
          <p:cNvSpPr txBox="1"/>
          <p:nvPr/>
        </p:nvSpPr>
        <p:spPr>
          <a:xfrm>
            <a:off x="285475" y="2088939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7B9FCD-5E0F-7694-18BC-2796C07C0075}"/>
              </a:ext>
            </a:extLst>
          </p:cNvPr>
          <p:cNvSpPr txBox="1"/>
          <p:nvPr/>
        </p:nvSpPr>
        <p:spPr>
          <a:xfrm>
            <a:off x="351628" y="4606842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9018F-AE3E-D3E2-2362-C6C10A440550}"/>
              </a:ext>
            </a:extLst>
          </p:cNvPr>
          <p:cNvSpPr txBox="1"/>
          <p:nvPr/>
        </p:nvSpPr>
        <p:spPr>
          <a:xfrm>
            <a:off x="1098294" y="4791508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F15394-75E3-5C05-DE77-370680699332}"/>
              </a:ext>
            </a:extLst>
          </p:cNvPr>
          <p:cNvSpPr txBox="1"/>
          <p:nvPr/>
        </p:nvSpPr>
        <p:spPr>
          <a:xfrm>
            <a:off x="4019878" y="4791508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D81AE86-45FF-E88C-FF58-4FD52235E779}"/>
              </a:ext>
            </a:extLst>
          </p:cNvPr>
          <p:cNvSpPr/>
          <p:nvPr/>
        </p:nvSpPr>
        <p:spPr>
          <a:xfrm>
            <a:off x="3099959" y="220303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314D0E1-8153-EDB5-6506-7E7916065E67}"/>
              </a:ext>
            </a:extLst>
          </p:cNvPr>
          <p:cNvSpPr/>
          <p:nvPr/>
        </p:nvSpPr>
        <p:spPr>
          <a:xfrm>
            <a:off x="2780794" y="2206683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ECD2370-3FCA-D209-3BB2-1DEEC7F3F98C}"/>
              </a:ext>
            </a:extLst>
          </p:cNvPr>
          <p:cNvSpPr/>
          <p:nvPr/>
        </p:nvSpPr>
        <p:spPr>
          <a:xfrm>
            <a:off x="3825271" y="22002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5D6465-D62A-67DF-B5A5-E240BBCB3AE9}"/>
              </a:ext>
            </a:extLst>
          </p:cNvPr>
          <p:cNvSpPr/>
          <p:nvPr/>
        </p:nvSpPr>
        <p:spPr>
          <a:xfrm>
            <a:off x="3576917" y="22002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3FAAB1F-3B9D-CE32-0283-48D82B83D50C}"/>
              </a:ext>
            </a:extLst>
          </p:cNvPr>
          <p:cNvSpPr/>
          <p:nvPr/>
        </p:nvSpPr>
        <p:spPr>
          <a:xfrm>
            <a:off x="1149799" y="4739963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66C0408-A4DF-F280-048F-B60662196868}"/>
              </a:ext>
            </a:extLst>
          </p:cNvPr>
          <p:cNvSpPr/>
          <p:nvPr/>
        </p:nvSpPr>
        <p:spPr>
          <a:xfrm>
            <a:off x="1358794" y="4735540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818F11F-0288-DFD6-316B-204E85E2EF5F}"/>
              </a:ext>
            </a:extLst>
          </p:cNvPr>
          <p:cNvSpPr/>
          <p:nvPr/>
        </p:nvSpPr>
        <p:spPr>
          <a:xfrm>
            <a:off x="1656424" y="4739962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06F1B2-2906-C095-62D6-6F05643AE361}"/>
              </a:ext>
            </a:extLst>
          </p:cNvPr>
          <p:cNvSpPr/>
          <p:nvPr/>
        </p:nvSpPr>
        <p:spPr>
          <a:xfrm>
            <a:off x="1832540" y="4736761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6E2F90F-7623-2D24-CA4B-D72F4C2E0750}"/>
              </a:ext>
            </a:extLst>
          </p:cNvPr>
          <p:cNvSpPr/>
          <p:nvPr/>
        </p:nvSpPr>
        <p:spPr>
          <a:xfrm>
            <a:off x="1615138" y="22002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65CCADE-37F2-7EAA-D006-92B5EC223C8A}"/>
              </a:ext>
            </a:extLst>
          </p:cNvPr>
          <p:cNvSpPr/>
          <p:nvPr/>
        </p:nvSpPr>
        <p:spPr>
          <a:xfrm>
            <a:off x="1952066" y="4730967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A49159-5664-1C15-C45F-43867FCCC64B}"/>
              </a:ext>
            </a:extLst>
          </p:cNvPr>
          <p:cNvSpPr/>
          <p:nvPr/>
        </p:nvSpPr>
        <p:spPr>
          <a:xfrm>
            <a:off x="2080702" y="4729418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EFA383-9757-4A1E-0003-65E9A4085879}"/>
              </a:ext>
            </a:extLst>
          </p:cNvPr>
          <p:cNvSpPr/>
          <p:nvPr/>
        </p:nvSpPr>
        <p:spPr>
          <a:xfrm>
            <a:off x="2946461" y="4731116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3C0FCD0-BBFF-F2B5-D019-13DF86FEBF6D}"/>
              </a:ext>
            </a:extLst>
          </p:cNvPr>
          <p:cNvSpPr/>
          <p:nvPr/>
        </p:nvSpPr>
        <p:spPr>
          <a:xfrm>
            <a:off x="3562027" y="4723774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A78968A-BD09-EA68-6564-867C42E5E8EE}"/>
              </a:ext>
            </a:extLst>
          </p:cNvPr>
          <p:cNvSpPr/>
          <p:nvPr/>
        </p:nvSpPr>
        <p:spPr>
          <a:xfrm>
            <a:off x="1776923" y="221432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15024A4-99C8-44D0-F003-BFEA5185E2E1}"/>
              </a:ext>
            </a:extLst>
          </p:cNvPr>
          <p:cNvSpPr/>
          <p:nvPr/>
        </p:nvSpPr>
        <p:spPr>
          <a:xfrm>
            <a:off x="3328563" y="219709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D2F7A38-1D37-3D58-5DC2-89AE23202E3E}"/>
              </a:ext>
            </a:extLst>
          </p:cNvPr>
          <p:cNvSpPr/>
          <p:nvPr/>
        </p:nvSpPr>
        <p:spPr>
          <a:xfrm>
            <a:off x="3462370" y="220103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8C7DB5B-5737-366C-6E59-A3D20AEB7A6D}"/>
              </a:ext>
            </a:extLst>
          </p:cNvPr>
          <p:cNvSpPr/>
          <p:nvPr/>
        </p:nvSpPr>
        <p:spPr>
          <a:xfrm>
            <a:off x="3710720" y="220912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23C6892D-BB0E-BC4B-E4CD-FDBD3434EF8B}"/>
              </a:ext>
            </a:extLst>
          </p:cNvPr>
          <p:cNvSpPr/>
          <p:nvPr/>
        </p:nvSpPr>
        <p:spPr>
          <a:xfrm>
            <a:off x="903111" y="2280060"/>
            <a:ext cx="2946400" cy="2404203"/>
          </a:xfrm>
          <a:custGeom>
            <a:avLst/>
            <a:gdLst>
              <a:gd name="connsiteX0" fmla="*/ 0 w 2946400"/>
              <a:gd name="connsiteY0" fmla="*/ 2585155 h 2757368"/>
              <a:gd name="connsiteX1" fmla="*/ 1275645 w 2946400"/>
              <a:gd name="connsiteY1" fmla="*/ 2540000 h 2757368"/>
              <a:gd name="connsiteX2" fmla="*/ 1794933 w 2946400"/>
              <a:gd name="connsiteY2" fmla="*/ 440266 h 2757368"/>
              <a:gd name="connsiteX3" fmla="*/ 2946400 w 2946400"/>
              <a:gd name="connsiteY3" fmla="*/ 0 h 27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2757368">
                <a:moveTo>
                  <a:pt x="0" y="2585155"/>
                </a:moveTo>
                <a:cubicBezTo>
                  <a:pt x="488245" y="2741318"/>
                  <a:pt x="976490" y="2897481"/>
                  <a:pt x="1275645" y="2540000"/>
                </a:cubicBezTo>
                <a:cubicBezTo>
                  <a:pt x="1574800" y="2182519"/>
                  <a:pt x="1516474" y="863599"/>
                  <a:pt x="1794933" y="440266"/>
                </a:cubicBezTo>
                <a:cubicBezTo>
                  <a:pt x="2073392" y="16933"/>
                  <a:pt x="2724385" y="58326"/>
                  <a:pt x="2946400" y="0"/>
                </a:cubicBezTo>
              </a:path>
            </a:pathLst>
          </a:cu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5B2BC6E-7313-CB75-8700-D5B6C2AF78F3}"/>
              </a:ext>
            </a:extLst>
          </p:cNvPr>
          <p:cNvCxnSpPr>
            <a:cxnSpLocks/>
          </p:cNvCxnSpPr>
          <p:nvPr/>
        </p:nvCxnSpPr>
        <p:spPr>
          <a:xfrm flipH="1" flipV="1">
            <a:off x="2362346" y="4143022"/>
            <a:ext cx="6943" cy="61631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CF2FB67-C2F6-040B-3C94-5BE3018DD6CC}"/>
              </a:ext>
            </a:extLst>
          </p:cNvPr>
          <p:cNvCxnSpPr>
            <a:cxnSpLocks/>
          </p:cNvCxnSpPr>
          <p:nvPr/>
        </p:nvCxnSpPr>
        <p:spPr>
          <a:xfrm flipV="1">
            <a:off x="2775825" y="2593472"/>
            <a:ext cx="0" cy="2165867"/>
          </a:xfrm>
          <a:prstGeom prst="straightConnector1">
            <a:avLst/>
          </a:prstGeom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7509C7A-B075-3046-D8FB-0E7B52C53AEC}"/>
              </a:ext>
            </a:extLst>
          </p:cNvPr>
          <p:cNvSpPr txBox="1"/>
          <p:nvPr/>
        </p:nvSpPr>
        <p:spPr>
          <a:xfrm>
            <a:off x="1811123" y="3817346"/>
            <a:ext cx="558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34%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839F8FB-F121-4D38-27D1-262D32CDE9C4}"/>
              </a:ext>
            </a:extLst>
          </p:cNvPr>
          <p:cNvSpPr txBox="1"/>
          <p:nvPr/>
        </p:nvSpPr>
        <p:spPr>
          <a:xfrm>
            <a:off x="2149984" y="2358646"/>
            <a:ext cx="558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80F5702-3D20-1E61-37E3-0BF36D8783FF}"/>
              </a:ext>
            </a:extLst>
          </p:cNvPr>
          <p:cNvSpPr/>
          <p:nvPr/>
        </p:nvSpPr>
        <p:spPr>
          <a:xfrm>
            <a:off x="2335196" y="4741779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65D5BF69-D4E8-4A90-4D67-B723C65E3DBA}"/>
              </a:ext>
            </a:extLst>
          </p:cNvPr>
          <p:cNvSpPr/>
          <p:nvPr/>
        </p:nvSpPr>
        <p:spPr>
          <a:xfrm>
            <a:off x="2747952" y="4723774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7983DE-9599-9B51-ADD1-A7E25B55D728}"/>
              </a:ext>
            </a:extLst>
          </p:cNvPr>
          <p:cNvSpPr txBox="1"/>
          <p:nvPr/>
        </p:nvSpPr>
        <p:spPr>
          <a:xfrm>
            <a:off x="2175156" y="4804871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2CA63B-A7C2-15C1-1BB5-D3908085AD52}"/>
              </a:ext>
            </a:extLst>
          </p:cNvPr>
          <p:cNvSpPr txBox="1"/>
          <p:nvPr/>
        </p:nvSpPr>
        <p:spPr>
          <a:xfrm>
            <a:off x="2576780" y="4791508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45</a:t>
            </a:r>
          </a:p>
        </p:txBody>
      </p:sp>
      <p:sp>
        <p:nvSpPr>
          <p:cNvPr id="73" name="Multiply 72">
            <a:extLst>
              <a:ext uri="{FF2B5EF4-FFF2-40B4-BE49-F238E27FC236}">
                <a16:creationId xmlns:a16="http://schemas.microsoft.com/office/drawing/2014/main" id="{E54C72F0-5752-864F-0167-56FFD6356B1C}"/>
              </a:ext>
            </a:extLst>
          </p:cNvPr>
          <p:cNvSpPr/>
          <p:nvPr/>
        </p:nvSpPr>
        <p:spPr>
          <a:xfrm>
            <a:off x="2182471" y="3992314"/>
            <a:ext cx="373636" cy="27602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Multiply 73">
            <a:extLst>
              <a:ext uri="{FF2B5EF4-FFF2-40B4-BE49-F238E27FC236}">
                <a16:creationId xmlns:a16="http://schemas.microsoft.com/office/drawing/2014/main" id="{402D9746-6AD9-705C-F88B-77F82DFC3C28}"/>
              </a:ext>
            </a:extLst>
          </p:cNvPr>
          <p:cNvSpPr/>
          <p:nvPr/>
        </p:nvSpPr>
        <p:spPr>
          <a:xfrm>
            <a:off x="2579693" y="2450678"/>
            <a:ext cx="373636" cy="27602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0727AD5-CE33-91F7-582C-8286D0C2BBCC}"/>
              </a:ext>
            </a:extLst>
          </p:cNvPr>
          <p:cNvCxnSpPr>
            <a:cxnSpLocks/>
          </p:cNvCxnSpPr>
          <p:nvPr/>
        </p:nvCxnSpPr>
        <p:spPr>
          <a:xfrm flipH="1" flipV="1">
            <a:off x="790224" y="3485793"/>
            <a:ext cx="4594577" cy="12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51BBC43A-B5BE-8ACB-39ED-F7F2EB35E5EE}"/>
              </a:ext>
            </a:extLst>
          </p:cNvPr>
          <p:cNvSpPr txBox="1"/>
          <p:nvPr/>
        </p:nvSpPr>
        <p:spPr>
          <a:xfrm>
            <a:off x="809698" y="3098903"/>
            <a:ext cx="1046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&gt;=50%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A582F3-D134-B04C-2FE7-ED9FE8C2DA69}"/>
              </a:ext>
            </a:extLst>
          </p:cNvPr>
          <p:cNvSpPr txBox="1"/>
          <p:nvPr/>
        </p:nvSpPr>
        <p:spPr>
          <a:xfrm>
            <a:off x="790891" y="3544833"/>
            <a:ext cx="785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&lt; 50%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1309978-6D5A-577A-D80F-555B92CA927E}"/>
                  </a:ext>
                </a:extLst>
              </p:cNvPr>
              <p:cNvSpPr txBox="1"/>
              <p:nvPr/>
            </p:nvSpPr>
            <p:spPr>
              <a:xfrm>
                <a:off x="7032977" y="1004440"/>
                <a:ext cx="3262487" cy="663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P(Y|X)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1+ 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1309978-6D5A-577A-D80F-555B92CA9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2977" y="1004440"/>
                <a:ext cx="3262487" cy="663643"/>
              </a:xfrm>
              <a:prstGeom prst="rect">
                <a:avLst/>
              </a:prstGeom>
              <a:blipFill>
                <a:blip r:embed="rId2"/>
                <a:stretch>
                  <a:fillRect l="-2713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ontent Placeholder 2">
                <a:extLst>
                  <a:ext uri="{FF2B5EF4-FFF2-40B4-BE49-F238E27FC236}">
                    <a16:creationId xmlns:a16="http://schemas.microsoft.com/office/drawing/2014/main" id="{159013E7-6D57-1375-DA02-30518F829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93331" y="1989691"/>
                <a:ext cx="6006747" cy="3383436"/>
              </a:xfrm>
            </p:spPr>
            <p:txBody>
              <a:bodyPr/>
              <a:lstStyle/>
              <a:p>
                <a:r>
                  <a:rPr lang="en-IN" b="1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w: </a:t>
                </a:r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Weight vector (coefficients for the features).</a:t>
                </a:r>
              </a:p>
              <a:p>
                <a:r>
                  <a:rPr lang="en-US" b="1" dirty="0">
                    <a:latin typeface="+mj-lt"/>
                  </a:rPr>
                  <a:t>X: </a:t>
                </a:r>
                <a:r>
                  <a:rPr lang="en-US" dirty="0">
                    <a:latin typeface="+mj-lt"/>
                  </a:rPr>
                  <a:t>Input feature vector.</a:t>
                </a:r>
              </a:p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>
                    <a:latin typeface="+mj-lt"/>
                  </a:rPr>
                  <a:t>: </a:t>
                </a:r>
                <a:r>
                  <a:rPr lang="en-US" dirty="0">
                    <a:latin typeface="+mj-lt"/>
                  </a:rPr>
                  <a:t>Bias term (intercept).</a:t>
                </a:r>
              </a:p>
              <a:p>
                <a:r>
                  <a:rPr lang="en-US" b="1" dirty="0">
                    <a:latin typeface="+mj-lt"/>
                  </a:rPr>
                  <a:t>e: </a:t>
                </a:r>
                <a:r>
                  <a:rPr lang="en-US" dirty="0">
                    <a:latin typeface="+mj-lt"/>
                  </a:rPr>
                  <a:t>Base of the natural logarithm.</a:t>
                </a:r>
              </a:p>
              <a:p>
                <a:pPr marL="0" indent="0">
                  <a:buNone/>
                </a:pPr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The output</a:t>
                </a:r>
                <a:r>
                  <a:rPr lang="en-IN" b="1" i="0" u="none" strike="noStrike" dirty="0">
                    <a:solidFill>
                      <a:srgbClr val="C00000"/>
                    </a:solidFill>
                    <a:effectLst/>
                    <a:latin typeface="+mj-lt"/>
                  </a:rPr>
                  <a:t> P(Y=1|X) </a:t>
                </a:r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is a probability that lies between 0 and 1.</a:t>
                </a:r>
                <a:endParaRPr lang="en-US" dirty="0">
                  <a:latin typeface="+mj-lt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6" name="Content Placeholder 2">
                <a:extLst>
                  <a:ext uri="{FF2B5EF4-FFF2-40B4-BE49-F238E27FC236}">
                    <a16:creationId xmlns:a16="http://schemas.microsoft.com/office/drawing/2014/main" id="{159013E7-6D57-1375-DA02-30518F829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93331" y="1989691"/>
                <a:ext cx="6006747" cy="3383436"/>
              </a:xfrm>
              <a:blipFill>
                <a:blip r:embed="rId3"/>
                <a:stretch>
                  <a:fillRect l="-1474" t="-2622" r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6727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0" grpId="0"/>
      <p:bldP spid="31" grpId="0"/>
      <p:bldP spid="32" grpId="0"/>
      <p:bldP spid="33" grpId="0"/>
      <p:bldP spid="71" grpId="0"/>
      <p:bldP spid="72" grpId="0"/>
      <p:bldP spid="83" grpId="0"/>
      <p:bldP spid="8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4CC6-ED99-B86D-1207-AF2998F6A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75243-12C8-1485-E2FB-C207A3FCC3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5"/>
                <a:ext cx="11929641" cy="4939044"/>
              </a:xfrm>
            </p:spPr>
            <p:txBody>
              <a:bodyPr/>
              <a:lstStyle/>
              <a:p>
                <a:r>
                  <a:rPr lang="en-US" dirty="0"/>
                  <a:t>The </a:t>
                </a:r>
                <a:r>
                  <a:rPr lang="en-US" dirty="0">
                    <a:solidFill>
                      <a:srgbClr val="C00000"/>
                    </a:solidFill>
                  </a:rPr>
                  <a:t>sigmoid function is used to map the linear regression output </a:t>
                </a:r>
                <a:r>
                  <a:rPr lang="en-US" dirty="0"/>
                  <a:t>(which can range from −∞ to +∞) </a:t>
                </a:r>
                <a:r>
                  <a:rPr lang="en-US" dirty="0">
                    <a:solidFill>
                      <a:srgbClr val="C00000"/>
                    </a:solidFill>
                  </a:rPr>
                  <a:t>into a range between 0 and 1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decision boundary is the threshold </a:t>
                </a:r>
                <a:r>
                  <a:rPr lang="en-US" dirty="0">
                    <a:solidFill>
                      <a:srgbClr val="C00000"/>
                    </a:solidFill>
                  </a:rPr>
                  <a:t>(often 0.50) </a:t>
                </a:r>
                <a:r>
                  <a:rPr lang="en-US" dirty="0"/>
                  <a:t>used to classify the data.</a:t>
                </a:r>
              </a:p>
              <a:p>
                <a:r>
                  <a:rPr lang="en-US" dirty="0"/>
                  <a:t>If P(y=1∣X)≥0.5, </a:t>
                </a:r>
                <a:r>
                  <a:rPr lang="en-US" dirty="0">
                    <a:solidFill>
                      <a:srgbClr val="C00000"/>
                    </a:solidFill>
                  </a:rPr>
                  <a:t>predict y=1, else y=0.</a:t>
                </a:r>
              </a:p>
              <a:p>
                <a:r>
                  <a:rPr lang="en-US" dirty="0"/>
                  <a:t>The Maximum Likelihood Estimation (MLE) is </a:t>
                </a:r>
                <a:r>
                  <a:rPr lang="en-US" dirty="0">
                    <a:solidFill>
                      <a:srgbClr val="C00000"/>
                    </a:solidFill>
                  </a:rPr>
                  <a:t>the common method used to fit a logistic regression model.</a:t>
                </a:r>
              </a:p>
              <a:p>
                <a:r>
                  <a:rPr lang="en-US" dirty="0"/>
                  <a:t>Logistic regression predicts </a:t>
                </a:r>
                <a:r>
                  <a:rPr lang="en-US" dirty="0">
                    <a:solidFill>
                      <a:srgbClr val="C00000"/>
                    </a:solidFill>
                  </a:rPr>
                  <a:t>probabilities, rather than just classes</a:t>
                </a:r>
                <a:r>
                  <a:rPr lang="en-US" dirty="0"/>
                  <a:t>, we can </a:t>
                </a:r>
                <a:r>
                  <a:rPr lang="en-US" dirty="0">
                    <a:solidFill>
                      <a:srgbClr val="C00000"/>
                    </a:solidFill>
                  </a:rPr>
                  <a:t>fit it using likelihood</a:t>
                </a:r>
              </a:p>
              <a:p>
                <a:r>
                  <a:rPr lang="en-US" dirty="0"/>
                  <a:t>For each training data points, we have a vector of feature x</a:t>
                </a:r>
                <a:r>
                  <a:rPr lang="en-US" baseline="-25000" dirty="0"/>
                  <a:t>i </a:t>
                </a:r>
                <a:r>
                  <a:rPr lang="en-US" dirty="0"/>
                  <a:t>and observed class </a:t>
                </a:r>
                <a:r>
                  <a:rPr lang="en-US" dirty="0" err="1"/>
                  <a:t>y</a:t>
                </a:r>
                <a:r>
                  <a:rPr lang="en-US" baseline="-25000" dirty="0" err="1"/>
                  <a:t>i</a:t>
                </a:r>
                <a:r>
                  <a:rPr lang="en-US" baseline="-25000" dirty="0"/>
                  <a:t>.</a:t>
                </a:r>
              </a:p>
              <a:p>
                <a:r>
                  <a:rPr lang="en-US" dirty="0"/>
                  <a:t>The probabilities </a:t>
                </a:r>
                <a:r>
                  <a:rPr lang="en-US" dirty="0">
                    <a:solidFill>
                      <a:srgbClr val="C00000"/>
                    </a:solidFill>
                  </a:rPr>
                  <a:t>of that class was either p if </a:t>
                </a:r>
                <a:r>
                  <a:rPr lang="en-US" dirty="0" err="1">
                    <a:solidFill>
                      <a:srgbClr val="C00000"/>
                    </a:solidFill>
                  </a:rPr>
                  <a:t>y</a:t>
                </a:r>
                <a:r>
                  <a:rPr lang="en-US" baseline="-25000" dirty="0" err="1">
                    <a:solidFill>
                      <a:srgbClr val="C00000"/>
                    </a:solidFill>
                  </a:rPr>
                  <a:t>i</a:t>
                </a:r>
                <a:r>
                  <a:rPr lang="en-US" baseline="-25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=1 or 1 – p if </a:t>
                </a:r>
                <a:r>
                  <a:rPr lang="en-US" dirty="0" err="1">
                    <a:solidFill>
                      <a:srgbClr val="C00000"/>
                    </a:solidFill>
                  </a:rPr>
                  <a:t>y</a:t>
                </a:r>
                <a:r>
                  <a:rPr lang="en-US" baseline="-25000" dirty="0" err="1">
                    <a:solidFill>
                      <a:srgbClr val="C00000"/>
                    </a:solidFill>
                  </a:rPr>
                  <a:t>i</a:t>
                </a:r>
                <a:r>
                  <a:rPr lang="en-US" baseline="-25000" dirty="0">
                    <a:solidFill>
                      <a:srgbClr val="C00000"/>
                    </a:solidFill>
                  </a:rPr>
                  <a:t>.</a:t>
                </a:r>
                <a:r>
                  <a:rPr lang="en-US" dirty="0">
                    <a:solidFill>
                      <a:srgbClr val="C00000"/>
                    </a:solidFill>
                  </a:rPr>
                  <a:t>=0</a:t>
                </a:r>
                <a:r>
                  <a:rPr lang="en-US" dirty="0"/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(1 −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C75243-12C8-1485-E2FB-C207A3FCC3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5"/>
                <a:ext cx="11929641" cy="4939044"/>
              </a:xfrm>
              <a:blipFill>
                <a:blip r:embed="rId2"/>
                <a:stretch>
                  <a:fillRect l="-532" t="-2057" r="-851" b="-5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753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87E02-826A-6CD5-6527-4781B4537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20D1383-E20E-4FE8-F608-6AEDC899AC3F}"/>
              </a:ext>
            </a:extLst>
          </p:cNvPr>
          <p:cNvCxnSpPr>
            <a:cxnSpLocks/>
          </p:cNvCxnSpPr>
          <p:nvPr/>
        </p:nvCxnSpPr>
        <p:spPr>
          <a:xfrm flipV="1">
            <a:off x="790224" y="1344450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4293882-0866-620E-519B-BFF2DC49E3F5}"/>
              </a:ext>
            </a:extLst>
          </p:cNvPr>
          <p:cNvCxnSpPr>
            <a:cxnSpLocks/>
          </p:cNvCxnSpPr>
          <p:nvPr/>
        </p:nvCxnSpPr>
        <p:spPr>
          <a:xfrm flipV="1">
            <a:off x="764445" y="4759339"/>
            <a:ext cx="4620356" cy="20136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614559-2B41-4D38-0D15-DFF1EAA50BC7}"/>
              </a:ext>
            </a:extLst>
          </p:cNvPr>
          <p:cNvCxnSpPr>
            <a:cxnSpLocks/>
          </p:cNvCxnSpPr>
          <p:nvPr/>
        </p:nvCxnSpPr>
        <p:spPr>
          <a:xfrm flipV="1">
            <a:off x="799178" y="2236124"/>
            <a:ext cx="4567254" cy="177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C4FE61D-637D-1818-023A-1AAA353AA764}"/>
              </a:ext>
            </a:extLst>
          </p:cNvPr>
          <p:cNvSpPr txBox="1"/>
          <p:nvPr/>
        </p:nvSpPr>
        <p:spPr>
          <a:xfrm>
            <a:off x="645931" y="1026193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BF7ED-04D6-9D23-0B82-FE5E41C8CE9D}"/>
              </a:ext>
            </a:extLst>
          </p:cNvPr>
          <p:cNvSpPr txBox="1"/>
          <p:nvPr/>
        </p:nvSpPr>
        <p:spPr>
          <a:xfrm>
            <a:off x="5366432" y="457467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4C2447-F91F-77BD-EB5B-17EDBE774671}"/>
              </a:ext>
            </a:extLst>
          </p:cNvPr>
          <p:cNvSpPr txBox="1"/>
          <p:nvPr/>
        </p:nvSpPr>
        <p:spPr>
          <a:xfrm>
            <a:off x="4796195" y="4779475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049C8-9E72-AB5A-5096-FEACB4642D0E}"/>
              </a:ext>
            </a:extLst>
          </p:cNvPr>
          <p:cNvSpPr txBox="1"/>
          <p:nvPr/>
        </p:nvSpPr>
        <p:spPr>
          <a:xfrm rot="16200000">
            <a:off x="285476" y="1368988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654C30-CF21-8DAA-560C-D81F5AFB5CB9}"/>
              </a:ext>
            </a:extLst>
          </p:cNvPr>
          <p:cNvSpPr txBox="1"/>
          <p:nvPr/>
        </p:nvSpPr>
        <p:spPr>
          <a:xfrm>
            <a:off x="285475" y="2088939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DCEBB5-3CDA-5C89-9B05-4BE481140D88}"/>
              </a:ext>
            </a:extLst>
          </p:cNvPr>
          <p:cNvSpPr txBox="1"/>
          <p:nvPr/>
        </p:nvSpPr>
        <p:spPr>
          <a:xfrm>
            <a:off x="351628" y="4606842"/>
            <a:ext cx="5886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E1F437-083C-91F1-88C5-E2DB2D6C8238}"/>
              </a:ext>
            </a:extLst>
          </p:cNvPr>
          <p:cNvSpPr txBox="1"/>
          <p:nvPr/>
        </p:nvSpPr>
        <p:spPr>
          <a:xfrm>
            <a:off x="1098294" y="4791508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CB7B6-53AE-D843-9F75-C390D58BD4C9}"/>
              </a:ext>
            </a:extLst>
          </p:cNvPr>
          <p:cNvSpPr txBox="1"/>
          <p:nvPr/>
        </p:nvSpPr>
        <p:spPr>
          <a:xfrm>
            <a:off x="4019878" y="4791508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31ECB8-67C3-EA9E-7A46-DF96A3905E74}"/>
              </a:ext>
            </a:extLst>
          </p:cNvPr>
          <p:cNvSpPr/>
          <p:nvPr/>
        </p:nvSpPr>
        <p:spPr>
          <a:xfrm>
            <a:off x="3099959" y="220303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2581539-6589-C5C0-918E-249AF64F7616}"/>
              </a:ext>
            </a:extLst>
          </p:cNvPr>
          <p:cNvSpPr/>
          <p:nvPr/>
        </p:nvSpPr>
        <p:spPr>
          <a:xfrm>
            <a:off x="2745067" y="222985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7DA3683-3D6F-5D57-8694-F8D3A89596E5}"/>
              </a:ext>
            </a:extLst>
          </p:cNvPr>
          <p:cNvSpPr/>
          <p:nvPr/>
        </p:nvSpPr>
        <p:spPr>
          <a:xfrm>
            <a:off x="3825271" y="22002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37C2D11-E0C5-376B-C406-B1D3560AB9DC}"/>
              </a:ext>
            </a:extLst>
          </p:cNvPr>
          <p:cNvSpPr/>
          <p:nvPr/>
        </p:nvSpPr>
        <p:spPr>
          <a:xfrm>
            <a:off x="3576917" y="22002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82451C-798C-3C13-BD0C-EF1D10788C97}"/>
              </a:ext>
            </a:extLst>
          </p:cNvPr>
          <p:cNvSpPr/>
          <p:nvPr/>
        </p:nvSpPr>
        <p:spPr>
          <a:xfrm>
            <a:off x="1615138" y="2200226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98AE6A-8286-612F-9E61-86C63F6099BC}"/>
              </a:ext>
            </a:extLst>
          </p:cNvPr>
          <p:cNvSpPr/>
          <p:nvPr/>
        </p:nvSpPr>
        <p:spPr>
          <a:xfrm>
            <a:off x="1776923" y="2214320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CE40BA-D1B5-13DD-6042-7BC251C3179B}"/>
              </a:ext>
            </a:extLst>
          </p:cNvPr>
          <p:cNvSpPr/>
          <p:nvPr/>
        </p:nvSpPr>
        <p:spPr>
          <a:xfrm>
            <a:off x="3328563" y="219709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525B0C3-5D46-E691-7286-2CB59B39CC70}"/>
              </a:ext>
            </a:extLst>
          </p:cNvPr>
          <p:cNvSpPr/>
          <p:nvPr/>
        </p:nvSpPr>
        <p:spPr>
          <a:xfrm>
            <a:off x="3462370" y="2201038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830ABA-5581-182D-2B81-A73239E9CE94}"/>
              </a:ext>
            </a:extLst>
          </p:cNvPr>
          <p:cNvSpPr/>
          <p:nvPr/>
        </p:nvSpPr>
        <p:spPr>
          <a:xfrm>
            <a:off x="3710720" y="2209121"/>
            <a:ext cx="79022" cy="7902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1C2E7B-40A7-3A5C-A2A9-D5FA6A9AF73B}"/>
              </a:ext>
            </a:extLst>
          </p:cNvPr>
          <p:cNvSpPr txBox="1"/>
          <p:nvPr/>
        </p:nvSpPr>
        <p:spPr>
          <a:xfrm>
            <a:off x="2175156" y="4804871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8C1E7F-A2D8-3707-751A-1A16EB048582}"/>
              </a:ext>
            </a:extLst>
          </p:cNvPr>
          <p:cNvSpPr txBox="1"/>
          <p:nvPr/>
        </p:nvSpPr>
        <p:spPr>
          <a:xfrm>
            <a:off x="2576780" y="4791508"/>
            <a:ext cx="412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45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00FDA88-58F6-EFC0-7D9C-B2447D70DE48}"/>
              </a:ext>
            </a:extLst>
          </p:cNvPr>
          <p:cNvSpPr/>
          <p:nvPr/>
        </p:nvSpPr>
        <p:spPr>
          <a:xfrm>
            <a:off x="1149799" y="4739963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A7104FE-1DA7-A92A-CAEF-C98032A1BFD4}"/>
              </a:ext>
            </a:extLst>
          </p:cNvPr>
          <p:cNvSpPr/>
          <p:nvPr/>
        </p:nvSpPr>
        <p:spPr>
          <a:xfrm>
            <a:off x="1358794" y="4735540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6F48EFC-337C-DAFD-1145-7F25AFBF8BEF}"/>
              </a:ext>
            </a:extLst>
          </p:cNvPr>
          <p:cNvSpPr/>
          <p:nvPr/>
        </p:nvSpPr>
        <p:spPr>
          <a:xfrm>
            <a:off x="1656424" y="4739962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8C2BDB3-49A5-05D7-8E1E-2886304E2D6E}"/>
              </a:ext>
            </a:extLst>
          </p:cNvPr>
          <p:cNvSpPr/>
          <p:nvPr/>
        </p:nvSpPr>
        <p:spPr>
          <a:xfrm>
            <a:off x="1832540" y="4736761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78CA602-E7CA-9B07-C330-4EA26510BD46}"/>
              </a:ext>
            </a:extLst>
          </p:cNvPr>
          <p:cNvSpPr/>
          <p:nvPr/>
        </p:nvSpPr>
        <p:spPr>
          <a:xfrm>
            <a:off x="1952066" y="4730967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61873E-C354-E005-A7B4-7CA4547CDCC2}"/>
              </a:ext>
            </a:extLst>
          </p:cNvPr>
          <p:cNvSpPr/>
          <p:nvPr/>
        </p:nvSpPr>
        <p:spPr>
          <a:xfrm>
            <a:off x="2080702" y="4729418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1D6EB78-0D7F-E306-13E6-3CB24E6563E6}"/>
              </a:ext>
            </a:extLst>
          </p:cNvPr>
          <p:cNvSpPr/>
          <p:nvPr/>
        </p:nvSpPr>
        <p:spPr>
          <a:xfrm>
            <a:off x="2946461" y="4731116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08AB57E-7E07-0317-2718-043E5B864A61}"/>
              </a:ext>
            </a:extLst>
          </p:cNvPr>
          <p:cNvSpPr/>
          <p:nvPr/>
        </p:nvSpPr>
        <p:spPr>
          <a:xfrm>
            <a:off x="3562027" y="4723774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50901FD-EAA6-4336-2187-C16CD39DAA02}"/>
              </a:ext>
            </a:extLst>
          </p:cNvPr>
          <p:cNvSpPr/>
          <p:nvPr/>
        </p:nvSpPr>
        <p:spPr>
          <a:xfrm>
            <a:off x="2335196" y="4741779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4F0ED5-4E27-C510-1663-E90387250CA6}"/>
              </a:ext>
            </a:extLst>
          </p:cNvPr>
          <p:cNvSpPr/>
          <p:nvPr/>
        </p:nvSpPr>
        <p:spPr>
          <a:xfrm>
            <a:off x="2747952" y="4723774"/>
            <a:ext cx="79022" cy="7902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F4C210CD-E2A4-049D-57E6-85D1D9F172AD}"/>
              </a:ext>
            </a:extLst>
          </p:cNvPr>
          <p:cNvSpPr/>
          <p:nvPr/>
        </p:nvSpPr>
        <p:spPr>
          <a:xfrm>
            <a:off x="903111" y="2280060"/>
            <a:ext cx="2946400" cy="2404203"/>
          </a:xfrm>
          <a:custGeom>
            <a:avLst/>
            <a:gdLst>
              <a:gd name="connsiteX0" fmla="*/ 0 w 2946400"/>
              <a:gd name="connsiteY0" fmla="*/ 2585155 h 2757368"/>
              <a:gd name="connsiteX1" fmla="*/ 1275645 w 2946400"/>
              <a:gd name="connsiteY1" fmla="*/ 2540000 h 2757368"/>
              <a:gd name="connsiteX2" fmla="*/ 1794933 w 2946400"/>
              <a:gd name="connsiteY2" fmla="*/ 440266 h 2757368"/>
              <a:gd name="connsiteX3" fmla="*/ 2946400 w 2946400"/>
              <a:gd name="connsiteY3" fmla="*/ 0 h 27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2757368">
                <a:moveTo>
                  <a:pt x="0" y="2585155"/>
                </a:moveTo>
                <a:cubicBezTo>
                  <a:pt x="488245" y="2741318"/>
                  <a:pt x="976490" y="2897481"/>
                  <a:pt x="1275645" y="2540000"/>
                </a:cubicBezTo>
                <a:cubicBezTo>
                  <a:pt x="1574800" y="2182519"/>
                  <a:pt x="1516474" y="863599"/>
                  <a:pt x="1794933" y="440266"/>
                </a:cubicBezTo>
                <a:cubicBezTo>
                  <a:pt x="2073392" y="16933"/>
                  <a:pt x="2724385" y="58326"/>
                  <a:pt x="2946400" y="0"/>
                </a:cubicBez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87761D5-1B33-3A9C-3D37-337FA11260D0}"/>
              </a:ext>
            </a:extLst>
          </p:cNvPr>
          <p:cNvSpPr/>
          <p:nvPr/>
        </p:nvSpPr>
        <p:spPr>
          <a:xfrm>
            <a:off x="1119659" y="2404540"/>
            <a:ext cx="2946400" cy="2035469"/>
          </a:xfrm>
          <a:custGeom>
            <a:avLst/>
            <a:gdLst>
              <a:gd name="connsiteX0" fmla="*/ 0 w 2946400"/>
              <a:gd name="connsiteY0" fmla="*/ 2585155 h 2757368"/>
              <a:gd name="connsiteX1" fmla="*/ 1275645 w 2946400"/>
              <a:gd name="connsiteY1" fmla="*/ 2540000 h 2757368"/>
              <a:gd name="connsiteX2" fmla="*/ 1794933 w 2946400"/>
              <a:gd name="connsiteY2" fmla="*/ 440266 h 2757368"/>
              <a:gd name="connsiteX3" fmla="*/ 2946400 w 2946400"/>
              <a:gd name="connsiteY3" fmla="*/ 0 h 27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2757368">
                <a:moveTo>
                  <a:pt x="0" y="2585155"/>
                </a:moveTo>
                <a:cubicBezTo>
                  <a:pt x="488245" y="2741318"/>
                  <a:pt x="976490" y="2897481"/>
                  <a:pt x="1275645" y="2540000"/>
                </a:cubicBezTo>
                <a:cubicBezTo>
                  <a:pt x="1574800" y="2182519"/>
                  <a:pt x="1516474" y="863599"/>
                  <a:pt x="1794933" y="440266"/>
                </a:cubicBezTo>
                <a:cubicBezTo>
                  <a:pt x="2073392" y="16933"/>
                  <a:pt x="2724385" y="58326"/>
                  <a:pt x="294640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90EEF90A-24E7-15AC-A22B-022CA9293F22}"/>
              </a:ext>
            </a:extLst>
          </p:cNvPr>
          <p:cNvSpPr/>
          <p:nvPr/>
        </p:nvSpPr>
        <p:spPr>
          <a:xfrm>
            <a:off x="1378830" y="2586805"/>
            <a:ext cx="2946400" cy="2035469"/>
          </a:xfrm>
          <a:custGeom>
            <a:avLst/>
            <a:gdLst>
              <a:gd name="connsiteX0" fmla="*/ 0 w 2946400"/>
              <a:gd name="connsiteY0" fmla="*/ 2585155 h 2757368"/>
              <a:gd name="connsiteX1" fmla="*/ 1275645 w 2946400"/>
              <a:gd name="connsiteY1" fmla="*/ 2540000 h 2757368"/>
              <a:gd name="connsiteX2" fmla="*/ 1794933 w 2946400"/>
              <a:gd name="connsiteY2" fmla="*/ 440266 h 2757368"/>
              <a:gd name="connsiteX3" fmla="*/ 2946400 w 2946400"/>
              <a:gd name="connsiteY3" fmla="*/ 0 h 275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6400" h="2757368">
                <a:moveTo>
                  <a:pt x="0" y="2585155"/>
                </a:moveTo>
                <a:cubicBezTo>
                  <a:pt x="488245" y="2741318"/>
                  <a:pt x="976490" y="2897481"/>
                  <a:pt x="1275645" y="2540000"/>
                </a:cubicBezTo>
                <a:cubicBezTo>
                  <a:pt x="1574800" y="2182519"/>
                  <a:pt x="1516474" y="863599"/>
                  <a:pt x="1794933" y="440266"/>
                </a:cubicBezTo>
                <a:cubicBezTo>
                  <a:pt x="2073392" y="16933"/>
                  <a:pt x="2724385" y="58326"/>
                  <a:pt x="2946400" y="0"/>
                </a:cubicBezTo>
              </a:path>
            </a:pathLst>
          </a:cu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0D52048-50A2-CA06-AD61-6313E22FDF84}"/>
                  </a:ext>
                </a:extLst>
              </p:cNvPr>
              <p:cNvSpPr txBox="1"/>
              <p:nvPr/>
            </p:nvSpPr>
            <p:spPr>
              <a:xfrm>
                <a:off x="5918199" y="1282713"/>
                <a:ext cx="4444983" cy="5418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sz="2800" i="1" dirty="0" smtClean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2800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 dirty="0">
                                <a:solidFill>
                                  <a:schemeClr val="accent3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sSub>
                              <m:sSubPr>
                                <m:ctrlPr>
                                  <a:rPr lang="en-US" sz="2800" i="1" dirty="0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0" i="1" dirty="0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b="0" i="1" dirty="0" smtClean="0">
                                    <a:solidFill>
                                      <a:schemeClr val="accent3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  <m:r>
                          <a:rPr lang="en-US" sz="2800" b="0" i="1" dirty="0" smtClean="0">
                            <a:solidFill>
                              <a:schemeClr val="accent3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(1 −</m:t>
                            </m:r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sz="28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8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b>
                              <m:sSubPr>
                                <m:ctrlPr>
                                  <a:rPr lang="en-US" sz="28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8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e>
                    </m:nary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0D52048-50A2-CA06-AD61-6313E22FDF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199" y="1282713"/>
                <a:ext cx="4444983" cy="541880"/>
              </a:xfrm>
              <a:prstGeom prst="rect">
                <a:avLst/>
              </a:prstGeom>
              <a:blipFill>
                <a:blip r:embed="rId2"/>
                <a:stretch>
                  <a:fillRect l="-12536" t="-115909" b="-18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ight Arrow 40">
            <a:extLst>
              <a:ext uri="{FF2B5EF4-FFF2-40B4-BE49-F238E27FC236}">
                <a16:creationId xmlns:a16="http://schemas.microsoft.com/office/drawing/2014/main" id="{8B40DCB2-772A-54FD-DB45-DC93AD0DBCBC}"/>
              </a:ext>
            </a:extLst>
          </p:cNvPr>
          <p:cNvSpPr/>
          <p:nvPr/>
        </p:nvSpPr>
        <p:spPr>
          <a:xfrm>
            <a:off x="10363182" y="1523672"/>
            <a:ext cx="651814" cy="1741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95F4D6-A150-7CD9-B11D-467D092479F3}"/>
              </a:ext>
            </a:extLst>
          </p:cNvPr>
          <p:cNvSpPr txBox="1"/>
          <p:nvPr/>
        </p:nvSpPr>
        <p:spPr>
          <a:xfrm>
            <a:off x="11056918" y="1426072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MAX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2A090BC-3BB4-82D6-823E-2AC5057EEC59}"/>
              </a:ext>
            </a:extLst>
          </p:cNvPr>
          <p:cNvCxnSpPr>
            <a:cxnSpLocks/>
          </p:cNvCxnSpPr>
          <p:nvPr/>
        </p:nvCxnSpPr>
        <p:spPr>
          <a:xfrm flipH="1" flipV="1">
            <a:off x="2362346" y="4143022"/>
            <a:ext cx="6943" cy="61631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DED8E23-7147-A316-5187-A7E6ECC226E0}"/>
              </a:ext>
            </a:extLst>
          </p:cNvPr>
          <p:cNvCxnSpPr>
            <a:cxnSpLocks/>
          </p:cNvCxnSpPr>
          <p:nvPr/>
        </p:nvCxnSpPr>
        <p:spPr>
          <a:xfrm flipV="1">
            <a:off x="2766511" y="2253831"/>
            <a:ext cx="14283" cy="332974"/>
          </a:xfrm>
          <a:prstGeom prst="straightConnector1">
            <a:avLst/>
          </a:prstGeom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CB08C05-83B0-52F6-C4B2-44F7A6CFD864}"/>
              </a:ext>
            </a:extLst>
          </p:cNvPr>
          <p:cNvSpPr txBox="1"/>
          <p:nvPr/>
        </p:nvSpPr>
        <p:spPr>
          <a:xfrm>
            <a:off x="1811123" y="3817346"/>
            <a:ext cx="558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34%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64DCEC-B2BF-A3CC-5ABA-CAA8013DD52E}"/>
              </a:ext>
            </a:extLst>
          </p:cNvPr>
          <p:cNvSpPr txBox="1"/>
          <p:nvPr/>
        </p:nvSpPr>
        <p:spPr>
          <a:xfrm>
            <a:off x="2149984" y="2358646"/>
            <a:ext cx="558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75%</a:t>
            </a:r>
          </a:p>
        </p:txBody>
      </p:sp>
      <p:sp>
        <p:nvSpPr>
          <p:cNvPr id="47" name="Multiply 46">
            <a:extLst>
              <a:ext uri="{FF2B5EF4-FFF2-40B4-BE49-F238E27FC236}">
                <a16:creationId xmlns:a16="http://schemas.microsoft.com/office/drawing/2014/main" id="{9A6A7D70-B883-8EA9-142F-81F03C700AAE}"/>
              </a:ext>
            </a:extLst>
          </p:cNvPr>
          <p:cNvSpPr/>
          <p:nvPr/>
        </p:nvSpPr>
        <p:spPr>
          <a:xfrm>
            <a:off x="2182471" y="3992314"/>
            <a:ext cx="373636" cy="27602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DE5077F1-BD54-D64A-C9F1-BE52733EE5B3}"/>
              </a:ext>
            </a:extLst>
          </p:cNvPr>
          <p:cNvSpPr/>
          <p:nvPr/>
        </p:nvSpPr>
        <p:spPr>
          <a:xfrm>
            <a:off x="2579693" y="2450678"/>
            <a:ext cx="373636" cy="276020"/>
          </a:xfrm>
          <a:prstGeom prst="mathMultiply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06E65D-5608-752F-BFA1-E7F05F0E2159}"/>
              </a:ext>
            </a:extLst>
          </p:cNvPr>
          <p:cNvSpPr txBox="1"/>
          <p:nvPr/>
        </p:nvSpPr>
        <p:spPr>
          <a:xfrm>
            <a:off x="6314743" y="2266012"/>
            <a:ext cx="2946399" cy="64633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probability of YES = 0.75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36AEBC5-10CD-FC89-8753-79823051BDE1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2915895" y="2589178"/>
            <a:ext cx="3398848" cy="1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7EE0AB4-3DE4-814F-EC9F-3BB62894F437}"/>
              </a:ext>
            </a:extLst>
          </p:cNvPr>
          <p:cNvSpPr txBox="1"/>
          <p:nvPr/>
        </p:nvSpPr>
        <p:spPr>
          <a:xfrm>
            <a:off x="6329462" y="3183694"/>
            <a:ext cx="5145694" cy="20313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probability of Yes =0.34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Logistic Regression gives probability of Yes 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So to calculate probability of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No  = 1 – 0.34 =  0.66 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2E95F96-6630-75E0-AB5A-D8A944033B89}"/>
              </a:ext>
            </a:extLst>
          </p:cNvPr>
          <p:cNvCxnSpPr>
            <a:cxnSpLocks/>
            <a:stCxn id="55" idx="1"/>
          </p:cNvCxnSpPr>
          <p:nvPr/>
        </p:nvCxnSpPr>
        <p:spPr>
          <a:xfrm flipH="1" flipV="1">
            <a:off x="2496221" y="4131303"/>
            <a:ext cx="3833241" cy="68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37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24" grpId="0"/>
      <p:bldP spid="25" grpId="0"/>
      <p:bldP spid="41" grpId="0" animBg="1"/>
      <p:bldP spid="42" grpId="0"/>
      <p:bldP spid="50" grpId="0" animBg="1"/>
      <p:bldP spid="5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D8BD-8A90-A3B7-1C82-34F2DFDB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0820F-3AA8-FC89-0244-2D2A5992A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likelihood in </a:t>
            </a:r>
            <a:r>
              <a:rPr lang="en-US" dirty="0">
                <a:solidFill>
                  <a:srgbClr val="C00000"/>
                </a:solidFill>
              </a:rPr>
              <a:t>logistic regression refers</a:t>
            </a:r>
            <a:r>
              <a:rPr lang="en-US" dirty="0"/>
              <a:t> to a measure of </a:t>
            </a:r>
            <a:r>
              <a:rPr lang="en-US" dirty="0">
                <a:solidFill>
                  <a:srgbClr val="C00000"/>
                </a:solidFill>
              </a:rPr>
              <a:t>how well the model</a:t>
            </a:r>
            <a:r>
              <a:rPr lang="en-US" dirty="0"/>
              <a:t> explains the observed data. </a:t>
            </a:r>
          </a:p>
          <a:p>
            <a:r>
              <a:rPr lang="en-US" dirty="0"/>
              <a:t>Logistic regression uses </a:t>
            </a:r>
            <a:r>
              <a:rPr lang="en-US" b="1" dirty="0">
                <a:solidFill>
                  <a:srgbClr val="C00000"/>
                </a:solidFill>
              </a:rPr>
              <a:t>Maximum Likelihood Estimation </a:t>
            </a:r>
            <a:r>
              <a:rPr lang="en-US" dirty="0">
                <a:solidFill>
                  <a:srgbClr val="C00000"/>
                </a:solidFill>
              </a:rPr>
              <a:t>(MLE)</a:t>
            </a:r>
            <a:r>
              <a:rPr lang="en-US" dirty="0"/>
              <a:t> to find the parameters that maximize the </a:t>
            </a:r>
            <a:r>
              <a:rPr lang="en-US" dirty="0">
                <a:solidFill>
                  <a:srgbClr val="C00000"/>
                </a:solidFill>
              </a:rPr>
              <a:t>likelihood of observing the given data</a:t>
            </a:r>
            <a:r>
              <a:rPr lang="en-US" dirty="0"/>
              <a:t>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goal of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logistic regression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is to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find the parameters that maximize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the likelihood function. This is done using optimization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algorithms like </a:t>
            </a:r>
            <a:r>
              <a:rPr lang="en-IN" b="1" i="0" u="none" strike="noStrike" dirty="0">
                <a:solidFill>
                  <a:srgbClr val="C00000"/>
                </a:solidFill>
                <a:effectLst/>
              </a:rPr>
              <a:t>gradient descent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8F9D-E61B-BB17-8662-08B14B57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5C8-79F0-6B47-2EB9-5ECE491AFC13}"/>
              </a:ext>
            </a:extLst>
          </p:cNvPr>
          <p:cNvSpPr/>
          <p:nvPr/>
        </p:nvSpPr>
        <p:spPr>
          <a:xfrm>
            <a:off x="715063" y="1228181"/>
            <a:ext cx="11081825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numpy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np</a:t>
            </a: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matplotlib.pyplot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sklearn.linear_model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np.random.seed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income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np.random.uniform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purchase = (income &gt;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astype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(int)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income.reshape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 = purchase 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test_size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LogisticRegression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model.fit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y_pred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93648-B4A8-B29A-9C72-8067A4214BDA}"/>
              </a:ext>
            </a:extLst>
          </p:cNvPr>
          <p:cNvSpPr/>
          <p:nvPr/>
        </p:nvSpPr>
        <p:spPr>
          <a:xfrm>
            <a:off x="215071" y="1228181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5C003E15-F979-3B17-97DA-02661D4B56A3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/>
              <a:t>Logistic</a:t>
            </a:r>
            <a:r>
              <a:rPr lang="en-US" sz="1600" dirty="0" err="1">
                <a:solidFill>
                  <a:schemeClr val="bg1"/>
                </a:solidFill>
              </a:rPr>
              <a:t>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895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8F9D-E61B-BB17-8662-08B14B57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85A5C8-79F0-6B47-2EB9-5ECE491AFC13}"/>
              </a:ext>
            </a:extLst>
          </p:cNvPr>
          <p:cNvSpPr/>
          <p:nvPr/>
        </p:nvSpPr>
        <p:spPr>
          <a:xfrm>
            <a:off x="715063" y="1228181"/>
            <a:ext cx="11081825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np.linspace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).reshape(-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y_prob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model.predict_proba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)[:,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plt.figure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figsize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plt.scatter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(X, y, label=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"Data"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"blue"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alpha=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0.7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plt.plot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X_range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y_prob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label=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"Sigmoid Curve"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"red"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linewidth=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plt.axhline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.5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linestyle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"--"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"green"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label=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"Decision Boundary"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plt.title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"Logistic Regression - Income vs Purchase"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plt.savefig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IN" sz="16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Logistic.png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93648-B4A8-B29A-9C72-8067A4214BDA}"/>
              </a:ext>
            </a:extLst>
          </p:cNvPr>
          <p:cNvSpPr/>
          <p:nvPr/>
        </p:nvSpPr>
        <p:spPr>
          <a:xfrm>
            <a:off x="215071" y="1228181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5C003E15-F979-3B17-97DA-02661D4B56A3}"/>
              </a:ext>
            </a:extLst>
          </p:cNvPr>
          <p:cNvSpPr/>
          <p:nvPr/>
        </p:nvSpPr>
        <p:spPr>
          <a:xfrm>
            <a:off x="215071" y="898997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/>
              <a:t>Logistic</a:t>
            </a:r>
            <a:r>
              <a:rPr lang="en-US" sz="1600" dirty="0" err="1">
                <a:solidFill>
                  <a:schemeClr val="bg1"/>
                </a:solidFill>
              </a:rPr>
              <a:t>.py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73B353-EB32-7E8F-2FFD-2FB778A6E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8978" y="3536505"/>
            <a:ext cx="4526844" cy="282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67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0F19-1828-2AC9-E17F-45E706461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vs Logistic Regression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0353FD-2208-9333-3831-7EF964AE5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23827"/>
              </p:ext>
            </p:extLst>
          </p:nvPr>
        </p:nvGraphicFramePr>
        <p:xfrm>
          <a:off x="349956" y="936979"/>
          <a:ext cx="10555111" cy="3913893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567681047"/>
                    </a:ext>
                  </a:extLst>
                </a:gridCol>
                <a:gridCol w="5068711">
                  <a:extLst>
                    <a:ext uri="{9D8B030D-6E8A-4147-A177-3AD203B41FA5}">
                      <a16:colId xmlns:a16="http://schemas.microsoft.com/office/drawing/2014/main" val="2631472704"/>
                    </a:ext>
                  </a:extLst>
                </a:gridCol>
              </a:tblGrid>
              <a:tr h="2578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Linear Regression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919435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is used to predict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numeric values.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is used to predict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categorical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41952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 Linear Regression, we predict the value by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an integer number.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 Logistic Regression, we </a:t>
                      </a:r>
                      <a:r>
                        <a:rPr lang="en-IN" sz="18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predict the value by 1 or 0.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681737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Here no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activation function is used.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Here activation function is used to convert a linear regression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equation to the logistic regression equation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310208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Here no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threshold value is needed.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Here a threshold value is added.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Example 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512070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is based on the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least square estimation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is based on maximum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likelihood estimation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8717316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Linear regression assumes the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normal</a:t>
                      </a:r>
                      <a:r>
                        <a:rPr lang="en-US" dirty="0"/>
                        <a:t> or </a:t>
                      </a: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gaussian distribution</a:t>
                      </a:r>
                      <a:r>
                        <a:rPr lang="en-US" dirty="0"/>
                        <a:t> of the dependent variable.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Logistic regression assumes the </a:t>
                      </a:r>
                      <a:r>
                        <a:rPr lang="en-IN" sz="1800" b="0" i="0" u="none" strike="noStrike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binomial distribution of the dependent</a:t>
                      </a:r>
                      <a:r>
                        <a:rPr lang="en-IN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variable.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6480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48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A495-3793-FBF9-8D12-B4C1DEF24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FEF5-A8F7-C5D8-71CC-6C402E093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4114956"/>
          </a:xfrm>
        </p:spPr>
        <p:txBody>
          <a:bodyPr/>
          <a:lstStyle/>
          <a:p>
            <a:r>
              <a:rPr lang="en-US" dirty="0"/>
              <a:t>The term </a:t>
            </a:r>
            <a:r>
              <a:rPr lang="en-US" b="1" dirty="0"/>
              <a:t>“</a:t>
            </a:r>
            <a:r>
              <a:rPr lang="en-US" b="1" dirty="0">
                <a:solidFill>
                  <a:srgbClr val="C00000"/>
                </a:solidFill>
              </a:rPr>
              <a:t>regularization</a:t>
            </a:r>
            <a:r>
              <a:rPr lang="en-US" b="1" dirty="0"/>
              <a:t>” </a:t>
            </a:r>
            <a:r>
              <a:rPr lang="en-US" dirty="0"/>
              <a:t>means </a:t>
            </a:r>
            <a:r>
              <a:rPr lang="en-US" dirty="0">
                <a:solidFill>
                  <a:srgbClr val="C00000"/>
                </a:solidFill>
              </a:rPr>
              <a:t>to deploy control over something</a:t>
            </a:r>
            <a:r>
              <a:rPr lang="en-US" dirty="0"/>
              <a:t>. </a:t>
            </a:r>
          </a:p>
          <a:p>
            <a:r>
              <a:rPr lang="en-US" dirty="0"/>
              <a:t>However, </a:t>
            </a:r>
            <a:r>
              <a:rPr lang="en-US" dirty="0">
                <a:solidFill>
                  <a:srgbClr val="C00000"/>
                </a:solidFill>
              </a:rPr>
              <a:t>this term has an important role to play </a:t>
            </a:r>
            <a:r>
              <a:rPr lang="en-US" dirty="0"/>
              <a:t>in </a:t>
            </a:r>
            <a:r>
              <a:rPr lang="en-US" dirty="0">
                <a:solidFill>
                  <a:srgbClr val="C00000"/>
                </a:solidFill>
              </a:rPr>
              <a:t>machine learning as well</a:t>
            </a:r>
            <a:r>
              <a:rPr lang="en-US" dirty="0"/>
              <a:t>.</a:t>
            </a:r>
          </a:p>
          <a:p>
            <a:r>
              <a:rPr lang="en-US" dirty="0"/>
              <a:t>Training a machine learning model can sometimes lead </a:t>
            </a:r>
            <a:r>
              <a:rPr lang="en-US" dirty="0">
                <a:solidFill>
                  <a:srgbClr val="C00000"/>
                </a:solidFill>
              </a:rPr>
              <a:t>to overfitting which renders to bad predictions in the long run.</a:t>
            </a:r>
          </a:p>
          <a:p>
            <a:r>
              <a:rPr lang="en-IN" dirty="0">
                <a:solidFill>
                  <a:srgbClr val="000000"/>
                </a:solidFill>
              </a:rPr>
              <a:t>It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is used in linear regression to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address multicollinearity and overfitting by adding a penalty term to the loss function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dirty="0"/>
              <a:t>This penalty term shrinks the </a:t>
            </a:r>
            <a:r>
              <a:rPr lang="en-US" dirty="0">
                <a:solidFill>
                  <a:srgbClr val="C00000"/>
                </a:solidFill>
              </a:rPr>
              <a:t>magnitude of the regression coefficients</a:t>
            </a:r>
            <a:r>
              <a:rPr lang="en-US" dirty="0"/>
              <a:t>, which helps stabilize the </a:t>
            </a:r>
            <a:r>
              <a:rPr lang="en-US" dirty="0">
                <a:solidFill>
                  <a:srgbClr val="C00000"/>
                </a:solidFill>
              </a:rPr>
              <a:t>estimates and improve model generalization</a:t>
            </a:r>
            <a:r>
              <a:rPr lang="en-US" dirty="0"/>
              <a:t>.</a:t>
            </a:r>
          </a:p>
          <a:p>
            <a:r>
              <a:rPr lang="en-US" dirty="0"/>
              <a:t>Regularization's main objective is to simplify the model so that it may be applied to fresh data more broadly and perform better on datasets that haven't been seen before.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8C0E5-C822-4A7B-1176-74E1A9FACA52}"/>
              </a:ext>
            </a:extLst>
          </p:cNvPr>
          <p:cNvSpPr txBox="1"/>
          <p:nvPr/>
        </p:nvSpPr>
        <p:spPr>
          <a:xfrm>
            <a:off x="1535290" y="5136443"/>
            <a:ext cx="8274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0" i="0" u="none" strike="noStrike" dirty="0">
                <a:solidFill>
                  <a:srgbClr val="51565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Regularized Loss = </a:t>
            </a:r>
            <a:r>
              <a:rPr lang="en-IN" sz="2400" b="0" i="0" u="none" strike="noStrike" dirty="0">
                <a:solidFill>
                  <a:srgbClr val="00B05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Original Loss </a:t>
            </a:r>
            <a:r>
              <a:rPr lang="en-IN" sz="2400" b="0" i="0" u="none" strike="noStrike" dirty="0">
                <a:solidFill>
                  <a:srgbClr val="51565E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(</a:t>
            </a:r>
            <a:r>
              <a:rPr lang="el-GR" sz="2400" b="0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λ×</a:t>
            </a:r>
            <a:r>
              <a:rPr lang="en-IN" sz="2400" b="0" i="0" u="none" strike="noStrike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Penalty)</a:t>
            </a:r>
            <a:endParaRPr lang="en-US" sz="24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3A9A2-8796-B5A7-9487-11E41D7AACFB}"/>
              </a:ext>
            </a:extLst>
          </p:cNvPr>
          <p:cNvSpPr txBox="1"/>
          <p:nvPr/>
        </p:nvSpPr>
        <p:spPr>
          <a:xfrm>
            <a:off x="1659467" y="5777547"/>
            <a:ext cx="63669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b="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</a:rPr>
              <a:t>λ (</a:t>
            </a:r>
            <a:r>
              <a:rPr lang="en-IN" sz="1600" b="0" i="0" u="none" strike="noStrike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</a:rPr>
              <a:t>lambda) is the regularization strength, which controls the trade-off between fitting the data well and keeping the model parameters small.</a:t>
            </a:r>
            <a:endParaRPr lang="en-US" sz="1600" dirty="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82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8C2B-B0C5-331F-42AF-2396D3818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E531BAA0-AE46-0957-6094-857EC2EE6C33}"/>
              </a:ext>
            </a:extLst>
          </p:cNvPr>
          <p:cNvSpPr/>
          <p:nvPr/>
        </p:nvSpPr>
        <p:spPr>
          <a:xfrm>
            <a:off x="4583290" y="915562"/>
            <a:ext cx="2447614" cy="11887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Regularization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9D74A210-B29F-8E22-83B3-12DEB98BF350}"/>
              </a:ext>
            </a:extLst>
          </p:cNvPr>
          <p:cNvSpPr/>
          <p:nvPr/>
        </p:nvSpPr>
        <p:spPr>
          <a:xfrm>
            <a:off x="2203408" y="3034160"/>
            <a:ext cx="2191871" cy="11887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Lasso Regularization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DE42F4E3-F58E-CE20-8A97-67B29BE78C8D}"/>
              </a:ext>
            </a:extLst>
          </p:cNvPr>
          <p:cNvSpPr/>
          <p:nvPr/>
        </p:nvSpPr>
        <p:spPr>
          <a:xfrm>
            <a:off x="7474656" y="3034160"/>
            <a:ext cx="2191871" cy="11887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Ridge Regularization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6EBFCB-54D0-5C25-065F-B2A628E97E43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802473" y="2104282"/>
            <a:ext cx="4624" cy="371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14A858-1863-7B1E-866C-3190ABFB81E2}"/>
              </a:ext>
            </a:extLst>
          </p:cNvPr>
          <p:cNvCxnSpPr>
            <a:endCxn id="5" idx="0"/>
          </p:cNvCxnSpPr>
          <p:nvPr/>
        </p:nvCxnSpPr>
        <p:spPr>
          <a:xfrm>
            <a:off x="3299341" y="2475420"/>
            <a:ext cx="2" cy="5587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A4FF1AF-AE75-B83C-BC5B-6245C527A6D5}"/>
              </a:ext>
            </a:extLst>
          </p:cNvPr>
          <p:cNvCxnSpPr>
            <a:endCxn id="7" idx="0"/>
          </p:cNvCxnSpPr>
          <p:nvPr/>
        </p:nvCxnSpPr>
        <p:spPr>
          <a:xfrm>
            <a:off x="8570591" y="2475420"/>
            <a:ext cx="1" cy="5587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F30B97-C06B-0E73-D826-1F10E30601E4}"/>
              </a:ext>
            </a:extLst>
          </p:cNvPr>
          <p:cNvCxnSpPr/>
          <p:nvPr/>
        </p:nvCxnSpPr>
        <p:spPr>
          <a:xfrm flipV="1">
            <a:off x="3299342" y="2475419"/>
            <a:ext cx="52712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FD5D10-5C22-5730-DFE3-D2CC82071B21}"/>
              </a:ext>
            </a:extLst>
          </p:cNvPr>
          <p:cNvSpPr txBox="1"/>
          <p:nvPr/>
        </p:nvSpPr>
        <p:spPr>
          <a:xfrm>
            <a:off x="2203408" y="4541111"/>
            <a:ext cx="2191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L1 - Regularization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AF92C1-A6E2-8513-9101-CB882122D184}"/>
              </a:ext>
            </a:extLst>
          </p:cNvPr>
          <p:cNvSpPr txBox="1"/>
          <p:nvPr/>
        </p:nvSpPr>
        <p:spPr>
          <a:xfrm>
            <a:off x="7474654" y="4541111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L2 - Regularization</a:t>
            </a:r>
          </a:p>
        </p:txBody>
      </p:sp>
    </p:spTree>
    <p:extLst>
      <p:ext uri="{BB962C8B-B14F-4D97-AF65-F5344CB8AC3E}">
        <p14:creationId xmlns:p14="http://schemas.microsoft.com/office/powerpoint/2010/main" val="297100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2" grpId="0"/>
      <p:bldP spid="1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B48D-420D-AC13-70BE-85F1C270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Ridge Regression (L2 Regularization)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13D5C-F92A-7E9E-5ED3-820E9C4CD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5232555"/>
              </a:xfrm>
            </p:spPr>
            <p:txBody>
              <a:bodyPr/>
              <a:lstStyle/>
              <a:p>
                <a:r>
                  <a:rPr lang="en-US" dirty="0"/>
                  <a:t>Adds the </a:t>
                </a:r>
                <a:r>
                  <a:rPr lang="en-US" dirty="0">
                    <a:solidFill>
                      <a:srgbClr val="C00000"/>
                    </a:solidFill>
                  </a:rPr>
                  <a:t>squared value of weights</a:t>
                </a:r>
                <a:r>
                  <a:rPr lang="en-US" dirty="0"/>
                  <a:t> as a </a:t>
                </a:r>
                <a:r>
                  <a:rPr lang="en-US" dirty="0">
                    <a:solidFill>
                      <a:srgbClr val="C00000"/>
                    </a:solidFill>
                  </a:rPr>
                  <a:t>penalty term to the loss function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Does not </a:t>
                </a:r>
                <a:r>
                  <a:rPr lang="en-US" dirty="0">
                    <a:solidFill>
                      <a:srgbClr val="C00000"/>
                    </a:solidFill>
                  </a:rPr>
                  <a:t>set weights to zero but keeps them small</a:t>
                </a:r>
                <a:r>
                  <a:rPr lang="en-US" dirty="0"/>
                  <a:t>, ensuring all features </a:t>
                </a:r>
                <a:r>
                  <a:rPr lang="en-US" dirty="0">
                    <a:solidFill>
                      <a:srgbClr val="C00000"/>
                    </a:solidFill>
                  </a:rPr>
                  <a:t>contribute to the model.</a:t>
                </a:r>
              </a:p>
              <a:p>
                <a:r>
                  <a:rPr lang="en-US" dirty="0"/>
                  <a:t>Distributes </a:t>
                </a:r>
                <a:r>
                  <a:rPr lang="en-US" dirty="0">
                    <a:solidFill>
                      <a:srgbClr val="C00000"/>
                    </a:solidFill>
                  </a:rPr>
                  <a:t>weights across all features, shrinking </a:t>
                </a:r>
                <a:r>
                  <a:rPr lang="en-US" dirty="0"/>
                  <a:t>them toward zero </a:t>
                </a:r>
                <a:r>
                  <a:rPr lang="en-US" b="1" dirty="0">
                    <a:solidFill>
                      <a:srgbClr val="C00000"/>
                    </a:solidFill>
                  </a:rPr>
                  <a:t>but not eliminating any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Works well when all </a:t>
                </a:r>
                <a:r>
                  <a:rPr lang="en-US" dirty="0">
                    <a:solidFill>
                      <a:srgbClr val="C00000"/>
                    </a:solidFill>
                  </a:rPr>
                  <a:t>features are expected to contribute to the model.</a:t>
                </a:r>
              </a:p>
              <a:p>
                <a:r>
                  <a:rPr lang="en-US" dirty="0"/>
                  <a:t>It also know as </a:t>
                </a:r>
                <a:r>
                  <a:rPr lang="en-US" b="1" dirty="0"/>
                  <a:t>Tikhonov regularization.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l-GR" b="0" i="0" u="none" strike="noStrike" dirty="0">
                    <a:solidFill>
                      <a:srgbClr val="C00000"/>
                    </a:solidFill>
                    <a:effectLst/>
                  </a:rPr>
                  <a:t>λ</a:t>
                </a:r>
                <a:r>
                  <a:rPr lang="en-US" dirty="0">
                    <a:solidFill>
                      <a:srgbClr val="C00000"/>
                    </a:solidFill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Regularization parameter controlling the trade-off between the original loss and the penalty.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</m:sSubSup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Weight of the </a:t>
                </a:r>
                <a:r>
                  <a:rPr lang="en-US" dirty="0" err="1"/>
                  <a:t>i-th</a:t>
                </a:r>
                <a:r>
                  <a:rPr lang="en-US" dirty="0"/>
                  <a:t> feature.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13D5C-F92A-7E9E-5ED3-820E9C4CD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5232555"/>
              </a:xfrm>
              <a:blipFill>
                <a:blip r:embed="rId2"/>
                <a:stretch>
                  <a:fillRect l="-532" t="-1937" r="-851" b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49CBD-7DD2-CB73-000E-262BC9EA8C1F}"/>
                  </a:ext>
                </a:extLst>
              </p:cNvPr>
              <p:cNvSpPr txBox="1"/>
              <p:nvPr/>
            </p:nvSpPr>
            <p:spPr>
              <a:xfrm>
                <a:off x="1820332" y="3553179"/>
                <a:ext cx="7143045" cy="113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u="none" strike="noStrik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IN" sz="2400" b="0" i="1" u="none" strike="noStrik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en-IN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u="none" strike="noStrike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u="none" strike="noStrike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u="none" strike="noStrike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aseline="-2500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u="none" strike="noStrike" baseline="300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l-GR" sz="2400" dirty="0" smtClean="0">
                          <a:solidFill>
                            <a:srgbClr val="C00000"/>
                          </a:solidFill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49CBD-7DD2-CB73-000E-262BC9EA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332" y="3553179"/>
                <a:ext cx="7143045" cy="1131143"/>
              </a:xfrm>
              <a:prstGeom prst="rect">
                <a:avLst/>
              </a:prstGeom>
              <a:blipFill>
                <a:blip r:embed="rId3"/>
                <a:stretch>
                  <a:fillRect t="-101111" b="-15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5590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B48D-420D-AC13-70BE-85F1C2701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Lasso Regression (L1 Regularization)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13D5C-F92A-7E9E-5ED3-820E9C4CD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180" y="863444"/>
                <a:ext cx="11929641" cy="5232555"/>
              </a:xfrm>
            </p:spPr>
            <p:txBody>
              <a:bodyPr/>
              <a:lstStyle/>
              <a:p>
                <a:r>
                  <a:rPr lang="en-US" dirty="0"/>
                  <a:t>Adds the </a:t>
                </a:r>
                <a:r>
                  <a:rPr lang="en-US" dirty="0">
                    <a:solidFill>
                      <a:srgbClr val="C00000"/>
                    </a:solidFill>
                  </a:rPr>
                  <a:t>absolute value of weights as a penalty</a:t>
                </a:r>
                <a:r>
                  <a:rPr lang="en-US" dirty="0"/>
                  <a:t> term </a:t>
                </a:r>
                <a:r>
                  <a:rPr lang="en-US" dirty="0">
                    <a:solidFill>
                      <a:srgbClr val="C00000"/>
                    </a:solidFill>
                  </a:rPr>
                  <a:t>to the loss function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can lead to a </a:t>
                </a:r>
                <a:r>
                  <a:rPr lang="en-US" dirty="0">
                    <a:solidFill>
                      <a:srgbClr val="C00000"/>
                    </a:solidFill>
                  </a:rPr>
                  <a:t>sparse model where some parameter values are exactly zero</a:t>
                </a:r>
                <a:r>
                  <a:rPr lang="en-US" dirty="0"/>
                  <a:t>, effectively removing those </a:t>
                </a:r>
                <a:r>
                  <a:rPr lang="en-US" dirty="0">
                    <a:solidFill>
                      <a:srgbClr val="C00000"/>
                    </a:solidFill>
                  </a:rPr>
                  <a:t>features from the model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Performs feature selection by driving </a:t>
                </a:r>
                <a:r>
                  <a:rPr lang="en-US" b="1" dirty="0">
                    <a:solidFill>
                      <a:srgbClr val="C00000"/>
                    </a:solidFill>
                  </a:rPr>
                  <a:t>some weights to exactly zero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Suitable when you expect that only a </a:t>
                </a:r>
                <a:r>
                  <a:rPr lang="en-US" dirty="0">
                    <a:solidFill>
                      <a:srgbClr val="C00000"/>
                    </a:solidFill>
                  </a:rPr>
                  <a:t>few features are important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l-GR" b="0" i="0" u="none" strike="noStrike" dirty="0">
                    <a:solidFill>
                      <a:srgbClr val="C00000"/>
                    </a:solidFill>
                    <a:effectLst/>
                  </a:rPr>
                  <a:t>λ</a:t>
                </a:r>
                <a:r>
                  <a:rPr lang="en-US" dirty="0">
                    <a:solidFill>
                      <a:srgbClr val="C00000"/>
                    </a:solidFill>
                    <a:latin typeface="-webkit-standard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0" i="0" u="none" strike="noStrike" dirty="0">
                    <a:solidFill>
                      <a:srgbClr val="000000"/>
                    </a:solidFill>
                    <a:effectLst/>
                    <a:latin typeface="+mj-lt"/>
                  </a:rPr>
                  <a:t>Regularization parameter controlling the trade-off between the original loss and the penalty.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</m:sSubSup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Weight of the </a:t>
                </a:r>
                <a:r>
                  <a:rPr lang="en-US" dirty="0" err="1"/>
                  <a:t>i-th</a:t>
                </a:r>
                <a:r>
                  <a:rPr lang="en-US" dirty="0"/>
                  <a:t> feature.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E13D5C-F92A-7E9E-5ED3-820E9C4CD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180" y="863444"/>
                <a:ext cx="11929641" cy="5232555"/>
              </a:xfrm>
              <a:blipFill>
                <a:blip r:embed="rId2"/>
                <a:stretch>
                  <a:fillRect l="-532" t="-1937" r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49CBD-7DD2-CB73-000E-262BC9EA8C1F}"/>
                  </a:ext>
                </a:extLst>
              </p:cNvPr>
              <p:cNvSpPr txBox="1"/>
              <p:nvPr/>
            </p:nvSpPr>
            <p:spPr>
              <a:xfrm>
                <a:off x="1809043" y="3056468"/>
                <a:ext cx="7143045" cy="1131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u="none" strike="noStrik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IN" sz="2400" b="0" i="1" u="none" strike="noStrike" dirty="0" smtClean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Cambria Math" panose="02040503050406030204" pitchFamily="18" charset="0"/>
                        </a:rPr>
                        <m:t> = </m:t>
                      </m:r>
                      <m:nary>
                        <m:naryPr>
                          <m:chr m:val="∑"/>
                          <m:ctrlPr>
                            <a:rPr lang="en-IN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b="0" i="1" u="none" strike="noStrike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u="none" strike="noStrike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u="none" strike="noStrike" smtClean="0">
                                  <a:solidFill>
                                    <a:srgbClr val="00B050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aseline="-25000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IN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sz="2400" b="0" i="1" u="none" strike="noStrike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400" b="0" i="1" u="none" strike="noStrike" baseline="30000" smtClean="0">
                          <a:solidFill>
                            <a:srgbClr val="00B050"/>
                          </a:solidFill>
                          <a:effectLst/>
                          <a:latin typeface="Cambria Math" panose="02040503050406030204" pitchFamily="18" charset="0"/>
                        </a:rPr>
                        <m:t>2 </m:t>
                      </m:r>
                      <m:r>
                        <a:rPr lang="en-US" sz="2400" i="1" dirty="0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l-GR" sz="2400" dirty="0" smtClean="0">
                          <a:solidFill>
                            <a:srgbClr val="C00000"/>
                          </a:solidFill>
                        </a:rPr>
                        <m:t>λ</m:t>
                      </m:r>
                      <m:nary>
                        <m:naryPr>
                          <m:chr m:val="∑"/>
                          <m:ctrlPr>
                            <a:rPr lang="en-US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240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r>
                            <a:rPr lang="en-US" sz="24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B249CBD-7DD2-CB73-000E-262BC9EA8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043" y="3056468"/>
                <a:ext cx="7143045" cy="1131143"/>
              </a:xfrm>
              <a:prstGeom prst="rect">
                <a:avLst/>
              </a:prstGeom>
              <a:blipFill>
                <a:blip r:embed="rId3"/>
                <a:stretch>
                  <a:fillRect t="-102222" b="-15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882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8C95-5CA5-5537-357D-ACB8055F5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47571-0FAF-B603-CCE1-C842D310F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Choosing the right value of </a:t>
            </a:r>
            <a:r>
              <a:rPr lang="el-GR" b="1" dirty="0">
                <a:solidFill>
                  <a:srgbClr val="C00000"/>
                </a:solidFill>
              </a:rPr>
              <a:t>λ </a:t>
            </a:r>
            <a:r>
              <a:rPr lang="en-US" b="1" dirty="0">
                <a:solidFill>
                  <a:srgbClr val="C00000"/>
                </a:solidFill>
              </a:rPr>
              <a:t>is crucial task</a:t>
            </a:r>
          </a:p>
          <a:p>
            <a:r>
              <a:rPr lang="en-US" dirty="0">
                <a:solidFill>
                  <a:srgbClr val="C00000"/>
                </a:solidFill>
              </a:rPr>
              <a:t>Too high </a:t>
            </a:r>
            <a:r>
              <a:rPr lang="en-US" dirty="0"/>
              <a:t>a value can </a:t>
            </a:r>
            <a:r>
              <a:rPr lang="en-US" dirty="0">
                <a:solidFill>
                  <a:srgbClr val="C00000"/>
                </a:solidFill>
              </a:rPr>
              <a:t>make the model too simple and fail to capture important patterns </a:t>
            </a:r>
            <a:r>
              <a:rPr lang="en-US" dirty="0"/>
              <a:t>in the data (underfitting).</a:t>
            </a:r>
          </a:p>
          <a:p>
            <a:r>
              <a:rPr lang="en-US" dirty="0">
                <a:solidFill>
                  <a:srgbClr val="C00000"/>
                </a:solidFill>
              </a:rPr>
              <a:t>Too low </a:t>
            </a:r>
            <a:r>
              <a:rPr lang="en-US" dirty="0"/>
              <a:t>a value might not </a:t>
            </a:r>
            <a:r>
              <a:rPr lang="en-US" dirty="0">
                <a:solidFill>
                  <a:srgbClr val="C00000"/>
                </a:solidFill>
              </a:rPr>
              <a:t>sufficiently penalize large coefficients</a:t>
            </a:r>
            <a:r>
              <a:rPr lang="en-US" dirty="0"/>
              <a:t>, leading to a model that captures too much noise from the training data (overfitting).</a:t>
            </a:r>
          </a:p>
          <a:p>
            <a:r>
              <a:rPr lang="en-US" dirty="0"/>
              <a:t>the optimal value of </a:t>
            </a:r>
            <a:r>
              <a:rPr lang="el-GR" dirty="0"/>
              <a:t>λ </a:t>
            </a:r>
            <a:r>
              <a:rPr lang="en-US" dirty="0"/>
              <a:t>and the type of regularization (L1 and  L2) are </a:t>
            </a:r>
            <a:r>
              <a:rPr lang="en-US" dirty="0">
                <a:solidFill>
                  <a:srgbClr val="C00000"/>
                </a:solidFill>
              </a:rPr>
              <a:t>often selected through cross-validation.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08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8CFF-1957-5C5A-AF4B-95D84F2E3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59EB4-0370-AA5D-D8E4-B4416D8A7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Preventing Overfitting:</a:t>
            </a:r>
          </a:p>
          <a:p>
            <a:pPr lvl="1"/>
            <a:r>
              <a:rPr lang="en-US" dirty="0"/>
              <a:t>Regularization minimizes the risk of overfitting by penalizing large weights.</a:t>
            </a:r>
          </a:p>
          <a:p>
            <a:r>
              <a:rPr lang="en-US" b="1" dirty="0"/>
              <a:t>Improving Model Generalization:</a:t>
            </a:r>
          </a:p>
          <a:p>
            <a:pPr lvl="1"/>
            <a:r>
              <a:rPr lang="en-US" dirty="0"/>
              <a:t>Helps models perform well on both training and unseen data.</a:t>
            </a:r>
          </a:p>
          <a:p>
            <a:r>
              <a:rPr lang="en-US" b="1" dirty="0"/>
              <a:t>Handling Multicollinearity:</a:t>
            </a:r>
          </a:p>
          <a:p>
            <a:pPr lvl="1"/>
            <a:r>
              <a:rPr lang="en-US" dirty="0"/>
              <a:t>L2 regularization (Ridge) stabilizes coefficient estimates in cases of multicollinearity.</a:t>
            </a:r>
          </a:p>
          <a:p>
            <a:r>
              <a:rPr lang="en-US" b="1" dirty="0"/>
              <a:t>Feature Selection:</a:t>
            </a:r>
          </a:p>
          <a:p>
            <a:pPr lvl="1"/>
            <a:r>
              <a:rPr lang="en-US" dirty="0"/>
              <a:t>L1 regularization (Lasso) promotes sparsity by shrinking some coefficients to zero.</a:t>
            </a:r>
          </a:p>
          <a:p>
            <a:r>
              <a:rPr lang="en-US" b="1" dirty="0"/>
              <a:t>Improving Robustness to Noise: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Reduces sensitivity to noise and outliers by discouraging excessive fitting.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696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10899</TotalTime>
  <Words>2208</Words>
  <Application>Microsoft Office PowerPoint</Application>
  <PresentationFormat>Widescreen</PresentationFormat>
  <Paragraphs>691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2" baseType="lpstr">
      <vt:lpstr>Arial</vt:lpstr>
      <vt:lpstr>Calibri</vt:lpstr>
      <vt:lpstr>Cambria Math</vt:lpstr>
      <vt:lpstr>Consolas</vt:lpstr>
      <vt:lpstr>Google Sans</vt:lpstr>
      <vt:lpstr>Menlo</vt:lpstr>
      <vt:lpstr>Roboto Condensed</vt:lpstr>
      <vt:lpstr>Roboto Condensed Light</vt:lpstr>
      <vt:lpstr>Segoe UI Black</vt:lpstr>
      <vt:lpstr>Webdings</vt:lpstr>
      <vt:lpstr>-webkit-standard</vt:lpstr>
      <vt:lpstr>Wingdings</vt:lpstr>
      <vt:lpstr>Wingdings 2</vt:lpstr>
      <vt:lpstr>Wingdings 3</vt:lpstr>
      <vt:lpstr>Office Theme</vt:lpstr>
      <vt:lpstr>Unit-02  Regression </vt:lpstr>
      <vt:lpstr>PowerPoint Presentation</vt:lpstr>
      <vt:lpstr>Introduction</vt:lpstr>
      <vt:lpstr>Simple Linear Regression</vt:lpstr>
      <vt:lpstr>Simple Linear Regression</vt:lpstr>
      <vt:lpstr>Ordinary Least Squares (OLS)</vt:lpstr>
      <vt:lpstr>Ordinary Least Squares (OLS)</vt:lpstr>
      <vt:lpstr>Gradient Descent</vt:lpstr>
      <vt:lpstr>How Does Gradient Descent Work?</vt:lpstr>
      <vt:lpstr>The Gradient Descent Formula</vt:lpstr>
      <vt:lpstr>Residual Sum of squares</vt:lpstr>
      <vt:lpstr>Properties of Linear Regression</vt:lpstr>
      <vt:lpstr>Assumptions of Linear Regression</vt:lpstr>
      <vt:lpstr>Assumptions of Linear Regression</vt:lpstr>
      <vt:lpstr>Assumptions of Linear Regression</vt:lpstr>
      <vt:lpstr>Assumptions of Linear Regression</vt:lpstr>
      <vt:lpstr>Linear Regression (Example) (iPhone Prices)</vt:lpstr>
      <vt:lpstr>R Squared</vt:lpstr>
      <vt:lpstr>R Squared</vt:lpstr>
      <vt:lpstr>Multiple Linear Regression</vt:lpstr>
      <vt:lpstr>Multiple Linear Regression</vt:lpstr>
      <vt:lpstr>Multiple Linear Regression (Example) (Emissions)</vt:lpstr>
      <vt:lpstr>Polynomial Regression</vt:lpstr>
      <vt:lpstr>Polynomial Regression</vt:lpstr>
      <vt:lpstr>Example</vt:lpstr>
      <vt:lpstr>Example</vt:lpstr>
      <vt:lpstr>Example</vt:lpstr>
      <vt:lpstr>Support Vector Regression</vt:lpstr>
      <vt:lpstr>Support Vector Regression</vt:lpstr>
      <vt:lpstr>Support Vector Regression</vt:lpstr>
      <vt:lpstr>Kernel Trick</vt:lpstr>
      <vt:lpstr>Kernel Trick</vt:lpstr>
      <vt:lpstr>Support Vector Regression (SVR) (Example)</vt:lpstr>
      <vt:lpstr>Logistic Regression</vt:lpstr>
      <vt:lpstr>Logistic Regression</vt:lpstr>
      <vt:lpstr>Logistic Regression</vt:lpstr>
      <vt:lpstr>Likelihood</vt:lpstr>
      <vt:lpstr>Likelihood</vt:lpstr>
      <vt:lpstr>Logistic Regression</vt:lpstr>
      <vt:lpstr>Logistic Regression</vt:lpstr>
      <vt:lpstr>Linear Regression vs Logistic Regression</vt:lpstr>
      <vt:lpstr>Regularization</vt:lpstr>
      <vt:lpstr>Regularization</vt:lpstr>
      <vt:lpstr>Ridge Regression (L2 Regularization)</vt:lpstr>
      <vt:lpstr>Lasso Regression (L1 Regularization)</vt:lpstr>
      <vt:lpstr>Regularization</vt:lpstr>
      <vt:lpstr>Benefits of Regularization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1025</cp:revision>
  <dcterms:created xsi:type="dcterms:W3CDTF">2020-05-01T05:09:15Z</dcterms:created>
  <dcterms:modified xsi:type="dcterms:W3CDTF">2025-01-08T04:48:50Z</dcterms:modified>
</cp:coreProperties>
</file>