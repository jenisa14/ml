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283" r:id="rId2"/>
    <p:sldId id="292" r:id="rId3"/>
    <p:sldId id="497" r:id="rId4"/>
    <p:sldId id="494" r:id="rId5"/>
    <p:sldId id="495" r:id="rId6"/>
    <p:sldId id="374" r:id="rId7"/>
    <p:sldId id="501" r:id="rId8"/>
    <p:sldId id="502" r:id="rId9"/>
    <p:sldId id="503" r:id="rId10"/>
    <p:sldId id="515" r:id="rId11"/>
    <p:sldId id="504" r:id="rId12"/>
    <p:sldId id="505" r:id="rId13"/>
    <p:sldId id="506" r:id="rId14"/>
    <p:sldId id="507" r:id="rId15"/>
    <p:sldId id="432" r:id="rId16"/>
    <p:sldId id="330" r:id="rId17"/>
    <p:sldId id="509" r:id="rId18"/>
    <p:sldId id="510" r:id="rId19"/>
    <p:sldId id="511" r:id="rId20"/>
    <p:sldId id="512" r:id="rId21"/>
    <p:sldId id="518" r:id="rId22"/>
    <p:sldId id="557" r:id="rId23"/>
    <p:sldId id="508" r:id="rId24"/>
    <p:sldId id="514" r:id="rId25"/>
    <p:sldId id="452" r:id="rId26"/>
    <p:sldId id="455" r:id="rId27"/>
    <p:sldId id="462" r:id="rId28"/>
    <p:sldId id="463" r:id="rId29"/>
    <p:sldId id="458" r:id="rId30"/>
    <p:sldId id="559" r:id="rId31"/>
    <p:sldId id="560" r:id="rId32"/>
    <p:sldId id="517" r:id="rId33"/>
    <p:sldId id="519" r:id="rId34"/>
    <p:sldId id="520" r:id="rId35"/>
    <p:sldId id="521" r:id="rId36"/>
    <p:sldId id="522" r:id="rId37"/>
    <p:sldId id="569" r:id="rId38"/>
    <p:sldId id="570" r:id="rId39"/>
    <p:sldId id="523" r:id="rId40"/>
    <p:sldId id="524" r:id="rId41"/>
    <p:sldId id="527" r:id="rId42"/>
    <p:sldId id="531" r:id="rId43"/>
    <p:sldId id="532" r:id="rId44"/>
    <p:sldId id="533" r:id="rId45"/>
    <p:sldId id="534" r:id="rId46"/>
    <p:sldId id="535" r:id="rId47"/>
    <p:sldId id="536" r:id="rId48"/>
    <p:sldId id="537" r:id="rId49"/>
    <p:sldId id="538" r:id="rId50"/>
    <p:sldId id="539" r:id="rId51"/>
    <p:sldId id="540" r:id="rId52"/>
    <p:sldId id="541" r:id="rId53"/>
    <p:sldId id="542" r:id="rId54"/>
    <p:sldId id="561" r:id="rId55"/>
    <p:sldId id="545" r:id="rId56"/>
    <p:sldId id="546" r:id="rId57"/>
    <p:sldId id="547" r:id="rId58"/>
    <p:sldId id="548" r:id="rId59"/>
    <p:sldId id="549" r:id="rId60"/>
    <p:sldId id="550" r:id="rId61"/>
    <p:sldId id="551" r:id="rId62"/>
    <p:sldId id="552" r:id="rId63"/>
    <p:sldId id="553" r:id="rId64"/>
    <p:sldId id="554" r:id="rId65"/>
    <p:sldId id="555" r:id="rId66"/>
    <p:sldId id="556" r:id="rId67"/>
    <p:sldId id="562" r:id="rId68"/>
    <p:sldId id="563" r:id="rId69"/>
    <p:sldId id="564" r:id="rId70"/>
    <p:sldId id="565" r:id="rId71"/>
    <p:sldId id="571" r:id="rId72"/>
    <p:sldId id="572" r:id="rId73"/>
    <p:sldId id="581" r:id="rId74"/>
    <p:sldId id="582" r:id="rId75"/>
    <p:sldId id="583" r:id="rId76"/>
    <p:sldId id="584" r:id="rId77"/>
    <p:sldId id="585" r:id="rId78"/>
    <p:sldId id="566" r:id="rId79"/>
    <p:sldId id="573" r:id="rId80"/>
    <p:sldId id="574" r:id="rId81"/>
    <p:sldId id="567" r:id="rId82"/>
    <p:sldId id="575" r:id="rId83"/>
    <p:sldId id="576" r:id="rId84"/>
    <p:sldId id="580" r:id="rId85"/>
    <p:sldId id="577" r:id="rId86"/>
    <p:sldId id="578" r:id="rId87"/>
    <p:sldId id="579" r:id="rId88"/>
    <p:sldId id="586" r:id="rId89"/>
    <p:sldId id="587" r:id="rId90"/>
    <p:sldId id="588" r:id="rId91"/>
    <p:sldId id="589" r:id="rId92"/>
    <p:sldId id="590" r:id="rId93"/>
    <p:sldId id="591" r:id="rId94"/>
    <p:sldId id="592" r:id="rId95"/>
    <p:sldId id="593" r:id="rId96"/>
    <p:sldId id="594" r:id="rId97"/>
    <p:sldId id="595" r:id="rId98"/>
    <p:sldId id="343"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vctcTUtONNw9dLdGV4ZlQ==" hashData="TZSifT39NGqVZX7l9Aj1WfR6aCvVMLh/CLCqf9gR08eHfGSNZfTUvrR3WEorPoDsqV0aPe+V7L4Y/gAn7sAnEg=="/>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7D8B"/>
    <a:srgbClr val="ED524F"/>
    <a:srgbClr val="00CC99"/>
    <a:srgbClr val="301B92"/>
    <a:srgbClr val="673BB7"/>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59" autoAdjust="0"/>
    <p:restoredTop sz="94660"/>
  </p:normalViewPr>
  <p:slideViewPr>
    <p:cSldViewPr snapToGrid="0">
      <p:cViewPr varScale="1">
        <p:scale>
          <a:sx n="83" d="100"/>
          <a:sy n="83" d="100"/>
        </p:scale>
        <p:origin x="408" y="8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3/14/2025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4200163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jpeg"/><Relationship Id="rId5" Type="http://schemas.openxmlformats.org/officeDocument/2006/relationships/image" Target="../media/image3.png"/><Relationship Id="rId10" Type="http://schemas.openxmlformats.org/officeDocument/2006/relationships/image" Target="../media/image14.jpeg"/><Relationship Id="rId4" Type="http://schemas.openxmlformats.org/officeDocument/2006/relationships/image" Target="../media/image1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3956"/>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4" name="Picture 3">
            <a:extLst>
              <a:ext uri="{FF2B5EF4-FFF2-40B4-BE49-F238E27FC236}">
                <a16:creationId xmlns:a16="http://schemas.microsoft.com/office/drawing/2014/main" id="{0D3FD703-A923-5FFC-49A0-8C313F0B42E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512662" y="596629"/>
            <a:ext cx="2976891" cy="904935"/>
          </a:xfrm>
          <a:prstGeom prst="rect">
            <a:avLst/>
          </a:prstGeom>
        </p:spPr>
      </p:pic>
      <p:pic>
        <p:nvPicPr>
          <p:cNvPr id="8" name="Picture 7">
            <a:extLst>
              <a:ext uri="{FF2B5EF4-FFF2-40B4-BE49-F238E27FC236}">
                <a16:creationId xmlns:a16="http://schemas.microsoft.com/office/drawing/2014/main" id="{4AE52AF9-0738-907E-5BBA-0ED5F6A1485B}"/>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a:off x="8512661" y="1741817"/>
            <a:ext cx="2976891" cy="1185243"/>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solidFill>
              <a:schemeClr val="tx2"/>
            </a:solid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tx2"/>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id="{66C323F2-F0D8-4EB7-83AE-DFAA81BC49DE}"/>
              </a:ext>
            </a:extLst>
          </p:cNvPr>
          <p:cNvSpPr/>
          <p:nvPr userDrawn="1"/>
        </p:nvSpPr>
        <p:spPr>
          <a:xfrm rot="10800000">
            <a:off x="7678346" y="2221532"/>
            <a:ext cx="4513654" cy="1951692"/>
          </a:xfrm>
          <a:prstGeom prst="rect">
            <a:avLst/>
          </a:prstGeom>
          <a:gradFill>
            <a:gsLst>
              <a:gs pos="0">
                <a:srgbClr val="1D3064"/>
              </a:gs>
              <a:gs pos="50000">
                <a:srgbClr val="1D3064"/>
              </a:gs>
              <a:gs pos="100000">
                <a:schemeClr val="tx2"/>
              </a:gs>
            </a:gsLst>
            <a:lin ang="10800000" scaled="1"/>
          </a:gra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12D27AE-1148-4B42-8B61-FEBB2397EFD9}"/>
              </a:ext>
            </a:extLst>
          </p:cNvPr>
          <p:cNvSpPr/>
          <p:nvPr userDrawn="1"/>
        </p:nvSpPr>
        <p:spPr>
          <a:xfrm>
            <a:off x="0" y="2221532"/>
            <a:ext cx="4402106" cy="1951692"/>
          </a:xfrm>
          <a:prstGeom prst="rect">
            <a:avLst/>
          </a:prstGeom>
          <a:gradFill>
            <a:gsLst>
              <a:gs pos="0">
                <a:srgbClr val="1D3064"/>
              </a:gs>
              <a:gs pos="50000">
                <a:srgbClr val="1D3064"/>
              </a:gs>
              <a:gs pos="100000">
                <a:schemeClr val="tx2"/>
              </a:gs>
            </a:gsLst>
            <a:lin ang="10800000" scaled="1"/>
          </a:gradFill>
          <a:ln>
            <a:solidFill>
              <a:schemeClr val="tx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23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44081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#2301CS62(ML)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4 –  Clustering (ML)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920005"/>
            <a:ext cx="11929641" cy="553400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DF0D05C3-99AA-773B-0F49-09924E81855A}"/>
              </a:ext>
            </a:extLst>
          </p:cNvPr>
          <p:cNvGrpSpPr/>
          <p:nvPr userDrawn="1"/>
        </p:nvGrpSpPr>
        <p:grpSpPr>
          <a:xfrm>
            <a:off x="10411778" y="921114"/>
            <a:ext cx="1649043" cy="501287"/>
            <a:chOff x="10721798" y="852808"/>
            <a:chExt cx="1339023" cy="407045"/>
          </a:xfrm>
        </p:grpSpPr>
        <p:pic>
          <p:nvPicPr>
            <p:cNvPr id="7" name="Picture 6">
              <a:extLst>
                <a:ext uri="{FF2B5EF4-FFF2-40B4-BE49-F238E27FC236}">
                  <a16:creationId xmlns:a16="http://schemas.microsoft.com/office/drawing/2014/main" id="{2479EDFC-ED4D-861A-E37D-14D7E6B051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DAE3FA7F-857D-E61D-5C28-13E2D70838D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8021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#2301CS62(ML)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4 –  Clustering (ML)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78501"/>
          </a:xfrm>
        </p:spPr>
        <p:txBody>
          <a:bodyPr>
            <a:noAutofit/>
          </a:bodyPr>
          <a:lstStyle>
            <a:lvl1pPr marL="265113" indent="-265113" algn="just">
              <a:buClr>
                <a:schemeClr val="accent6"/>
              </a:buClr>
              <a:buFont typeface="Webdings" panose="05030102010509060703"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1618DA6-ADDC-7E6E-7A51-8D40B3889FE6}"/>
              </a:ext>
            </a:extLst>
          </p:cNvPr>
          <p:cNvGrpSpPr/>
          <p:nvPr userDrawn="1"/>
        </p:nvGrpSpPr>
        <p:grpSpPr>
          <a:xfrm>
            <a:off x="10313386" y="5940670"/>
            <a:ext cx="1649043" cy="501287"/>
            <a:chOff x="10721798" y="852808"/>
            <a:chExt cx="1339023" cy="407045"/>
          </a:xfrm>
        </p:grpSpPr>
        <p:pic>
          <p:nvPicPr>
            <p:cNvPr id="7" name="Picture 6">
              <a:extLst>
                <a:ext uri="{FF2B5EF4-FFF2-40B4-BE49-F238E27FC236}">
                  <a16:creationId xmlns:a16="http://schemas.microsoft.com/office/drawing/2014/main" id="{D3D5E089-7BE6-03A1-CD63-E67BAD57608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DEC36E20-EF18-6B0D-305F-4B32B1F5F4C6}"/>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32481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#2301CS62(ML)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4 –  Clustering (ML)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626739"/>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A3AED85-A54D-97C1-DD2C-9FDEA4914919}"/>
              </a:ext>
            </a:extLst>
          </p:cNvPr>
          <p:cNvGrpSpPr/>
          <p:nvPr userDrawn="1"/>
        </p:nvGrpSpPr>
        <p:grpSpPr>
          <a:xfrm>
            <a:off x="131180" y="5988910"/>
            <a:ext cx="1649043" cy="501287"/>
            <a:chOff x="10721798" y="852808"/>
            <a:chExt cx="1339023" cy="407045"/>
          </a:xfrm>
        </p:grpSpPr>
        <p:pic>
          <p:nvPicPr>
            <p:cNvPr id="7" name="Picture 6">
              <a:extLst>
                <a:ext uri="{FF2B5EF4-FFF2-40B4-BE49-F238E27FC236}">
                  <a16:creationId xmlns:a16="http://schemas.microsoft.com/office/drawing/2014/main" id="{F801B37D-BAE9-0650-58F2-BC78CED44C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8" name="Rectangle 7">
              <a:extLst>
                <a:ext uri="{FF2B5EF4-FFF2-40B4-BE49-F238E27FC236}">
                  <a16:creationId xmlns:a16="http://schemas.microsoft.com/office/drawing/2014/main" id="{1DA2DE62-0FAB-499C-3FF7-8E3E8DDDF86C}"/>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 name="Group 3">
            <a:extLst>
              <a:ext uri="{FF2B5EF4-FFF2-40B4-BE49-F238E27FC236}">
                <a16:creationId xmlns:a16="http://schemas.microsoft.com/office/drawing/2014/main" id="{8D8F205C-D692-3A8F-DB67-62DFE62B7370}"/>
              </a:ext>
            </a:extLst>
          </p:cNvPr>
          <p:cNvGrpSpPr/>
          <p:nvPr userDrawn="1"/>
        </p:nvGrpSpPr>
        <p:grpSpPr>
          <a:xfrm>
            <a:off x="10359675" y="6131022"/>
            <a:ext cx="1649043" cy="501287"/>
            <a:chOff x="10721798" y="852808"/>
            <a:chExt cx="1339023" cy="407045"/>
          </a:xfrm>
        </p:grpSpPr>
        <p:pic>
          <p:nvPicPr>
            <p:cNvPr id="5" name="Picture 4">
              <a:extLst>
                <a:ext uri="{FF2B5EF4-FFF2-40B4-BE49-F238E27FC236}">
                  <a16:creationId xmlns:a16="http://schemas.microsoft.com/office/drawing/2014/main" id="{31DDAE99-2697-C009-4B54-2913BF8DCC4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6" name="Rectangle 5">
              <a:extLst>
                <a:ext uri="{FF2B5EF4-FFF2-40B4-BE49-F238E27FC236}">
                  <a16:creationId xmlns:a16="http://schemas.microsoft.com/office/drawing/2014/main" id="{6DBF6B26-56F5-A99C-23BA-B1DAF78C0F43}"/>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FEA6E7FD-9D74-A53E-354C-AEDE33361F68}"/>
              </a:ext>
            </a:extLst>
          </p:cNvPr>
          <p:cNvGrpSpPr/>
          <p:nvPr userDrawn="1"/>
        </p:nvGrpSpPr>
        <p:grpSpPr>
          <a:xfrm>
            <a:off x="10253733" y="119603"/>
            <a:ext cx="1649043" cy="501287"/>
            <a:chOff x="10721798" y="852808"/>
            <a:chExt cx="1339023" cy="407045"/>
          </a:xfrm>
        </p:grpSpPr>
        <p:pic>
          <p:nvPicPr>
            <p:cNvPr id="3" name="Picture 2">
              <a:extLst>
                <a:ext uri="{FF2B5EF4-FFF2-40B4-BE49-F238E27FC236}">
                  <a16:creationId xmlns:a16="http://schemas.microsoft.com/office/drawing/2014/main" id="{B8648CBA-7265-39F8-D1B9-0E15C03485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31B50395-FD5C-D870-AB87-21ADE7A84320}"/>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D3440BC-6A73-AF16-1513-F5FFB0D86493}"/>
              </a:ext>
            </a:extLst>
          </p:cNvPr>
          <p:cNvGrpSpPr/>
          <p:nvPr userDrawn="1"/>
        </p:nvGrpSpPr>
        <p:grpSpPr>
          <a:xfrm>
            <a:off x="10313386" y="5940670"/>
            <a:ext cx="1649043" cy="501287"/>
            <a:chOff x="10721798" y="852808"/>
            <a:chExt cx="1339023" cy="407045"/>
          </a:xfrm>
        </p:grpSpPr>
        <p:pic>
          <p:nvPicPr>
            <p:cNvPr id="3" name="Picture 2">
              <a:extLst>
                <a:ext uri="{FF2B5EF4-FFF2-40B4-BE49-F238E27FC236}">
                  <a16:creationId xmlns:a16="http://schemas.microsoft.com/office/drawing/2014/main" id="{70E47C1E-ADCB-A740-5C5D-E07477F1CD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836726FA-F8E4-08AE-4611-17B220D84286}"/>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Jayesh D.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vagadiya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#2101CS521  (DM)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Data Mining (DM)</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40A11904-2EF7-7EB7-D8E1-64D669405E2D}"/>
              </a:ext>
            </a:extLst>
          </p:cNvPr>
          <p:cNvGrpSpPr/>
          <p:nvPr userDrawn="1"/>
        </p:nvGrpSpPr>
        <p:grpSpPr>
          <a:xfrm>
            <a:off x="164674" y="5980196"/>
            <a:ext cx="1649043" cy="501287"/>
            <a:chOff x="10721798" y="852808"/>
            <a:chExt cx="1339023" cy="407045"/>
          </a:xfrm>
        </p:grpSpPr>
        <p:pic>
          <p:nvPicPr>
            <p:cNvPr id="3" name="Picture 2">
              <a:extLst>
                <a:ext uri="{FF2B5EF4-FFF2-40B4-BE49-F238E27FC236}">
                  <a16:creationId xmlns:a16="http://schemas.microsoft.com/office/drawing/2014/main" id="{3BE576EA-E9D4-7CEC-3198-56D174FDDB8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4" name="Rectangle 3">
              <a:extLst>
                <a:ext uri="{FF2B5EF4-FFF2-40B4-BE49-F238E27FC236}">
                  <a16:creationId xmlns:a16="http://schemas.microsoft.com/office/drawing/2014/main" id="{4754B836-2324-D134-A2A1-533073B97009}"/>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3/14/2025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2"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7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9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4.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9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7.png"/><Relationship Id="rId1" Type="http://schemas.openxmlformats.org/officeDocument/2006/relationships/slideLayout" Target="../slideLayouts/slideLayout4.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xml"/><Relationship Id="rId5" Type="http://schemas.openxmlformats.org/officeDocument/2006/relationships/image" Target="../media/image73.png"/><Relationship Id="rId4" Type="http://schemas.openxmlformats.org/officeDocument/2006/relationships/image" Target="../media/image72.png"/></Relationships>
</file>

<file path=ppt/slides/_rels/slide9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 Type="http://schemas.openxmlformats.org/officeDocument/2006/relationships/image" Target="../media/image74.png"/><Relationship Id="rId16" Type="http://schemas.openxmlformats.org/officeDocument/2006/relationships/image" Target="../media/image88.png"/><Relationship Id="rId20" Type="http://schemas.openxmlformats.org/officeDocument/2006/relationships/image" Target="../media/image92.png"/><Relationship Id="rId1" Type="http://schemas.openxmlformats.org/officeDocument/2006/relationships/slideLayout" Target="../slideLayouts/slideLayout4.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5" Type="http://schemas.openxmlformats.org/officeDocument/2006/relationships/image" Target="../media/image87.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s>
</file>

<file path=ppt/slides/_rels/slide9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4.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691374" y="1019474"/>
            <a:ext cx="7060510" cy="2497450"/>
          </a:xfrm>
        </p:spPr>
        <p:txBody>
          <a:bodyPr/>
          <a:lstStyle/>
          <a:p>
            <a:pPr>
              <a:lnSpc>
                <a:spcPct val="100000"/>
              </a:lnSpc>
              <a:spcBef>
                <a:spcPts val="0"/>
              </a:spcBef>
            </a:pPr>
            <a:r>
              <a:rPr lang="en-US" sz="4800" b="0" dirty="0">
                <a:latin typeface="Roboto Condensed Light" panose="02000000000000000000" pitchFamily="2" charset="0"/>
                <a:ea typeface="Roboto Condensed Light" panose="02000000000000000000" pitchFamily="2" charset="0"/>
              </a:rPr>
              <a:t>Unit-04</a:t>
            </a:r>
            <a:r>
              <a:rPr lang="en-US" dirty="0"/>
              <a:t> </a:t>
            </a:r>
            <a:br>
              <a:rPr lang="en-US" dirty="0"/>
            </a:br>
            <a:r>
              <a:rPr lang="en-US" dirty="0"/>
              <a:t>Clustering</a:t>
            </a:r>
            <a:endParaRPr lang="en-US" sz="4800" dirty="0"/>
          </a:p>
          <a:p>
            <a:pPr>
              <a:lnSpc>
                <a:spcPct val="100000"/>
              </a:lnSpc>
              <a:spcBef>
                <a:spcPts val="0"/>
              </a:spcBef>
            </a:pPr>
            <a:endParaRPr lang="en-US"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err="1"/>
              <a:t>jayesh.vagadiya@darshan.ac.in</a:t>
            </a:r>
            <a:endParaRPr lang="en-US" dirty="0"/>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9537133260</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a:xfrm>
            <a:off x="1837678" y="5546560"/>
            <a:ext cx="3735998" cy="290081"/>
          </a:xfrm>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Jayesh D. </a:t>
            </a:r>
            <a:r>
              <a:rPr lang="en-US" dirty="0" err="1"/>
              <a:t>vagadiya</a:t>
            </a:r>
            <a:endParaRPr lang="en-US" dirty="0"/>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pPr>
              <a:lnSpc>
                <a:spcPct val="100000"/>
              </a:lnSpc>
            </a:pPr>
            <a:r>
              <a:rPr lang="en-US" sz="2000" b="1" dirty="0"/>
              <a:t>Machine Learning </a:t>
            </a:r>
            <a:r>
              <a:rPr lang="en-US" sz="2000" dirty="0">
                <a:latin typeface="Roboto Condensed Light" panose="02000000000000000000" pitchFamily="2" charset="0"/>
                <a:ea typeface="Roboto Condensed Light" panose="02000000000000000000" pitchFamily="2" charset="0"/>
              </a:rPr>
              <a:t>(ML)</a:t>
            </a:r>
          </a:p>
          <a:p>
            <a:pPr>
              <a:lnSpc>
                <a:spcPct val="100000"/>
              </a:lnSpc>
            </a:pPr>
            <a:r>
              <a:rPr lang="en-IN" sz="1800" dirty="0">
                <a:effectLst/>
                <a:latin typeface="Calibri" panose="020F0502020204030204" pitchFamily="34" charset="0"/>
                <a:ea typeface="Calibri" panose="020F0502020204030204" pitchFamily="34" charset="0"/>
              </a:rPr>
              <a:t>2301CS621 </a:t>
            </a:r>
            <a:r>
              <a:rPr lang="en-IN" sz="2000" dirty="0">
                <a:effectLst/>
              </a:rPr>
              <a:t> </a:t>
            </a:r>
            <a:endParaRPr lang="en-US" sz="2000" dirty="0">
              <a:latin typeface="Roboto Condensed Light" panose="02000000000000000000" pitchFamily="2" charset="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Picture Placeholder 7">
            <a:extLst>
              <a:ext uri="{FF2B5EF4-FFF2-40B4-BE49-F238E27FC236}">
                <a16:creationId xmlns:a16="http://schemas.microsoft.com/office/drawing/2014/main" id="{7453A6AA-5BE7-25F7-2841-55E5AC4CF8F7}"/>
              </a:ext>
            </a:extLst>
          </p:cNvPr>
          <p:cNvSpPr>
            <a:spLocks noGrp="1"/>
          </p:cNvSpPr>
          <p:nvPr>
            <p:ph type="pic" sz="quarter" idx="10"/>
          </p:nvPr>
        </p:nvSpPr>
        <p:spPr/>
      </p:sp>
      <p:pic>
        <p:nvPicPr>
          <p:cNvPr id="9" name="Picture Placeholder 4">
            <a:extLst>
              <a:ext uri="{FF2B5EF4-FFF2-40B4-BE49-F238E27FC236}">
                <a16:creationId xmlns:a16="http://schemas.microsoft.com/office/drawing/2014/main" id="{C9D17E62-5C4C-182E-001B-DBEFCFD2D429}"/>
              </a:ext>
            </a:extLst>
          </p:cNvPr>
          <p:cNvPicPr>
            <a:picLocks noChangeAspect="1"/>
          </p:cNvPicPr>
          <p:nvPr/>
        </p:nvPicPr>
        <p:blipFill>
          <a:blip r:embed="rId3" cstate="hqprint">
            <a:extLst>
              <a:ext uri="{28A0092B-C50C-407E-A947-70E740481C1C}">
                <a14:useLocalDpi xmlns:a14="http://schemas.microsoft.com/office/drawing/2010/main" val="0"/>
              </a:ext>
            </a:extLst>
          </a:blip>
          <a:srcRect/>
          <a:stretch>
            <a:fillRect/>
          </a:stretch>
        </p:blipFill>
        <p:spPr>
          <a:xfrm>
            <a:off x="353569" y="5211250"/>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solidFill>
            <a:schemeClr val="tx2"/>
          </a:solidFill>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42995"/>
            <a:ext cx="8810452" cy="4770537"/>
          </a:xfrm>
          <a:prstGeom prst="rect">
            <a:avLst/>
          </a:prstGeom>
          <a:noFill/>
        </p:spPr>
        <p:txBody>
          <a:bodyPr wrap="square" rtlCol="0">
            <a:spAutoFit/>
          </a:bodyPr>
          <a:lstStyle/>
          <a:p>
            <a:r>
              <a:rPr lang="en-US" sz="2400" b="1" dirty="0"/>
              <a:t>Topics to be covered</a:t>
            </a:r>
          </a:p>
          <a:p>
            <a:pPr marL="742950" lvl="1" indent="-285750">
              <a:lnSpc>
                <a:spcPct val="150000"/>
              </a:lnSpc>
              <a:buFont typeface="Arial" panose="020B0604020202020204" pitchFamily="34" charset="0"/>
              <a:buChar char="•"/>
            </a:pPr>
            <a:r>
              <a:rPr lang="en-US" sz="2100" dirty="0">
                <a:solidFill>
                  <a:schemeClr val="accent6"/>
                </a:solidFill>
              </a:rPr>
              <a:t>Introduction</a:t>
            </a:r>
          </a:p>
          <a:p>
            <a:pPr marL="742950" lvl="1" indent="-285750">
              <a:lnSpc>
                <a:spcPct val="150000"/>
              </a:lnSpc>
              <a:buFont typeface="Arial" panose="020B0604020202020204" pitchFamily="34" charset="0"/>
              <a:buChar char="•"/>
            </a:pPr>
            <a:r>
              <a:rPr lang="en-US" sz="2100" dirty="0">
                <a:solidFill>
                  <a:schemeClr val="accent6"/>
                </a:solidFill>
              </a:rPr>
              <a:t>Distance based Clustering</a:t>
            </a:r>
          </a:p>
          <a:p>
            <a:pPr marL="742950" lvl="1" indent="-285750">
              <a:lnSpc>
                <a:spcPct val="150000"/>
              </a:lnSpc>
              <a:buFont typeface="Arial" panose="020B0604020202020204" pitchFamily="34" charset="0"/>
              <a:buChar char="•"/>
            </a:pPr>
            <a:r>
              <a:rPr lang="en-US" sz="2100" dirty="0">
                <a:solidFill>
                  <a:schemeClr val="accent6"/>
                </a:solidFill>
              </a:rPr>
              <a:t>Hierarchical Clustering</a:t>
            </a:r>
          </a:p>
          <a:p>
            <a:pPr marL="742950" lvl="1" indent="-285750">
              <a:lnSpc>
                <a:spcPct val="150000"/>
              </a:lnSpc>
              <a:buFont typeface="Arial" panose="020B0604020202020204" pitchFamily="34" charset="0"/>
              <a:buChar char="•"/>
            </a:pPr>
            <a:r>
              <a:rPr lang="en-US" sz="2100" dirty="0">
                <a:solidFill>
                  <a:schemeClr val="accent6"/>
                </a:solidFill>
              </a:rPr>
              <a:t>Outlier detection</a:t>
            </a:r>
          </a:p>
          <a:p>
            <a:pPr marL="742950" lvl="1" indent="-285750">
              <a:lnSpc>
                <a:spcPct val="150000"/>
              </a:lnSpc>
              <a:buFont typeface="Arial" panose="020B0604020202020204" pitchFamily="34" charset="0"/>
              <a:buChar char="•"/>
            </a:pPr>
            <a:r>
              <a:rPr lang="en-US" sz="2100" dirty="0">
                <a:solidFill>
                  <a:schemeClr val="accent6"/>
                </a:solidFill>
              </a:rPr>
              <a:t>Density based Clustering</a:t>
            </a:r>
          </a:p>
          <a:p>
            <a:pPr marL="742950" lvl="1" indent="-285750">
              <a:lnSpc>
                <a:spcPct val="150000"/>
              </a:lnSpc>
              <a:buFont typeface="Arial" panose="020B0604020202020204" pitchFamily="34" charset="0"/>
              <a:buChar char="•"/>
            </a:pPr>
            <a:r>
              <a:rPr lang="en-US" sz="2100" dirty="0">
                <a:solidFill>
                  <a:schemeClr val="accent6"/>
                </a:solidFill>
              </a:rPr>
              <a:t>Outlier Detection Methods</a:t>
            </a:r>
          </a:p>
          <a:p>
            <a:pPr marL="742950" lvl="1" indent="-285750">
              <a:lnSpc>
                <a:spcPct val="150000"/>
              </a:lnSpc>
              <a:buFont typeface="Arial" panose="020B0604020202020204" pitchFamily="34" charset="0"/>
              <a:buChar char="•"/>
            </a:pPr>
            <a:r>
              <a:rPr lang="en-US" sz="2100" dirty="0">
                <a:solidFill>
                  <a:schemeClr val="accent6"/>
                </a:solidFill>
              </a:rPr>
              <a:t>Feature Selection techniques</a:t>
            </a:r>
          </a:p>
          <a:p>
            <a:pPr marL="742950" lvl="1" indent="-285750">
              <a:lnSpc>
                <a:spcPct val="150000"/>
              </a:lnSpc>
              <a:buFont typeface="Arial" panose="020B0604020202020204" pitchFamily="34" charset="0"/>
              <a:buChar char="•"/>
            </a:pPr>
            <a:r>
              <a:rPr lang="en-US" sz="2100" dirty="0">
                <a:solidFill>
                  <a:schemeClr val="accent6"/>
                </a:solidFill>
              </a:rPr>
              <a:t>Dimensionality Reduction techniques</a:t>
            </a:r>
          </a:p>
          <a:p>
            <a:pPr marL="742950" lvl="1" indent="-285750">
              <a:lnSpc>
                <a:spcPct val="150000"/>
              </a:lnSpc>
              <a:buFont typeface="Arial" panose="020B0604020202020204" pitchFamily="34" charset="0"/>
              <a:buChar char="•"/>
            </a:pPr>
            <a:endParaRPr lang="en-US" sz="2100" dirty="0">
              <a:solidFill>
                <a:schemeClr val="accent6"/>
              </a:solidFill>
            </a:endParaRP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5E78A-A3C4-154A-1F74-F604C4351172}"/>
              </a:ext>
            </a:extLst>
          </p:cNvPr>
          <p:cNvSpPr>
            <a:spLocks noGrp="1"/>
          </p:cNvSpPr>
          <p:nvPr>
            <p:ph type="title"/>
          </p:nvPr>
        </p:nvSpPr>
        <p:spPr/>
        <p:txBody>
          <a:bodyPr/>
          <a:lstStyle/>
          <a:p>
            <a:r>
              <a:rPr lang="en-US" dirty="0"/>
              <a:t>Clustering (Grouping)</a:t>
            </a:r>
          </a:p>
        </p:txBody>
      </p:sp>
      <p:pic>
        <p:nvPicPr>
          <p:cNvPr id="9" name="Picture 8">
            <a:extLst>
              <a:ext uri="{FF2B5EF4-FFF2-40B4-BE49-F238E27FC236}">
                <a16:creationId xmlns:a16="http://schemas.microsoft.com/office/drawing/2014/main" id="{315D902D-971C-B26D-2DAE-413F1C03E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634" y="1925659"/>
            <a:ext cx="817995" cy="722538"/>
          </a:xfrm>
          <a:prstGeom prst="rect">
            <a:avLst/>
          </a:prstGeom>
        </p:spPr>
      </p:pic>
      <p:pic>
        <p:nvPicPr>
          <p:cNvPr id="13" name="Picture 12">
            <a:extLst>
              <a:ext uri="{FF2B5EF4-FFF2-40B4-BE49-F238E27FC236}">
                <a16:creationId xmlns:a16="http://schemas.microsoft.com/office/drawing/2014/main" id="{EB203958-BC97-3DDA-045A-616403D98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7378" y="1925659"/>
            <a:ext cx="705563" cy="671819"/>
          </a:xfrm>
          <a:prstGeom prst="rect">
            <a:avLst/>
          </a:prstGeom>
        </p:spPr>
      </p:pic>
      <p:pic>
        <p:nvPicPr>
          <p:cNvPr id="19" name="Picture 18">
            <a:extLst>
              <a:ext uri="{FF2B5EF4-FFF2-40B4-BE49-F238E27FC236}">
                <a16:creationId xmlns:a16="http://schemas.microsoft.com/office/drawing/2014/main" id="{1DC799AE-E32D-FFDB-D1AA-C8DB5F419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7612" y="1925659"/>
            <a:ext cx="966051" cy="717956"/>
          </a:xfrm>
          <a:prstGeom prst="rect">
            <a:avLst/>
          </a:prstGeom>
        </p:spPr>
      </p:pic>
      <p:pic>
        <p:nvPicPr>
          <p:cNvPr id="20" name="Picture 19">
            <a:extLst>
              <a:ext uri="{FF2B5EF4-FFF2-40B4-BE49-F238E27FC236}">
                <a16:creationId xmlns:a16="http://schemas.microsoft.com/office/drawing/2014/main" id="{A01F3FCA-A396-345F-AEAE-2EA58625F8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634" y="2806297"/>
            <a:ext cx="817995" cy="722538"/>
          </a:xfrm>
          <a:prstGeom prst="rect">
            <a:avLst/>
          </a:prstGeom>
        </p:spPr>
      </p:pic>
      <p:pic>
        <p:nvPicPr>
          <p:cNvPr id="22" name="Picture 21">
            <a:extLst>
              <a:ext uri="{FF2B5EF4-FFF2-40B4-BE49-F238E27FC236}">
                <a16:creationId xmlns:a16="http://schemas.microsoft.com/office/drawing/2014/main" id="{F41B0858-CC6E-DAE8-A516-2412DF4E66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7612" y="2806297"/>
            <a:ext cx="966051" cy="717956"/>
          </a:xfrm>
          <a:prstGeom prst="rect">
            <a:avLst/>
          </a:prstGeom>
        </p:spPr>
      </p:pic>
      <p:pic>
        <p:nvPicPr>
          <p:cNvPr id="23" name="Picture 22">
            <a:extLst>
              <a:ext uri="{FF2B5EF4-FFF2-40B4-BE49-F238E27FC236}">
                <a16:creationId xmlns:a16="http://schemas.microsoft.com/office/drawing/2014/main" id="{687075FC-D459-1740-DF39-3ADB722E2D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7133" y="2806297"/>
            <a:ext cx="966051" cy="717956"/>
          </a:xfrm>
          <a:prstGeom prst="rect">
            <a:avLst/>
          </a:prstGeom>
        </p:spPr>
      </p:pic>
      <p:pic>
        <p:nvPicPr>
          <p:cNvPr id="24" name="Picture 23">
            <a:extLst>
              <a:ext uri="{FF2B5EF4-FFF2-40B4-BE49-F238E27FC236}">
                <a16:creationId xmlns:a16="http://schemas.microsoft.com/office/drawing/2014/main" id="{1EA3DBBB-4482-F5E0-0A99-1F1D370085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634" y="3686935"/>
            <a:ext cx="966051" cy="717956"/>
          </a:xfrm>
          <a:prstGeom prst="rect">
            <a:avLst/>
          </a:prstGeom>
        </p:spPr>
      </p:pic>
      <p:pic>
        <p:nvPicPr>
          <p:cNvPr id="25" name="Picture 24">
            <a:extLst>
              <a:ext uri="{FF2B5EF4-FFF2-40B4-BE49-F238E27FC236}">
                <a16:creationId xmlns:a16="http://schemas.microsoft.com/office/drawing/2014/main" id="{B6C828DC-296E-8C8F-F759-056BDE90F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1639" y="3682353"/>
            <a:ext cx="817995" cy="722538"/>
          </a:xfrm>
          <a:prstGeom prst="rect">
            <a:avLst/>
          </a:prstGeom>
        </p:spPr>
      </p:pic>
      <p:pic>
        <p:nvPicPr>
          <p:cNvPr id="26" name="Picture 25">
            <a:extLst>
              <a:ext uri="{FF2B5EF4-FFF2-40B4-BE49-F238E27FC236}">
                <a16:creationId xmlns:a16="http://schemas.microsoft.com/office/drawing/2014/main" id="{1BF81C9F-FCE8-7BEF-91A2-17DCF8861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160" y="3682353"/>
            <a:ext cx="817995" cy="722538"/>
          </a:xfrm>
          <a:prstGeom prst="rect">
            <a:avLst/>
          </a:prstGeom>
        </p:spPr>
      </p:pic>
      <p:pic>
        <p:nvPicPr>
          <p:cNvPr id="27" name="Picture 26">
            <a:extLst>
              <a:ext uri="{FF2B5EF4-FFF2-40B4-BE49-F238E27FC236}">
                <a16:creationId xmlns:a16="http://schemas.microsoft.com/office/drawing/2014/main" id="{1E021606-E3D7-AA22-0575-EF74D3266F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877" y="4562991"/>
            <a:ext cx="705563" cy="671819"/>
          </a:xfrm>
          <a:prstGeom prst="rect">
            <a:avLst/>
          </a:prstGeom>
        </p:spPr>
      </p:pic>
      <p:pic>
        <p:nvPicPr>
          <p:cNvPr id="28" name="Picture 27">
            <a:extLst>
              <a:ext uri="{FF2B5EF4-FFF2-40B4-BE49-F238E27FC236}">
                <a16:creationId xmlns:a16="http://schemas.microsoft.com/office/drawing/2014/main" id="{3916960E-F5C5-6893-90E6-E5DC1A83E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7854" y="4562990"/>
            <a:ext cx="705563" cy="671819"/>
          </a:xfrm>
          <a:prstGeom prst="rect">
            <a:avLst/>
          </a:prstGeom>
        </p:spPr>
      </p:pic>
      <p:pic>
        <p:nvPicPr>
          <p:cNvPr id="29" name="Picture 28">
            <a:extLst>
              <a:ext uri="{FF2B5EF4-FFF2-40B4-BE49-F238E27FC236}">
                <a16:creationId xmlns:a16="http://schemas.microsoft.com/office/drawing/2014/main" id="{32E655D8-2CEA-0358-638E-BD030C2C6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4831" y="4553903"/>
            <a:ext cx="705563" cy="671819"/>
          </a:xfrm>
          <a:prstGeom prst="rect">
            <a:avLst/>
          </a:prstGeom>
        </p:spPr>
      </p:pic>
      <p:sp>
        <p:nvSpPr>
          <p:cNvPr id="30" name="Rounded Rectangle 29">
            <a:extLst>
              <a:ext uri="{FF2B5EF4-FFF2-40B4-BE49-F238E27FC236}">
                <a16:creationId xmlns:a16="http://schemas.microsoft.com/office/drawing/2014/main" id="{64F31749-0BA6-FE62-6EB6-C5BCC2F91AB3}"/>
              </a:ext>
            </a:extLst>
          </p:cNvPr>
          <p:cNvSpPr/>
          <p:nvPr/>
        </p:nvSpPr>
        <p:spPr>
          <a:xfrm>
            <a:off x="4425793" y="2643615"/>
            <a:ext cx="1949533" cy="176127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t>Clustering </a:t>
            </a:r>
          </a:p>
          <a:p>
            <a:pPr algn="ctr"/>
            <a:r>
              <a:rPr lang="en-US" sz="2400" dirty="0"/>
              <a:t>Algorithm</a:t>
            </a:r>
          </a:p>
        </p:txBody>
      </p:sp>
      <p:cxnSp>
        <p:nvCxnSpPr>
          <p:cNvPr id="32" name="Straight Arrow Connector 31">
            <a:extLst>
              <a:ext uri="{FF2B5EF4-FFF2-40B4-BE49-F238E27FC236}">
                <a16:creationId xmlns:a16="http://schemas.microsoft.com/office/drawing/2014/main" id="{46654C2A-CB7F-31B9-4D6A-597ECA47B78D}"/>
              </a:ext>
            </a:extLst>
          </p:cNvPr>
          <p:cNvCxnSpPr>
            <a:cxnSpLocks/>
            <a:endCxn id="30" idx="1"/>
          </p:cNvCxnSpPr>
          <p:nvPr/>
        </p:nvCxnSpPr>
        <p:spPr>
          <a:xfrm>
            <a:off x="3469047" y="3524253"/>
            <a:ext cx="9567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40FCBBA-0E9F-D29C-C219-1508F4224F33}"/>
              </a:ext>
            </a:extLst>
          </p:cNvPr>
          <p:cNvCxnSpPr>
            <a:cxnSpLocks/>
            <a:stCxn id="30" idx="3"/>
          </p:cNvCxnSpPr>
          <p:nvPr/>
        </p:nvCxnSpPr>
        <p:spPr>
          <a:xfrm flipV="1">
            <a:off x="6375326" y="2494603"/>
            <a:ext cx="1867140" cy="1029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1F42EE9-E053-112C-329F-C776847DD26F}"/>
              </a:ext>
            </a:extLst>
          </p:cNvPr>
          <p:cNvCxnSpPr>
            <a:cxnSpLocks/>
            <a:stCxn id="30" idx="3"/>
          </p:cNvCxnSpPr>
          <p:nvPr/>
        </p:nvCxnSpPr>
        <p:spPr>
          <a:xfrm>
            <a:off x="6375326" y="3524253"/>
            <a:ext cx="1937401" cy="40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19E97F9-A7FB-1764-CE50-5A203CC5392A}"/>
              </a:ext>
            </a:extLst>
          </p:cNvPr>
          <p:cNvCxnSpPr>
            <a:cxnSpLocks/>
            <a:stCxn id="30" idx="3"/>
          </p:cNvCxnSpPr>
          <p:nvPr/>
        </p:nvCxnSpPr>
        <p:spPr>
          <a:xfrm>
            <a:off x="6375326" y="3524253"/>
            <a:ext cx="1825584" cy="1038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9BE28056-D11E-2D1E-963D-E6BF06752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9833" y="2083759"/>
            <a:ext cx="817995" cy="722538"/>
          </a:xfrm>
          <a:prstGeom prst="rect">
            <a:avLst/>
          </a:prstGeom>
        </p:spPr>
      </p:pic>
      <p:pic>
        <p:nvPicPr>
          <p:cNvPr id="40" name="Picture 39">
            <a:extLst>
              <a:ext uri="{FF2B5EF4-FFF2-40B4-BE49-F238E27FC236}">
                <a16:creationId xmlns:a16="http://schemas.microsoft.com/office/drawing/2014/main" id="{D5725E77-5504-E79C-D616-B418C360D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1168" y="2037547"/>
            <a:ext cx="817995" cy="722538"/>
          </a:xfrm>
          <a:prstGeom prst="rect">
            <a:avLst/>
          </a:prstGeom>
        </p:spPr>
      </p:pic>
      <p:pic>
        <p:nvPicPr>
          <p:cNvPr id="41" name="Picture 40">
            <a:extLst>
              <a:ext uri="{FF2B5EF4-FFF2-40B4-BE49-F238E27FC236}">
                <a16:creationId xmlns:a16="http://schemas.microsoft.com/office/drawing/2014/main" id="{66B306B2-4EE5-84AF-D565-6B729EBF9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3320" y="2006496"/>
            <a:ext cx="817995" cy="722538"/>
          </a:xfrm>
          <a:prstGeom prst="rect">
            <a:avLst/>
          </a:prstGeom>
        </p:spPr>
      </p:pic>
      <p:pic>
        <p:nvPicPr>
          <p:cNvPr id="42" name="Picture 41">
            <a:extLst>
              <a:ext uri="{FF2B5EF4-FFF2-40B4-BE49-F238E27FC236}">
                <a16:creationId xmlns:a16="http://schemas.microsoft.com/office/drawing/2014/main" id="{89948E9D-6396-E957-CF1D-760622200A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1263" y="2037547"/>
            <a:ext cx="817995" cy="722538"/>
          </a:xfrm>
          <a:prstGeom prst="rect">
            <a:avLst/>
          </a:prstGeom>
        </p:spPr>
      </p:pic>
      <p:pic>
        <p:nvPicPr>
          <p:cNvPr id="43" name="Picture 42">
            <a:extLst>
              <a:ext uri="{FF2B5EF4-FFF2-40B4-BE49-F238E27FC236}">
                <a16:creationId xmlns:a16="http://schemas.microsoft.com/office/drawing/2014/main" id="{4DEB34F0-4120-E48E-2667-0D58D4AA2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5806" y="3205985"/>
            <a:ext cx="966051" cy="717956"/>
          </a:xfrm>
          <a:prstGeom prst="rect">
            <a:avLst/>
          </a:prstGeom>
        </p:spPr>
      </p:pic>
      <p:pic>
        <p:nvPicPr>
          <p:cNvPr id="44" name="Picture 43">
            <a:extLst>
              <a:ext uri="{FF2B5EF4-FFF2-40B4-BE49-F238E27FC236}">
                <a16:creationId xmlns:a16="http://schemas.microsoft.com/office/drawing/2014/main" id="{26095042-5281-4CF8-10AE-5522506BC3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1857" y="3165275"/>
            <a:ext cx="966051" cy="717956"/>
          </a:xfrm>
          <a:prstGeom prst="rect">
            <a:avLst/>
          </a:prstGeom>
        </p:spPr>
      </p:pic>
      <p:pic>
        <p:nvPicPr>
          <p:cNvPr id="45" name="Picture 44">
            <a:extLst>
              <a:ext uri="{FF2B5EF4-FFF2-40B4-BE49-F238E27FC236}">
                <a16:creationId xmlns:a16="http://schemas.microsoft.com/office/drawing/2014/main" id="{7F481B06-BA3B-24BE-0D5E-F72ED3D2B1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19293" y="3165275"/>
            <a:ext cx="966051" cy="717956"/>
          </a:xfrm>
          <a:prstGeom prst="rect">
            <a:avLst/>
          </a:prstGeom>
        </p:spPr>
      </p:pic>
      <p:pic>
        <p:nvPicPr>
          <p:cNvPr id="46" name="Picture 45">
            <a:extLst>
              <a:ext uri="{FF2B5EF4-FFF2-40B4-BE49-F238E27FC236}">
                <a16:creationId xmlns:a16="http://schemas.microsoft.com/office/drawing/2014/main" id="{69FEEA84-8052-B0C6-27A8-9B93CBD5E9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09507" y="3185630"/>
            <a:ext cx="966051" cy="717956"/>
          </a:xfrm>
          <a:prstGeom prst="rect">
            <a:avLst/>
          </a:prstGeom>
        </p:spPr>
      </p:pic>
      <p:pic>
        <p:nvPicPr>
          <p:cNvPr id="55" name="Picture 54">
            <a:extLst>
              <a:ext uri="{FF2B5EF4-FFF2-40B4-BE49-F238E27FC236}">
                <a16:creationId xmlns:a16="http://schemas.microsoft.com/office/drawing/2014/main" id="{1F10F566-E7DB-3B5F-3634-D9CCF11CC2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7456" y="4227080"/>
            <a:ext cx="705563" cy="671819"/>
          </a:xfrm>
          <a:prstGeom prst="rect">
            <a:avLst/>
          </a:prstGeom>
        </p:spPr>
      </p:pic>
      <p:pic>
        <p:nvPicPr>
          <p:cNvPr id="56" name="Picture 55">
            <a:extLst>
              <a:ext uri="{FF2B5EF4-FFF2-40B4-BE49-F238E27FC236}">
                <a16:creationId xmlns:a16="http://schemas.microsoft.com/office/drawing/2014/main" id="{94FC74C7-6683-3836-ACA4-1F786233D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5652" y="4297509"/>
            <a:ext cx="705563" cy="671819"/>
          </a:xfrm>
          <a:prstGeom prst="rect">
            <a:avLst/>
          </a:prstGeom>
        </p:spPr>
      </p:pic>
      <p:pic>
        <p:nvPicPr>
          <p:cNvPr id="57" name="Picture 56">
            <a:extLst>
              <a:ext uri="{FF2B5EF4-FFF2-40B4-BE49-F238E27FC236}">
                <a16:creationId xmlns:a16="http://schemas.microsoft.com/office/drawing/2014/main" id="{D44344BB-950F-B5B4-5FAE-E7EE2B72E9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4504" y="4297508"/>
            <a:ext cx="705563" cy="671819"/>
          </a:xfrm>
          <a:prstGeom prst="rect">
            <a:avLst/>
          </a:prstGeom>
        </p:spPr>
      </p:pic>
      <p:pic>
        <p:nvPicPr>
          <p:cNvPr id="58" name="Picture 57">
            <a:extLst>
              <a:ext uri="{FF2B5EF4-FFF2-40B4-BE49-F238E27FC236}">
                <a16:creationId xmlns:a16="http://schemas.microsoft.com/office/drawing/2014/main" id="{C0A2B4C9-4F2E-D49D-1EF8-F810C98540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981" y="4288421"/>
            <a:ext cx="705563" cy="671819"/>
          </a:xfrm>
          <a:prstGeom prst="rect">
            <a:avLst/>
          </a:prstGeom>
        </p:spPr>
      </p:pic>
      <p:sp>
        <p:nvSpPr>
          <p:cNvPr id="62" name="Rectangle 61">
            <a:extLst>
              <a:ext uri="{FF2B5EF4-FFF2-40B4-BE49-F238E27FC236}">
                <a16:creationId xmlns:a16="http://schemas.microsoft.com/office/drawing/2014/main" id="{4631FF37-8813-E340-FE48-6DFA6BB17B06}"/>
              </a:ext>
            </a:extLst>
          </p:cNvPr>
          <p:cNvSpPr/>
          <p:nvPr/>
        </p:nvSpPr>
        <p:spPr>
          <a:xfrm>
            <a:off x="154379" y="1769422"/>
            <a:ext cx="3108805" cy="3623465"/>
          </a:xfrm>
          <a:prstGeom prst="rect">
            <a:avLst/>
          </a:prstGeom>
          <a:solidFill>
            <a:srgbClr val="00BBD3">
              <a:alpha val="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 name="TextBox 62">
            <a:extLst>
              <a:ext uri="{FF2B5EF4-FFF2-40B4-BE49-F238E27FC236}">
                <a16:creationId xmlns:a16="http://schemas.microsoft.com/office/drawing/2014/main" id="{602A491F-0535-FA94-3085-D9F54DB3C294}"/>
              </a:ext>
            </a:extLst>
          </p:cNvPr>
          <p:cNvSpPr txBox="1"/>
          <p:nvPr/>
        </p:nvSpPr>
        <p:spPr>
          <a:xfrm>
            <a:off x="131567" y="1374669"/>
            <a:ext cx="1124026" cy="369332"/>
          </a:xfrm>
          <a:prstGeom prst="rect">
            <a:avLst/>
          </a:prstGeom>
          <a:noFill/>
        </p:spPr>
        <p:txBody>
          <a:bodyPr wrap="none" rtlCol="0">
            <a:spAutoFit/>
          </a:bodyPr>
          <a:lstStyle/>
          <a:p>
            <a:r>
              <a:rPr lang="en-US" dirty="0"/>
              <a:t>Input Data</a:t>
            </a:r>
          </a:p>
        </p:txBody>
      </p:sp>
      <p:sp>
        <p:nvSpPr>
          <p:cNvPr id="64" name="TextBox 63">
            <a:extLst>
              <a:ext uri="{FF2B5EF4-FFF2-40B4-BE49-F238E27FC236}">
                <a16:creationId xmlns:a16="http://schemas.microsoft.com/office/drawing/2014/main" id="{1FE7D047-9076-7218-59DA-C5D00227740D}"/>
              </a:ext>
            </a:extLst>
          </p:cNvPr>
          <p:cNvSpPr txBox="1"/>
          <p:nvPr/>
        </p:nvSpPr>
        <p:spPr>
          <a:xfrm>
            <a:off x="3005653" y="5504970"/>
            <a:ext cx="6739345" cy="369332"/>
          </a:xfrm>
          <a:prstGeom prst="rect">
            <a:avLst/>
          </a:prstGeom>
          <a:noFill/>
        </p:spPr>
        <p:txBody>
          <a:bodyPr wrap="none" rtlCol="0">
            <a:spAutoFit/>
          </a:bodyPr>
          <a:lstStyle/>
          <a:p>
            <a:r>
              <a:rPr lang="en-US" dirty="0">
                <a:solidFill>
                  <a:srgbClr val="C00000"/>
                </a:solidFill>
              </a:rPr>
              <a:t>Here we don’t use Label Data to train Classifier(</a:t>
            </a:r>
            <a:r>
              <a:rPr lang="en-US" dirty="0"/>
              <a:t>Unsupervised Learning</a:t>
            </a:r>
            <a:r>
              <a:rPr lang="en-US" dirty="0">
                <a:solidFill>
                  <a:srgbClr val="C00000"/>
                </a:solidFill>
              </a:rPr>
              <a:t>) </a:t>
            </a:r>
          </a:p>
        </p:txBody>
      </p:sp>
      <p:sp>
        <p:nvSpPr>
          <p:cNvPr id="66" name="TextBox 65">
            <a:extLst>
              <a:ext uri="{FF2B5EF4-FFF2-40B4-BE49-F238E27FC236}">
                <a16:creationId xmlns:a16="http://schemas.microsoft.com/office/drawing/2014/main" id="{75A0A0C7-CA0D-21EA-FB22-8D28286C45DA}"/>
              </a:ext>
            </a:extLst>
          </p:cNvPr>
          <p:cNvSpPr txBox="1"/>
          <p:nvPr/>
        </p:nvSpPr>
        <p:spPr>
          <a:xfrm>
            <a:off x="450877" y="5840879"/>
            <a:ext cx="9678388" cy="646331"/>
          </a:xfrm>
          <a:prstGeom prst="rect">
            <a:avLst/>
          </a:prstGeom>
          <a:noFill/>
        </p:spPr>
        <p:txBody>
          <a:bodyPr wrap="square">
            <a:spAutoFit/>
          </a:bodyPr>
          <a:lstStyle/>
          <a:p>
            <a:pPr lvl="1"/>
            <a:r>
              <a:rPr lang="en-US" dirty="0"/>
              <a:t>Finding </a:t>
            </a:r>
            <a:r>
              <a:rPr lang="en-US" dirty="0">
                <a:solidFill>
                  <a:srgbClr val="C00000"/>
                </a:solidFill>
              </a:rPr>
              <a:t>similarities between data </a:t>
            </a:r>
            <a:r>
              <a:rPr lang="en-US" dirty="0"/>
              <a:t>according to the </a:t>
            </a:r>
            <a:r>
              <a:rPr lang="en-US" dirty="0">
                <a:solidFill>
                  <a:srgbClr val="C00000"/>
                </a:solidFill>
              </a:rPr>
              <a:t>characteristics found in the data </a:t>
            </a:r>
            <a:r>
              <a:rPr lang="en-US" dirty="0"/>
              <a:t>and grouping similar data </a:t>
            </a:r>
            <a:r>
              <a:rPr lang="en-US" dirty="0">
                <a:solidFill>
                  <a:srgbClr val="C00000"/>
                </a:solidFill>
              </a:rPr>
              <a:t>objects</a:t>
            </a:r>
            <a:r>
              <a:rPr lang="en-US" dirty="0"/>
              <a:t> into </a:t>
            </a:r>
            <a:r>
              <a:rPr lang="en-US" dirty="0">
                <a:solidFill>
                  <a:srgbClr val="C00000"/>
                </a:solidFill>
              </a:rPr>
              <a:t>clusters</a:t>
            </a:r>
          </a:p>
        </p:txBody>
      </p:sp>
    </p:spTree>
    <p:extLst>
      <p:ext uri="{BB962C8B-B14F-4D97-AF65-F5344CB8AC3E}">
        <p14:creationId xmlns:p14="http://schemas.microsoft.com/office/powerpoint/2010/main" val="387659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6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1" nodeType="clickEffect">
                                  <p:stCondLst>
                                    <p:cond delay="0"/>
                                  </p:stCondLst>
                                  <p:childTnLst>
                                    <p:set>
                                      <p:cBhvr>
                                        <p:cTn id="110" dur="1" fill="hold">
                                          <p:stCondLst>
                                            <p:cond delay="0"/>
                                          </p:stCondLst>
                                        </p:cTn>
                                        <p:tgtEl>
                                          <p:spTgt spid="6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62" grpId="0" animBg="1"/>
      <p:bldP spid="63" grpId="0"/>
      <p:bldP spid="64" grpId="0"/>
      <p:bldP spid="64" grpId="1"/>
      <p:bldP spid="6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8AD6D-8269-9164-244B-796E926AC383}"/>
              </a:ext>
            </a:extLst>
          </p:cNvPr>
          <p:cNvSpPr>
            <a:spLocks noGrp="1"/>
          </p:cNvSpPr>
          <p:nvPr>
            <p:ph type="title"/>
          </p:nvPr>
        </p:nvSpPr>
        <p:spPr/>
        <p:txBody>
          <a:bodyPr/>
          <a:lstStyle/>
          <a:p>
            <a:r>
              <a:rPr lang="en-US" dirty="0"/>
              <a:t>Clustering</a:t>
            </a:r>
          </a:p>
        </p:txBody>
      </p:sp>
      <p:sp>
        <p:nvSpPr>
          <p:cNvPr id="3" name="Content Placeholder 2">
            <a:extLst>
              <a:ext uri="{FF2B5EF4-FFF2-40B4-BE49-F238E27FC236}">
                <a16:creationId xmlns:a16="http://schemas.microsoft.com/office/drawing/2014/main" id="{79C58CB6-224E-C23E-97FE-D6CE1F7B68D4}"/>
              </a:ext>
            </a:extLst>
          </p:cNvPr>
          <p:cNvSpPr>
            <a:spLocks noGrp="1"/>
          </p:cNvSpPr>
          <p:nvPr>
            <p:ph idx="1"/>
          </p:nvPr>
        </p:nvSpPr>
        <p:spPr>
          <a:xfrm>
            <a:off x="131180" y="863444"/>
            <a:ext cx="11929641" cy="4682333"/>
          </a:xfrm>
        </p:spPr>
        <p:txBody>
          <a:bodyPr/>
          <a:lstStyle/>
          <a:p>
            <a:r>
              <a:rPr lang="en-US" dirty="0">
                <a:solidFill>
                  <a:srgbClr val="C00000"/>
                </a:solidFill>
              </a:rPr>
              <a:t>Cluster analysis </a:t>
            </a:r>
            <a:r>
              <a:rPr lang="en-US" dirty="0"/>
              <a:t>or </a:t>
            </a:r>
            <a:r>
              <a:rPr lang="en-US" dirty="0">
                <a:solidFill>
                  <a:srgbClr val="C00000"/>
                </a:solidFill>
              </a:rPr>
              <a:t>simply clustering </a:t>
            </a:r>
            <a:r>
              <a:rPr lang="en-US" dirty="0"/>
              <a:t>is the process of </a:t>
            </a:r>
            <a:r>
              <a:rPr lang="en-US" dirty="0">
                <a:solidFill>
                  <a:srgbClr val="C00000"/>
                </a:solidFill>
              </a:rPr>
              <a:t>partitioning a set of data objects </a:t>
            </a:r>
            <a:r>
              <a:rPr lang="en-US" dirty="0"/>
              <a:t>(or observations) into </a:t>
            </a:r>
            <a:r>
              <a:rPr lang="en-US" dirty="0">
                <a:solidFill>
                  <a:srgbClr val="C00000"/>
                </a:solidFill>
              </a:rPr>
              <a:t>subsets</a:t>
            </a:r>
            <a:r>
              <a:rPr lang="en-US" dirty="0"/>
              <a:t>.</a:t>
            </a:r>
          </a:p>
          <a:p>
            <a:r>
              <a:rPr lang="en-US" dirty="0"/>
              <a:t>Each </a:t>
            </a:r>
            <a:r>
              <a:rPr lang="en-US" dirty="0">
                <a:solidFill>
                  <a:srgbClr val="C00000"/>
                </a:solidFill>
              </a:rPr>
              <a:t>subset</a:t>
            </a:r>
            <a:r>
              <a:rPr lang="en-US" dirty="0"/>
              <a:t> is a </a:t>
            </a:r>
            <a:r>
              <a:rPr lang="en-US" dirty="0">
                <a:solidFill>
                  <a:srgbClr val="C00000"/>
                </a:solidFill>
              </a:rPr>
              <a:t>cluster</a:t>
            </a:r>
            <a:r>
              <a:rPr lang="en-US" dirty="0"/>
              <a:t>.</a:t>
            </a:r>
          </a:p>
          <a:p>
            <a:r>
              <a:rPr lang="en-US" altLang="en-US" sz="2400" dirty="0">
                <a:solidFill>
                  <a:srgbClr val="C00000"/>
                </a:solidFill>
              </a:rPr>
              <a:t>Cluster</a:t>
            </a:r>
            <a:r>
              <a:rPr lang="en-US" altLang="en-US" sz="2400" dirty="0"/>
              <a:t> is a collection of </a:t>
            </a:r>
            <a:r>
              <a:rPr lang="en-US" altLang="en-US" sz="2400" dirty="0">
                <a:solidFill>
                  <a:srgbClr val="C00000"/>
                </a:solidFill>
              </a:rPr>
              <a:t>data objects</a:t>
            </a:r>
            <a:r>
              <a:rPr lang="en-US" altLang="en-US" sz="2400" dirty="0"/>
              <a:t>.</a:t>
            </a:r>
            <a:r>
              <a:rPr lang="en-US" dirty="0"/>
              <a:t> </a:t>
            </a:r>
          </a:p>
          <a:p>
            <a:pPr lvl="1"/>
            <a:r>
              <a:rPr lang="en-US" dirty="0"/>
              <a:t>Similar (or related) to one another within the same group</a:t>
            </a:r>
          </a:p>
          <a:p>
            <a:pPr lvl="1"/>
            <a:r>
              <a:rPr lang="en-US" dirty="0"/>
              <a:t>Dissimilar (or unrelated) to the objects in other groups</a:t>
            </a:r>
          </a:p>
          <a:p>
            <a:r>
              <a:rPr lang="en-US" dirty="0"/>
              <a:t>The set of clusters resulting from </a:t>
            </a:r>
            <a:r>
              <a:rPr lang="en-US" dirty="0">
                <a:solidFill>
                  <a:srgbClr val="C00000"/>
                </a:solidFill>
              </a:rPr>
              <a:t>a cluster analysis </a:t>
            </a:r>
            <a:r>
              <a:rPr lang="en-US" dirty="0"/>
              <a:t>can be referred to as a </a:t>
            </a:r>
            <a:r>
              <a:rPr lang="en-US" dirty="0">
                <a:solidFill>
                  <a:srgbClr val="C00000"/>
                </a:solidFill>
              </a:rPr>
              <a:t>clustering</a:t>
            </a:r>
            <a:r>
              <a:rPr lang="en-US" dirty="0"/>
              <a:t>. </a:t>
            </a:r>
          </a:p>
          <a:p>
            <a:r>
              <a:rPr lang="en-US" altLang="en-US" sz="2400" dirty="0">
                <a:solidFill>
                  <a:srgbClr val="C00000"/>
                </a:solidFill>
              </a:rPr>
              <a:t>Cluster analysis (or </a:t>
            </a:r>
            <a:r>
              <a:rPr lang="en-US" altLang="en-US" sz="2400" i="1" dirty="0">
                <a:solidFill>
                  <a:srgbClr val="C00000"/>
                </a:solidFill>
              </a:rPr>
              <a:t>clustering</a:t>
            </a:r>
            <a:r>
              <a:rPr lang="en-US" altLang="en-US" sz="2400" dirty="0">
                <a:solidFill>
                  <a:srgbClr val="C00000"/>
                </a:solidFill>
              </a:rPr>
              <a:t>, </a:t>
            </a:r>
            <a:r>
              <a:rPr lang="en-US" altLang="en-US" sz="2400" i="1" dirty="0">
                <a:solidFill>
                  <a:srgbClr val="C00000"/>
                </a:solidFill>
              </a:rPr>
              <a:t>data segmentation, …</a:t>
            </a:r>
            <a:r>
              <a:rPr lang="en-US" altLang="en-US" sz="2400" dirty="0">
                <a:solidFill>
                  <a:srgbClr val="C00000"/>
                </a:solidFill>
              </a:rPr>
              <a:t>)</a:t>
            </a:r>
          </a:p>
          <a:p>
            <a:pPr lvl="1"/>
            <a:r>
              <a:rPr lang="en-US" dirty="0"/>
              <a:t>Finding </a:t>
            </a:r>
            <a:r>
              <a:rPr lang="en-US" dirty="0">
                <a:solidFill>
                  <a:srgbClr val="C00000"/>
                </a:solidFill>
              </a:rPr>
              <a:t>similarities between data </a:t>
            </a:r>
            <a:r>
              <a:rPr lang="en-US" dirty="0"/>
              <a:t>according to the </a:t>
            </a:r>
            <a:r>
              <a:rPr lang="en-US" dirty="0">
                <a:solidFill>
                  <a:srgbClr val="C00000"/>
                </a:solidFill>
              </a:rPr>
              <a:t>characteristics found in the data </a:t>
            </a:r>
            <a:r>
              <a:rPr lang="en-US" dirty="0"/>
              <a:t>and grouping similar data </a:t>
            </a:r>
            <a:r>
              <a:rPr lang="en-US" dirty="0">
                <a:solidFill>
                  <a:srgbClr val="C00000"/>
                </a:solidFill>
              </a:rPr>
              <a:t>objects</a:t>
            </a:r>
            <a:r>
              <a:rPr lang="en-US" dirty="0"/>
              <a:t> into </a:t>
            </a:r>
            <a:r>
              <a:rPr lang="en-US" dirty="0">
                <a:solidFill>
                  <a:srgbClr val="C00000"/>
                </a:solidFill>
              </a:rPr>
              <a:t>clusters</a:t>
            </a:r>
          </a:p>
          <a:p>
            <a:r>
              <a:rPr lang="en-US" dirty="0"/>
              <a:t>Clustering is useful in that it can lead to the discovery of </a:t>
            </a:r>
            <a:r>
              <a:rPr lang="en-US" dirty="0">
                <a:solidFill>
                  <a:srgbClr val="C00000"/>
                </a:solidFill>
              </a:rPr>
              <a:t>previously unknown groups </a:t>
            </a:r>
            <a:r>
              <a:rPr lang="en-US" dirty="0"/>
              <a:t>within the </a:t>
            </a:r>
            <a:r>
              <a:rPr lang="en-US" dirty="0">
                <a:solidFill>
                  <a:srgbClr val="C00000"/>
                </a:solidFill>
              </a:rPr>
              <a:t>data</a:t>
            </a:r>
            <a:r>
              <a:rPr lang="en-US" dirty="0"/>
              <a:t>.</a:t>
            </a:r>
          </a:p>
          <a:p>
            <a:endParaRPr lang="en-US" dirty="0"/>
          </a:p>
        </p:txBody>
      </p:sp>
    </p:spTree>
    <p:extLst>
      <p:ext uri="{BB962C8B-B14F-4D97-AF65-F5344CB8AC3E}">
        <p14:creationId xmlns:p14="http://schemas.microsoft.com/office/powerpoint/2010/main" val="357315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DE2BF-FAC3-28DF-4E7D-E1895C8E42AC}"/>
              </a:ext>
            </a:extLst>
          </p:cNvPr>
          <p:cNvSpPr>
            <a:spLocks noGrp="1"/>
          </p:cNvSpPr>
          <p:nvPr>
            <p:ph type="title"/>
          </p:nvPr>
        </p:nvSpPr>
        <p:spPr/>
        <p:txBody>
          <a:bodyPr/>
          <a:lstStyle/>
          <a:p>
            <a:r>
              <a:rPr lang="en-US" dirty="0"/>
              <a:t>Clustering</a:t>
            </a:r>
          </a:p>
        </p:txBody>
      </p:sp>
      <p:sp>
        <p:nvSpPr>
          <p:cNvPr id="3" name="Content Placeholder 2">
            <a:extLst>
              <a:ext uri="{FF2B5EF4-FFF2-40B4-BE49-F238E27FC236}">
                <a16:creationId xmlns:a16="http://schemas.microsoft.com/office/drawing/2014/main" id="{4559266D-D5EF-C4C5-5926-1185076E885A}"/>
              </a:ext>
            </a:extLst>
          </p:cNvPr>
          <p:cNvSpPr>
            <a:spLocks noGrp="1"/>
          </p:cNvSpPr>
          <p:nvPr>
            <p:ph idx="1"/>
          </p:nvPr>
        </p:nvSpPr>
        <p:spPr/>
        <p:txBody>
          <a:bodyPr/>
          <a:lstStyle/>
          <a:p>
            <a:r>
              <a:rPr lang="en-US" dirty="0">
                <a:solidFill>
                  <a:srgbClr val="C00000"/>
                </a:solidFill>
              </a:rPr>
              <a:t>Unsupervised Learning</a:t>
            </a:r>
            <a:r>
              <a:rPr lang="en-US" dirty="0"/>
              <a:t>: no </a:t>
            </a:r>
            <a:r>
              <a:rPr lang="en-US" dirty="0">
                <a:solidFill>
                  <a:srgbClr val="C00000"/>
                </a:solidFill>
              </a:rPr>
              <a:t>predefined classes</a:t>
            </a:r>
            <a:r>
              <a:rPr lang="en-US" dirty="0"/>
              <a:t>. (i.e., learning by observations)(</a:t>
            </a:r>
            <a:r>
              <a:rPr lang="en-US" dirty="0">
                <a:solidFill>
                  <a:srgbClr val="C00000"/>
                </a:solidFill>
              </a:rPr>
              <a:t>Clustering</a:t>
            </a:r>
            <a:r>
              <a:rPr lang="en-US" dirty="0"/>
              <a:t>).</a:t>
            </a:r>
          </a:p>
          <a:p>
            <a:r>
              <a:rPr lang="en-US" dirty="0">
                <a:solidFill>
                  <a:srgbClr val="C00000"/>
                </a:solidFill>
              </a:rPr>
              <a:t>Supervised Learning: Predefined classes available</a:t>
            </a:r>
            <a:r>
              <a:rPr lang="en-US" dirty="0"/>
              <a:t>. (i.e., learning by examples) (</a:t>
            </a:r>
            <a:r>
              <a:rPr lang="en-US" dirty="0">
                <a:solidFill>
                  <a:srgbClr val="C00000"/>
                </a:solidFill>
              </a:rPr>
              <a:t>Classification</a:t>
            </a:r>
            <a:r>
              <a:rPr lang="en-US" dirty="0"/>
              <a:t>).</a:t>
            </a:r>
          </a:p>
          <a:p>
            <a:r>
              <a:rPr lang="en-US" dirty="0"/>
              <a:t>Clustering can also be used for </a:t>
            </a:r>
            <a:r>
              <a:rPr lang="en-US" dirty="0">
                <a:solidFill>
                  <a:srgbClr val="C00000"/>
                </a:solidFill>
              </a:rPr>
              <a:t>outlier detection</a:t>
            </a:r>
            <a:r>
              <a:rPr lang="en-US" dirty="0"/>
              <a:t>.</a:t>
            </a:r>
          </a:p>
          <a:p>
            <a:pPr lvl="1"/>
            <a:r>
              <a:rPr lang="en-US" dirty="0"/>
              <a:t>where </a:t>
            </a:r>
            <a:r>
              <a:rPr lang="en-US" dirty="0">
                <a:solidFill>
                  <a:srgbClr val="C00000"/>
                </a:solidFill>
              </a:rPr>
              <a:t>outliers</a:t>
            </a:r>
            <a:r>
              <a:rPr lang="en-US" dirty="0"/>
              <a:t> (values that are “far away” from any cluster) may be more </a:t>
            </a:r>
            <a:r>
              <a:rPr lang="en-US" dirty="0">
                <a:solidFill>
                  <a:srgbClr val="C00000"/>
                </a:solidFill>
              </a:rPr>
              <a:t>interesting</a:t>
            </a:r>
            <a:r>
              <a:rPr lang="en-US" dirty="0"/>
              <a:t> than </a:t>
            </a:r>
            <a:r>
              <a:rPr lang="en-US" dirty="0">
                <a:solidFill>
                  <a:srgbClr val="C00000"/>
                </a:solidFill>
              </a:rPr>
              <a:t>common cases</a:t>
            </a:r>
            <a:r>
              <a:rPr lang="en-US" dirty="0"/>
              <a:t>.</a:t>
            </a:r>
          </a:p>
          <a:p>
            <a:pPr lvl="1"/>
            <a:r>
              <a:rPr lang="en-US" dirty="0"/>
              <a:t>Applications of outlier detection include the detection of </a:t>
            </a:r>
            <a:r>
              <a:rPr lang="en-US" dirty="0">
                <a:solidFill>
                  <a:srgbClr val="C00000"/>
                </a:solidFill>
              </a:rPr>
              <a:t>credit card fraud </a:t>
            </a:r>
            <a:r>
              <a:rPr lang="en-US" dirty="0"/>
              <a:t>and the </a:t>
            </a:r>
            <a:r>
              <a:rPr lang="en-US" dirty="0">
                <a:solidFill>
                  <a:srgbClr val="C00000"/>
                </a:solidFill>
              </a:rPr>
              <a:t>monitoring of criminal activities</a:t>
            </a:r>
            <a:r>
              <a:rPr lang="en-US" dirty="0"/>
              <a:t> in electronic commerce.  </a:t>
            </a:r>
          </a:p>
          <a:p>
            <a:pPr marL="457200" lvl="1" indent="0">
              <a:buNone/>
            </a:pP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64596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593B-2E97-4ECD-BB17-9BF51DC36404}"/>
              </a:ext>
            </a:extLst>
          </p:cNvPr>
          <p:cNvSpPr>
            <a:spLocks noGrp="1"/>
          </p:cNvSpPr>
          <p:nvPr>
            <p:ph type="title"/>
          </p:nvPr>
        </p:nvSpPr>
        <p:spPr/>
        <p:txBody>
          <a:bodyPr/>
          <a:lstStyle/>
          <a:p>
            <a:r>
              <a:rPr lang="en-US" dirty="0"/>
              <a:t>Applications of Clustering</a:t>
            </a:r>
            <a:endParaRPr lang="en-IN" dirty="0"/>
          </a:p>
        </p:txBody>
      </p:sp>
      <p:sp>
        <p:nvSpPr>
          <p:cNvPr id="3" name="Content Placeholder 2">
            <a:extLst>
              <a:ext uri="{FF2B5EF4-FFF2-40B4-BE49-F238E27FC236}">
                <a16:creationId xmlns:a16="http://schemas.microsoft.com/office/drawing/2014/main" id="{FA45A70A-DE30-44EC-9687-62B20E34FD4E}"/>
              </a:ext>
            </a:extLst>
          </p:cNvPr>
          <p:cNvSpPr>
            <a:spLocks noGrp="1"/>
          </p:cNvSpPr>
          <p:nvPr>
            <p:ph idx="1"/>
          </p:nvPr>
        </p:nvSpPr>
        <p:spPr/>
        <p:txBody>
          <a:bodyPr/>
          <a:lstStyle/>
          <a:p>
            <a:r>
              <a:rPr lang="en-US" dirty="0"/>
              <a:t>Real life examples where we use </a:t>
            </a:r>
            <a:r>
              <a:rPr lang="en-US" dirty="0">
                <a:solidFill>
                  <a:srgbClr val="C00000"/>
                </a:solidFill>
              </a:rPr>
              <a:t>clustering</a:t>
            </a:r>
            <a:r>
              <a:rPr lang="en-US" dirty="0"/>
              <a:t>:</a:t>
            </a:r>
          </a:p>
          <a:p>
            <a:pPr lvl="1"/>
            <a:r>
              <a:rPr lang="en-US" b="1" dirty="0">
                <a:solidFill>
                  <a:srgbClr val="C00000"/>
                </a:solidFill>
              </a:rPr>
              <a:t>Marketing</a:t>
            </a:r>
            <a:endParaRPr lang="en-US" dirty="0">
              <a:solidFill>
                <a:srgbClr val="C00000"/>
              </a:solidFill>
            </a:endParaRPr>
          </a:p>
          <a:p>
            <a:pPr lvl="2"/>
            <a:r>
              <a:rPr lang="en-US" sz="2000" dirty="0"/>
              <a:t>Finding group of customers with </a:t>
            </a:r>
            <a:r>
              <a:rPr lang="en-US" sz="2000" dirty="0">
                <a:solidFill>
                  <a:srgbClr val="C00000"/>
                </a:solidFill>
              </a:rPr>
              <a:t>similar behavior </a:t>
            </a:r>
            <a:r>
              <a:rPr lang="en-US" sz="2000" dirty="0"/>
              <a:t>given a </a:t>
            </a:r>
            <a:r>
              <a:rPr lang="en-US" sz="2000" dirty="0">
                <a:solidFill>
                  <a:srgbClr val="C00000"/>
                </a:solidFill>
              </a:rPr>
              <a:t>large data-base of customers</a:t>
            </a:r>
            <a:r>
              <a:rPr lang="en-US" sz="2000" dirty="0"/>
              <a:t>. </a:t>
            </a:r>
          </a:p>
          <a:p>
            <a:pPr lvl="2"/>
            <a:r>
              <a:rPr lang="en-US" sz="2000" dirty="0"/>
              <a:t>Data containing </a:t>
            </a:r>
            <a:r>
              <a:rPr lang="en-US" sz="2000" dirty="0">
                <a:solidFill>
                  <a:srgbClr val="C00000"/>
                </a:solidFill>
              </a:rPr>
              <a:t>their properties and past buying records.</a:t>
            </a:r>
            <a:endParaRPr lang="en-US" sz="2000" dirty="0"/>
          </a:p>
          <a:p>
            <a:pPr lvl="1"/>
            <a:r>
              <a:rPr lang="en-US" b="1" dirty="0">
                <a:solidFill>
                  <a:srgbClr val="C00000"/>
                </a:solidFill>
              </a:rPr>
              <a:t>Biology</a:t>
            </a:r>
            <a:endParaRPr lang="en-US" dirty="0">
              <a:solidFill>
                <a:srgbClr val="C00000"/>
              </a:solidFill>
            </a:endParaRPr>
          </a:p>
          <a:p>
            <a:pPr lvl="2"/>
            <a:r>
              <a:rPr lang="en-US" sz="2000" dirty="0"/>
              <a:t>Classification of Plants and Animals Based on the </a:t>
            </a:r>
            <a:r>
              <a:rPr lang="en-US" sz="2000" dirty="0">
                <a:solidFill>
                  <a:srgbClr val="C00000"/>
                </a:solidFill>
              </a:rPr>
              <a:t>properties under observation.</a:t>
            </a:r>
            <a:endParaRPr lang="en-US" sz="2000" dirty="0"/>
          </a:p>
          <a:p>
            <a:pPr lvl="1"/>
            <a:r>
              <a:rPr lang="en-US" b="1" dirty="0">
                <a:solidFill>
                  <a:srgbClr val="C00000"/>
                </a:solidFill>
              </a:rPr>
              <a:t>Insurance</a:t>
            </a:r>
            <a:endParaRPr lang="en-US" dirty="0">
              <a:solidFill>
                <a:srgbClr val="C00000"/>
              </a:solidFill>
            </a:endParaRPr>
          </a:p>
          <a:p>
            <a:pPr lvl="2"/>
            <a:r>
              <a:rPr lang="en-US" sz="2000" dirty="0"/>
              <a:t>Identifying groups of car insurance policy holders with a high </a:t>
            </a:r>
            <a:r>
              <a:rPr lang="en-US" sz="2000" dirty="0">
                <a:solidFill>
                  <a:srgbClr val="C00000"/>
                </a:solidFill>
              </a:rPr>
              <a:t>average claim cost.</a:t>
            </a:r>
            <a:endParaRPr lang="en-US" sz="2000" dirty="0"/>
          </a:p>
          <a:p>
            <a:pPr lvl="1"/>
            <a:r>
              <a:rPr lang="en-US" b="1" dirty="0">
                <a:solidFill>
                  <a:srgbClr val="C00000"/>
                </a:solidFill>
              </a:rPr>
              <a:t>City-Planning</a:t>
            </a:r>
            <a:endParaRPr lang="en-US" dirty="0">
              <a:solidFill>
                <a:srgbClr val="C00000"/>
              </a:solidFill>
            </a:endParaRPr>
          </a:p>
          <a:p>
            <a:pPr lvl="2"/>
            <a:r>
              <a:rPr lang="en-US" sz="2000" dirty="0"/>
              <a:t>Groups of houses according to their house type, value and </a:t>
            </a:r>
            <a:r>
              <a:rPr lang="en-US" sz="2000" dirty="0">
                <a:solidFill>
                  <a:srgbClr val="C00000"/>
                </a:solidFill>
              </a:rPr>
              <a:t>geographical location.</a:t>
            </a:r>
            <a:endParaRPr lang="en-US" sz="2000" dirty="0"/>
          </a:p>
          <a:p>
            <a:pPr lvl="1" fontAlgn="base"/>
            <a:r>
              <a:rPr lang="en-US" b="1" dirty="0">
                <a:solidFill>
                  <a:srgbClr val="C00000"/>
                </a:solidFill>
              </a:rPr>
              <a:t>Libraries</a:t>
            </a:r>
          </a:p>
          <a:p>
            <a:pPr lvl="2" fontAlgn="base"/>
            <a:r>
              <a:rPr lang="en-US" sz="2000" dirty="0"/>
              <a:t>It is used in clustering different books on the basis of </a:t>
            </a:r>
            <a:r>
              <a:rPr lang="en-US" sz="2000" dirty="0">
                <a:solidFill>
                  <a:srgbClr val="C00000"/>
                </a:solidFill>
              </a:rPr>
              <a:t>topics and information</a:t>
            </a:r>
            <a:r>
              <a:rPr lang="en-US" sz="2000" dirty="0"/>
              <a:t>.</a:t>
            </a:r>
          </a:p>
          <a:p>
            <a:pPr lvl="1" fontAlgn="base"/>
            <a:r>
              <a:rPr lang="en-US" b="1" dirty="0">
                <a:solidFill>
                  <a:srgbClr val="C00000"/>
                </a:solidFill>
              </a:rPr>
              <a:t>Earthquake studies</a:t>
            </a:r>
          </a:p>
          <a:p>
            <a:pPr lvl="2" fontAlgn="base"/>
            <a:r>
              <a:rPr lang="en-US" sz="2000" dirty="0"/>
              <a:t>By learning the earthquake-affected areas we can determine the </a:t>
            </a:r>
            <a:r>
              <a:rPr lang="en-US" sz="2000" dirty="0">
                <a:solidFill>
                  <a:srgbClr val="C00000"/>
                </a:solidFill>
              </a:rPr>
              <a:t>dangerous zones</a:t>
            </a:r>
            <a:r>
              <a:rPr lang="en-US" sz="2000" dirty="0"/>
              <a:t>.</a:t>
            </a:r>
          </a:p>
        </p:txBody>
      </p:sp>
    </p:spTree>
    <p:extLst>
      <p:ext uri="{BB962C8B-B14F-4D97-AF65-F5344CB8AC3E}">
        <p14:creationId xmlns:p14="http://schemas.microsoft.com/office/powerpoint/2010/main" val="255658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71D46-87D9-B55E-4300-EE4A62CE8F96}"/>
              </a:ext>
            </a:extLst>
          </p:cNvPr>
          <p:cNvSpPr>
            <a:spLocks noGrp="1"/>
          </p:cNvSpPr>
          <p:nvPr>
            <p:ph type="title"/>
          </p:nvPr>
        </p:nvSpPr>
        <p:spPr/>
        <p:txBody>
          <a:bodyPr/>
          <a:lstStyle/>
          <a:p>
            <a:r>
              <a:rPr lang="en-US" dirty="0"/>
              <a:t>Good clustering Algorithm</a:t>
            </a:r>
          </a:p>
        </p:txBody>
      </p:sp>
      <p:sp>
        <p:nvSpPr>
          <p:cNvPr id="3" name="Content Placeholder 2">
            <a:extLst>
              <a:ext uri="{FF2B5EF4-FFF2-40B4-BE49-F238E27FC236}">
                <a16:creationId xmlns:a16="http://schemas.microsoft.com/office/drawing/2014/main" id="{CF7CCC7E-26A8-2EB9-D632-63149486EF8F}"/>
              </a:ext>
            </a:extLst>
          </p:cNvPr>
          <p:cNvSpPr>
            <a:spLocks noGrp="1"/>
          </p:cNvSpPr>
          <p:nvPr>
            <p:ph idx="1"/>
          </p:nvPr>
        </p:nvSpPr>
        <p:spPr/>
        <p:txBody>
          <a:bodyPr/>
          <a:lstStyle/>
          <a:p>
            <a:r>
              <a:rPr lang="en-US" dirty="0"/>
              <a:t>A good clustering method will </a:t>
            </a:r>
            <a:r>
              <a:rPr lang="en-US" dirty="0">
                <a:solidFill>
                  <a:srgbClr val="C00000"/>
                </a:solidFill>
              </a:rPr>
              <a:t>produce high quality clusters</a:t>
            </a:r>
          </a:p>
          <a:p>
            <a:pPr lvl="1"/>
            <a:r>
              <a:rPr lang="en-US" dirty="0"/>
              <a:t>high </a:t>
            </a:r>
            <a:r>
              <a:rPr lang="en-US" dirty="0">
                <a:solidFill>
                  <a:srgbClr val="C00000"/>
                </a:solidFill>
              </a:rPr>
              <a:t>intra-class similarity</a:t>
            </a:r>
            <a:r>
              <a:rPr lang="en-US" dirty="0"/>
              <a:t>: </a:t>
            </a:r>
            <a:r>
              <a:rPr lang="en-US" dirty="0">
                <a:solidFill>
                  <a:srgbClr val="C00000"/>
                </a:solidFill>
              </a:rPr>
              <a:t>cohesive</a:t>
            </a:r>
            <a:r>
              <a:rPr lang="en-US" dirty="0"/>
              <a:t> within clusters</a:t>
            </a:r>
          </a:p>
          <a:p>
            <a:pPr lvl="1"/>
            <a:r>
              <a:rPr lang="en-US" dirty="0"/>
              <a:t>low </a:t>
            </a:r>
            <a:r>
              <a:rPr lang="en-US" dirty="0">
                <a:solidFill>
                  <a:srgbClr val="C00000"/>
                </a:solidFill>
              </a:rPr>
              <a:t>inter-class similarity</a:t>
            </a:r>
            <a:r>
              <a:rPr lang="en-US" dirty="0"/>
              <a:t>: </a:t>
            </a:r>
            <a:r>
              <a:rPr lang="en-US" dirty="0">
                <a:solidFill>
                  <a:srgbClr val="C00000"/>
                </a:solidFill>
              </a:rPr>
              <a:t>distinctive</a:t>
            </a:r>
            <a:r>
              <a:rPr lang="en-US" dirty="0"/>
              <a:t> between clusters</a:t>
            </a:r>
          </a:p>
          <a:p>
            <a:endParaRPr lang="en-US" dirty="0"/>
          </a:p>
        </p:txBody>
      </p:sp>
    </p:spTree>
    <p:extLst>
      <p:ext uri="{BB962C8B-B14F-4D97-AF65-F5344CB8AC3E}">
        <p14:creationId xmlns:p14="http://schemas.microsoft.com/office/powerpoint/2010/main" val="228641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BBFC-64F1-B0B4-D3B3-DF6F8728E1AB}"/>
              </a:ext>
            </a:extLst>
          </p:cNvPr>
          <p:cNvSpPr>
            <a:spLocks noGrp="1"/>
          </p:cNvSpPr>
          <p:nvPr>
            <p:ph type="title"/>
          </p:nvPr>
        </p:nvSpPr>
        <p:spPr/>
        <p:txBody>
          <a:bodyPr>
            <a:normAutofit/>
          </a:bodyPr>
          <a:lstStyle/>
          <a:p>
            <a:r>
              <a:rPr lang="en-US" dirty="0"/>
              <a:t>Overview of Basic Clustering Methods : Partitioning methods  </a:t>
            </a:r>
          </a:p>
        </p:txBody>
      </p:sp>
      <p:sp>
        <p:nvSpPr>
          <p:cNvPr id="3" name="Content Placeholder 2">
            <a:extLst>
              <a:ext uri="{FF2B5EF4-FFF2-40B4-BE49-F238E27FC236}">
                <a16:creationId xmlns:a16="http://schemas.microsoft.com/office/drawing/2014/main" id="{9D0233B0-ED66-6EF2-2DAE-4A3C6981E607}"/>
              </a:ext>
            </a:extLst>
          </p:cNvPr>
          <p:cNvSpPr>
            <a:spLocks noGrp="1"/>
          </p:cNvSpPr>
          <p:nvPr>
            <p:ph idx="1"/>
          </p:nvPr>
        </p:nvSpPr>
        <p:spPr/>
        <p:txBody>
          <a:bodyPr/>
          <a:lstStyle/>
          <a:p>
            <a:r>
              <a:rPr lang="en-US" b="1" dirty="0">
                <a:solidFill>
                  <a:srgbClr val="C00000"/>
                </a:solidFill>
              </a:rPr>
              <a:t>Partitioning Methods</a:t>
            </a:r>
            <a:r>
              <a:rPr lang="en-US" dirty="0">
                <a:solidFill>
                  <a:srgbClr val="C00000"/>
                </a:solidFill>
              </a:rPr>
              <a:t>: </a:t>
            </a:r>
          </a:p>
          <a:p>
            <a:r>
              <a:rPr lang="en-US" dirty="0"/>
              <a:t>Given a </a:t>
            </a:r>
            <a:r>
              <a:rPr lang="en-US" dirty="0">
                <a:solidFill>
                  <a:srgbClr val="C00000"/>
                </a:solidFill>
              </a:rPr>
              <a:t>set of n objects</a:t>
            </a:r>
            <a:r>
              <a:rPr lang="en-US" dirty="0"/>
              <a:t>, a partitioning method </a:t>
            </a:r>
            <a:r>
              <a:rPr lang="en-US" dirty="0">
                <a:solidFill>
                  <a:srgbClr val="C00000"/>
                </a:solidFill>
              </a:rPr>
              <a:t>constructs k partitions of the data</a:t>
            </a:r>
            <a:r>
              <a:rPr lang="en-US" dirty="0"/>
              <a:t>, where each partition represents a </a:t>
            </a:r>
            <a:r>
              <a:rPr lang="en-US" dirty="0">
                <a:solidFill>
                  <a:srgbClr val="C00000"/>
                </a:solidFill>
              </a:rPr>
              <a:t>cluster</a:t>
            </a:r>
            <a:r>
              <a:rPr lang="en-US" dirty="0"/>
              <a:t> and k ≤ n. </a:t>
            </a:r>
          </a:p>
          <a:p>
            <a:r>
              <a:rPr lang="en-US" dirty="0"/>
              <a:t>It divides the data into </a:t>
            </a:r>
            <a:r>
              <a:rPr lang="en-US" dirty="0">
                <a:solidFill>
                  <a:srgbClr val="C00000"/>
                </a:solidFill>
              </a:rPr>
              <a:t>k groups </a:t>
            </a:r>
            <a:r>
              <a:rPr lang="en-US" dirty="0"/>
              <a:t>such that </a:t>
            </a:r>
            <a:r>
              <a:rPr lang="en-US" dirty="0">
                <a:solidFill>
                  <a:srgbClr val="C00000"/>
                </a:solidFill>
              </a:rPr>
              <a:t>each group must contain at least one object</a:t>
            </a:r>
            <a:r>
              <a:rPr lang="en-US" dirty="0"/>
              <a:t>.</a:t>
            </a:r>
          </a:p>
          <a:p>
            <a:r>
              <a:rPr lang="en-US" dirty="0"/>
              <a:t>It will find </a:t>
            </a:r>
            <a:r>
              <a:rPr lang="en-US" dirty="0">
                <a:solidFill>
                  <a:srgbClr val="C00000"/>
                </a:solidFill>
              </a:rPr>
              <a:t>mutually exclusive clusters </a:t>
            </a:r>
            <a:r>
              <a:rPr lang="en-US" dirty="0"/>
              <a:t>of </a:t>
            </a:r>
            <a:r>
              <a:rPr lang="en-US" dirty="0">
                <a:solidFill>
                  <a:srgbClr val="C00000"/>
                </a:solidFill>
              </a:rPr>
              <a:t>spherical shape</a:t>
            </a:r>
            <a:r>
              <a:rPr lang="en-US" dirty="0"/>
              <a:t>(</a:t>
            </a:r>
            <a:r>
              <a:rPr lang="en-IN" dirty="0"/>
              <a:t>each object must </a:t>
            </a:r>
            <a:r>
              <a:rPr lang="en-IN" dirty="0">
                <a:solidFill>
                  <a:srgbClr val="C00000"/>
                </a:solidFill>
              </a:rPr>
              <a:t>belong to exactly one group </a:t>
            </a:r>
            <a:r>
              <a:rPr lang="en-US" dirty="0"/>
              <a:t>).</a:t>
            </a:r>
          </a:p>
          <a:p>
            <a:r>
              <a:rPr lang="en-US" dirty="0"/>
              <a:t>Most </a:t>
            </a:r>
            <a:r>
              <a:rPr lang="en-US" dirty="0">
                <a:solidFill>
                  <a:srgbClr val="C00000"/>
                </a:solidFill>
              </a:rPr>
              <a:t>partitioning methods </a:t>
            </a:r>
            <a:r>
              <a:rPr lang="en-US" dirty="0"/>
              <a:t>are </a:t>
            </a:r>
            <a:r>
              <a:rPr lang="en-US" dirty="0">
                <a:solidFill>
                  <a:srgbClr val="C00000"/>
                </a:solidFill>
              </a:rPr>
              <a:t>distance-based</a:t>
            </a:r>
            <a:r>
              <a:rPr lang="en-US" dirty="0"/>
              <a:t>.</a:t>
            </a:r>
          </a:p>
          <a:p>
            <a:r>
              <a:rPr lang="en-US" dirty="0"/>
              <a:t>Given </a:t>
            </a:r>
            <a:r>
              <a:rPr lang="en-US" dirty="0">
                <a:solidFill>
                  <a:srgbClr val="C00000"/>
                </a:solidFill>
              </a:rPr>
              <a:t>k</a:t>
            </a:r>
            <a:r>
              <a:rPr lang="en-US" dirty="0"/>
              <a:t>, the number of </a:t>
            </a:r>
            <a:r>
              <a:rPr lang="en-US" dirty="0">
                <a:solidFill>
                  <a:srgbClr val="C00000"/>
                </a:solidFill>
              </a:rPr>
              <a:t>partitions to construct</a:t>
            </a:r>
            <a:r>
              <a:rPr lang="en-US" dirty="0"/>
              <a:t>, a </a:t>
            </a:r>
            <a:r>
              <a:rPr lang="en-US" dirty="0">
                <a:solidFill>
                  <a:srgbClr val="C00000"/>
                </a:solidFill>
              </a:rPr>
              <a:t>partitioning method creates an initial partitioning</a:t>
            </a:r>
            <a:r>
              <a:rPr lang="en-US" dirty="0"/>
              <a:t>. </a:t>
            </a:r>
          </a:p>
          <a:p>
            <a:r>
              <a:rPr lang="en-US" dirty="0"/>
              <a:t>It then uses an </a:t>
            </a:r>
            <a:r>
              <a:rPr lang="en-US" dirty="0">
                <a:solidFill>
                  <a:srgbClr val="C00000"/>
                </a:solidFill>
              </a:rPr>
              <a:t>iterative relocation technique </a:t>
            </a:r>
            <a:r>
              <a:rPr lang="en-US" dirty="0"/>
              <a:t>that attempts to </a:t>
            </a:r>
            <a:r>
              <a:rPr lang="en-US" dirty="0">
                <a:solidFill>
                  <a:srgbClr val="C00000"/>
                </a:solidFill>
              </a:rPr>
              <a:t>improve the partitioning </a:t>
            </a:r>
            <a:r>
              <a:rPr lang="en-US" dirty="0"/>
              <a:t>by moving </a:t>
            </a:r>
            <a:r>
              <a:rPr lang="en-US" dirty="0">
                <a:solidFill>
                  <a:srgbClr val="C00000"/>
                </a:solidFill>
              </a:rPr>
              <a:t>objects from one group to another</a:t>
            </a:r>
            <a:r>
              <a:rPr lang="en-US" dirty="0"/>
              <a:t>. </a:t>
            </a:r>
          </a:p>
          <a:p>
            <a:r>
              <a:rPr lang="en-US" dirty="0"/>
              <a:t>May use </a:t>
            </a:r>
            <a:r>
              <a:rPr lang="en-US" dirty="0">
                <a:solidFill>
                  <a:srgbClr val="C00000"/>
                </a:solidFill>
              </a:rPr>
              <a:t>mean or medoid (etc.) </a:t>
            </a:r>
            <a:r>
              <a:rPr lang="en-US" dirty="0"/>
              <a:t>to represent </a:t>
            </a:r>
            <a:r>
              <a:rPr lang="en-US" dirty="0">
                <a:solidFill>
                  <a:srgbClr val="C00000"/>
                </a:solidFill>
              </a:rPr>
              <a:t>cluster center</a:t>
            </a:r>
            <a:r>
              <a:rPr lang="en-US" dirty="0"/>
              <a:t>. </a:t>
            </a:r>
          </a:p>
          <a:p>
            <a:r>
              <a:rPr lang="en-US" dirty="0"/>
              <a:t>Effective for </a:t>
            </a:r>
            <a:r>
              <a:rPr lang="en-US" dirty="0">
                <a:solidFill>
                  <a:srgbClr val="C00000"/>
                </a:solidFill>
              </a:rPr>
              <a:t>small- to medium-size</a:t>
            </a:r>
            <a:r>
              <a:rPr lang="en-US" dirty="0"/>
              <a:t> data sets.</a:t>
            </a:r>
          </a:p>
          <a:p>
            <a:endParaRPr lang="en-US" dirty="0"/>
          </a:p>
        </p:txBody>
      </p:sp>
    </p:spTree>
    <p:extLst>
      <p:ext uri="{BB962C8B-B14F-4D97-AF65-F5344CB8AC3E}">
        <p14:creationId xmlns:p14="http://schemas.microsoft.com/office/powerpoint/2010/main" val="50579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BBFC-64F1-B0B4-D3B3-DF6F8728E1AB}"/>
              </a:ext>
            </a:extLst>
          </p:cNvPr>
          <p:cNvSpPr>
            <a:spLocks noGrp="1"/>
          </p:cNvSpPr>
          <p:nvPr>
            <p:ph type="title"/>
          </p:nvPr>
        </p:nvSpPr>
        <p:spPr/>
        <p:txBody>
          <a:bodyPr>
            <a:normAutofit/>
          </a:bodyPr>
          <a:lstStyle/>
          <a:p>
            <a:r>
              <a:rPr lang="en-US" dirty="0"/>
              <a:t>Hierarchical methods  </a:t>
            </a:r>
          </a:p>
        </p:txBody>
      </p:sp>
      <p:sp>
        <p:nvSpPr>
          <p:cNvPr id="3" name="Content Placeholder 2">
            <a:extLst>
              <a:ext uri="{FF2B5EF4-FFF2-40B4-BE49-F238E27FC236}">
                <a16:creationId xmlns:a16="http://schemas.microsoft.com/office/drawing/2014/main" id="{9D0233B0-ED66-6EF2-2DAE-4A3C6981E607}"/>
              </a:ext>
            </a:extLst>
          </p:cNvPr>
          <p:cNvSpPr>
            <a:spLocks noGrp="1"/>
          </p:cNvSpPr>
          <p:nvPr>
            <p:ph idx="1"/>
          </p:nvPr>
        </p:nvSpPr>
        <p:spPr/>
        <p:txBody>
          <a:bodyPr/>
          <a:lstStyle/>
          <a:p>
            <a:r>
              <a:rPr lang="en-US" b="1" dirty="0">
                <a:solidFill>
                  <a:srgbClr val="C00000"/>
                </a:solidFill>
              </a:rPr>
              <a:t>Hierarchical  Methods</a:t>
            </a:r>
            <a:r>
              <a:rPr lang="en-US" dirty="0">
                <a:solidFill>
                  <a:srgbClr val="C00000"/>
                </a:solidFill>
              </a:rPr>
              <a:t>: </a:t>
            </a:r>
          </a:p>
          <a:p>
            <a:r>
              <a:rPr lang="en-US" dirty="0"/>
              <a:t>A hierarchical method creates a </a:t>
            </a:r>
            <a:r>
              <a:rPr lang="en-US" dirty="0">
                <a:solidFill>
                  <a:srgbClr val="C00000"/>
                </a:solidFill>
              </a:rPr>
              <a:t>hierarchical decomposition </a:t>
            </a:r>
            <a:r>
              <a:rPr lang="en-US" dirty="0"/>
              <a:t>of the </a:t>
            </a:r>
            <a:r>
              <a:rPr lang="en-US" dirty="0">
                <a:solidFill>
                  <a:srgbClr val="C00000"/>
                </a:solidFill>
              </a:rPr>
              <a:t>given set of data objects</a:t>
            </a:r>
            <a:r>
              <a:rPr lang="en-US" dirty="0"/>
              <a:t>.</a:t>
            </a:r>
          </a:p>
          <a:p>
            <a:r>
              <a:rPr lang="en-US" dirty="0"/>
              <a:t>A hierarchical method can be classified as being either </a:t>
            </a:r>
            <a:r>
              <a:rPr lang="en-US" dirty="0">
                <a:solidFill>
                  <a:srgbClr val="C00000"/>
                </a:solidFill>
              </a:rPr>
              <a:t>agglomerative</a:t>
            </a:r>
            <a:r>
              <a:rPr lang="en-US" dirty="0"/>
              <a:t> or </a:t>
            </a:r>
            <a:r>
              <a:rPr lang="en-US" dirty="0">
                <a:solidFill>
                  <a:srgbClr val="C00000"/>
                </a:solidFill>
              </a:rPr>
              <a:t>divisive</a:t>
            </a:r>
            <a:r>
              <a:rPr lang="en-US" dirty="0"/>
              <a:t>, based on how the hierarchical </a:t>
            </a:r>
            <a:r>
              <a:rPr lang="en-US" dirty="0">
                <a:solidFill>
                  <a:srgbClr val="C00000"/>
                </a:solidFill>
              </a:rPr>
              <a:t>decomposition is formed</a:t>
            </a:r>
            <a:r>
              <a:rPr lang="en-US" dirty="0"/>
              <a:t>. </a:t>
            </a:r>
          </a:p>
          <a:p>
            <a:r>
              <a:rPr lang="en-US" dirty="0"/>
              <a:t>Agglomerative approach:</a:t>
            </a:r>
          </a:p>
          <a:p>
            <a:pPr lvl="1"/>
            <a:r>
              <a:rPr lang="en-US" dirty="0"/>
              <a:t>It also called </a:t>
            </a:r>
            <a:r>
              <a:rPr lang="en-US" dirty="0">
                <a:solidFill>
                  <a:srgbClr val="C00000"/>
                </a:solidFill>
              </a:rPr>
              <a:t>bottom-up approach</a:t>
            </a:r>
            <a:r>
              <a:rPr lang="en-US" dirty="0"/>
              <a:t>.</a:t>
            </a:r>
          </a:p>
          <a:p>
            <a:pPr lvl="1"/>
            <a:r>
              <a:rPr lang="en-IN" dirty="0"/>
              <a:t>It starts with each object forming a </a:t>
            </a:r>
            <a:r>
              <a:rPr lang="en-IN" dirty="0">
                <a:solidFill>
                  <a:srgbClr val="C00000"/>
                </a:solidFill>
              </a:rPr>
              <a:t>separate group</a:t>
            </a:r>
            <a:r>
              <a:rPr lang="en-IN" dirty="0"/>
              <a:t>.</a:t>
            </a:r>
          </a:p>
          <a:p>
            <a:pPr lvl="1"/>
            <a:r>
              <a:rPr lang="en-IN" dirty="0"/>
              <a:t>It </a:t>
            </a:r>
            <a:r>
              <a:rPr lang="en-IN" dirty="0">
                <a:solidFill>
                  <a:srgbClr val="C00000"/>
                </a:solidFill>
              </a:rPr>
              <a:t>successively merges </a:t>
            </a:r>
            <a:r>
              <a:rPr lang="en-IN" dirty="0"/>
              <a:t>the </a:t>
            </a:r>
            <a:r>
              <a:rPr lang="en-IN" dirty="0">
                <a:solidFill>
                  <a:srgbClr val="C00000"/>
                </a:solidFill>
              </a:rPr>
              <a:t>objects or groups </a:t>
            </a:r>
            <a:r>
              <a:rPr lang="en-IN" dirty="0"/>
              <a:t>close to </a:t>
            </a:r>
            <a:r>
              <a:rPr lang="en-IN" dirty="0">
                <a:solidFill>
                  <a:srgbClr val="C00000"/>
                </a:solidFill>
              </a:rPr>
              <a:t>one another</a:t>
            </a:r>
            <a:r>
              <a:rPr lang="en-IN" dirty="0"/>
              <a:t>, until all the groups are merged into one (the topmost level of the hierarchy), or a </a:t>
            </a:r>
            <a:r>
              <a:rPr lang="en-IN" dirty="0">
                <a:solidFill>
                  <a:srgbClr val="C00000"/>
                </a:solidFill>
              </a:rPr>
              <a:t>termination condition holds</a:t>
            </a:r>
            <a:r>
              <a:rPr lang="en-IN" dirty="0"/>
              <a:t>. </a:t>
            </a:r>
          </a:p>
          <a:p>
            <a:r>
              <a:rPr lang="en-US" dirty="0"/>
              <a:t>Divisive approach:</a:t>
            </a:r>
          </a:p>
          <a:p>
            <a:pPr lvl="1"/>
            <a:r>
              <a:rPr lang="en-US" dirty="0"/>
              <a:t>It also called </a:t>
            </a:r>
            <a:r>
              <a:rPr lang="en-US" dirty="0">
                <a:solidFill>
                  <a:srgbClr val="C00000"/>
                </a:solidFill>
              </a:rPr>
              <a:t>top-down approach</a:t>
            </a:r>
            <a:r>
              <a:rPr lang="en-US" dirty="0"/>
              <a:t>.</a:t>
            </a:r>
          </a:p>
          <a:p>
            <a:pPr lvl="1"/>
            <a:r>
              <a:rPr lang="en-US" dirty="0"/>
              <a:t>It starts with all the objects in the </a:t>
            </a:r>
            <a:r>
              <a:rPr lang="en-US" dirty="0">
                <a:solidFill>
                  <a:srgbClr val="C00000"/>
                </a:solidFill>
              </a:rPr>
              <a:t>same cluster</a:t>
            </a:r>
            <a:r>
              <a:rPr lang="en-US" dirty="0"/>
              <a:t>. </a:t>
            </a:r>
          </a:p>
          <a:p>
            <a:pPr lvl="1"/>
            <a:r>
              <a:rPr lang="en-US" dirty="0"/>
              <a:t>In each </a:t>
            </a:r>
            <a:r>
              <a:rPr lang="en-US" dirty="0">
                <a:solidFill>
                  <a:srgbClr val="C00000"/>
                </a:solidFill>
              </a:rPr>
              <a:t>successive iteration</a:t>
            </a:r>
            <a:r>
              <a:rPr lang="en-US" dirty="0"/>
              <a:t>, a cluster is split into </a:t>
            </a:r>
            <a:r>
              <a:rPr lang="en-US" dirty="0">
                <a:solidFill>
                  <a:srgbClr val="C00000"/>
                </a:solidFill>
              </a:rPr>
              <a:t>smaller clusters</a:t>
            </a:r>
            <a:r>
              <a:rPr lang="en-US" dirty="0"/>
              <a:t>, until eventually each object is in </a:t>
            </a:r>
            <a:r>
              <a:rPr lang="en-US" dirty="0">
                <a:solidFill>
                  <a:srgbClr val="C00000"/>
                </a:solidFill>
              </a:rPr>
              <a:t>one cluster</a:t>
            </a:r>
            <a:r>
              <a:rPr lang="en-US" dirty="0"/>
              <a:t>, or a </a:t>
            </a:r>
            <a:r>
              <a:rPr lang="en-US" dirty="0">
                <a:solidFill>
                  <a:srgbClr val="C00000"/>
                </a:solidFill>
              </a:rPr>
              <a:t>termination condition holds</a:t>
            </a:r>
            <a:r>
              <a:rPr lang="en-US" dirty="0"/>
              <a:t>. </a:t>
            </a:r>
          </a:p>
          <a:p>
            <a:endParaRPr lang="en-US" dirty="0"/>
          </a:p>
          <a:p>
            <a:endParaRPr lang="en-US" dirty="0"/>
          </a:p>
        </p:txBody>
      </p:sp>
    </p:spTree>
    <p:extLst>
      <p:ext uri="{BB962C8B-B14F-4D97-AF65-F5344CB8AC3E}">
        <p14:creationId xmlns:p14="http://schemas.microsoft.com/office/powerpoint/2010/main" val="338973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6292A-8A3A-F408-69E3-F47C3C649BAC}"/>
              </a:ext>
            </a:extLst>
          </p:cNvPr>
          <p:cNvSpPr>
            <a:spLocks noGrp="1"/>
          </p:cNvSpPr>
          <p:nvPr>
            <p:ph type="title"/>
          </p:nvPr>
        </p:nvSpPr>
        <p:spPr/>
        <p:txBody>
          <a:bodyPr/>
          <a:lstStyle/>
          <a:p>
            <a:r>
              <a:rPr lang="en-US" dirty="0"/>
              <a:t>Hierarchical methods </a:t>
            </a:r>
          </a:p>
        </p:txBody>
      </p:sp>
      <p:grpSp>
        <p:nvGrpSpPr>
          <p:cNvPr id="4" name="Group 4">
            <a:extLst>
              <a:ext uri="{FF2B5EF4-FFF2-40B4-BE49-F238E27FC236}">
                <a16:creationId xmlns:a16="http://schemas.microsoft.com/office/drawing/2014/main" id="{BD95C8C8-FBE6-242C-FE5B-77F8183AA608}"/>
              </a:ext>
            </a:extLst>
          </p:cNvPr>
          <p:cNvGrpSpPr>
            <a:grpSpLocks/>
          </p:cNvGrpSpPr>
          <p:nvPr/>
        </p:nvGrpSpPr>
        <p:grpSpPr bwMode="auto">
          <a:xfrm>
            <a:off x="567690" y="1074420"/>
            <a:ext cx="7140389" cy="3649663"/>
            <a:chOff x="1200" y="1776"/>
            <a:chExt cx="4336" cy="2299"/>
          </a:xfrm>
        </p:grpSpPr>
        <p:sp>
          <p:nvSpPr>
            <p:cNvPr id="5" name="Line 5">
              <a:extLst>
                <a:ext uri="{FF2B5EF4-FFF2-40B4-BE49-F238E27FC236}">
                  <a16:creationId xmlns:a16="http://schemas.microsoft.com/office/drawing/2014/main" id="{A74B3072-4083-BB04-E73F-EAD760680AC6}"/>
                </a:ext>
              </a:extLst>
            </p:cNvPr>
            <p:cNvSpPr>
              <a:spLocks noChangeShapeType="1"/>
            </p:cNvSpPr>
            <p:nvPr/>
          </p:nvSpPr>
          <p:spPr bwMode="auto">
            <a:xfrm>
              <a:off x="1200" y="2112"/>
              <a:ext cx="32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6" name="Group 6">
              <a:extLst>
                <a:ext uri="{FF2B5EF4-FFF2-40B4-BE49-F238E27FC236}">
                  <a16:creationId xmlns:a16="http://schemas.microsoft.com/office/drawing/2014/main" id="{4995C928-8DD1-C72A-ED01-2665EDF45774}"/>
                </a:ext>
              </a:extLst>
            </p:cNvPr>
            <p:cNvGrpSpPr>
              <a:grpSpLocks/>
            </p:cNvGrpSpPr>
            <p:nvPr/>
          </p:nvGrpSpPr>
          <p:grpSpPr bwMode="auto">
            <a:xfrm>
              <a:off x="1440" y="1785"/>
              <a:ext cx="480" cy="327"/>
              <a:chOff x="1104" y="1785"/>
              <a:chExt cx="480" cy="327"/>
            </a:xfrm>
          </p:grpSpPr>
          <p:sp>
            <p:nvSpPr>
              <p:cNvPr id="58" name="Line 7">
                <a:extLst>
                  <a:ext uri="{FF2B5EF4-FFF2-40B4-BE49-F238E27FC236}">
                    <a16:creationId xmlns:a16="http://schemas.microsoft.com/office/drawing/2014/main" id="{3C21CAF8-8500-B6FD-D371-2108374ADD88}"/>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Text Box 8">
                <a:extLst>
                  <a:ext uri="{FF2B5EF4-FFF2-40B4-BE49-F238E27FC236}">
                    <a16:creationId xmlns:a16="http://schemas.microsoft.com/office/drawing/2014/main" id="{35F09C75-3A78-458A-C03C-772450C31E5E}"/>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0</a:t>
                </a:r>
                <a:endParaRPr lang="en-US" altLang="zh-CN" sz="2400">
                  <a:latin typeface="+mn-lt"/>
                  <a:ea typeface="SimSun" panose="02010600030101010101" pitchFamily="2" charset="-122"/>
                </a:endParaRPr>
              </a:p>
            </p:txBody>
          </p:sp>
        </p:grpSp>
        <p:grpSp>
          <p:nvGrpSpPr>
            <p:cNvPr id="7" name="Group 9">
              <a:extLst>
                <a:ext uri="{FF2B5EF4-FFF2-40B4-BE49-F238E27FC236}">
                  <a16:creationId xmlns:a16="http://schemas.microsoft.com/office/drawing/2014/main" id="{E71C7776-D928-7D7C-5182-CE6EBF7F12F9}"/>
                </a:ext>
              </a:extLst>
            </p:cNvPr>
            <p:cNvGrpSpPr>
              <a:grpSpLocks/>
            </p:cNvGrpSpPr>
            <p:nvPr/>
          </p:nvGrpSpPr>
          <p:grpSpPr bwMode="auto">
            <a:xfrm>
              <a:off x="1968" y="1776"/>
              <a:ext cx="480" cy="327"/>
              <a:chOff x="1104" y="1785"/>
              <a:chExt cx="480" cy="327"/>
            </a:xfrm>
          </p:grpSpPr>
          <p:sp>
            <p:nvSpPr>
              <p:cNvPr id="56" name="Line 10">
                <a:extLst>
                  <a:ext uri="{FF2B5EF4-FFF2-40B4-BE49-F238E27FC236}">
                    <a16:creationId xmlns:a16="http://schemas.microsoft.com/office/drawing/2014/main" id="{E66E82E2-84B6-6DB5-A17F-22B64893220C}"/>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Text Box 11">
                <a:extLst>
                  <a:ext uri="{FF2B5EF4-FFF2-40B4-BE49-F238E27FC236}">
                    <a16:creationId xmlns:a16="http://schemas.microsoft.com/office/drawing/2014/main" id="{BDA06C99-EA30-653F-847D-F0E3109E0F6D}"/>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dirty="0">
                    <a:latin typeface="+mn-lt"/>
                    <a:ea typeface="SimSun" panose="02010600030101010101" pitchFamily="2" charset="-122"/>
                  </a:rPr>
                  <a:t>Step 1</a:t>
                </a:r>
                <a:endParaRPr lang="en-US" altLang="zh-CN" sz="2400" dirty="0">
                  <a:latin typeface="+mn-lt"/>
                  <a:ea typeface="SimSun" panose="02010600030101010101" pitchFamily="2" charset="-122"/>
                </a:endParaRPr>
              </a:p>
            </p:txBody>
          </p:sp>
        </p:grpSp>
        <p:grpSp>
          <p:nvGrpSpPr>
            <p:cNvPr id="8" name="Group 12">
              <a:extLst>
                <a:ext uri="{FF2B5EF4-FFF2-40B4-BE49-F238E27FC236}">
                  <a16:creationId xmlns:a16="http://schemas.microsoft.com/office/drawing/2014/main" id="{041FC6F8-7AD5-FA06-E5D3-87644524501D}"/>
                </a:ext>
              </a:extLst>
            </p:cNvPr>
            <p:cNvGrpSpPr>
              <a:grpSpLocks/>
            </p:cNvGrpSpPr>
            <p:nvPr/>
          </p:nvGrpSpPr>
          <p:grpSpPr bwMode="auto">
            <a:xfrm>
              <a:off x="2496" y="1776"/>
              <a:ext cx="480" cy="327"/>
              <a:chOff x="1104" y="1785"/>
              <a:chExt cx="480" cy="327"/>
            </a:xfrm>
          </p:grpSpPr>
          <p:sp>
            <p:nvSpPr>
              <p:cNvPr id="54" name="Line 13">
                <a:extLst>
                  <a:ext uri="{FF2B5EF4-FFF2-40B4-BE49-F238E27FC236}">
                    <a16:creationId xmlns:a16="http://schemas.microsoft.com/office/drawing/2014/main" id="{326336BA-19F8-3788-2AF4-E496D7726DA4}"/>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Text Box 14">
                <a:extLst>
                  <a:ext uri="{FF2B5EF4-FFF2-40B4-BE49-F238E27FC236}">
                    <a16:creationId xmlns:a16="http://schemas.microsoft.com/office/drawing/2014/main" id="{AAC2C37B-9895-B70F-7E44-9030F297A4A3}"/>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2</a:t>
                </a:r>
                <a:endParaRPr lang="en-US" altLang="zh-CN" sz="2400">
                  <a:latin typeface="+mn-lt"/>
                  <a:ea typeface="SimSun" panose="02010600030101010101" pitchFamily="2" charset="-122"/>
                </a:endParaRPr>
              </a:p>
            </p:txBody>
          </p:sp>
        </p:grpSp>
        <p:grpSp>
          <p:nvGrpSpPr>
            <p:cNvPr id="9" name="Group 15">
              <a:extLst>
                <a:ext uri="{FF2B5EF4-FFF2-40B4-BE49-F238E27FC236}">
                  <a16:creationId xmlns:a16="http://schemas.microsoft.com/office/drawing/2014/main" id="{BAB9B12B-624E-B203-720A-CE071431A5D8}"/>
                </a:ext>
              </a:extLst>
            </p:cNvPr>
            <p:cNvGrpSpPr>
              <a:grpSpLocks/>
            </p:cNvGrpSpPr>
            <p:nvPr/>
          </p:nvGrpSpPr>
          <p:grpSpPr bwMode="auto">
            <a:xfrm>
              <a:off x="2976" y="1776"/>
              <a:ext cx="480" cy="327"/>
              <a:chOff x="1104" y="1785"/>
              <a:chExt cx="480" cy="327"/>
            </a:xfrm>
          </p:grpSpPr>
          <p:sp>
            <p:nvSpPr>
              <p:cNvPr id="52" name="Line 16">
                <a:extLst>
                  <a:ext uri="{FF2B5EF4-FFF2-40B4-BE49-F238E27FC236}">
                    <a16:creationId xmlns:a16="http://schemas.microsoft.com/office/drawing/2014/main" id="{8C05C4FE-CFD7-D5F9-4910-DD1E8515DFBF}"/>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Text Box 17">
                <a:extLst>
                  <a:ext uri="{FF2B5EF4-FFF2-40B4-BE49-F238E27FC236}">
                    <a16:creationId xmlns:a16="http://schemas.microsoft.com/office/drawing/2014/main" id="{919FB728-E341-6D6F-126A-0DF6517D739E}"/>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dirty="0">
                    <a:latin typeface="+mn-lt"/>
                    <a:ea typeface="SimSun" panose="02010600030101010101" pitchFamily="2" charset="-122"/>
                  </a:rPr>
                  <a:t>Step 3</a:t>
                </a:r>
                <a:endParaRPr lang="en-US" altLang="zh-CN" sz="2400" dirty="0">
                  <a:latin typeface="+mn-lt"/>
                  <a:ea typeface="SimSun" panose="02010600030101010101" pitchFamily="2" charset="-122"/>
                </a:endParaRPr>
              </a:p>
            </p:txBody>
          </p:sp>
        </p:grpSp>
        <p:grpSp>
          <p:nvGrpSpPr>
            <p:cNvPr id="10" name="Group 18">
              <a:extLst>
                <a:ext uri="{FF2B5EF4-FFF2-40B4-BE49-F238E27FC236}">
                  <a16:creationId xmlns:a16="http://schemas.microsoft.com/office/drawing/2014/main" id="{CB736CAF-64A2-673D-4017-5894A14D2BE4}"/>
                </a:ext>
              </a:extLst>
            </p:cNvPr>
            <p:cNvGrpSpPr>
              <a:grpSpLocks/>
            </p:cNvGrpSpPr>
            <p:nvPr/>
          </p:nvGrpSpPr>
          <p:grpSpPr bwMode="auto">
            <a:xfrm>
              <a:off x="3456" y="1776"/>
              <a:ext cx="480" cy="327"/>
              <a:chOff x="1104" y="1785"/>
              <a:chExt cx="480" cy="327"/>
            </a:xfrm>
          </p:grpSpPr>
          <p:sp>
            <p:nvSpPr>
              <p:cNvPr id="50" name="Line 19">
                <a:extLst>
                  <a:ext uri="{FF2B5EF4-FFF2-40B4-BE49-F238E27FC236}">
                    <a16:creationId xmlns:a16="http://schemas.microsoft.com/office/drawing/2014/main" id="{15ED8269-E231-A2CB-8262-7A28C35FCE85}"/>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Text Box 20">
                <a:extLst>
                  <a:ext uri="{FF2B5EF4-FFF2-40B4-BE49-F238E27FC236}">
                    <a16:creationId xmlns:a16="http://schemas.microsoft.com/office/drawing/2014/main" id="{5A814026-F344-01CA-A765-5D24758E40F6}"/>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4</a:t>
                </a:r>
                <a:endParaRPr lang="en-US" altLang="zh-CN" sz="2400">
                  <a:latin typeface="+mn-lt"/>
                  <a:ea typeface="SimSun" panose="02010600030101010101" pitchFamily="2" charset="-122"/>
                </a:endParaRPr>
              </a:p>
            </p:txBody>
          </p:sp>
        </p:grpSp>
        <p:sp>
          <p:nvSpPr>
            <p:cNvPr id="11" name="Text Box 21">
              <a:extLst>
                <a:ext uri="{FF2B5EF4-FFF2-40B4-BE49-F238E27FC236}">
                  <a16:creationId xmlns:a16="http://schemas.microsoft.com/office/drawing/2014/main" id="{D2D98AD8-5E82-3605-D9A2-AC0CBD58C1E8}"/>
                </a:ext>
              </a:extLst>
            </p:cNvPr>
            <p:cNvSpPr txBox="1">
              <a:spLocks noChangeArrowheads="1"/>
            </p:cNvSpPr>
            <p:nvPr/>
          </p:nvSpPr>
          <p:spPr bwMode="auto">
            <a:xfrm>
              <a:off x="1440" y="25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b</a:t>
              </a:r>
            </a:p>
          </p:txBody>
        </p:sp>
        <p:sp>
          <p:nvSpPr>
            <p:cNvPr id="12" name="Text Box 22">
              <a:extLst>
                <a:ext uri="{FF2B5EF4-FFF2-40B4-BE49-F238E27FC236}">
                  <a16:creationId xmlns:a16="http://schemas.microsoft.com/office/drawing/2014/main" id="{E9220DCF-B67B-8977-1F79-FFBF7DC9AF2D}"/>
                </a:ext>
              </a:extLst>
            </p:cNvPr>
            <p:cNvSpPr txBox="1">
              <a:spLocks noChangeArrowheads="1"/>
            </p:cNvSpPr>
            <p:nvPr/>
          </p:nvSpPr>
          <p:spPr bwMode="auto">
            <a:xfrm>
              <a:off x="1440" y="31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d</a:t>
              </a:r>
            </a:p>
          </p:txBody>
        </p:sp>
        <p:sp>
          <p:nvSpPr>
            <p:cNvPr id="13" name="Text Box 23">
              <a:extLst>
                <a:ext uri="{FF2B5EF4-FFF2-40B4-BE49-F238E27FC236}">
                  <a16:creationId xmlns:a16="http://schemas.microsoft.com/office/drawing/2014/main" id="{79FC40A1-15CD-A058-8BE8-324FE2C21490}"/>
                </a:ext>
              </a:extLst>
            </p:cNvPr>
            <p:cNvSpPr txBox="1">
              <a:spLocks noChangeArrowheads="1"/>
            </p:cNvSpPr>
            <p:nvPr/>
          </p:nvSpPr>
          <p:spPr bwMode="auto">
            <a:xfrm>
              <a:off x="1440" y="28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c</a:t>
              </a:r>
            </a:p>
          </p:txBody>
        </p:sp>
        <p:sp>
          <p:nvSpPr>
            <p:cNvPr id="14" name="Text Box 24">
              <a:extLst>
                <a:ext uri="{FF2B5EF4-FFF2-40B4-BE49-F238E27FC236}">
                  <a16:creationId xmlns:a16="http://schemas.microsoft.com/office/drawing/2014/main" id="{E576E7D2-0D54-A52C-F9DF-4A1954092D6A}"/>
                </a:ext>
              </a:extLst>
            </p:cNvPr>
            <p:cNvSpPr txBox="1">
              <a:spLocks noChangeArrowheads="1"/>
            </p:cNvSpPr>
            <p:nvPr/>
          </p:nvSpPr>
          <p:spPr bwMode="auto">
            <a:xfrm>
              <a:off x="1440" y="34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e</a:t>
              </a:r>
            </a:p>
          </p:txBody>
        </p:sp>
        <p:sp>
          <p:nvSpPr>
            <p:cNvPr id="15" name="Text Box 25">
              <a:extLst>
                <a:ext uri="{FF2B5EF4-FFF2-40B4-BE49-F238E27FC236}">
                  <a16:creationId xmlns:a16="http://schemas.microsoft.com/office/drawing/2014/main" id="{D7DCAE20-D6A7-4299-D0F9-70A0BF642BCC}"/>
                </a:ext>
              </a:extLst>
            </p:cNvPr>
            <p:cNvSpPr txBox="1">
              <a:spLocks noChangeArrowheads="1"/>
            </p:cNvSpPr>
            <p:nvPr/>
          </p:nvSpPr>
          <p:spPr bwMode="auto">
            <a:xfrm>
              <a:off x="1440" y="22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a</a:t>
              </a:r>
            </a:p>
          </p:txBody>
        </p:sp>
        <p:sp>
          <p:nvSpPr>
            <p:cNvPr id="16" name="Oval 26">
              <a:extLst>
                <a:ext uri="{FF2B5EF4-FFF2-40B4-BE49-F238E27FC236}">
                  <a16:creationId xmlns:a16="http://schemas.microsoft.com/office/drawing/2014/main" id="{E99A81BE-2A54-8898-20E2-9E97A6756549}"/>
                </a:ext>
              </a:extLst>
            </p:cNvPr>
            <p:cNvSpPr>
              <a:spLocks noChangeArrowheads="1"/>
            </p:cNvSpPr>
            <p:nvPr/>
          </p:nvSpPr>
          <p:spPr bwMode="auto">
            <a:xfrm>
              <a:off x="1392" y="225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17" name="Oval 27">
              <a:extLst>
                <a:ext uri="{FF2B5EF4-FFF2-40B4-BE49-F238E27FC236}">
                  <a16:creationId xmlns:a16="http://schemas.microsoft.com/office/drawing/2014/main" id="{4F689FD7-4758-68C8-9655-99F8857B0B70}"/>
                </a:ext>
              </a:extLst>
            </p:cNvPr>
            <p:cNvSpPr>
              <a:spLocks noChangeArrowheads="1"/>
            </p:cNvSpPr>
            <p:nvPr/>
          </p:nvSpPr>
          <p:spPr bwMode="auto">
            <a:xfrm>
              <a:off x="1392" y="2544"/>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18" name="Oval 28">
              <a:extLst>
                <a:ext uri="{FF2B5EF4-FFF2-40B4-BE49-F238E27FC236}">
                  <a16:creationId xmlns:a16="http://schemas.microsoft.com/office/drawing/2014/main" id="{DEA8FB6E-6300-A3E5-41DE-D0B1F1A0F48D}"/>
                </a:ext>
              </a:extLst>
            </p:cNvPr>
            <p:cNvSpPr>
              <a:spLocks noChangeArrowheads="1"/>
            </p:cNvSpPr>
            <p:nvPr/>
          </p:nvSpPr>
          <p:spPr bwMode="auto">
            <a:xfrm>
              <a:off x="1392" y="283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19" name="Oval 29">
              <a:extLst>
                <a:ext uri="{FF2B5EF4-FFF2-40B4-BE49-F238E27FC236}">
                  <a16:creationId xmlns:a16="http://schemas.microsoft.com/office/drawing/2014/main" id="{83256A5F-928A-2EF6-3594-B15DD37E6630}"/>
                </a:ext>
              </a:extLst>
            </p:cNvPr>
            <p:cNvSpPr>
              <a:spLocks noChangeArrowheads="1"/>
            </p:cNvSpPr>
            <p:nvPr/>
          </p:nvSpPr>
          <p:spPr bwMode="auto">
            <a:xfrm>
              <a:off x="1392" y="312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0" name="Oval 30">
              <a:extLst>
                <a:ext uri="{FF2B5EF4-FFF2-40B4-BE49-F238E27FC236}">
                  <a16:creationId xmlns:a16="http://schemas.microsoft.com/office/drawing/2014/main" id="{18B9CA3F-B603-349E-A673-1BD5F3C1BD9C}"/>
                </a:ext>
              </a:extLst>
            </p:cNvPr>
            <p:cNvSpPr>
              <a:spLocks noChangeArrowheads="1"/>
            </p:cNvSpPr>
            <p:nvPr/>
          </p:nvSpPr>
          <p:spPr bwMode="auto">
            <a:xfrm>
              <a:off x="1392"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1" name="Text Box 31">
              <a:extLst>
                <a:ext uri="{FF2B5EF4-FFF2-40B4-BE49-F238E27FC236}">
                  <a16:creationId xmlns:a16="http://schemas.microsoft.com/office/drawing/2014/main" id="{F8D79736-9B08-A644-8804-952F05337AEF}"/>
                </a:ext>
              </a:extLst>
            </p:cNvPr>
            <p:cNvSpPr txBox="1">
              <a:spLocks noChangeArrowheads="1"/>
            </p:cNvSpPr>
            <p:nvPr/>
          </p:nvSpPr>
          <p:spPr bwMode="auto">
            <a:xfrm>
              <a:off x="1968" y="2304"/>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a b</a:t>
              </a:r>
            </a:p>
          </p:txBody>
        </p:sp>
        <p:sp>
          <p:nvSpPr>
            <p:cNvPr id="22" name="Oval 32">
              <a:extLst>
                <a:ext uri="{FF2B5EF4-FFF2-40B4-BE49-F238E27FC236}">
                  <a16:creationId xmlns:a16="http://schemas.microsoft.com/office/drawing/2014/main" id="{9DA4B276-4E7F-BBD7-862E-DB4D9A5CBE25}"/>
                </a:ext>
              </a:extLst>
            </p:cNvPr>
            <p:cNvSpPr>
              <a:spLocks noChangeArrowheads="1"/>
            </p:cNvSpPr>
            <p:nvPr/>
          </p:nvSpPr>
          <p:spPr bwMode="auto">
            <a:xfrm>
              <a:off x="1872" y="2352"/>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3" name="Text Box 33">
              <a:extLst>
                <a:ext uri="{FF2B5EF4-FFF2-40B4-BE49-F238E27FC236}">
                  <a16:creationId xmlns:a16="http://schemas.microsoft.com/office/drawing/2014/main" id="{606E2246-9917-31F1-8056-FDD9EED07801}"/>
                </a:ext>
              </a:extLst>
            </p:cNvPr>
            <p:cNvSpPr txBox="1">
              <a:spLocks noChangeArrowheads="1"/>
            </p:cNvSpPr>
            <p:nvPr/>
          </p:nvSpPr>
          <p:spPr bwMode="auto">
            <a:xfrm>
              <a:off x="2496" y="3216"/>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d e</a:t>
              </a:r>
            </a:p>
          </p:txBody>
        </p:sp>
        <p:sp>
          <p:nvSpPr>
            <p:cNvPr id="24" name="Oval 34">
              <a:extLst>
                <a:ext uri="{FF2B5EF4-FFF2-40B4-BE49-F238E27FC236}">
                  <a16:creationId xmlns:a16="http://schemas.microsoft.com/office/drawing/2014/main" id="{A0722806-E785-FB5D-5B54-508BA612C6FF}"/>
                </a:ext>
              </a:extLst>
            </p:cNvPr>
            <p:cNvSpPr>
              <a:spLocks noChangeArrowheads="1"/>
            </p:cNvSpPr>
            <p:nvPr/>
          </p:nvSpPr>
          <p:spPr bwMode="auto">
            <a:xfrm>
              <a:off x="2400" y="3264"/>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5" name="Text Box 35">
              <a:extLst>
                <a:ext uri="{FF2B5EF4-FFF2-40B4-BE49-F238E27FC236}">
                  <a16:creationId xmlns:a16="http://schemas.microsoft.com/office/drawing/2014/main" id="{DA8C00ED-CE78-E1C3-3B20-9DBAD0001AD2}"/>
                </a:ext>
              </a:extLst>
            </p:cNvPr>
            <p:cNvSpPr txBox="1">
              <a:spLocks noChangeArrowheads="1"/>
            </p:cNvSpPr>
            <p:nvPr/>
          </p:nvSpPr>
          <p:spPr bwMode="auto">
            <a:xfrm>
              <a:off x="2880" y="2928"/>
              <a:ext cx="4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c d e</a:t>
              </a:r>
            </a:p>
          </p:txBody>
        </p:sp>
        <p:sp>
          <p:nvSpPr>
            <p:cNvPr id="26" name="Oval 36">
              <a:extLst>
                <a:ext uri="{FF2B5EF4-FFF2-40B4-BE49-F238E27FC236}">
                  <a16:creationId xmlns:a16="http://schemas.microsoft.com/office/drawing/2014/main" id="{C14EB8C5-4324-C1BA-6814-B1208050ED4A}"/>
                </a:ext>
              </a:extLst>
            </p:cNvPr>
            <p:cNvSpPr>
              <a:spLocks noChangeArrowheads="1"/>
            </p:cNvSpPr>
            <p:nvPr/>
          </p:nvSpPr>
          <p:spPr bwMode="auto">
            <a:xfrm>
              <a:off x="2784" y="2928"/>
              <a:ext cx="62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7" name="Text Box 37">
              <a:extLst>
                <a:ext uri="{FF2B5EF4-FFF2-40B4-BE49-F238E27FC236}">
                  <a16:creationId xmlns:a16="http://schemas.microsoft.com/office/drawing/2014/main" id="{37881269-2964-E173-F526-71FB05682D10}"/>
                </a:ext>
              </a:extLst>
            </p:cNvPr>
            <p:cNvSpPr txBox="1">
              <a:spLocks noChangeArrowheads="1"/>
            </p:cNvSpPr>
            <p:nvPr/>
          </p:nvSpPr>
          <p:spPr bwMode="auto">
            <a:xfrm>
              <a:off x="3216" y="2592"/>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a b c d e</a:t>
              </a:r>
            </a:p>
          </p:txBody>
        </p:sp>
        <p:sp>
          <p:nvSpPr>
            <p:cNvPr id="28" name="Oval 38">
              <a:extLst>
                <a:ext uri="{FF2B5EF4-FFF2-40B4-BE49-F238E27FC236}">
                  <a16:creationId xmlns:a16="http://schemas.microsoft.com/office/drawing/2014/main" id="{1BDD00C0-0366-371B-4647-94025B789C85}"/>
                </a:ext>
              </a:extLst>
            </p:cNvPr>
            <p:cNvSpPr>
              <a:spLocks noChangeArrowheads="1"/>
            </p:cNvSpPr>
            <p:nvPr/>
          </p:nvSpPr>
          <p:spPr bwMode="auto">
            <a:xfrm>
              <a:off x="3120" y="2592"/>
              <a:ext cx="1008"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9" name="Line 39">
              <a:extLst>
                <a:ext uri="{FF2B5EF4-FFF2-40B4-BE49-F238E27FC236}">
                  <a16:creationId xmlns:a16="http://schemas.microsoft.com/office/drawing/2014/main" id="{9F9D2C17-5EBC-D2FA-9951-729C59D9D04D}"/>
                </a:ext>
              </a:extLst>
            </p:cNvPr>
            <p:cNvSpPr>
              <a:spLocks noChangeShapeType="1"/>
            </p:cNvSpPr>
            <p:nvPr/>
          </p:nvSpPr>
          <p:spPr bwMode="auto">
            <a:xfrm>
              <a:off x="1200" y="3753"/>
              <a:ext cx="321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40">
              <a:extLst>
                <a:ext uri="{FF2B5EF4-FFF2-40B4-BE49-F238E27FC236}">
                  <a16:creationId xmlns:a16="http://schemas.microsoft.com/office/drawing/2014/main" id="{93E5E6D5-6C1C-A5BB-E90F-AB6ED51F012C}"/>
                </a:ext>
              </a:extLst>
            </p:cNvPr>
            <p:cNvSpPr>
              <a:spLocks noChangeShapeType="1"/>
            </p:cNvSpPr>
            <p:nvPr/>
          </p:nvSpPr>
          <p:spPr bwMode="auto">
            <a:xfrm flipH="1">
              <a:off x="1536" y="3753"/>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41">
              <a:extLst>
                <a:ext uri="{FF2B5EF4-FFF2-40B4-BE49-F238E27FC236}">
                  <a16:creationId xmlns:a16="http://schemas.microsoft.com/office/drawing/2014/main" id="{A01A91D6-1E4F-B4F5-2514-CF2397E5A4FA}"/>
                </a:ext>
              </a:extLst>
            </p:cNvPr>
            <p:cNvSpPr txBox="1">
              <a:spLocks noChangeArrowheads="1"/>
            </p:cNvSpPr>
            <p:nvPr/>
          </p:nvSpPr>
          <p:spPr bwMode="auto">
            <a:xfrm>
              <a:off x="1440" y="38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4</a:t>
              </a:r>
              <a:endParaRPr lang="en-US" altLang="zh-CN" sz="2400">
                <a:latin typeface="+mn-lt"/>
                <a:ea typeface="SimSun" panose="02010600030101010101" pitchFamily="2" charset="-122"/>
              </a:endParaRPr>
            </a:p>
          </p:txBody>
        </p:sp>
        <p:sp>
          <p:nvSpPr>
            <p:cNvPr id="32" name="Line 42">
              <a:extLst>
                <a:ext uri="{FF2B5EF4-FFF2-40B4-BE49-F238E27FC236}">
                  <a16:creationId xmlns:a16="http://schemas.microsoft.com/office/drawing/2014/main" id="{B21A859E-6751-7272-F1B2-280079B4B92B}"/>
                </a:ext>
              </a:extLst>
            </p:cNvPr>
            <p:cNvSpPr>
              <a:spLocks noChangeShapeType="1"/>
            </p:cNvSpPr>
            <p:nvPr/>
          </p:nvSpPr>
          <p:spPr bwMode="auto">
            <a:xfrm flipH="1">
              <a:off x="2064"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Text Box 43">
              <a:extLst>
                <a:ext uri="{FF2B5EF4-FFF2-40B4-BE49-F238E27FC236}">
                  <a16:creationId xmlns:a16="http://schemas.microsoft.com/office/drawing/2014/main" id="{0BFB8EF3-2FBE-7E4B-339D-158ED68C32C2}"/>
                </a:ext>
              </a:extLst>
            </p:cNvPr>
            <p:cNvSpPr txBox="1">
              <a:spLocks noChangeArrowheads="1"/>
            </p:cNvSpPr>
            <p:nvPr/>
          </p:nvSpPr>
          <p:spPr bwMode="auto">
            <a:xfrm>
              <a:off x="1968"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3</a:t>
              </a:r>
              <a:endParaRPr lang="en-US" altLang="zh-CN" sz="2400">
                <a:latin typeface="+mn-lt"/>
                <a:ea typeface="SimSun" panose="02010600030101010101" pitchFamily="2" charset="-122"/>
              </a:endParaRPr>
            </a:p>
          </p:txBody>
        </p:sp>
        <p:sp>
          <p:nvSpPr>
            <p:cNvPr id="34" name="Line 44">
              <a:extLst>
                <a:ext uri="{FF2B5EF4-FFF2-40B4-BE49-F238E27FC236}">
                  <a16:creationId xmlns:a16="http://schemas.microsoft.com/office/drawing/2014/main" id="{71EB67AC-E50B-256C-E9AE-A0F04C310BD5}"/>
                </a:ext>
              </a:extLst>
            </p:cNvPr>
            <p:cNvSpPr>
              <a:spLocks noChangeShapeType="1"/>
            </p:cNvSpPr>
            <p:nvPr/>
          </p:nvSpPr>
          <p:spPr bwMode="auto">
            <a:xfrm flipH="1">
              <a:off x="259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Text Box 45">
              <a:extLst>
                <a:ext uri="{FF2B5EF4-FFF2-40B4-BE49-F238E27FC236}">
                  <a16:creationId xmlns:a16="http://schemas.microsoft.com/office/drawing/2014/main" id="{7D3DB67C-8A4F-C049-6142-0D7E5870B048}"/>
                </a:ext>
              </a:extLst>
            </p:cNvPr>
            <p:cNvSpPr txBox="1">
              <a:spLocks noChangeArrowheads="1"/>
            </p:cNvSpPr>
            <p:nvPr/>
          </p:nvSpPr>
          <p:spPr bwMode="auto">
            <a:xfrm>
              <a:off x="249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2</a:t>
              </a:r>
              <a:endParaRPr lang="en-US" altLang="zh-CN" sz="2400">
                <a:latin typeface="+mn-lt"/>
                <a:ea typeface="SimSun" panose="02010600030101010101" pitchFamily="2" charset="-122"/>
              </a:endParaRPr>
            </a:p>
          </p:txBody>
        </p:sp>
        <p:sp>
          <p:nvSpPr>
            <p:cNvPr id="36" name="Line 46">
              <a:extLst>
                <a:ext uri="{FF2B5EF4-FFF2-40B4-BE49-F238E27FC236}">
                  <a16:creationId xmlns:a16="http://schemas.microsoft.com/office/drawing/2014/main" id="{A0295A14-2878-6AE1-1866-25C69D27A565}"/>
                </a:ext>
              </a:extLst>
            </p:cNvPr>
            <p:cNvSpPr>
              <a:spLocks noChangeShapeType="1"/>
            </p:cNvSpPr>
            <p:nvPr/>
          </p:nvSpPr>
          <p:spPr bwMode="auto">
            <a:xfrm flipH="1">
              <a:off x="307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Text Box 47">
              <a:extLst>
                <a:ext uri="{FF2B5EF4-FFF2-40B4-BE49-F238E27FC236}">
                  <a16:creationId xmlns:a16="http://schemas.microsoft.com/office/drawing/2014/main" id="{2ACE4ABA-DA4C-7223-95BA-6550AB1DF0C6}"/>
                </a:ext>
              </a:extLst>
            </p:cNvPr>
            <p:cNvSpPr txBox="1">
              <a:spLocks noChangeArrowheads="1"/>
            </p:cNvSpPr>
            <p:nvPr/>
          </p:nvSpPr>
          <p:spPr bwMode="auto">
            <a:xfrm>
              <a:off x="297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1</a:t>
              </a:r>
              <a:endParaRPr lang="en-US" altLang="zh-CN" sz="2400">
                <a:latin typeface="+mn-lt"/>
                <a:ea typeface="SimSun" panose="02010600030101010101" pitchFamily="2" charset="-122"/>
              </a:endParaRPr>
            </a:p>
          </p:txBody>
        </p:sp>
        <p:sp>
          <p:nvSpPr>
            <p:cNvPr id="38" name="Line 48">
              <a:extLst>
                <a:ext uri="{FF2B5EF4-FFF2-40B4-BE49-F238E27FC236}">
                  <a16:creationId xmlns:a16="http://schemas.microsoft.com/office/drawing/2014/main" id="{228DE628-AE7D-F660-1761-C2C8A84D6A7F}"/>
                </a:ext>
              </a:extLst>
            </p:cNvPr>
            <p:cNvSpPr>
              <a:spLocks noChangeShapeType="1"/>
            </p:cNvSpPr>
            <p:nvPr/>
          </p:nvSpPr>
          <p:spPr bwMode="auto">
            <a:xfrm flipH="1">
              <a:off x="355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Text Box 49">
              <a:extLst>
                <a:ext uri="{FF2B5EF4-FFF2-40B4-BE49-F238E27FC236}">
                  <a16:creationId xmlns:a16="http://schemas.microsoft.com/office/drawing/2014/main" id="{5C5BCACB-8E98-DCEB-9943-8F0E819D75A4}"/>
                </a:ext>
              </a:extLst>
            </p:cNvPr>
            <p:cNvSpPr txBox="1">
              <a:spLocks noChangeArrowheads="1"/>
            </p:cNvSpPr>
            <p:nvPr/>
          </p:nvSpPr>
          <p:spPr bwMode="auto">
            <a:xfrm>
              <a:off x="345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0</a:t>
              </a:r>
              <a:endParaRPr lang="en-US" altLang="zh-CN" sz="2400">
                <a:latin typeface="+mn-lt"/>
                <a:ea typeface="SimSun" panose="02010600030101010101" pitchFamily="2" charset="-122"/>
              </a:endParaRPr>
            </a:p>
          </p:txBody>
        </p:sp>
        <p:sp>
          <p:nvSpPr>
            <p:cNvPr id="40" name="Line 50">
              <a:extLst>
                <a:ext uri="{FF2B5EF4-FFF2-40B4-BE49-F238E27FC236}">
                  <a16:creationId xmlns:a16="http://schemas.microsoft.com/office/drawing/2014/main" id="{ECE2FDB1-9E9D-79CA-9063-E6D0497450C5}"/>
                </a:ext>
              </a:extLst>
            </p:cNvPr>
            <p:cNvSpPr>
              <a:spLocks noChangeShapeType="1"/>
            </p:cNvSpPr>
            <p:nvPr/>
          </p:nvSpPr>
          <p:spPr bwMode="auto">
            <a:xfrm>
              <a:off x="1680" y="2352"/>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51">
              <a:extLst>
                <a:ext uri="{FF2B5EF4-FFF2-40B4-BE49-F238E27FC236}">
                  <a16:creationId xmlns:a16="http://schemas.microsoft.com/office/drawing/2014/main" id="{8AB72F10-7021-89E3-E9F0-031BE31A4ABC}"/>
                </a:ext>
              </a:extLst>
            </p:cNvPr>
            <p:cNvSpPr>
              <a:spLocks noChangeShapeType="1"/>
            </p:cNvSpPr>
            <p:nvPr/>
          </p:nvSpPr>
          <p:spPr bwMode="auto">
            <a:xfrm flipV="1">
              <a:off x="1680" y="244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52">
              <a:extLst>
                <a:ext uri="{FF2B5EF4-FFF2-40B4-BE49-F238E27FC236}">
                  <a16:creationId xmlns:a16="http://schemas.microsoft.com/office/drawing/2014/main" id="{E5913357-2974-D505-1944-909EAEF7B5A7}"/>
                </a:ext>
              </a:extLst>
            </p:cNvPr>
            <p:cNvSpPr>
              <a:spLocks noChangeShapeType="1"/>
            </p:cNvSpPr>
            <p:nvPr/>
          </p:nvSpPr>
          <p:spPr bwMode="auto">
            <a:xfrm>
              <a:off x="1680" y="3216"/>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53">
              <a:extLst>
                <a:ext uri="{FF2B5EF4-FFF2-40B4-BE49-F238E27FC236}">
                  <a16:creationId xmlns:a16="http://schemas.microsoft.com/office/drawing/2014/main" id="{459DB4C2-F04C-CAF3-CD3F-B62465FC661E}"/>
                </a:ext>
              </a:extLst>
            </p:cNvPr>
            <p:cNvSpPr>
              <a:spLocks noChangeShapeType="1"/>
            </p:cNvSpPr>
            <p:nvPr/>
          </p:nvSpPr>
          <p:spPr bwMode="auto">
            <a:xfrm flipV="1">
              <a:off x="1680" y="3360"/>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54">
              <a:extLst>
                <a:ext uri="{FF2B5EF4-FFF2-40B4-BE49-F238E27FC236}">
                  <a16:creationId xmlns:a16="http://schemas.microsoft.com/office/drawing/2014/main" id="{8E5D40B2-1E7D-D3F2-3450-EC42F0E900D4}"/>
                </a:ext>
              </a:extLst>
            </p:cNvPr>
            <p:cNvSpPr>
              <a:spLocks noChangeShapeType="1"/>
            </p:cNvSpPr>
            <p:nvPr/>
          </p:nvSpPr>
          <p:spPr bwMode="auto">
            <a:xfrm>
              <a:off x="1680" y="2976"/>
              <a:ext cx="110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55">
              <a:extLst>
                <a:ext uri="{FF2B5EF4-FFF2-40B4-BE49-F238E27FC236}">
                  <a16:creationId xmlns:a16="http://schemas.microsoft.com/office/drawing/2014/main" id="{13B74E3B-66B4-AE03-8B0F-E35488F49DCE}"/>
                </a:ext>
              </a:extLst>
            </p:cNvPr>
            <p:cNvSpPr>
              <a:spLocks noChangeShapeType="1"/>
            </p:cNvSpPr>
            <p:nvPr/>
          </p:nvSpPr>
          <p:spPr bwMode="auto">
            <a:xfrm flipV="1">
              <a:off x="2688" y="3072"/>
              <a:ext cx="9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56">
              <a:extLst>
                <a:ext uri="{FF2B5EF4-FFF2-40B4-BE49-F238E27FC236}">
                  <a16:creationId xmlns:a16="http://schemas.microsoft.com/office/drawing/2014/main" id="{76D3D100-9112-EA74-98F1-E60E32D6743E}"/>
                </a:ext>
              </a:extLst>
            </p:cNvPr>
            <p:cNvSpPr>
              <a:spLocks noChangeShapeType="1"/>
            </p:cNvSpPr>
            <p:nvPr/>
          </p:nvSpPr>
          <p:spPr bwMode="auto">
            <a:xfrm>
              <a:off x="2400" y="2496"/>
              <a:ext cx="72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57">
              <a:extLst>
                <a:ext uri="{FF2B5EF4-FFF2-40B4-BE49-F238E27FC236}">
                  <a16:creationId xmlns:a16="http://schemas.microsoft.com/office/drawing/2014/main" id="{6B0A05C1-5A32-B2D3-EE95-2C86180BE88E}"/>
                </a:ext>
              </a:extLst>
            </p:cNvPr>
            <p:cNvSpPr>
              <a:spLocks noChangeShapeType="1"/>
            </p:cNvSpPr>
            <p:nvPr/>
          </p:nvSpPr>
          <p:spPr bwMode="auto">
            <a:xfrm flipV="1">
              <a:off x="3072" y="2736"/>
              <a:ext cx="4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58">
              <a:extLst>
                <a:ext uri="{FF2B5EF4-FFF2-40B4-BE49-F238E27FC236}">
                  <a16:creationId xmlns:a16="http://schemas.microsoft.com/office/drawing/2014/main" id="{D4BB7659-969F-58DA-3517-654E7CF16F3C}"/>
                </a:ext>
              </a:extLst>
            </p:cNvPr>
            <p:cNvSpPr txBox="1">
              <a:spLocks noChangeArrowheads="1"/>
            </p:cNvSpPr>
            <p:nvPr/>
          </p:nvSpPr>
          <p:spPr bwMode="auto">
            <a:xfrm>
              <a:off x="4352" y="1824"/>
              <a:ext cx="118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b="1" dirty="0">
                  <a:latin typeface="+mn-lt"/>
                  <a:ea typeface="SimSun" panose="02010600030101010101" pitchFamily="2" charset="-122"/>
                </a:rPr>
                <a:t>agglomerative</a:t>
              </a:r>
            </a:p>
            <a:p>
              <a:pPr algn="ctr">
                <a:spcBef>
                  <a:spcPct val="0"/>
                </a:spcBef>
                <a:buClrTx/>
                <a:buSzTx/>
                <a:buFontTx/>
                <a:buNone/>
              </a:pPr>
              <a:r>
                <a:rPr lang="en-US" altLang="zh-CN" sz="2400" b="1" dirty="0">
                  <a:latin typeface="+mn-lt"/>
                  <a:ea typeface="SimSun" panose="02010600030101010101" pitchFamily="2" charset="-122"/>
                </a:rPr>
                <a:t>(AGNES)</a:t>
              </a:r>
            </a:p>
          </p:txBody>
        </p:sp>
        <p:sp>
          <p:nvSpPr>
            <p:cNvPr id="49" name="Text Box 59">
              <a:extLst>
                <a:ext uri="{FF2B5EF4-FFF2-40B4-BE49-F238E27FC236}">
                  <a16:creationId xmlns:a16="http://schemas.microsoft.com/office/drawing/2014/main" id="{71B4126B-A591-4352-62CA-9F009B54FFA8}"/>
                </a:ext>
              </a:extLst>
            </p:cNvPr>
            <p:cNvSpPr txBox="1">
              <a:spLocks noChangeArrowheads="1"/>
            </p:cNvSpPr>
            <p:nvPr/>
          </p:nvSpPr>
          <p:spPr bwMode="auto">
            <a:xfrm>
              <a:off x="4475" y="3552"/>
              <a:ext cx="72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b="1">
                  <a:latin typeface="+mn-lt"/>
                  <a:ea typeface="SimSun" panose="02010600030101010101" pitchFamily="2" charset="-122"/>
                </a:rPr>
                <a:t>divisive</a:t>
              </a:r>
            </a:p>
            <a:p>
              <a:pPr algn="ctr">
                <a:spcBef>
                  <a:spcPct val="0"/>
                </a:spcBef>
                <a:buClrTx/>
                <a:buSzTx/>
                <a:buFontTx/>
                <a:buNone/>
              </a:pPr>
              <a:r>
                <a:rPr lang="en-US" altLang="zh-CN" sz="2400" b="1">
                  <a:latin typeface="+mn-lt"/>
                  <a:ea typeface="SimSun" panose="02010600030101010101" pitchFamily="2" charset="-122"/>
                </a:rPr>
                <a:t>(DIANA)</a:t>
              </a:r>
              <a:endParaRPr lang="en-US" altLang="zh-CN" sz="2400">
                <a:latin typeface="+mn-lt"/>
                <a:ea typeface="SimSun" panose="02010600030101010101" pitchFamily="2" charset="-122"/>
              </a:endParaRPr>
            </a:p>
          </p:txBody>
        </p:sp>
      </p:grpSp>
    </p:spTree>
    <p:extLst>
      <p:ext uri="{BB962C8B-B14F-4D97-AF65-F5344CB8AC3E}">
        <p14:creationId xmlns:p14="http://schemas.microsoft.com/office/powerpoint/2010/main" val="18353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D5B43-0242-580C-7135-294D01B8A843}"/>
              </a:ext>
            </a:extLst>
          </p:cNvPr>
          <p:cNvSpPr>
            <a:spLocks noGrp="1"/>
          </p:cNvSpPr>
          <p:nvPr>
            <p:ph type="title"/>
          </p:nvPr>
        </p:nvSpPr>
        <p:spPr/>
        <p:txBody>
          <a:bodyPr>
            <a:normAutofit/>
          </a:bodyPr>
          <a:lstStyle/>
          <a:p>
            <a:r>
              <a:rPr lang="en-US" dirty="0"/>
              <a:t>Density-based methods </a:t>
            </a:r>
          </a:p>
        </p:txBody>
      </p:sp>
      <p:sp>
        <p:nvSpPr>
          <p:cNvPr id="3" name="Content Placeholder 2">
            <a:extLst>
              <a:ext uri="{FF2B5EF4-FFF2-40B4-BE49-F238E27FC236}">
                <a16:creationId xmlns:a16="http://schemas.microsoft.com/office/drawing/2014/main" id="{665C4ADB-774A-D0B1-7520-93375280327A}"/>
              </a:ext>
            </a:extLst>
          </p:cNvPr>
          <p:cNvSpPr>
            <a:spLocks noGrp="1"/>
          </p:cNvSpPr>
          <p:nvPr>
            <p:ph idx="1"/>
          </p:nvPr>
        </p:nvSpPr>
        <p:spPr/>
        <p:txBody>
          <a:bodyPr/>
          <a:lstStyle/>
          <a:p>
            <a:r>
              <a:rPr lang="en-US" b="1" dirty="0">
                <a:solidFill>
                  <a:srgbClr val="C00000"/>
                </a:solidFill>
              </a:rPr>
              <a:t>Density-based methods: </a:t>
            </a:r>
          </a:p>
          <a:p>
            <a:r>
              <a:rPr lang="en-US" dirty="0"/>
              <a:t>Distance based method </a:t>
            </a:r>
            <a:r>
              <a:rPr lang="en-US" dirty="0">
                <a:solidFill>
                  <a:srgbClr val="C00000"/>
                </a:solidFill>
              </a:rPr>
              <a:t>only find spherical-shaped</a:t>
            </a:r>
            <a:r>
              <a:rPr lang="en-US" dirty="0"/>
              <a:t> cluster and </a:t>
            </a:r>
            <a:r>
              <a:rPr lang="en-US" dirty="0">
                <a:solidFill>
                  <a:srgbClr val="C00000"/>
                </a:solidFill>
              </a:rPr>
              <a:t>encounter difficulty</a:t>
            </a:r>
            <a:r>
              <a:rPr lang="en-US" dirty="0"/>
              <a:t> in discovering </a:t>
            </a:r>
            <a:r>
              <a:rPr lang="en-US" dirty="0">
                <a:solidFill>
                  <a:srgbClr val="C00000"/>
                </a:solidFill>
              </a:rPr>
              <a:t>clusters of arbitrary shapes</a:t>
            </a:r>
            <a:r>
              <a:rPr lang="en-US" dirty="0"/>
              <a:t>.</a:t>
            </a:r>
          </a:p>
          <a:p>
            <a:r>
              <a:rPr lang="en-US" dirty="0"/>
              <a:t>It can find </a:t>
            </a:r>
            <a:r>
              <a:rPr lang="en-US" dirty="0">
                <a:solidFill>
                  <a:srgbClr val="C00000"/>
                </a:solidFill>
              </a:rPr>
              <a:t>arbitrarily shaped clusters</a:t>
            </a:r>
            <a:r>
              <a:rPr lang="en-US" dirty="0"/>
              <a:t>.</a:t>
            </a:r>
          </a:p>
          <a:p>
            <a:r>
              <a:rPr lang="en-US" dirty="0"/>
              <a:t>Clusters are </a:t>
            </a:r>
            <a:r>
              <a:rPr lang="en-US" dirty="0">
                <a:solidFill>
                  <a:srgbClr val="C00000"/>
                </a:solidFill>
              </a:rPr>
              <a:t>dense regions of objects</a:t>
            </a:r>
            <a:r>
              <a:rPr lang="en-US" dirty="0"/>
              <a:t> in </a:t>
            </a:r>
            <a:r>
              <a:rPr lang="en-US" dirty="0">
                <a:solidFill>
                  <a:srgbClr val="C00000"/>
                </a:solidFill>
              </a:rPr>
              <a:t>space</a:t>
            </a:r>
            <a:r>
              <a:rPr lang="en-US" dirty="0"/>
              <a:t> that are separated by </a:t>
            </a:r>
            <a:r>
              <a:rPr lang="en-US" dirty="0">
                <a:solidFill>
                  <a:srgbClr val="C00000"/>
                </a:solidFill>
              </a:rPr>
              <a:t>low-density regions</a:t>
            </a:r>
            <a:r>
              <a:rPr lang="en-US" dirty="0"/>
              <a:t>.</a:t>
            </a:r>
          </a:p>
          <a:p>
            <a:r>
              <a:rPr lang="en-US" dirty="0"/>
              <a:t>Cluster density: Each point must have a </a:t>
            </a:r>
            <a:r>
              <a:rPr lang="en-US" dirty="0">
                <a:solidFill>
                  <a:srgbClr val="C00000"/>
                </a:solidFill>
              </a:rPr>
              <a:t>minimum number </a:t>
            </a:r>
            <a:r>
              <a:rPr lang="en-US" dirty="0"/>
              <a:t>of points within its </a:t>
            </a:r>
            <a:r>
              <a:rPr lang="en-US" dirty="0">
                <a:solidFill>
                  <a:srgbClr val="C00000"/>
                </a:solidFill>
              </a:rPr>
              <a:t>“neighborhood”.</a:t>
            </a:r>
          </a:p>
          <a:p>
            <a:r>
              <a:rPr lang="en-US" dirty="0"/>
              <a:t>May filter out outliers. </a:t>
            </a:r>
          </a:p>
          <a:p>
            <a:endParaRPr lang="en-US" dirty="0"/>
          </a:p>
          <a:p>
            <a:endParaRPr lang="en-US" dirty="0"/>
          </a:p>
          <a:p>
            <a:endParaRPr lang="en-US" dirty="0"/>
          </a:p>
        </p:txBody>
      </p:sp>
    </p:spTree>
    <p:extLst>
      <p:ext uri="{BB962C8B-B14F-4D97-AF65-F5344CB8AC3E}">
        <p14:creationId xmlns:p14="http://schemas.microsoft.com/office/powerpoint/2010/main" val="402907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D5B43-0242-580C-7135-294D01B8A843}"/>
              </a:ext>
            </a:extLst>
          </p:cNvPr>
          <p:cNvSpPr>
            <a:spLocks noGrp="1"/>
          </p:cNvSpPr>
          <p:nvPr>
            <p:ph type="title"/>
          </p:nvPr>
        </p:nvSpPr>
        <p:spPr/>
        <p:txBody>
          <a:bodyPr>
            <a:normAutofit/>
          </a:bodyPr>
          <a:lstStyle/>
          <a:p>
            <a:r>
              <a:rPr lang="en-US" dirty="0"/>
              <a:t>Grid-based methods</a:t>
            </a:r>
          </a:p>
        </p:txBody>
      </p:sp>
      <p:sp>
        <p:nvSpPr>
          <p:cNvPr id="3" name="Content Placeholder 2">
            <a:extLst>
              <a:ext uri="{FF2B5EF4-FFF2-40B4-BE49-F238E27FC236}">
                <a16:creationId xmlns:a16="http://schemas.microsoft.com/office/drawing/2014/main" id="{665C4ADB-774A-D0B1-7520-93375280327A}"/>
              </a:ext>
            </a:extLst>
          </p:cNvPr>
          <p:cNvSpPr>
            <a:spLocks noGrp="1"/>
          </p:cNvSpPr>
          <p:nvPr>
            <p:ph idx="1"/>
          </p:nvPr>
        </p:nvSpPr>
        <p:spPr/>
        <p:txBody>
          <a:bodyPr/>
          <a:lstStyle/>
          <a:p>
            <a:r>
              <a:rPr lang="en-US" b="1" dirty="0">
                <a:solidFill>
                  <a:srgbClr val="C00000"/>
                </a:solidFill>
              </a:rPr>
              <a:t>Grid-based methods: </a:t>
            </a:r>
          </a:p>
          <a:p>
            <a:r>
              <a:rPr lang="en-US" dirty="0"/>
              <a:t>Grid-based methods </a:t>
            </a:r>
            <a:r>
              <a:rPr lang="en-US" dirty="0">
                <a:solidFill>
                  <a:srgbClr val="C00000"/>
                </a:solidFill>
              </a:rPr>
              <a:t>quantize</a:t>
            </a:r>
            <a:r>
              <a:rPr lang="en-US" dirty="0"/>
              <a:t> the object space into a </a:t>
            </a:r>
            <a:r>
              <a:rPr lang="en-US" dirty="0">
                <a:solidFill>
                  <a:srgbClr val="C00000"/>
                </a:solidFill>
              </a:rPr>
              <a:t>finite number of cells </a:t>
            </a:r>
            <a:r>
              <a:rPr lang="en-US" dirty="0"/>
              <a:t>that form a grid </a:t>
            </a:r>
            <a:r>
              <a:rPr lang="en-US" dirty="0">
                <a:solidFill>
                  <a:srgbClr val="C00000"/>
                </a:solidFill>
              </a:rPr>
              <a:t>structure</a:t>
            </a:r>
            <a:r>
              <a:rPr lang="en-US" dirty="0"/>
              <a:t>. </a:t>
            </a:r>
          </a:p>
          <a:p>
            <a:r>
              <a:rPr lang="en-US" dirty="0"/>
              <a:t>All the clustering operations are </a:t>
            </a:r>
            <a:r>
              <a:rPr lang="en-US" dirty="0">
                <a:solidFill>
                  <a:srgbClr val="C00000"/>
                </a:solidFill>
              </a:rPr>
              <a:t>performed</a:t>
            </a:r>
            <a:r>
              <a:rPr lang="en-US" dirty="0"/>
              <a:t> on the </a:t>
            </a:r>
            <a:r>
              <a:rPr lang="en-US" dirty="0">
                <a:solidFill>
                  <a:srgbClr val="C00000"/>
                </a:solidFill>
              </a:rPr>
              <a:t>grid structure</a:t>
            </a:r>
            <a:r>
              <a:rPr lang="en-US" dirty="0"/>
              <a:t>.</a:t>
            </a:r>
          </a:p>
          <a:p>
            <a:r>
              <a:rPr lang="en-US" dirty="0"/>
              <a:t>The main advantage of this approach is its </a:t>
            </a:r>
            <a:r>
              <a:rPr lang="en-US" dirty="0">
                <a:solidFill>
                  <a:srgbClr val="C00000"/>
                </a:solidFill>
              </a:rPr>
              <a:t>fast processing time</a:t>
            </a:r>
            <a:r>
              <a:rPr lang="en-US" dirty="0"/>
              <a:t>, which is typically independent of the </a:t>
            </a:r>
            <a:r>
              <a:rPr lang="en-US" dirty="0">
                <a:solidFill>
                  <a:srgbClr val="C00000"/>
                </a:solidFill>
              </a:rPr>
              <a:t>number of data objects </a:t>
            </a:r>
            <a:r>
              <a:rPr lang="en-US" dirty="0"/>
              <a:t>and </a:t>
            </a:r>
            <a:r>
              <a:rPr lang="en-US" dirty="0">
                <a:solidFill>
                  <a:srgbClr val="C00000"/>
                </a:solidFill>
              </a:rPr>
              <a:t>dependent only on the number of cells </a:t>
            </a:r>
            <a:r>
              <a:rPr lang="en-US" dirty="0"/>
              <a:t>in each dimension in the </a:t>
            </a:r>
            <a:r>
              <a:rPr lang="en-US" dirty="0">
                <a:solidFill>
                  <a:srgbClr val="C00000"/>
                </a:solidFill>
              </a:rPr>
              <a:t>quantized</a:t>
            </a:r>
            <a:r>
              <a:rPr lang="en-US" dirty="0"/>
              <a:t> space.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36577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0AE26-A8FC-4D2A-5D3D-E86D0133D25D}"/>
              </a:ext>
            </a:extLst>
          </p:cNvPr>
          <p:cNvSpPr>
            <a:spLocks noGrp="1"/>
          </p:cNvSpPr>
          <p:nvPr>
            <p:ph type="title"/>
          </p:nvPr>
        </p:nvSpPr>
        <p:spPr/>
        <p:txBody>
          <a:bodyPr>
            <a:normAutofit/>
          </a:bodyPr>
          <a:lstStyle/>
          <a:p>
            <a:r>
              <a:rPr lang="en-US" dirty="0"/>
              <a:t>Partitioning Methods: k-Means : A Centroid-Based Technique   </a:t>
            </a:r>
          </a:p>
        </p:txBody>
      </p:sp>
      <p:sp>
        <p:nvSpPr>
          <p:cNvPr id="3" name="Content Placeholder 2">
            <a:extLst>
              <a:ext uri="{FF2B5EF4-FFF2-40B4-BE49-F238E27FC236}">
                <a16:creationId xmlns:a16="http://schemas.microsoft.com/office/drawing/2014/main" id="{314D4330-1105-47F2-5DD0-2627D5EFEF77}"/>
              </a:ext>
            </a:extLst>
          </p:cNvPr>
          <p:cNvSpPr>
            <a:spLocks noGrp="1"/>
          </p:cNvSpPr>
          <p:nvPr>
            <p:ph idx="1"/>
          </p:nvPr>
        </p:nvSpPr>
        <p:spPr/>
        <p:txBody>
          <a:bodyPr/>
          <a:lstStyle/>
          <a:p>
            <a:r>
              <a:rPr lang="en-US" dirty="0"/>
              <a:t>The k-means algorithm defines the </a:t>
            </a:r>
            <a:r>
              <a:rPr lang="en-US" dirty="0">
                <a:solidFill>
                  <a:srgbClr val="C00000"/>
                </a:solidFill>
              </a:rPr>
              <a:t>centroid of a cluster as the mean</a:t>
            </a:r>
            <a:r>
              <a:rPr lang="en-US" dirty="0"/>
              <a:t> value of the points within the cluster. </a:t>
            </a:r>
          </a:p>
          <a:p>
            <a:r>
              <a:rPr lang="en-US" dirty="0"/>
              <a:t>First, it </a:t>
            </a:r>
            <a:r>
              <a:rPr lang="en-US" dirty="0">
                <a:solidFill>
                  <a:srgbClr val="C00000"/>
                </a:solidFill>
              </a:rPr>
              <a:t>randomly selects k </a:t>
            </a:r>
            <a:r>
              <a:rPr lang="en-US" dirty="0"/>
              <a:t>of the objects in D, each of which </a:t>
            </a:r>
            <a:r>
              <a:rPr lang="en-US" dirty="0">
                <a:solidFill>
                  <a:srgbClr val="C00000"/>
                </a:solidFill>
              </a:rPr>
              <a:t>initially represents a cluster mean or center</a:t>
            </a:r>
            <a:r>
              <a:rPr lang="en-US" dirty="0"/>
              <a:t>.</a:t>
            </a:r>
          </a:p>
          <a:p>
            <a:r>
              <a:rPr lang="en-US" dirty="0"/>
              <a:t>For each of the </a:t>
            </a:r>
            <a:r>
              <a:rPr lang="en-US" dirty="0">
                <a:solidFill>
                  <a:srgbClr val="C00000"/>
                </a:solidFill>
              </a:rPr>
              <a:t>remaining objects</a:t>
            </a:r>
            <a:r>
              <a:rPr lang="en-US" dirty="0"/>
              <a:t>, an </a:t>
            </a:r>
            <a:r>
              <a:rPr lang="en-US" dirty="0">
                <a:solidFill>
                  <a:srgbClr val="C00000"/>
                </a:solidFill>
              </a:rPr>
              <a:t>object is assigned to the cluster </a:t>
            </a:r>
            <a:r>
              <a:rPr lang="en-US" dirty="0"/>
              <a:t>to which it is the most similar, based on the Euclidean </a:t>
            </a:r>
            <a:r>
              <a:rPr lang="en-US" dirty="0">
                <a:solidFill>
                  <a:srgbClr val="C00000"/>
                </a:solidFill>
              </a:rPr>
              <a:t>distance between the object </a:t>
            </a:r>
            <a:r>
              <a:rPr lang="en-US" dirty="0"/>
              <a:t>and the </a:t>
            </a:r>
            <a:r>
              <a:rPr lang="en-US" dirty="0">
                <a:solidFill>
                  <a:srgbClr val="C00000"/>
                </a:solidFill>
              </a:rPr>
              <a:t>cluster mean. </a:t>
            </a:r>
          </a:p>
          <a:p>
            <a:r>
              <a:rPr lang="en-US" dirty="0"/>
              <a:t>For each cluster, it computes the new mean using the </a:t>
            </a:r>
            <a:r>
              <a:rPr lang="en-US" dirty="0">
                <a:solidFill>
                  <a:srgbClr val="C00000"/>
                </a:solidFill>
              </a:rPr>
              <a:t>objects assigned </a:t>
            </a:r>
            <a:r>
              <a:rPr lang="en-US" dirty="0"/>
              <a:t>to the cluster in the </a:t>
            </a:r>
            <a:r>
              <a:rPr lang="en-US" dirty="0">
                <a:solidFill>
                  <a:srgbClr val="C00000"/>
                </a:solidFill>
              </a:rPr>
              <a:t>previous iteration</a:t>
            </a:r>
            <a:r>
              <a:rPr lang="en-US" dirty="0"/>
              <a:t>. </a:t>
            </a:r>
          </a:p>
          <a:p>
            <a:r>
              <a:rPr lang="en-US" dirty="0"/>
              <a:t>The iterations continue until the </a:t>
            </a:r>
            <a:r>
              <a:rPr lang="en-US" dirty="0">
                <a:solidFill>
                  <a:srgbClr val="C00000"/>
                </a:solidFill>
              </a:rPr>
              <a:t>assignment is stable</a:t>
            </a:r>
            <a:r>
              <a:rPr lang="en-US" dirty="0"/>
              <a:t>, that is, the clusters formed in the current </a:t>
            </a:r>
            <a:r>
              <a:rPr lang="en-US" dirty="0">
                <a:solidFill>
                  <a:srgbClr val="C00000"/>
                </a:solidFill>
              </a:rPr>
              <a:t>round are the same as those formed in the previous round.</a:t>
            </a:r>
            <a:r>
              <a:rPr lang="en-US" dirty="0"/>
              <a:t> </a:t>
            </a:r>
          </a:p>
          <a:p>
            <a:endParaRPr lang="en-US" dirty="0"/>
          </a:p>
        </p:txBody>
      </p:sp>
    </p:spTree>
    <p:extLst>
      <p:ext uri="{BB962C8B-B14F-4D97-AF65-F5344CB8AC3E}">
        <p14:creationId xmlns:p14="http://schemas.microsoft.com/office/powerpoint/2010/main" val="184115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60DF-5321-ACBA-D81F-B1553C1CDE70}"/>
              </a:ext>
            </a:extLst>
          </p:cNvPr>
          <p:cNvSpPr>
            <a:spLocks noGrp="1"/>
          </p:cNvSpPr>
          <p:nvPr>
            <p:ph type="title"/>
          </p:nvPr>
        </p:nvSpPr>
        <p:spPr/>
        <p:txBody>
          <a:bodyPr/>
          <a:lstStyle/>
          <a:p>
            <a:r>
              <a:rPr lang="en-US" dirty="0"/>
              <a:t>k-Means : Algorithm</a:t>
            </a:r>
          </a:p>
        </p:txBody>
      </p:sp>
      <p:sp>
        <p:nvSpPr>
          <p:cNvPr id="4" name="TextBox 3">
            <a:extLst>
              <a:ext uri="{FF2B5EF4-FFF2-40B4-BE49-F238E27FC236}">
                <a16:creationId xmlns:a16="http://schemas.microsoft.com/office/drawing/2014/main" id="{6A0C94B8-2DA6-16BE-2873-87F60723D2C5}"/>
              </a:ext>
            </a:extLst>
          </p:cNvPr>
          <p:cNvSpPr txBox="1"/>
          <p:nvPr/>
        </p:nvSpPr>
        <p:spPr>
          <a:xfrm>
            <a:off x="186705" y="858799"/>
            <a:ext cx="11503724" cy="923330"/>
          </a:xfrm>
          <a:prstGeom prst="rect">
            <a:avLst/>
          </a:prstGeom>
          <a:solidFill>
            <a:schemeClr val="bg2">
              <a:lumMod val="95000"/>
            </a:schemeClr>
          </a:solidFill>
          <a:ln w="12700">
            <a:solidFill>
              <a:schemeClr val="tx1"/>
            </a:solidFill>
          </a:ln>
        </p:spPr>
        <p:txBody>
          <a:bodyPr wrap="square">
            <a:spAutoFit/>
          </a:bodyPr>
          <a:lstStyle/>
          <a:p>
            <a:pPr marL="0" indent="0">
              <a:buNone/>
            </a:pPr>
            <a:r>
              <a:rPr lang="en-IN" b="1" dirty="0">
                <a:solidFill>
                  <a:srgbClr val="C00000"/>
                </a:solidFill>
                <a:latin typeface="Consolas" panose="020B0609020204030204" pitchFamily="49" charset="0"/>
                <a:cs typeface="Consolas" panose="020B0609020204030204" pitchFamily="49" charset="0"/>
              </a:rPr>
              <a:t>INPUT:</a:t>
            </a:r>
          </a:p>
          <a:p>
            <a:r>
              <a:rPr lang="en-IN" b="1" dirty="0">
                <a:solidFill>
                  <a:srgbClr val="C00000"/>
                </a:solidFill>
                <a:latin typeface="Consolas" panose="020B0609020204030204" pitchFamily="49" charset="0"/>
                <a:cs typeface="Consolas" panose="020B0609020204030204" pitchFamily="49" charset="0"/>
              </a:rPr>
              <a:t>k: </a:t>
            </a:r>
            <a:r>
              <a:rPr lang="en-IN" b="1" dirty="0">
                <a:latin typeface="Consolas" panose="020B0609020204030204" pitchFamily="49" charset="0"/>
                <a:cs typeface="Consolas" panose="020B0609020204030204" pitchFamily="49" charset="0"/>
              </a:rPr>
              <a:t>the number of clusters,</a:t>
            </a:r>
            <a:br>
              <a:rPr lang="en-IN" b="1" dirty="0">
                <a:latin typeface="Consolas" panose="020B0609020204030204" pitchFamily="49" charset="0"/>
                <a:cs typeface="Consolas" panose="020B0609020204030204" pitchFamily="49" charset="0"/>
              </a:rPr>
            </a:br>
            <a:r>
              <a:rPr lang="en-IN" b="1" dirty="0">
                <a:solidFill>
                  <a:srgbClr val="C00000"/>
                </a:solidFill>
                <a:latin typeface="Consolas" panose="020B0609020204030204" pitchFamily="49" charset="0"/>
                <a:cs typeface="Consolas" panose="020B0609020204030204" pitchFamily="49" charset="0"/>
              </a:rPr>
              <a:t>D: </a:t>
            </a:r>
            <a:r>
              <a:rPr lang="en-IN" b="1" dirty="0">
                <a:latin typeface="Consolas" panose="020B0609020204030204" pitchFamily="49" charset="0"/>
                <a:cs typeface="Consolas" panose="020B0609020204030204" pitchFamily="49" charset="0"/>
              </a:rPr>
              <a:t>a data set containing n objects. </a:t>
            </a:r>
          </a:p>
        </p:txBody>
      </p:sp>
      <p:sp>
        <p:nvSpPr>
          <p:cNvPr id="5" name="TextBox 4">
            <a:extLst>
              <a:ext uri="{FF2B5EF4-FFF2-40B4-BE49-F238E27FC236}">
                <a16:creationId xmlns:a16="http://schemas.microsoft.com/office/drawing/2014/main" id="{B5BE1710-81A9-EDB6-5F49-FF7707210C8B}"/>
              </a:ext>
            </a:extLst>
          </p:cNvPr>
          <p:cNvSpPr txBox="1"/>
          <p:nvPr/>
        </p:nvSpPr>
        <p:spPr>
          <a:xfrm>
            <a:off x="186705" y="2062539"/>
            <a:ext cx="11503724" cy="646331"/>
          </a:xfrm>
          <a:prstGeom prst="rect">
            <a:avLst/>
          </a:prstGeom>
          <a:solidFill>
            <a:schemeClr val="bg2">
              <a:lumMod val="95000"/>
            </a:schemeClr>
          </a:solidFill>
          <a:ln w="12700">
            <a:solidFill>
              <a:schemeClr val="tx1"/>
            </a:solidFill>
          </a:ln>
        </p:spPr>
        <p:txBody>
          <a:bodyPr wrap="square">
            <a:spAutoFit/>
          </a:bodyPr>
          <a:lstStyle/>
          <a:p>
            <a:pPr marL="0" indent="0">
              <a:buNone/>
            </a:pPr>
            <a:r>
              <a:rPr lang="en-IN" b="1" dirty="0">
                <a:solidFill>
                  <a:srgbClr val="C00000"/>
                </a:solidFill>
                <a:latin typeface="Consolas" panose="020B0609020204030204" pitchFamily="49" charset="0"/>
                <a:cs typeface="Consolas" panose="020B0609020204030204" pitchFamily="49" charset="0"/>
              </a:rPr>
              <a:t>Output:</a:t>
            </a:r>
          </a:p>
          <a:p>
            <a:r>
              <a:rPr lang="en-IN" b="1" dirty="0">
                <a:solidFill>
                  <a:schemeClr val="tx1">
                    <a:lumMod val="90000"/>
                    <a:lumOff val="10000"/>
                  </a:schemeClr>
                </a:solidFill>
                <a:latin typeface="Consolas" panose="020B0609020204030204" pitchFamily="49" charset="0"/>
                <a:cs typeface="Consolas" panose="020B0609020204030204" pitchFamily="49" charset="0"/>
              </a:rPr>
              <a:t>A set of k clusters. </a:t>
            </a:r>
          </a:p>
        </p:txBody>
      </p:sp>
      <p:sp>
        <p:nvSpPr>
          <p:cNvPr id="6" name="TextBox 5">
            <a:extLst>
              <a:ext uri="{FF2B5EF4-FFF2-40B4-BE49-F238E27FC236}">
                <a16:creationId xmlns:a16="http://schemas.microsoft.com/office/drawing/2014/main" id="{51A0BEE5-CF11-CD11-EBCD-EF24F2794131}"/>
              </a:ext>
            </a:extLst>
          </p:cNvPr>
          <p:cNvSpPr txBox="1"/>
          <p:nvPr/>
        </p:nvSpPr>
        <p:spPr>
          <a:xfrm>
            <a:off x="186705" y="2989281"/>
            <a:ext cx="11503724" cy="2031325"/>
          </a:xfrm>
          <a:prstGeom prst="rect">
            <a:avLst/>
          </a:prstGeom>
          <a:solidFill>
            <a:schemeClr val="bg2">
              <a:lumMod val="95000"/>
            </a:schemeClr>
          </a:solidFill>
          <a:ln w="12700">
            <a:solidFill>
              <a:schemeClr val="tx1"/>
            </a:solidFill>
          </a:ln>
        </p:spPr>
        <p:txBody>
          <a:bodyPr wrap="square">
            <a:spAutoFit/>
          </a:bodyPr>
          <a:lstStyle/>
          <a:p>
            <a:r>
              <a:rPr lang="en-IN" b="1" dirty="0">
                <a:latin typeface="Consolas" panose="020B0609020204030204" pitchFamily="49" charset="0"/>
                <a:cs typeface="Consolas" panose="020B0609020204030204" pitchFamily="49" charset="0"/>
              </a:rPr>
              <a:t>arbitrarily choose </a:t>
            </a:r>
            <a:r>
              <a:rPr lang="en-IN" b="1" dirty="0">
                <a:solidFill>
                  <a:srgbClr val="C00000"/>
                </a:solidFill>
                <a:latin typeface="Consolas" panose="020B0609020204030204" pitchFamily="49" charset="0"/>
                <a:cs typeface="Consolas" panose="020B0609020204030204" pitchFamily="49" charset="0"/>
              </a:rPr>
              <a:t>k objects </a:t>
            </a:r>
            <a:r>
              <a:rPr lang="en-IN" b="1" dirty="0">
                <a:latin typeface="Consolas" panose="020B0609020204030204" pitchFamily="49" charset="0"/>
                <a:cs typeface="Consolas" panose="020B0609020204030204" pitchFamily="49" charset="0"/>
              </a:rPr>
              <a:t>from </a:t>
            </a:r>
            <a:r>
              <a:rPr lang="en-IN" b="1" dirty="0">
                <a:solidFill>
                  <a:srgbClr val="C00000"/>
                </a:solidFill>
                <a:latin typeface="Consolas" panose="020B0609020204030204" pitchFamily="49" charset="0"/>
                <a:cs typeface="Consolas" panose="020B0609020204030204" pitchFamily="49" charset="0"/>
              </a:rPr>
              <a:t>D</a:t>
            </a:r>
            <a:r>
              <a:rPr lang="en-IN" b="1" dirty="0">
                <a:latin typeface="Consolas" panose="020B0609020204030204" pitchFamily="49" charset="0"/>
                <a:cs typeface="Consolas" panose="020B0609020204030204" pitchFamily="49" charset="0"/>
              </a:rPr>
              <a:t> as the </a:t>
            </a:r>
            <a:r>
              <a:rPr lang="en-IN" b="1" dirty="0">
                <a:solidFill>
                  <a:srgbClr val="C00000"/>
                </a:solidFill>
                <a:latin typeface="Consolas" panose="020B0609020204030204" pitchFamily="49" charset="0"/>
                <a:cs typeface="Consolas" panose="020B0609020204030204" pitchFamily="49" charset="0"/>
              </a:rPr>
              <a:t>initial cluster </a:t>
            </a:r>
            <a:r>
              <a:rPr lang="en-IN" b="1" dirty="0" err="1">
                <a:solidFill>
                  <a:srgbClr val="C00000"/>
                </a:solidFill>
                <a:latin typeface="Consolas" panose="020B0609020204030204" pitchFamily="49" charset="0"/>
                <a:cs typeface="Consolas" panose="020B0609020204030204" pitchFamily="49" charset="0"/>
              </a:rPr>
              <a:t>centers</a:t>
            </a:r>
            <a:r>
              <a:rPr lang="en-IN" b="1" dirty="0">
                <a:latin typeface="Consolas" panose="020B0609020204030204" pitchFamily="49" charset="0"/>
                <a:cs typeface="Consolas" panose="020B0609020204030204" pitchFamily="49" charset="0"/>
              </a:rPr>
              <a:t>; </a:t>
            </a:r>
          </a:p>
          <a:p>
            <a:r>
              <a:rPr lang="en-IN" b="1" dirty="0">
                <a:solidFill>
                  <a:srgbClr val="00B050"/>
                </a:solidFill>
                <a:latin typeface="Consolas" panose="020B0609020204030204" pitchFamily="49" charset="0"/>
                <a:cs typeface="Consolas" panose="020B0609020204030204" pitchFamily="49" charset="0"/>
              </a:rPr>
              <a:t>repeat</a:t>
            </a:r>
            <a:r>
              <a:rPr lang="en-IN" b="1" dirty="0">
                <a:solidFill>
                  <a:schemeClr val="tx1">
                    <a:lumMod val="90000"/>
                    <a:lumOff val="10000"/>
                  </a:schemeClr>
                </a:solidFill>
                <a:latin typeface="Consolas" panose="020B0609020204030204" pitchFamily="49" charset="0"/>
                <a:cs typeface="Consolas" panose="020B0609020204030204" pitchFamily="49" charset="0"/>
              </a:rPr>
              <a:t> </a:t>
            </a:r>
          </a:p>
          <a:p>
            <a:pPr lvl="1"/>
            <a:r>
              <a:rPr lang="en-IN" b="1" dirty="0">
                <a:latin typeface="Consolas" panose="020B0609020204030204" pitchFamily="49" charset="0"/>
                <a:cs typeface="Consolas" panose="020B0609020204030204" pitchFamily="49" charset="0"/>
              </a:rPr>
              <a:t>(re)assign </a:t>
            </a:r>
            <a:r>
              <a:rPr lang="en-IN" b="1" dirty="0">
                <a:solidFill>
                  <a:srgbClr val="C00000"/>
                </a:solidFill>
                <a:latin typeface="Consolas" panose="020B0609020204030204" pitchFamily="49" charset="0"/>
                <a:cs typeface="Consolas" panose="020B0609020204030204" pitchFamily="49" charset="0"/>
              </a:rPr>
              <a:t>each object </a:t>
            </a:r>
            <a:r>
              <a:rPr lang="en-IN" b="1" dirty="0">
                <a:latin typeface="Consolas" panose="020B0609020204030204" pitchFamily="49" charset="0"/>
                <a:cs typeface="Consolas" panose="020B0609020204030204" pitchFamily="49" charset="0"/>
              </a:rPr>
              <a:t>to the cluster to which the </a:t>
            </a:r>
            <a:r>
              <a:rPr lang="en-IN" b="1" dirty="0">
                <a:solidFill>
                  <a:srgbClr val="C00000"/>
                </a:solidFill>
                <a:latin typeface="Consolas" panose="020B0609020204030204" pitchFamily="49" charset="0"/>
                <a:cs typeface="Consolas" panose="020B0609020204030204" pitchFamily="49" charset="0"/>
              </a:rPr>
              <a:t>object is the most similar</a:t>
            </a:r>
            <a:r>
              <a:rPr lang="en-IN" b="1" dirty="0">
                <a:latin typeface="Consolas" panose="020B0609020204030204" pitchFamily="49" charset="0"/>
                <a:cs typeface="Consolas" panose="020B0609020204030204" pitchFamily="49" charset="0"/>
              </a:rPr>
              <a:t>, based on the </a:t>
            </a:r>
            <a:r>
              <a:rPr lang="en-IN" b="1" dirty="0">
                <a:solidFill>
                  <a:srgbClr val="C00000"/>
                </a:solidFill>
                <a:latin typeface="Consolas" panose="020B0609020204030204" pitchFamily="49" charset="0"/>
                <a:cs typeface="Consolas" panose="020B0609020204030204" pitchFamily="49" charset="0"/>
              </a:rPr>
              <a:t>mean value of the objects in the cluster</a:t>
            </a:r>
            <a:r>
              <a:rPr lang="en-IN" b="1" dirty="0">
                <a:latin typeface="Consolas" panose="020B0609020204030204" pitchFamily="49" charset="0"/>
                <a:cs typeface="Consolas" panose="020B0609020204030204" pitchFamily="49" charset="0"/>
              </a:rPr>
              <a:t>; </a:t>
            </a:r>
          </a:p>
          <a:p>
            <a:pPr lvl="1"/>
            <a:r>
              <a:rPr lang="en-IN" b="1" dirty="0">
                <a:latin typeface="Consolas" panose="020B0609020204030204" pitchFamily="49" charset="0"/>
                <a:cs typeface="Consolas" panose="020B0609020204030204" pitchFamily="49" charset="0"/>
              </a:rPr>
              <a:t>update the </a:t>
            </a:r>
            <a:r>
              <a:rPr lang="en-IN" b="1" dirty="0">
                <a:solidFill>
                  <a:srgbClr val="C00000"/>
                </a:solidFill>
                <a:latin typeface="Consolas" panose="020B0609020204030204" pitchFamily="49" charset="0"/>
                <a:cs typeface="Consolas" panose="020B0609020204030204" pitchFamily="49" charset="0"/>
              </a:rPr>
              <a:t>cluster means</a:t>
            </a:r>
            <a:r>
              <a:rPr lang="en-IN" b="1" dirty="0">
                <a:latin typeface="Consolas" panose="020B0609020204030204" pitchFamily="49" charset="0"/>
                <a:cs typeface="Consolas" panose="020B0609020204030204" pitchFamily="49" charset="0"/>
              </a:rPr>
              <a:t>, that is, calculate the </a:t>
            </a:r>
            <a:r>
              <a:rPr lang="en-IN" b="1" dirty="0">
                <a:solidFill>
                  <a:srgbClr val="C00000"/>
                </a:solidFill>
                <a:latin typeface="Consolas" panose="020B0609020204030204" pitchFamily="49" charset="0"/>
                <a:cs typeface="Consolas" panose="020B0609020204030204" pitchFamily="49" charset="0"/>
              </a:rPr>
              <a:t>mean value of the objects for each cluster</a:t>
            </a:r>
            <a:r>
              <a:rPr lang="en-IN" b="1" dirty="0">
                <a:latin typeface="Consolas" panose="020B0609020204030204" pitchFamily="49" charset="0"/>
                <a:cs typeface="Consolas" panose="020B0609020204030204" pitchFamily="49" charset="0"/>
              </a:rPr>
              <a:t>; </a:t>
            </a:r>
          </a:p>
          <a:p>
            <a:r>
              <a:rPr lang="en-IN" b="1" dirty="0">
                <a:solidFill>
                  <a:srgbClr val="00B050"/>
                </a:solidFill>
                <a:latin typeface="Consolas" panose="020B0609020204030204" pitchFamily="49" charset="0"/>
                <a:cs typeface="Consolas" panose="020B0609020204030204" pitchFamily="49" charset="0"/>
              </a:rPr>
              <a:t>until</a:t>
            </a:r>
            <a:r>
              <a:rPr lang="en-IN" b="1" dirty="0">
                <a:latin typeface="Consolas" panose="020B0609020204030204" pitchFamily="49" charset="0"/>
                <a:cs typeface="Consolas" panose="020B0609020204030204" pitchFamily="49" charset="0"/>
              </a:rPr>
              <a:t> no change;</a:t>
            </a:r>
          </a:p>
        </p:txBody>
      </p:sp>
    </p:spTree>
    <p:extLst>
      <p:ext uri="{BB962C8B-B14F-4D97-AF65-F5344CB8AC3E}">
        <p14:creationId xmlns:p14="http://schemas.microsoft.com/office/powerpoint/2010/main" val="402415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593B-2E97-4ECD-BB17-9BF51DC36404}"/>
              </a:ext>
            </a:extLst>
          </p:cNvPr>
          <p:cNvSpPr>
            <a:spLocks noGrp="1"/>
          </p:cNvSpPr>
          <p:nvPr>
            <p:ph type="title"/>
          </p:nvPr>
        </p:nvSpPr>
        <p:spPr/>
        <p:txBody>
          <a:bodyPr>
            <a:normAutofit/>
          </a:bodyPr>
          <a:lstStyle/>
          <a:p>
            <a:r>
              <a:rPr lang="en-US" dirty="0"/>
              <a:t>k-Means : Algorithm Cont.. </a:t>
            </a:r>
            <a:endParaRPr lang="en-IN" dirty="0"/>
          </a:p>
        </p:txBody>
      </p:sp>
      <p:sp>
        <p:nvSpPr>
          <p:cNvPr id="3" name="Content Placeholder 2">
            <a:extLst>
              <a:ext uri="{FF2B5EF4-FFF2-40B4-BE49-F238E27FC236}">
                <a16:creationId xmlns:a16="http://schemas.microsoft.com/office/drawing/2014/main" id="{FA45A70A-DE30-44EC-9687-62B20E34FD4E}"/>
              </a:ext>
            </a:extLst>
          </p:cNvPr>
          <p:cNvSpPr>
            <a:spLocks noGrp="1"/>
          </p:cNvSpPr>
          <p:nvPr>
            <p:ph idx="1"/>
          </p:nvPr>
        </p:nvSpPr>
        <p:spPr/>
        <p:txBody>
          <a:bodyPr/>
          <a:lstStyle/>
          <a:p>
            <a:r>
              <a:rPr lang="en-US" dirty="0"/>
              <a:t>The initial partitioning can be done in a variety of ways.</a:t>
            </a:r>
          </a:p>
          <a:p>
            <a:r>
              <a:rPr lang="en-US" b="1" dirty="0"/>
              <a:t>Dynamically Chosen</a:t>
            </a:r>
          </a:p>
          <a:p>
            <a:pPr lvl="1"/>
            <a:r>
              <a:rPr lang="en-US" dirty="0"/>
              <a:t>This method is good when the amount of data is expected to grow. </a:t>
            </a:r>
          </a:p>
          <a:p>
            <a:pPr lvl="1"/>
            <a:r>
              <a:rPr lang="en-US" dirty="0"/>
              <a:t>The initial cluster means can simply be the first few items of data from the set. </a:t>
            </a:r>
          </a:p>
          <a:p>
            <a:pPr lvl="1"/>
            <a:r>
              <a:rPr lang="en-US" dirty="0"/>
              <a:t>For instance, if the data will be grouped into 3 clusters, then the initial cluster means will be the first 3 items of data.</a:t>
            </a:r>
          </a:p>
          <a:p>
            <a:r>
              <a:rPr lang="en-US" b="1" dirty="0"/>
              <a:t>Randomly Chosen</a:t>
            </a:r>
            <a:endParaRPr lang="en-US" dirty="0"/>
          </a:p>
          <a:p>
            <a:pPr lvl="1"/>
            <a:r>
              <a:rPr lang="en-US" dirty="0"/>
              <a:t>Almost self-explanatory, the initial cluster means are randomly chosen values within the same range as the highest and lowest of the data values.</a:t>
            </a:r>
          </a:p>
          <a:p>
            <a:r>
              <a:rPr lang="en-US" b="1" dirty="0"/>
              <a:t>Choosing from Upper and Lower Bounds</a:t>
            </a:r>
            <a:endParaRPr lang="en-US" dirty="0"/>
          </a:p>
          <a:p>
            <a:pPr lvl="1"/>
            <a:r>
              <a:rPr lang="en-US" dirty="0"/>
              <a:t>Depending on the types of data in the set, the highest and lowest of the data range are chosen as the initial cluster means. </a:t>
            </a:r>
          </a:p>
        </p:txBody>
      </p:sp>
    </p:spTree>
    <p:extLst>
      <p:ext uri="{BB962C8B-B14F-4D97-AF65-F5344CB8AC3E}">
        <p14:creationId xmlns:p14="http://schemas.microsoft.com/office/powerpoint/2010/main" val="304046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29C74-EC22-4792-911D-C13C671677A9}"/>
              </a:ext>
            </a:extLst>
          </p:cNvPr>
          <p:cNvSpPr>
            <a:spLocks noGrp="1"/>
          </p:cNvSpPr>
          <p:nvPr>
            <p:ph type="title"/>
          </p:nvPr>
        </p:nvSpPr>
        <p:spPr/>
        <p:txBody>
          <a:bodyPr>
            <a:normAutofit/>
          </a:bodyPr>
          <a:lstStyle/>
          <a:p>
            <a:r>
              <a:rPr lang="en-IN" dirty="0"/>
              <a:t>Clustering</a:t>
            </a:r>
          </a:p>
        </p:txBody>
      </p:sp>
      <p:pic>
        <p:nvPicPr>
          <p:cNvPr id="10" name="Content Placeholder 4">
            <a:extLst>
              <a:ext uri="{FF2B5EF4-FFF2-40B4-BE49-F238E27FC236}">
                <a16:creationId xmlns:a16="http://schemas.microsoft.com/office/drawing/2014/main" id="{0B00B54F-74B7-604E-034B-35E8DC123D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1364" y="1295766"/>
            <a:ext cx="4266467" cy="4266467"/>
          </a:xfrm>
        </p:spPr>
      </p:pic>
      <p:sp>
        <p:nvSpPr>
          <p:cNvPr id="11" name="TextBox 10">
            <a:extLst>
              <a:ext uri="{FF2B5EF4-FFF2-40B4-BE49-F238E27FC236}">
                <a16:creationId xmlns:a16="http://schemas.microsoft.com/office/drawing/2014/main" id="{2A11643C-0BDC-E6BC-B471-A3279F6EB4AA}"/>
              </a:ext>
            </a:extLst>
          </p:cNvPr>
          <p:cNvSpPr txBox="1"/>
          <p:nvPr/>
        </p:nvSpPr>
        <p:spPr>
          <a:xfrm>
            <a:off x="5725989" y="1975981"/>
            <a:ext cx="6123842" cy="2471446"/>
          </a:xfrm>
          <a:prstGeom prst="rect">
            <a:avLst/>
          </a:prstGeom>
          <a:noFill/>
        </p:spPr>
        <p:txBody>
          <a:bodyPr wrap="square">
            <a:spAutoFit/>
          </a:bodyPr>
          <a:lstStyle/>
          <a:p>
            <a:pPr marL="265113" indent="-265113" algn="just">
              <a:lnSpc>
                <a:spcPct val="90000"/>
              </a:lnSpc>
              <a:spcBef>
                <a:spcPts val="1000"/>
              </a:spcBef>
              <a:buClr>
                <a:schemeClr val="accent6"/>
              </a:buClr>
              <a:buFont typeface="Webdings" panose="05030102010509060703" pitchFamily="18" charset="2"/>
              <a:buChar char=""/>
            </a:pPr>
            <a:r>
              <a:rPr lang="en-US" sz="2400" dirty="0"/>
              <a:t>A clustered scatter plot. </a:t>
            </a:r>
          </a:p>
          <a:p>
            <a:pPr marL="265113" indent="-265113" algn="just">
              <a:lnSpc>
                <a:spcPct val="90000"/>
              </a:lnSpc>
              <a:spcBef>
                <a:spcPts val="1000"/>
              </a:spcBef>
              <a:buClr>
                <a:schemeClr val="accent6"/>
              </a:buClr>
              <a:buFont typeface="Webdings" panose="05030102010509060703" pitchFamily="18" charset="2"/>
              <a:buChar char=""/>
            </a:pPr>
            <a:r>
              <a:rPr lang="en-US" sz="2400" dirty="0"/>
              <a:t>The black dots are data points. </a:t>
            </a:r>
          </a:p>
          <a:p>
            <a:pPr marL="265113" indent="-265113" algn="just">
              <a:lnSpc>
                <a:spcPct val="90000"/>
              </a:lnSpc>
              <a:spcBef>
                <a:spcPts val="1000"/>
              </a:spcBef>
              <a:buClr>
                <a:schemeClr val="accent6"/>
              </a:buClr>
              <a:buFont typeface="Webdings" panose="05030102010509060703" pitchFamily="18" charset="2"/>
              <a:buChar char=""/>
            </a:pPr>
            <a:r>
              <a:rPr lang="en-US" sz="2400" dirty="0"/>
              <a:t>The red lines illustrate the partitions created by the k-means algorithm. </a:t>
            </a:r>
          </a:p>
          <a:p>
            <a:pPr marL="265113" indent="-265113" algn="just">
              <a:lnSpc>
                <a:spcPct val="90000"/>
              </a:lnSpc>
              <a:spcBef>
                <a:spcPts val="1000"/>
              </a:spcBef>
              <a:buClr>
                <a:schemeClr val="accent6"/>
              </a:buClr>
              <a:buFont typeface="Webdings" panose="05030102010509060703" pitchFamily="18" charset="2"/>
              <a:buChar char=""/>
            </a:pPr>
            <a:r>
              <a:rPr lang="en-US" sz="2400" dirty="0"/>
              <a:t>The blue dots represent the centroids which define the partitions.</a:t>
            </a:r>
            <a:endParaRPr lang="en-IN" sz="2400" dirty="0"/>
          </a:p>
        </p:txBody>
      </p:sp>
    </p:spTree>
    <p:extLst>
      <p:ext uri="{BB962C8B-B14F-4D97-AF65-F5344CB8AC3E}">
        <p14:creationId xmlns:p14="http://schemas.microsoft.com/office/powerpoint/2010/main" val="43514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fade">
                                      <p:cBhvr>
                                        <p:cTn id="17" dur="500"/>
                                        <p:tgtEl>
                                          <p:spTgt spid="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fade">
                                      <p:cBhvr>
                                        <p:cTn id="22" dur="500"/>
                                        <p:tgtEl>
                                          <p:spTgt spid="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animEffect transition="in" filter="fade">
                                      <p:cBhvr>
                                        <p:cTn id="27"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04F3B-A239-5080-05DA-5A81A3C5412C}"/>
              </a:ext>
            </a:extLst>
          </p:cNvPr>
          <p:cNvSpPr>
            <a:spLocks noGrp="1"/>
          </p:cNvSpPr>
          <p:nvPr>
            <p:ph type="title"/>
          </p:nvPr>
        </p:nvSpPr>
        <p:spPr/>
        <p:txBody>
          <a:bodyPr/>
          <a:lstStyle/>
          <a:p>
            <a:r>
              <a:rPr lang="en-US" dirty="0"/>
              <a:t>K-Mean Example</a:t>
            </a:r>
          </a:p>
        </p:txBody>
      </p:sp>
      <p:graphicFrame>
        <p:nvGraphicFramePr>
          <p:cNvPr id="4" name="Table 4">
            <a:extLst>
              <a:ext uri="{FF2B5EF4-FFF2-40B4-BE49-F238E27FC236}">
                <a16:creationId xmlns:a16="http://schemas.microsoft.com/office/drawing/2014/main" id="{6D563F90-4B7E-BC96-0C1A-F7F1392EACF4}"/>
              </a:ext>
            </a:extLst>
          </p:cNvPr>
          <p:cNvGraphicFramePr>
            <a:graphicFrameLocks noGrp="1"/>
          </p:cNvGraphicFramePr>
          <p:nvPr/>
        </p:nvGraphicFramePr>
        <p:xfrm>
          <a:off x="215078" y="921546"/>
          <a:ext cx="2516247" cy="3169920"/>
        </p:xfrm>
        <a:graphic>
          <a:graphicData uri="http://schemas.openxmlformats.org/drawingml/2006/table">
            <a:tbl>
              <a:tblPr firstRow="1" bandRow="1">
                <a:tableStyleId>{5940675A-B579-460E-94D1-54222C63F5DA}</a:tableStyleId>
              </a:tblPr>
              <a:tblGrid>
                <a:gridCol w="459206">
                  <a:extLst>
                    <a:ext uri="{9D8B030D-6E8A-4147-A177-3AD203B41FA5}">
                      <a16:colId xmlns:a16="http://schemas.microsoft.com/office/drawing/2014/main" val="743764763"/>
                    </a:ext>
                  </a:extLst>
                </a:gridCol>
                <a:gridCol w="1012012">
                  <a:extLst>
                    <a:ext uri="{9D8B030D-6E8A-4147-A177-3AD203B41FA5}">
                      <a16:colId xmlns:a16="http://schemas.microsoft.com/office/drawing/2014/main" val="2880955747"/>
                    </a:ext>
                  </a:extLst>
                </a:gridCol>
                <a:gridCol w="1045029">
                  <a:extLst>
                    <a:ext uri="{9D8B030D-6E8A-4147-A177-3AD203B41FA5}">
                      <a16:colId xmlns:a16="http://schemas.microsoft.com/office/drawing/2014/main" val="584431794"/>
                    </a:ext>
                  </a:extLst>
                </a:gridCol>
              </a:tblGrid>
              <a:tr h="370840">
                <a:tc>
                  <a:txBody>
                    <a:bodyPr/>
                    <a:lstStyle/>
                    <a:p>
                      <a:pPr algn="ctr"/>
                      <a:r>
                        <a:rPr lang="en-US" sz="2000" dirty="0"/>
                        <a:t>Sr.</a:t>
                      </a:r>
                    </a:p>
                  </a:txBody>
                  <a:tcPr/>
                </a:tc>
                <a:tc>
                  <a:txBody>
                    <a:bodyPr/>
                    <a:lstStyle/>
                    <a:p>
                      <a:pPr algn="ctr"/>
                      <a:r>
                        <a:rPr lang="en-US" sz="2000" dirty="0"/>
                        <a:t>X</a:t>
                      </a:r>
                    </a:p>
                  </a:txBody>
                  <a:tcPr/>
                </a:tc>
                <a:tc>
                  <a:txBody>
                    <a:bodyPr/>
                    <a:lstStyle/>
                    <a:p>
                      <a:pPr algn="ctr"/>
                      <a:r>
                        <a:rPr lang="en-US" sz="2000" dirty="0"/>
                        <a:t>Y</a:t>
                      </a:r>
                    </a:p>
                  </a:txBody>
                  <a:tcPr/>
                </a:tc>
                <a:extLst>
                  <a:ext uri="{0D108BD9-81ED-4DB2-BD59-A6C34878D82A}">
                    <a16:rowId xmlns:a16="http://schemas.microsoft.com/office/drawing/2014/main" val="1696781436"/>
                  </a:ext>
                </a:extLst>
              </a:tr>
              <a:tr h="370840">
                <a:tc>
                  <a:txBody>
                    <a:bodyPr/>
                    <a:lstStyle/>
                    <a:p>
                      <a:pPr algn="ctr"/>
                      <a:r>
                        <a:rPr lang="en-US" sz="2000" dirty="0"/>
                        <a:t>1</a:t>
                      </a:r>
                    </a:p>
                  </a:txBody>
                  <a:tcPr/>
                </a:tc>
                <a:tc>
                  <a:txBody>
                    <a:bodyPr/>
                    <a:lstStyle/>
                    <a:p>
                      <a:pPr algn="ctr"/>
                      <a:r>
                        <a:rPr lang="en-US" sz="2000" dirty="0"/>
                        <a:t>1.0</a:t>
                      </a:r>
                    </a:p>
                  </a:txBody>
                  <a:tcPr/>
                </a:tc>
                <a:tc>
                  <a:txBody>
                    <a:bodyPr/>
                    <a:lstStyle/>
                    <a:p>
                      <a:pPr algn="ctr"/>
                      <a:r>
                        <a:rPr lang="en-US" sz="2000" dirty="0"/>
                        <a:t>1.0</a:t>
                      </a:r>
                    </a:p>
                  </a:txBody>
                  <a:tcPr/>
                </a:tc>
                <a:extLst>
                  <a:ext uri="{0D108BD9-81ED-4DB2-BD59-A6C34878D82A}">
                    <a16:rowId xmlns:a16="http://schemas.microsoft.com/office/drawing/2014/main" val="854819239"/>
                  </a:ext>
                </a:extLst>
              </a:tr>
              <a:tr h="370840">
                <a:tc>
                  <a:txBody>
                    <a:bodyPr/>
                    <a:lstStyle/>
                    <a:p>
                      <a:pPr algn="ctr"/>
                      <a:r>
                        <a:rPr lang="en-US" sz="2000" dirty="0"/>
                        <a:t>2</a:t>
                      </a:r>
                    </a:p>
                  </a:txBody>
                  <a:tcPr/>
                </a:tc>
                <a:tc>
                  <a:txBody>
                    <a:bodyPr/>
                    <a:lstStyle/>
                    <a:p>
                      <a:pPr algn="ctr"/>
                      <a:r>
                        <a:rPr lang="en-US" sz="2000" dirty="0"/>
                        <a:t>1.5</a:t>
                      </a:r>
                    </a:p>
                  </a:txBody>
                  <a:tcPr/>
                </a:tc>
                <a:tc>
                  <a:txBody>
                    <a:bodyPr/>
                    <a:lstStyle/>
                    <a:p>
                      <a:pPr algn="ctr"/>
                      <a:r>
                        <a:rPr lang="en-US" sz="2000" dirty="0"/>
                        <a:t>2.0</a:t>
                      </a:r>
                    </a:p>
                  </a:txBody>
                  <a:tcPr/>
                </a:tc>
                <a:extLst>
                  <a:ext uri="{0D108BD9-81ED-4DB2-BD59-A6C34878D82A}">
                    <a16:rowId xmlns:a16="http://schemas.microsoft.com/office/drawing/2014/main" val="1810451090"/>
                  </a:ext>
                </a:extLst>
              </a:tr>
              <a:tr h="370840">
                <a:tc>
                  <a:txBody>
                    <a:bodyPr/>
                    <a:lstStyle/>
                    <a:p>
                      <a:pPr algn="ctr"/>
                      <a:r>
                        <a:rPr lang="en-US" sz="2000" dirty="0"/>
                        <a:t>3</a:t>
                      </a:r>
                    </a:p>
                  </a:txBody>
                  <a:tcPr/>
                </a:tc>
                <a:tc>
                  <a:txBody>
                    <a:bodyPr/>
                    <a:lstStyle/>
                    <a:p>
                      <a:pPr algn="ctr"/>
                      <a:r>
                        <a:rPr lang="en-US" sz="2000" dirty="0"/>
                        <a:t>3.0</a:t>
                      </a:r>
                    </a:p>
                  </a:txBody>
                  <a:tcPr/>
                </a:tc>
                <a:tc>
                  <a:txBody>
                    <a:bodyPr/>
                    <a:lstStyle/>
                    <a:p>
                      <a:pPr algn="ctr"/>
                      <a:r>
                        <a:rPr lang="en-US" sz="2000" dirty="0"/>
                        <a:t>4.0</a:t>
                      </a:r>
                    </a:p>
                  </a:txBody>
                  <a:tcPr/>
                </a:tc>
                <a:extLst>
                  <a:ext uri="{0D108BD9-81ED-4DB2-BD59-A6C34878D82A}">
                    <a16:rowId xmlns:a16="http://schemas.microsoft.com/office/drawing/2014/main" val="4048983725"/>
                  </a:ext>
                </a:extLst>
              </a:tr>
              <a:tr h="370840">
                <a:tc>
                  <a:txBody>
                    <a:bodyPr/>
                    <a:lstStyle/>
                    <a:p>
                      <a:pPr algn="ctr"/>
                      <a:r>
                        <a:rPr lang="en-US" sz="2000" dirty="0"/>
                        <a:t>4</a:t>
                      </a:r>
                    </a:p>
                  </a:txBody>
                  <a:tcPr/>
                </a:tc>
                <a:tc>
                  <a:txBody>
                    <a:bodyPr/>
                    <a:lstStyle/>
                    <a:p>
                      <a:pPr algn="ctr"/>
                      <a:r>
                        <a:rPr lang="en-US" sz="2000" dirty="0"/>
                        <a:t>5.0</a:t>
                      </a:r>
                    </a:p>
                  </a:txBody>
                  <a:tcPr/>
                </a:tc>
                <a:tc>
                  <a:txBody>
                    <a:bodyPr/>
                    <a:lstStyle/>
                    <a:p>
                      <a:pPr algn="ctr"/>
                      <a:r>
                        <a:rPr lang="en-US" sz="2000" dirty="0"/>
                        <a:t>7.0</a:t>
                      </a:r>
                    </a:p>
                  </a:txBody>
                  <a:tcPr/>
                </a:tc>
                <a:extLst>
                  <a:ext uri="{0D108BD9-81ED-4DB2-BD59-A6C34878D82A}">
                    <a16:rowId xmlns:a16="http://schemas.microsoft.com/office/drawing/2014/main" val="2281027211"/>
                  </a:ext>
                </a:extLst>
              </a:tr>
              <a:tr h="370840">
                <a:tc>
                  <a:txBody>
                    <a:bodyPr/>
                    <a:lstStyle/>
                    <a:p>
                      <a:pPr algn="ctr"/>
                      <a:r>
                        <a:rPr lang="en-US" sz="2000" dirty="0"/>
                        <a:t>5</a:t>
                      </a:r>
                    </a:p>
                  </a:txBody>
                  <a:tcPr/>
                </a:tc>
                <a:tc>
                  <a:txBody>
                    <a:bodyPr/>
                    <a:lstStyle/>
                    <a:p>
                      <a:pPr algn="ctr"/>
                      <a:r>
                        <a:rPr lang="en-US" sz="2000" dirty="0"/>
                        <a:t>3.5</a:t>
                      </a:r>
                    </a:p>
                  </a:txBody>
                  <a:tcPr/>
                </a:tc>
                <a:tc>
                  <a:txBody>
                    <a:bodyPr/>
                    <a:lstStyle/>
                    <a:p>
                      <a:pPr algn="ctr"/>
                      <a:r>
                        <a:rPr lang="en-US" sz="2000" dirty="0"/>
                        <a:t>5.0</a:t>
                      </a:r>
                    </a:p>
                  </a:txBody>
                  <a:tcPr/>
                </a:tc>
                <a:extLst>
                  <a:ext uri="{0D108BD9-81ED-4DB2-BD59-A6C34878D82A}">
                    <a16:rowId xmlns:a16="http://schemas.microsoft.com/office/drawing/2014/main" val="4085919375"/>
                  </a:ext>
                </a:extLst>
              </a:tr>
              <a:tr h="370840">
                <a:tc>
                  <a:txBody>
                    <a:bodyPr/>
                    <a:lstStyle/>
                    <a:p>
                      <a:pPr algn="ctr"/>
                      <a:r>
                        <a:rPr lang="en-US" sz="2000" dirty="0"/>
                        <a:t>6</a:t>
                      </a:r>
                    </a:p>
                  </a:txBody>
                  <a:tcPr/>
                </a:tc>
                <a:tc>
                  <a:txBody>
                    <a:bodyPr/>
                    <a:lstStyle/>
                    <a:p>
                      <a:pPr algn="ctr"/>
                      <a:r>
                        <a:rPr lang="en-US" sz="2000" dirty="0"/>
                        <a:t>4.5</a:t>
                      </a:r>
                    </a:p>
                  </a:txBody>
                  <a:tcPr/>
                </a:tc>
                <a:tc>
                  <a:txBody>
                    <a:bodyPr/>
                    <a:lstStyle/>
                    <a:p>
                      <a:pPr algn="ctr"/>
                      <a:r>
                        <a:rPr lang="en-US" sz="2000" dirty="0"/>
                        <a:t>5.0</a:t>
                      </a:r>
                    </a:p>
                  </a:txBody>
                  <a:tcPr/>
                </a:tc>
                <a:extLst>
                  <a:ext uri="{0D108BD9-81ED-4DB2-BD59-A6C34878D82A}">
                    <a16:rowId xmlns:a16="http://schemas.microsoft.com/office/drawing/2014/main" val="3752995600"/>
                  </a:ext>
                </a:extLst>
              </a:tr>
              <a:tr h="370840">
                <a:tc>
                  <a:txBody>
                    <a:bodyPr/>
                    <a:lstStyle/>
                    <a:p>
                      <a:pPr algn="ctr"/>
                      <a:r>
                        <a:rPr lang="en-US" sz="2000" dirty="0"/>
                        <a:t>7</a:t>
                      </a:r>
                    </a:p>
                  </a:txBody>
                  <a:tcPr/>
                </a:tc>
                <a:tc>
                  <a:txBody>
                    <a:bodyPr/>
                    <a:lstStyle/>
                    <a:p>
                      <a:pPr algn="ctr"/>
                      <a:r>
                        <a:rPr lang="en-US" sz="2000" dirty="0"/>
                        <a:t>3.5</a:t>
                      </a:r>
                    </a:p>
                  </a:txBody>
                  <a:tcPr/>
                </a:tc>
                <a:tc>
                  <a:txBody>
                    <a:bodyPr/>
                    <a:lstStyle/>
                    <a:p>
                      <a:pPr algn="ctr"/>
                      <a:r>
                        <a:rPr lang="en-US" sz="2000" dirty="0"/>
                        <a:t>4.5</a:t>
                      </a:r>
                    </a:p>
                  </a:txBody>
                  <a:tcPr/>
                </a:tc>
                <a:extLst>
                  <a:ext uri="{0D108BD9-81ED-4DB2-BD59-A6C34878D82A}">
                    <a16:rowId xmlns:a16="http://schemas.microsoft.com/office/drawing/2014/main" val="472236130"/>
                  </a:ext>
                </a:extLst>
              </a:tr>
            </a:tbl>
          </a:graphicData>
        </a:graphic>
      </p:graphicFrame>
      <p:sp>
        <p:nvSpPr>
          <p:cNvPr id="5" name="TextBox 4">
            <a:extLst>
              <a:ext uri="{FF2B5EF4-FFF2-40B4-BE49-F238E27FC236}">
                <a16:creationId xmlns:a16="http://schemas.microsoft.com/office/drawing/2014/main" id="{CCBB7FDD-EE1F-0E8F-1A1A-0027E413AA07}"/>
              </a:ext>
            </a:extLst>
          </p:cNvPr>
          <p:cNvSpPr txBox="1"/>
          <p:nvPr/>
        </p:nvSpPr>
        <p:spPr>
          <a:xfrm>
            <a:off x="3253839" y="980669"/>
            <a:ext cx="8364790" cy="707886"/>
          </a:xfrm>
          <a:prstGeom prst="rect">
            <a:avLst/>
          </a:prstGeom>
          <a:noFill/>
        </p:spPr>
        <p:txBody>
          <a:bodyPr wrap="none" rtlCol="0">
            <a:spAutoFit/>
          </a:bodyPr>
          <a:lstStyle/>
          <a:p>
            <a:r>
              <a:rPr lang="en-US" sz="2000" b="1" dirty="0">
                <a:solidFill>
                  <a:srgbClr val="C00000"/>
                </a:solidFill>
              </a:rPr>
              <a:t>Here K = 2</a:t>
            </a:r>
            <a:r>
              <a:rPr lang="en-US" sz="2000" b="1" dirty="0"/>
              <a:t>, and we assume </a:t>
            </a:r>
            <a:r>
              <a:rPr lang="en-US" sz="2000" b="1" dirty="0">
                <a:solidFill>
                  <a:srgbClr val="C00000"/>
                </a:solidFill>
              </a:rPr>
              <a:t>Cluster 1 center is (1,1)</a:t>
            </a:r>
            <a:r>
              <a:rPr lang="en-US" sz="2000" b="1" dirty="0"/>
              <a:t> and </a:t>
            </a:r>
            <a:r>
              <a:rPr lang="en-US" sz="2000" b="1" dirty="0">
                <a:solidFill>
                  <a:srgbClr val="C00000"/>
                </a:solidFill>
              </a:rPr>
              <a:t>Cluster 2 center is (5,7)</a:t>
            </a:r>
          </a:p>
          <a:p>
            <a:endParaRPr lang="en-US" sz="2000" b="1" dirty="0"/>
          </a:p>
        </p:txBody>
      </p:sp>
      <p:sp>
        <p:nvSpPr>
          <p:cNvPr id="6" name="Oval 5">
            <a:extLst>
              <a:ext uri="{FF2B5EF4-FFF2-40B4-BE49-F238E27FC236}">
                <a16:creationId xmlns:a16="http://schemas.microsoft.com/office/drawing/2014/main" id="{0F80DDB1-55DD-5C9C-F3A1-A3CBF4E48D97}"/>
              </a:ext>
            </a:extLst>
          </p:cNvPr>
          <p:cNvSpPr/>
          <p:nvPr/>
        </p:nvSpPr>
        <p:spPr>
          <a:xfrm>
            <a:off x="3713643" y="1811432"/>
            <a:ext cx="1989221" cy="2033337"/>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E7E4F33A-F7B4-F551-2594-D60A835B67E5}"/>
              </a:ext>
            </a:extLst>
          </p:cNvPr>
          <p:cNvSpPr/>
          <p:nvPr/>
        </p:nvSpPr>
        <p:spPr>
          <a:xfrm>
            <a:off x="7010303" y="1705160"/>
            <a:ext cx="1989221" cy="2033337"/>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27F487A9-49CD-C59B-1529-588991032EB3}"/>
              </a:ext>
            </a:extLst>
          </p:cNvPr>
          <p:cNvSpPr/>
          <p:nvPr/>
        </p:nvSpPr>
        <p:spPr>
          <a:xfrm>
            <a:off x="4603982" y="2654647"/>
            <a:ext cx="208546" cy="2065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6DDD5322-D708-7065-3965-23C7138D61CF}"/>
              </a:ext>
            </a:extLst>
          </p:cNvPr>
          <p:cNvSpPr/>
          <p:nvPr/>
        </p:nvSpPr>
        <p:spPr>
          <a:xfrm>
            <a:off x="7900643" y="2516725"/>
            <a:ext cx="210312" cy="210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780BF5F-12F2-81F6-E6E0-E9A3FAA21B26}"/>
              </a:ext>
            </a:extLst>
          </p:cNvPr>
          <p:cNvSpPr txBox="1"/>
          <p:nvPr/>
        </p:nvSpPr>
        <p:spPr>
          <a:xfrm>
            <a:off x="5109310" y="2260164"/>
            <a:ext cx="505326" cy="461665"/>
          </a:xfrm>
          <a:prstGeom prst="rect">
            <a:avLst/>
          </a:prstGeom>
          <a:noFill/>
        </p:spPr>
        <p:txBody>
          <a:bodyPr wrap="square" rtlCol="0">
            <a:spAutoFit/>
          </a:bodyPr>
          <a:lstStyle/>
          <a:p>
            <a:r>
              <a:rPr lang="en-US" sz="2400" b="1" dirty="0"/>
              <a:t>K1</a:t>
            </a:r>
            <a:endParaRPr lang="en-IN" sz="2400" b="1" dirty="0"/>
          </a:p>
        </p:txBody>
      </p:sp>
      <p:sp>
        <p:nvSpPr>
          <p:cNvPr id="11" name="TextBox 10">
            <a:extLst>
              <a:ext uri="{FF2B5EF4-FFF2-40B4-BE49-F238E27FC236}">
                <a16:creationId xmlns:a16="http://schemas.microsoft.com/office/drawing/2014/main" id="{C681C369-CCD4-32B8-CB05-90CC98138128}"/>
              </a:ext>
            </a:extLst>
          </p:cNvPr>
          <p:cNvSpPr txBox="1"/>
          <p:nvPr/>
        </p:nvSpPr>
        <p:spPr>
          <a:xfrm>
            <a:off x="8361850" y="2110865"/>
            <a:ext cx="505326" cy="461665"/>
          </a:xfrm>
          <a:prstGeom prst="rect">
            <a:avLst/>
          </a:prstGeom>
          <a:noFill/>
        </p:spPr>
        <p:txBody>
          <a:bodyPr wrap="square" rtlCol="0">
            <a:spAutoFit/>
          </a:bodyPr>
          <a:lstStyle/>
          <a:p>
            <a:r>
              <a:rPr lang="en-US" sz="2400" b="1" dirty="0"/>
              <a:t>K2</a:t>
            </a:r>
            <a:endParaRPr lang="en-IN" sz="2400" b="1" dirty="0"/>
          </a:p>
        </p:txBody>
      </p:sp>
      <p:sp>
        <p:nvSpPr>
          <p:cNvPr id="12" name="TextBox 11">
            <a:extLst>
              <a:ext uri="{FF2B5EF4-FFF2-40B4-BE49-F238E27FC236}">
                <a16:creationId xmlns:a16="http://schemas.microsoft.com/office/drawing/2014/main" id="{9FA00D75-BFC6-A8EB-C047-EF66D5D1EBEC}"/>
              </a:ext>
            </a:extLst>
          </p:cNvPr>
          <p:cNvSpPr txBox="1"/>
          <p:nvPr/>
        </p:nvSpPr>
        <p:spPr>
          <a:xfrm>
            <a:off x="4307200" y="2844664"/>
            <a:ext cx="1010652" cy="369332"/>
          </a:xfrm>
          <a:prstGeom prst="rect">
            <a:avLst/>
          </a:prstGeom>
          <a:noFill/>
        </p:spPr>
        <p:txBody>
          <a:bodyPr wrap="square" rtlCol="0">
            <a:spAutoFit/>
          </a:bodyPr>
          <a:lstStyle/>
          <a:p>
            <a:r>
              <a:rPr lang="en-US" dirty="0"/>
              <a:t>(1,1)</a:t>
            </a:r>
            <a:endParaRPr lang="en-IN" dirty="0"/>
          </a:p>
        </p:txBody>
      </p:sp>
      <p:sp>
        <p:nvSpPr>
          <p:cNvPr id="13" name="TextBox 12">
            <a:extLst>
              <a:ext uri="{FF2B5EF4-FFF2-40B4-BE49-F238E27FC236}">
                <a16:creationId xmlns:a16="http://schemas.microsoft.com/office/drawing/2014/main" id="{2853A0E0-B4B0-1ED0-341F-97B50B137C2A}"/>
              </a:ext>
            </a:extLst>
          </p:cNvPr>
          <p:cNvSpPr txBox="1"/>
          <p:nvPr/>
        </p:nvSpPr>
        <p:spPr>
          <a:xfrm>
            <a:off x="7589356" y="2768016"/>
            <a:ext cx="1010652" cy="369332"/>
          </a:xfrm>
          <a:prstGeom prst="rect">
            <a:avLst/>
          </a:prstGeom>
          <a:noFill/>
        </p:spPr>
        <p:txBody>
          <a:bodyPr wrap="square" rtlCol="0">
            <a:spAutoFit/>
          </a:bodyPr>
          <a:lstStyle/>
          <a:p>
            <a:r>
              <a:rPr lang="en-US" dirty="0"/>
              <a:t>(5,7)</a:t>
            </a:r>
            <a:endParaRPr lang="en-IN" dirty="0"/>
          </a:p>
        </p:txBody>
      </p:sp>
      <p:sp>
        <p:nvSpPr>
          <p:cNvPr id="14" name="TextBox 13">
            <a:extLst>
              <a:ext uri="{FF2B5EF4-FFF2-40B4-BE49-F238E27FC236}">
                <a16:creationId xmlns:a16="http://schemas.microsoft.com/office/drawing/2014/main" id="{39169020-84F2-71CA-84B6-0D5EC6981423}"/>
              </a:ext>
            </a:extLst>
          </p:cNvPr>
          <p:cNvSpPr txBox="1"/>
          <p:nvPr/>
        </p:nvSpPr>
        <p:spPr>
          <a:xfrm>
            <a:off x="215078" y="4227616"/>
            <a:ext cx="1556836" cy="923330"/>
          </a:xfrm>
          <a:prstGeom prst="rect">
            <a:avLst/>
          </a:prstGeom>
          <a:noFill/>
        </p:spPr>
        <p:txBody>
          <a:bodyPr wrap="none" rtlCol="0">
            <a:spAutoFit/>
          </a:bodyPr>
          <a:lstStyle/>
          <a:p>
            <a:r>
              <a:rPr lang="en-US" b="1" dirty="0"/>
              <a:t>Initial Centroid</a:t>
            </a:r>
          </a:p>
          <a:p>
            <a:r>
              <a:rPr lang="en-US" b="1" dirty="0"/>
              <a:t>K1 = (1,1)</a:t>
            </a:r>
          </a:p>
          <a:p>
            <a:r>
              <a:rPr lang="en-US" b="1" dirty="0"/>
              <a:t>K2 = (5,7)</a:t>
            </a:r>
          </a:p>
        </p:txBody>
      </p:sp>
    </p:spTree>
    <p:extLst>
      <p:ext uri="{BB962C8B-B14F-4D97-AF65-F5344CB8AC3E}">
        <p14:creationId xmlns:p14="http://schemas.microsoft.com/office/powerpoint/2010/main" val="71843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p:bldP spid="11" grpId="0"/>
      <p:bldP spid="12" grpId="0"/>
      <p:bldP spid="13"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2EF77-0E66-2086-1593-67869974ED9F}"/>
              </a:ext>
            </a:extLst>
          </p:cNvPr>
          <p:cNvSpPr>
            <a:spLocks noGrp="1"/>
          </p:cNvSpPr>
          <p:nvPr>
            <p:ph type="title"/>
          </p:nvPr>
        </p:nvSpPr>
        <p:spPr/>
        <p:txBody>
          <a:bodyPr/>
          <a:lstStyle/>
          <a:p>
            <a:r>
              <a:rPr lang="en-US" dirty="0"/>
              <a:t>K-Mean Example</a:t>
            </a:r>
          </a:p>
        </p:txBody>
      </p:sp>
      <p:graphicFrame>
        <p:nvGraphicFramePr>
          <p:cNvPr id="4" name="Table 4">
            <a:extLst>
              <a:ext uri="{FF2B5EF4-FFF2-40B4-BE49-F238E27FC236}">
                <a16:creationId xmlns:a16="http://schemas.microsoft.com/office/drawing/2014/main" id="{DCAE0DE8-8D96-9604-09CB-3915E00CAE4E}"/>
              </a:ext>
            </a:extLst>
          </p:cNvPr>
          <p:cNvGraphicFramePr>
            <a:graphicFrameLocks noGrp="1"/>
          </p:cNvGraphicFramePr>
          <p:nvPr/>
        </p:nvGraphicFramePr>
        <p:xfrm>
          <a:off x="2127002" y="992798"/>
          <a:ext cx="9403936" cy="3566160"/>
        </p:xfrm>
        <a:graphic>
          <a:graphicData uri="http://schemas.openxmlformats.org/drawingml/2006/table">
            <a:tbl>
              <a:tblPr firstRow="1" bandRow="1">
                <a:tableStyleId>{5940675A-B579-460E-94D1-54222C63F5DA}</a:tableStyleId>
              </a:tblPr>
              <a:tblGrid>
                <a:gridCol w="1175492">
                  <a:extLst>
                    <a:ext uri="{9D8B030D-6E8A-4147-A177-3AD203B41FA5}">
                      <a16:colId xmlns:a16="http://schemas.microsoft.com/office/drawing/2014/main" val="3686462623"/>
                    </a:ext>
                  </a:extLst>
                </a:gridCol>
                <a:gridCol w="1175492">
                  <a:extLst>
                    <a:ext uri="{9D8B030D-6E8A-4147-A177-3AD203B41FA5}">
                      <a16:colId xmlns:a16="http://schemas.microsoft.com/office/drawing/2014/main" val="1472942615"/>
                    </a:ext>
                  </a:extLst>
                </a:gridCol>
                <a:gridCol w="1008414">
                  <a:extLst>
                    <a:ext uri="{9D8B030D-6E8A-4147-A177-3AD203B41FA5}">
                      <a16:colId xmlns:a16="http://schemas.microsoft.com/office/drawing/2014/main" val="3876576436"/>
                    </a:ext>
                  </a:extLst>
                </a:gridCol>
                <a:gridCol w="1009403">
                  <a:extLst>
                    <a:ext uri="{9D8B030D-6E8A-4147-A177-3AD203B41FA5}">
                      <a16:colId xmlns:a16="http://schemas.microsoft.com/office/drawing/2014/main" val="2152451891"/>
                    </a:ext>
                  </a:extLst>
                </a:gridCol>
                <a:gridCol w="1056903">
                  <a:extLst>
                    <a:ext uri="{9D8B030D-6E8A-4147-A177-3AD203B41FA5}">
                      <a16:colId xmlns:a16="http://schemas.microsoft.com/office/drawing/2014/main" val="2778306619"/>
                    </a:ext>
                  </a:extLst>
                </a:gridCol>
                <a:gridCol w="1033154">
                  <a:extLst>
                    <a:ext uri="{9D8B030D-6E8A-4147-A177-3AD203B41FA5}">
                      <a16:colId xmlns:a16="http://schemas.microsoft.com/office/drawing/2014/main" val="4069278267"/>
                    </a:ext>
                  </a:extLst>
                </a:gridCol>
                <a:gridCol w="1650670">
                  <a:extLst>
                    <a:ext uri="{9D8B030D-6E8A-4147-A177-3AD203B41FA5}">
                      <a16:colId xmlns:a16="http://schemas.microsoft.com/office/drawing/2014/main" val="3365074484"/>
                    </a:ext>
                  </a:extLst>
                </a:gridCol>
                <a:gridCol w="1294408">
                  <a:extLst>
                    <a:ext uri="{9D8B030D-6E8A-4147-A177-3AD203B41FA5}">
                      <a16:colId xmlns:a16="http://schemas.microsoft.com/office/drawing/2014/main" val="3417289028"/>
                    </a:ext>
                  </a:extLst>
                </a:gridCol>
              </a:tblGrid>
              <a:tr h="370840">
                <a:tc rowSpan="2" gridSpan="2">
                  <a:txBody>
                    <a:bodyPr/>
                    <a:lstStyle/>
                    <a:p>
                      <a:pPr algn="ctr"/>
                      <a:r>
                        <a:rPr lang="en-US" sz="2000" b="1" dirty="0"/>
                        <a:t>Data Points</a:t>
                      </a:r>
                    </a:p>
                  </a:txBody>
                  <a:tcPr/>
                </a:tc>
                <a:tc rowSpan="2" hMerge="1">
                  <a:txBody>
                    <a:bodyPr/>
                    <a:lstStyle/>
                    <a:p>
                      <a:endParaRPr lang="en-US"/>
                    </a:p>
                  </a:txBody>
                  <a:tcPr/>
                </a:tc>
                <a:tc gridSpan="4">
                  <a:txBody>
                    <a:bodyPr/>
                    <a:lstStyle/>
                    <a:p>
                      <a:pPr algn="ctr"/>
                      <a:r>
                        <a:rPr lang="en-US" sz="2000" b="1" dirty="0"/>
                        <a:t>Distance To Center</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rowSpan="2">
                  <a:txBody>
                    <a:bodyPr/>
                    <a:lstStyle/>
                    <a:p>
                      <a:pPr algn="ctr"/>
                      <a:r>
                        <a:rPr lang="en-US" sz="2000" b="1" dirty="0"/>
                        <a:t>Cluster</a:t>
                      </a:r>
                    </a:p>
                  </a:txBody>
                  <a:tcPr/>
                </a:tc>
                <a:tc rowSpan="2">
                  <a:txBody>
                    <a:bodyPr/>
                    <a:lstStyle/>
                    <a:p>
                      <a:pPr algn="ctr"/>
                      <a:r>
                        <a:rPr lang="en-US" sz="2000" b="1" dirty="0"/>
                        <a:t>New Cluster</a:t>
                      </a:r>
                    </a:p>
                  </a:txBody>
                  <a:tcPr/>
                </a:tc>
                <a:extLst>
                  <a:ext uri="{0D108BD9-81ED-4DB2-BD59-A6C34878D82A}">
                    <a16:rowId xmlns:a16="http://schemas.microsoft.com/office/drawing/2014/main" val="4105309022"/>
                  </a:ext>
                </a:extLst>
              </a:tr>
              <a:tr h="370840">
                <a:tc gridSpan="2" vMerge="1">
                  <a:txBody>
                    <a:bodyPr/>
                    <a:lstStyle/>
                    <a:p>
                      <a:endParaRPr lang="en-US" dirty="0"/>
                    </a:p>
                  </a:txBody>
                  <a:tcPr/>
                </a:tc>
                <a:tc hMerge="1" vMerge="1">
                  <a:txBody>
                    <a:bodyPr/>
                    <a:lstStyle/>
                    <a:p>
                      <a:endParaRPr lang="en-US" dirty="0"/>
                    </a:p>
                  </a:txBody>
                  <a:tcPr/>
                </a:tc>
                <a:tc>
                  <a:txBody>
                    <a:bodyPr/>
                    <a:lstStyle/>
                    <a:p>
                      <a:pPr algn="ctr"/>
                      <a:r>
                        <a:rPr lang="en-US" sz="2000" b="1" dirty="0"/>
                        <a:t>1</a:t>
                      </a:r>
                    </a:p>
                  </a:txBody>
                  <a:tcPr/>
                </a:tc>
                <a:tc>
                  <a:txBody>
                    <a:bodyPr/>
                    <a:lstStyle/>
                    <a:p>
                      <a:pPr algn="ctr"/>
                      <a:r>
                        <a:rPr lang="en-US" sz="2000" b="1" dirty="0"/>
                        <a:t>1</a:t>
                      </a:r>
                    </a:p>
                  </a:txBody>
                  <a:tcPr/>
                </a:tc>
                <a:tc>
                  <a:txBody>
                    <a:bodyPr/>
                    <a:lstStyle/>
                    <a:p>
                      <a:pPr algn="ctr"/>
                      <a:r>
                        <a:rPr lang="en-US" sz="2000" b="1" dirty="0"/>
                        <a:t>5</a:t>
                      </a:r>
                    </a:p>
                  </a:txBody>
                  <a:tcPr/>
                </a:tc>
                <a:tc>
                  <a:txBody>
                    <a:bodyPr/>
                    <a:lstStyle/>
                    <a:p>
                      <a:pPr algn="ctr"/>
                      <a:r>
                        <a:rPr lang="en-US" sz="2000" b="1" dirty="0"/>
                        <a:t>7</a:t>
                      </a:r>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820435397"/>
                  </a:ext>
                </a:extLst>
              </a:tr>
              <a:tr h="370840">
                <a:tc>
                  <a:txBody>
                    <a:bodyPr/>
                    <a:lstStyle/>
                    <a:p>
                      <a:pPr algn="ctr"/>
                      <a:r>
                        <a:rPr lang="en-US" sz="2000" dirty="0"/>
                        <a:t>1.0</a:t>
                      </a:r>
                    </a:p>
                  </a:txBody>
                  <a:tcPr/>
                </a:tc>
                <a:tc>
                  <a:txBody>
                    <a:bodyPr/>
                    <a:lstStyle/>
                    <a:p>
                      <a:pPr algn="ctr"/>
                      <a:r>
                        <a:rPr lang="en-US" sz="2000" dirty="0"/>
                        <a:t>1.0</a:t>
                      </a:r>
                    </a:p>
                  </a:txBody>
                  <a:tcPr/>
                </a:tc>
                <a:tc gridSpan="2">
                  <a:txBody>
                    <a:bodyPr/>
                    <a:lstStyle/>
                    <a:p>
                      <a:pPr algn="ctr"/>
                      <a:r>
                        <a:rPr lang="en-US" sz="2000" dirty="0">
                          <a:solidFill>
                            <a:srgbClr val="00B050"/>
                          </a:solidFill>
                        </a:rPr>
                        <a:t>0</a:t>
                      </a:r>
                    </a:p>
                  </a:txBody>
                  <a:tcPr/>
                </a:tc>
                <a:tc hMerge="1">
                  <a:txBody>
                    <a:bodyPr/>
                    <a:lstStyle/>
                    <a:p>
                      <a:pPr algn="ctr"/>
                      <a:endParaRPr lang="en-US" dirty="0"/>
                    </a:p>
                  </a:txBody>
                  <a:tcPr/>
                </a:tc>
                <a:tc gridSpan="2">
                  <a:txBody>
                    <a:bodyPr/>
                    <a:lstStyle/>
                    <a:p>
                      <a:pPr algn="ctr"/>
                      <a:r>
                        <a:rPr lang="en-US" sz="2000" dirty="0"/>
                        <a:t>7.2</a:t>
                      </a:r>
                    </a:p>
                  </a:txBody>
                  <a:tcPr/>
                </a:tc>
                <a:tc hMerge="1">
                  <a:txBody>
                    <a:bodyPr/>
                    <a:lstStyle/>
                    <a:p>
                      <a:pPr algn="ctr"/>
                      <a:endParaRPr lang="en-US" dirty="0"/>
                    </a:p>
                  </a:txBody>
                  <a:tcPr/>
                </a:tc>
                <a:tc>
                  <a:txBody>
                    <a:bodyPr/>
                    <a:lstStyle/>
                    <a:p>
                      <a:pPr algn="ctr"/>
                      <a:r>
                        <a:rPr lang="en-US" sz="2000" dirty="0"/>
                        <a:t>1</a:t>
                      </a:r>
                    </a:p>
                  </a:txBody>
                  <a:tcPr/>
                </a:tc>
                <a:tc>
                  <a:txBody>
                    <a:bodyPr/>
                    <a:lstStyle/>
                    <a:p>
                      <a:pPr algn="ctr"/>
                      <a:endParaRPr lang="en-US" sz="2000" dirty="0"/>
                    </a:p>
                  </a:txBody>
                  <a:tcPr/>
                </a:tc>
                <a:extLst>
                  <a:ext uri="{0D108BD9-81ED-4DB2-BD59-A6C34878D82A}">
                    <a16:rowId xmlns:a16="http://schemas.microsoft.com/office/drawing/2014/main" val="3388203284"/>
                  </a:ext>
                </a:extLst>
              </a:tr>
              <a:tr h="370840">
                <a:tc>
                  <a:txBody>
                    <a:bodyPr/>
                    <a:lstStyle/>
                    <a:p>
                      <a:pPr algn="ctr"/>
                      <a:r>
                        <a:rPr lang="en-US" sz="2000" dirty="0"/>
                        <a:t>1.5</a:t>
                      </a:r>
                    </a:p>
                  </a:txBody>
                  <a:tcPr/>
                </a:tc>
                <a:tc>
                  <a:txBody>
                    <a:bodyPr/>
                    <a:lstStyle/>
                    <a:p>
                      <a:pPr algn="ctr"/>
                      <a:r>
                        <a:rPr lang="en-US" sz="2000" dirty="0"/>
                        <a:t>2.0</a:t>
                      </a:r>
                    </a:p>
                  </a:txBody>
                  <a:tcPr/>
                </a:tc>
                <a:tc gridSpan="2">
                  <a:txBody>
                    <a:bodyPr/>
                    <a:lstStyle/>
                    <a:p>
                      <a:pPr algn="ctr"/>
                      <a:r>
                        <a:rPr lang="en-US" sz="2000" dirty="0">
                          <a:solidFill>
                            <a:srgbClr val="00B050"/>
                          </a:solidFill>
                        </a:rPr>
                        <a:t>1.11</a:t>
                      </a:r>
                    </a:p>
                  </a:txBody>
                  <a:tcPr/>
                </a:tc>
                <a:tc hMerge="1">
                  <a:txBody>
                    <a:bodyPr/>
                    <a:lstStyle/>
                    <a:p>
                      <a:pPr algn="ctr"/>
                      <a:endParaRPr lang="en-US" dirty="0"/>
                    </a:p>
                  </a:txBody>
                  <a:tcPr/>
                </a:tc>
                <a:tc gridSpan="2">
                  <a:txBody>
                    <a:bodyPr/>
                    <a:lstStyle/>
                    <a:p>
                      <a:pPr algn="ctr"/>
                      <a:r>
                        <a:rPr lang="en-US" sz="2000" dirty="0"/>
                        <a:t>6.10</a:t>
                      </a:r>
                    </a:p>
                  </a:txBody>
                  <a:tcPr/>
                </a:tc>
                <a:tc hMerge="1">
                  <a:txBody>
                    <a:bodyPr/>
                    <a:lstStyle/>
                    <a:p>
                      <a:pPr algn="ctr"/>
                      <a:endParaRPr lang="en-US" dirty="0"/>
                    </a:p>
                  </a:txBody>
                  <a:tcPr/>
                </a:tc>
                <a:tc>
                  <a:txBody>
                    <a:bodyPr/>
                    <a:lstStyle/>
                    <a:p>
                      <a:pPr algn="ctr"/>
                      <a:r>
                        <a:rPr lang="en-US" sz="2000" dirty="0"/>
                        <a:t>1</a:t>
                      </a:r>
                    </a:p>
                  </a:txBody>
                  <a:tcPr/>
                </a:tc>
                <a:tc>
                  <a:txBody>
                    <a:bodyPr/>
                    <a:lstStyle/>
                    <a:p>
                      <a:pPr algn="ctr"/>
                      <a:endParaRPr lang="en-US" sz="2000"/>
                    </a:p>
                  </a:txBody>
                  <a:tcPr/>
                </a:tc>
                <a:extLst>
                  <a:ext uri="{0D108BD9-81ED-4DB2-BD59-A6C34878D82A}">
                    <a16:rowId xmlns:a16="http://schemas.microsoft.com/office/drawing/2014/main" val="3989286471"/>
                  </a:ext>
                </a:extLst>
              </a:tr>
              <a:tr h="370840">
                <a:tc>
                  <a:txBody>
                    <a:bodyPr/>
                    <a:lstStyle/>
                    <a:p>
                      <a:pPr algn="ctr"/>
                      <a:r>
                        <a:rPr lang="en-US" sz="2000" dirty="0"/>
                        <a:t>3.0</a:t>
                      </a:r>
                    </a:p>
                  </a:txBody>
                  <a:tcPr/>
                </a:tc>
                <a:tc>
                  <a:txBody>
                    <a:bodyPr/>
                    <a:lstStyle/>
                    <a:p>
                      <a:pPr algn="ctr"/>
                      <a:r>
                        <a:rPr lang="en-US" sz="2000" dirty="0"/>
                        <a:t>4.0</a:t>
                      </a:r>
                    </a:p>
                  </a:txBody>
                  <a:tcPr/>
                </a:tc>
                <a:tc gridSpan="2">
                  <a:txBody>
                    <a:bodyPr/>
                    <a:lstStyle/>
                    <a:p>
                      <a:pPr algn="ctr"/>
                      <a:r>
                        <a:rPr lang="en-US" sz="2000" dirty="0">
                          <a:solidFill>
                            <a:srgbClr val="00B050"/>
                          </a:solidFill>
                        </a:rPr>
                        <a:t>3.6</a:t>
                      </a:r>
                    </a:p>
                  </a:txBody>
                  <a:tcPr/>
                </a:tc>
                <a:tc hMerge="1">
                  <a:txBody>
                    <a:bodyPr/>
                    <a:lstStyle/>
                    <a:p>
                      <a:pPr algn="ctr"/>
                      <a:endParaRPr lang="en-US" dirty="0"/>
                    </a:p>
                  </a:txBody>
                  <a:tcPr/>
                </a:tc>
                <a:tc gridSpan="2">
                  <a:txBody>
                    <a:bodyPr/>
                    <a:lstStyle/>
                    <a:p>
                      <a:pPr algn="ctr"/>
                      <a:r>
                        <a:rPr lang="en-US" sz="2000" dirty="0"/>
                        <a:t>3.6</a:t>
                      </a:r>
                    </a:p>
                  </a:txBody>
                  <a:tcPr/>
                </a:tc>
                <a:tc hMerge="1">
                  <a:txBody>
                    <a:bodyPr/>
                    <a:lstStyle/>
                    <a:p>
                      <a:pPr algn="ctr"/>
                      <a:endParaRPr lang="en-US" dirty="0"/>
                    </a:p>
                  </a:txBody>
                  <a:tcPr/>
                </a:tc>
                <a:tc>
                  <a:txBody>
                    <a:bodyPr/>
                    <a:lstStyle/>
                    <a:p>
                      <a:pPr algn="ctr"/>
                      <a:r>
                        <a:rPr lang="en-US" sz="2000" dirty="0"/>
                        <a:t>1</a:t>
                      </a:r>
                    </a:p>
                  </a:txBody>
                  <a:tcPr/>
                </a:tc>
                <a:tc>
                  <a:txBody>
                    <a:bodyPr/>
                    <a:lstStyle/>
                    <a:p>
                      <a:pPr algn="ctr"/>
                      <a:endParaRPr lang="en-US" sz="2000"/>
                    </a:p>
                  </a:txBody>
                  <a:tcPr/>
                </a:tc>
                <a:extLst>
                  <a:ext uri="{0D108BD9-81ED-4DB2-BD59-A6C34878D82A}">
                    <a16:rowId xmlns:a16="http://schemas.microsoft.com/office/drawing/2014/main" val="3587907912"/>
                  </a:ext>
                </a:extLst>
              </a:tr>
              <a:tr h="370840">
                <a:tc>
                  <a:txBody>
                    <a:bodyPr/>
                    <a:lstStyle/>
                    <a:p>
                      <a:pPr algn="ctr"/>
                      <a:r>
                        <a:rPr lang="en-US" sz="2000" dirty="0"/>
                        <a:t>5.0</a:t>
                      </a:r>
                    </a:p>
                  </a:txBody>
                  <a:tcPr/>
                </a:tc>
                <a:tc>
                  <a:txBody>
                    <a:bodyPr/>
                    <a:lstStyle/>
                    <a:p>
                      <a:pPr algn="ctr"/>
                      <a:r>
                        <a:rPr lang="en-US" sz="2000" dirty="0"/>
                        <a:t>7.0</a:t>
                      </a:r>
                    </a:p>
                  </a:txBody>
                  <a:tcPr/>
                </a:tc>
                <a:tc gridSpan="2">
                  <a:txBody>
                    <a:bodyPr/>
                    <a:lstStyle/>
                    <a:p>
                      <a:pPr algn="ctr"/>
                      <a:r>
                        <a:rPr lang="en-US" sz="2000" dirty="0"/>
                        <a:t>7.2</a:t>
                      </a:r>
                    </a:p>
                  </a:txBody>
                  <a:tcPr/>
                </a:tc>
                <a:tc hMerge="1">
                  <a:txBody>
                    <a:bodyPr/>
                    <a:lstStyle/>
                    <a:p>
                      <a:pPr algn="ctr"/>
                      <a:endParaRPr lang="en-US" dirty="0"/>
                    </a:p>
                  </a:txBody>
                  <a:tcPr/>
                </a:tc>
                <a:tc gridSpan="2">
                  <a:txBody>
                    <a:bodyPr/>
                    <a:lstStyle/>
                    <a:p>
                      <a:pPr algn="ctr"/>
                      <a:r>
                        <a:rPr lang="en-US" sz="2000" dirty="0">
                          <a:solidFill>
                            <a:srgbClr val="00B050"/>
                          </a:solidFill>
                        </a:rPr>
                        <a:t>0</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endParaRPr lang="en-US" sz="2000"/>
                    </a:p>
                  </a:txBody>
                  <a:tcPr/>
                </a:tc>
                <a:extLst>
                  <a:ext uri="{0D108BD9-81ED-4DB2-BD59-A6C34878D82A}">
                    <a16:rowId xmlns:a16="http://schemas.microsoft.com/office/drawing/2014/main" val="361140248"/>
                  </a:ext>
                </a:extLst>
              </a:tr>
              <a:tr h="370840">
                <a:tc>
                  <a:txBody>
                    <a:bodyPr/>
                    <a:lstStyle/>
                    <a:p>
                      <a:pPr algn="ctr"/>
                      <a:r>
                        <a:rPr lang="en-US" sz="2000" dirty="0"/>
                        <a:t>3.5</a:t>
                      </a:r>
                    </a:p>
                  </a:txBody>
                  <a:tcPr/>
                </a:tc>
                <a:tc>
                  <a:txBody>
                    <a:bodyPr/>
                    <a:lstStyle/>
                    <a:p>
                      <a:pPr algn="ctr"/>
                      <a:r>
                        <a:rPr lang="en-US" sz="2000" dirty="0"/>
                        <a:t>5.0</a:t>
                      </a:r>
                    </a:p>
                  </a:txBody>
                  <a:tcPr/>
                </a:tc>
                <a:tc gridSpan="2">
                  <a:txBody>
                    <a:bodyPr/>
                    <a:lstStyle/>
                    <a:p>
                      <a:pPr algn="ctr"/>
                      <a:r>
                        <a:rPr lang="en-US" sz="2000" dirty="0"/>
                        <a:t>4.7</a:t>
                      </a:r>
                    </a:p>
                  </a:txBody>
                  <a:tcPr/>
                </a:tc>
                <a:tc hMerge="1">
                  <a:txBody>
                    <a:bodyPr/>
                    <a:lstStyle/>
                    <a:p>
                      <a:pPr algn="ctr"/>
                      <a:endParaRPr lang="en-US" dirty="0"/>
                    </a:p>
                  </a:txBody>
                  <a:tcPr/>
                </a:tc>
                <a:tc gridSpan="2">
                  <a:txBody>
                    <a:bodyPr/>
                    <a:lstStyle/>
                    <a:p>
                      <a:pPr algn="ctr"/>
                      <a:r>
                        <a:rPr lang="en-US" sz="2000" dirty="0">
                          <a:solidFill>
                            <a:srgbClr val="00B050"/>
                          </a:solidFill>
                        </a:rPr>
                        <a:t>2.5</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endParaRPr lang="en-US" sz="2000"/>
                    </a:p>
                  </a:txBody>
                  <a:tcPr/>
                </a:tc>
                <a:extLst>
                  <a:ext uri="{0D108BD9-81ED-4DB2-BD59-A6C34878D82A}">
                    <a16:rowId xmlns:a16="http://schemas.microsoft.com/office/drawing/2014/main" val="3011121406"/>
                  </a:ext>
                </a:extLst>
              </a:tr>
              <a:tr h="370840">
                <a:tc>
                  <a:txBody>
                    <a:bodyPr/>
                    <a:lstStyle/>
                    <a:p>
                      <a:pPr algn="ctr"/>
                      <a:r>
                        <a:rPr lang="en-US" sz="2000" dirty="0"/>
                        <a:t>4.5</a:t>
                      </a:r>
                    </a:p>
                  </a:txBody>
                  <a:tcPr/>
                </a:tc>
                <a:tc>
                  <a:txBody>
                    <a:bodyPr/>
                    <a:lstStyle/>
                    <a:p>
                      <a:pPr algn="ctr"/>
                      <a:r>
                        <a:rPr lang="en-US" sz="2000" dirty="0"/>
                        <a:t>5.0</a:t>
                      </a:r>
                    </a:p>
                  </a:txBody>
                  <a:tcPr/>
                </a:tc>
                <a:tc gridSpan="2">
                  <a:txBody>
                    <a:bodyPr/>
                    <a:lstStyle/>
                    <a:p>
                      <a:pPr algn="ctr"/>
                      <a:r>
                        <a:rPr lang="en-US" sz="2000" dirty="0"/>
                        <a:t>5.3</a:t>
                      </a:r>
                    </a:p>
                  </a:txBody>
                  <a:tcPr/>
                </a:tc>
                <a:tc hMerge="1">
                  <a:txBody>
                    <a:bodyPr/>
                    <a:lstStyle/>
                    <a:p>
                      <a:pPr algn="ctr"/>
                      <a:endParaRPr lang="en-US" dirty="0"/>
                    </a:p>
                  </a:txBody>
                  <a:tcPr/>
                </a:tc>
                <a:tc gridSpan="2">
                  <a:txBody>
                    <a:bodyPr/>
                    <a:lstStyle/>
                    <a:p>
                      <a:pPr algn="ctr"/>
                      <a:r>
                        <a:rPr lang="en-US" sz="2000" dirty="0">
                          <a:solidFill>
                            <a:srgbClr val="00B050"/>
                          </a:solidFill>
                        </a:rPr>
                        <a:t>2.06</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endParaRPr lang="en-US" sz="2000"/>
                    </a:p>
                  </a:txBody>
                  <a:tcPr/>
                </a:tc>
                <a:extLst>
                  <a:ext uri="{0D108BD9-81ED-4DB2-BD59-A6C34878D82A}">
                    <a16:rowId xmlns:a16="http://schemas.microsoft.com/office/drawing/2014/main" val="4048830717"/>
                  </a:ext>
                </a:extLst>
              </a:tr>
              <a:tr h="370840">
                <a:tc>
                  <a:txBody>
                    <a:bodyPr/>
                    <a:lstStyle/>
                    <a:p>
                      <a:pPr algn="ctr"/>
                      <a:r>
                        <a:rPr lang="en-US" sz="2000" dirty="0"/>
                        <a:t>3.5</a:t>
                      </a:r>
                    </a:p>
                  </a:txBody>
                  <a:tcPr/>
                </a:tc>
                <a:tc>
                  <a:txBody>
                    <a:bodyPr/>
                    <a:lstStyle/>
                    <a:p>
                      <a:pPr algn="ctr"/>
                      <a:r>
                        <a:rPr lang="en-US" sz="2000" dirty="0"/>
                        <a:t>4.5</a:t>
                      </a:r>
                    </a:p>
                  </a:txBody>
                  <a:tcPr/>
                </a:tc>
                <a:tc gridSpan="2">
                  <a:txBody>
                    <a:bodyPr/>
                    <a:lstStyle/>
                    <a:p>
                      <a:pPr algn="ctr"/>
                      <a:r>
                        <a:rPr lang="en-US" sz="2000" dirty="0"/>
                        <a:t>4.3</a:t>
                      </a:r>
                    </a:p>
                  </a:txBody>
                  <a:tcPr/>
                </a:tc>
                <a:tc hMerge="1">
                  <a:txBody>
                    <a:bodyPr/>
                    <a:lstStyle/>
                    <a:p>
                      <a:pPr algn="ctr"/>
                      <a:endParaRPr lang="en-US" dirty="0"/>
                    </a:p>
                  </a:txBody>
                  <a:tcPr/>
                </a:tc>
                <a:tc gridSpan="2">
                  <a:txBody>
                    <a:bodyPr/>
                    <a:lstStyle/>
                    <a:p>
                      <a:pPr algn="ctr"/>
                      <a:r>
                        <a:rPr lang="en-US" sz="2000" dirty="0">
                          <a:solidFill>
                            <a:srgbClr val="00B050"/>
                          </a:solidFill>
                        </a:rPr>
                        <a:t>2.9</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endParaRPr lang="en-US" sz="2000" dirty="0"/>
                    </a:p>
                  </a:txBody>
                  <a:tcPr/>
                </a:tc>
                <a:extLst>
                  <a:ext uri="{0D108BD9-81ED-4DB2-BD59-A6C34878D82A}">
                    <a16:rowId xmlns:a16="http://schemas.microsoft.com/office/drawing/2014/main" val="4268877181"/>
                  </a:ext>
                </a:extLst>
              </a:tr>
            </a:tbl>
          </a:graphicData>
        </a:graphic>
      </p:graphicFrame>
      <p:sp>
        <p:nvSpPr>
          <p:cNvPr id="5" name="TextBox 4">
            <a:extLst>
              <a:ext uri="{FF2B5EF4-FFF2-40B4-BE49-F238E27FC236}">
                <a16:creationId xmlns:a16="http://schemas.microsoft.com/office/drawing/2014/main" id="{ABEF6495-8E57-35E3-DDBE-92E409B5C759}"/>
              </a:ext>
            </a:extLst>
          </p:cNvPr>
          <p:cNvSpPr txBox="1"/>
          <p:nvPr/>
        </p:nvSpPr>
        <p:spPr>
          <a:xfrm>
            <a:off x="131951" y="1151907"/>
            <a:ext cx="1709122" cy="1015663"/>
          </a:xfrm>
          <a:prstGeom prst="rect">
            <a:avLst/>
          </a:prstGeom>
          <a:noFill/>
        </p:spPr>
        <p:txBody>
          <a:bodyPr wrap="none" rtlCol="0">
            <a:spAutoFit/>
          </a:bodyPr>
          <a:lstStyle/>
          <a:p>
            <a:r>
              <a:rPr lang="en-US" sz="2000" b="1" dirty="0"/>
              <a:t>Initial Centroid</a:t>
            </a:r>
          </a:p>
          <a:p>
            <a:r>
              <a:rPr lang="en-US" sz="2000" b="1" dirty="0"/>
              <a:t>K1 = (1,1)</a:t>
            </a:r>
          </a:p>
          <a:p>
            <a:r>
              <a:rPr lang="en-US" sz="2000" b="1" dirty="0"/>
              <a:t>K2 = (5,7)</a:t>
            </a:r>
          </a:p>
        </p:txBody>
      </p:sp>
      <p:sp>
        <p:nvSpPr>
          <p:cNvPr id="6" name="TextBox 5">
            <a:extLst>
              <a:ext uri="{FF2B5EF4-FFF2-40B4-BE49-F238E27FC236}">
                <a16:creationId xmlns:a16="http://schemas.microsoft.com/office/drawing/2014/main" id="{67BF4C15-3974-97EF-A338-9B4C3F9F6A03}"/>
              </a:ext>
            </a:extLst>
          </p:cNvPr>
          <p:cNvSpPr txBox="1"/>
          <p:nvPr/>
        </p:nvSpPr>
        <p:spPr>
          <a:xfrm>
            <a:off x="10063869" y="4611955"/>
            <a:ext cx="1847081" cy="1015663"/>
          </a:xfrm>
          <a:prstGeom prst="rect">
            <a:avLst/>
          </a:prstGeom>
          <a:noFill/>
        </p:spPr>
        <p:txBody>
          <a:bodyPr wrap="square" rtlCol="0">
            <a:spAutoFit/>
          </a:bodyPr>
          <a:lstStyle/>
          <a:p>
            <a:r>
              <a:rPr lang="en-US" sz="2000" dirty="0"/>
              <a:t>New  Centroid</a:t>
            </a:r>
          </a:p>
          <a:p>
            <a:r>
              <a:rPr lang="en-US" sz="2000" dirty="0"/>
              <a:t>K1 = (1.83,2.33)</a:t>
            </a:r>
          </a:p>
          <a:p>
            <a:r>
              <a:rPr lang="en-US" sz="2000" dirty="0"/>
              <a:t>K2 = (4.12,5.37)</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42331E4-79AA-FECE-7495-A78907C06A58}"/>
                  </a:ext>
                </a:extLst>
              </p:cNvPr>
              <p:cNvSpPr txBox="1"/>
              <p:nvPr/>
            </p:nvSpPr>
            <p:spPr>
              <a:xfrm>
                <a:off x="843808" y="4766298"/>
                <a:ext cx="6127666" cy="4667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𝑬𝑫</m:t>
                      </m:r>
                      <m:r>
                        <a:rPr lang="en-US" sz="2000" b="1" i="1" smtClean="0">
                          <a:latin typeface="Cambria Math" panose="02040503050406030204" pitchFamily="18" charset="0"/>
                        </a:rPr>
                        <m:t>= </m:t>
                      </m:r>
                      <m:rad>
                        <m:radPr>
                          <m:degHide m:val="on"/>
                          <m:ctrlPr>
                            <a:rPr lang="en-US" sz="2000" b="1" i="1" dirty="0" smtClean="0">
                              <a:solidFill>
                                <a:srgbClr val="836967"/>
                              </a:solidFill>
                              <a:latin typeface="Cambria Math" panose="02040503050406030204" pitchFamily="18" charset="0"/>
                            </a:rPr>
                          </m:ctrlPr>
                        </m:radPr>
                        <m:deg/>
                        <m:e>
                          <m:sSup>
                            <m:sSupPr>
                              <m:ctrlPr>
                                <a:rPr lang="en-US" sz="2000" b="1" i="1" dirty="0" smtClean="0">
                                  <a:solidFill>
                                    <a:srgbClr val="836967"/>
                                  </a:solidFill>
                                  <a:latin typeface="Cambria Math" panose="02040503050406030204" pitchFamily="18" charset="0"/>
                                </a:rPr>
                              </m:ctrlPr>
                            </m:sSupPr>
                            <m:e>
                              <m:d>
                                <m:dPr>
                                  <m:ctrlPr>
                                    <a:rPr lang="en-US" sz="2000" b="1" i="1" dirty="0" smtClean="0">
                                      <a:solidFill>
                                        <a:srgbClr val="836967"/>
                                      </a:solidFill>
                                      <a:latin typeface="Cambria Math" panose="02040503050406030204" pitchFamily="18" charset="0"/>
                                    </a:rPr>
                                  </m:ctrlPr>
                                </m:dPr>
                                <m:e>
                                  <m:sSub>
                                    <m:sSubPr>
                                      <m:ctrlPr>
                                        <a:rPr lang="en-US" sz="2000" b="1" i="1" dirty="0" smtClean="0">
                                          <a:solidFill>
                                            <a:srgbClr val="836967"/>
                                          </a:solidFill>
                                          <a:latin typeface="Cambria Math" panose="02040503050406030204" pitchFamily="18" charset="0"/>
                                        </a:rPr>
                                      </m:ctrlPr>
                                    </m:sSubPr>
                                    <m:e>
                                      <m:r>
                                        <a:rPr lang="en-US" sz="2000" b="1" i="1" dirty="0" smtClean="0">
                                          <a:latin typeface="Cambria Math" panose="02040503050406030204" pitchFamily="18" charset="0"/>
                                        </a:rPr>
                                        <m:t>𝑿</m:t>
                                      </m:r>
                                    </m:e>
                                    <m:sub>
                                      <m:r>
                                        <a:rPr lang="en-US" sz="2000" b="1" i="0" dirty="0" smtClean="0">
                                          <a:latin typeface="Cambria Math" panose="02040503050406030204" pitchFamily="18" charset="0"/>
                                        </a:rPr>
                                        <m:t>𝐨</m:t>
                                      </m:r>
                                    </m:sub>
                                  </m:sSub>
                                  <m:r>
                                    <a:rPr lang="en-US" sz="2000" b="1" i="0" dirty="0" smtClean="0">
                                      <a:latin typeface="Cambria Math" panose="02040503050406030204" pitchFamily="18" charset="0"/>
                                    </a:rPr>
                                    <m:t>−</m:t>
                                  </m:r>
                                  <m:sSub>
                                    <m:sSubPr>
                                      <m:ctrlPr>
                                        <a:rPr lang="en-US" sz="2000" b="1" i="1" dirty="0" smtClean="0">
                                          <a:solidFill>
                                            <a:srgbClr val="836967"/>
                                          </a:solidFill>
                                          <a:latin typeface="Cambria Math" panose="02040503050406030204" pitchFamily="18" charset="0"/>
                                        </a:rPr>
                                      </m:ctrlPr>
                                    </m:sSubPr>
                                    <m:e>
                                      <m:r>
                                        <a:rPr lang="en-US" sz="2000" b="1" i="1" dirty="0" smtClean="0">
                                          <a:latin typeface="Cambria Math" panose="02040503050406030204" pitchFamily="18" charset="0"/>
                                        </a:rPr>
                                        <m:t>𝑿</m:t>
                                      </m:r>
                                    </m:e>
                                    <m:sub>
                                      <m:r>
                                        <a:rPr lang="en-US" sz="2000" b="1" i="1" dirty="0" smtClean="0">
                                          <a:latin typeface="Cambria Math" panose="02040503050406030204" pitchFamily="18" charset="0"/>
                                        </a:rPr>
                                        <m:t>𝒄</m:t>
                                      </m:r>
                                    </m:sub>
                                  </m:sSub>
                                </m:e>
                              </m:d>
                            </m:e>
                            <m:sup>
                              <m:r>
                                <a:rPr lang="en-US" sz="2000" b="1" i="0" dirty="0" smtClean="0">
                                  <a:latin typeface="Cambria Math" panose="02040503050406030204" pitchFamily="18" charset="0"/>
                                </a:rPr>
                                <m:t>𝟐</m:t>
                              </m:r>
                            </m:sup>
                          </m:sSup>
                          <m:r>
                            <a:rPr lang="en-US" sz="2000" b="1" i="0" dirty="0" smtClean="0">
                              <a:latin typeface="Cambria Math" panose="02040503050406030204" pitchFamily="18" charset="0"/>
                            </a:rPr>
                            <m:t>+</m:t>
                          </m:r>
                          <m:sSup>
                            <m:sSupPr>
                              <m:ctrlPr>
                                <a:rPr lang="en-US" sz="2000" b="1" i="1" dirty="0" smtClean="0">
                                  <a:solidFill>
                                    <a:srgbClr val="836967"/>
                                  </a:solidFill>
                                  <a:latin typeface="Cambria Math" panose="02040503050406030204" pitchFamily="18" charset="0"/>
                                </a:rPr>
                              </m:ctrlPr>
                            </m:sSupPr>
                            <m:e>
                              <m:d>
                                <m:dPr>
                                  <m:ctrlPr>
                                    <a:rPr lang="en-US" sz="2000" b="1" i="1" dirty="0" smtClean="0">
                                      <a:solidFill>
                                        <a:srgbClr val="836967"/>
                                      </a:solidFill>
                                      <a:latin typeface="Cambria Math" panose="02040503050406030204" pitchFamily="18" charset="0"/>
                                    </a:rPr>
                                  </m:ctrlPr>
                                </m:dPr>
                                <m:e>
                                  <m:sSub>
                                    <m:sSubPr>
                                      <m:ctrlPr>
                                        <a:rPr lang="en-US" sz="2000" b="1" i="1" dirty="0">
                                          <a:solidFill>
                                            <a:srgbClr val="836967"/>
                                          </a:solidFill>
                                          <a:latin typeface="Cambria Math" panose="02040503050406030204" pitchFamily="18" charset="0"/>
                                        </a:rPr>
                                      </m:ctrlPr>
                                    </m:sSubPr>
                                    <m:e>
                                      <m:r>
                                        <a:rPr lang="en-US" sz="2000" b="1" i="1" dirty="0">
                                          <a:latin typeface="Cambria Math" panose="02040503050406030204" pitchFamily="18" charset="0"/>
                                        </a:rPr>
                                        <m:t>𝒀</m:t>
                                      </m:r>
                                    </m:e>
                                    <m:sub>
                                      <m:r>
                                        <a:rPr lang="en-US" sz="2000" b="1" i="1" dirty="0" smtClean="0">
                                          <a:latin typeface="Cambria Math" panose="02040503050406030204" pitchFamily="18" charset="0"/>
                                        </a:rPr>
                                        <m:t>𝒐</m:t>
                                      </m:r>
                                    </m:sub>
                                  </m:sSub>
                                  <m:r>
                                    <a:rPr lang="en-US" sz="2000" b="1" i="0" dirty="0" smtClean="0">
                                      <a:latin typeface="Cambria Math" panose="02040503050406030204" pitchFamily="18" charset="0"/>
                                    </a:rPr>
                                    <m:t>−</m:t>
                                  </m:r>
                                  <m:sSub>
                                    <m:sSubPr>
                                      <m:ctrlPr>
                                        <a:rPr lang="en-US" sz="2000" b="1" i="1" dirty="0" smtClean="0">
                                          <a:solidFill>
                                            <a:srgbClr val="836967"/>
                                          </a:solidFill>
                                          <a:latin typeface="Cambria Math" panose="02040503050406030204" pitchFamily="18" charset="0"/>
                                        </a:rPr>
                                      </m:ctrlPr>
                                    </m:sSubPr>
                                    <m:e>
                                      <m:r>
                                        <a:rPr lang="en-US" sz="2000" b="1" i="1" dirty="0" smtClean="0">
                                          <a:latin typeface="Cambria Math" panose="02040503050406030204" pitchFamily="18" charset="0"/>
                                        </a:rPr>
                                        <m:t>𝒀</m:t>
                                      </m:r>
                                    </m:e>
                                    <m:sub>
                                      <m:r>
                                        <a:rPr lang="en-US" sz="2000" b="1" i="1" dirty="0" smtClean="0">
                                          <a:latin typeface="Cambria Math" panose="02040503050406030204" pitchFamily="18" charset="0"/>
                                        </a:rPr>
                                        <m:t>𝒄</m:t>
                                      </m:r>
                                    </m:sub>
                                  </m:sSub>
                                </m:e>
                              </m:d>
                            </m:e>
                            <m:sup>
                              <m:r>
                                <a:rPr lang="en-US" sz="2000" b="1" i="0" dirty="0" smtClean="0">
                                  <a:latin typeface="Cambria Math" panose="02040503050406030204" pitchFamily="18" charset="0"/>
                                </a:rPr>
                                <m:t>𝟐</m:t>
                              </m:r>
                            </m:sup>
                          </m:sSup>
                        </m:e>
                      </m:rad>
                    </m:oMath>
                  </m:oMathPara>
                </a14:m>
                <a:endParaRPr lang="en-US" sz="2000" dirty="0"/>
              </a:p>
            </p:txBody>
          </p:sp>
        </mc:Choice>
        <mc:Fallback xmlns="">
          <p:sp>
            <p:nvSpPr>
              <p:cNvPr id="8" name="TextBox 7">
                <a:extLst>
                  <a:ext uri="{FF2B5EF4-FFF2-40B4-BE49-F238E27FC236}">
                    <a16:creationId xmlns:a16="http://schemas.microsoft.com/office/drawing/2014/main" id="{142331E4-79AA-FECE-7495-A78907C06A58}"/>
                  </a:ext>
                </a:extLst>
              </p:cNvPr>
              <p:cNvSpPr txBox="1">
                <a:spLocks noRot="1" noChangeAspect="1" noMove="1" noResize="1" noEditPoints="1" noAdjustHandles="1" noChangeArrowheads="1" noChangeShapeType="1" noTextEdit="1"/>
              </p:cNvSpPr>
              <p:nvPr/>
            </p:nvSpPr>
            <p:spPr>
              <a:xfrm>
                <a:off x="843808" y="4766298"/>
                <a:ext cx="6127666" cy="466731"/>
              </a:xfrm>
              <a:prstGeom prst="rect">
                <a:avLst/>
              </a:prstGeom>
              <a:blipFill>
                <a:blip r:embed="rId2"/>
                <a:stretch>
                  <a:fillRect b="-16216"/>
                </a:stretch>
              </a:blipFill>
            </p:spPr>
            <p:txBody>
              <a:bodyPr/>
              <a:lstStyle/>
              <a:p>
                <a:r>
                  <a:rPr lang="en-US">
                    <a:noFill/>
                  </a:rPr>
                  <a:t> </a:t>
                </a:r>
              </a:p>
            </p:txBody>
          </p:sp>
        </mc:Fallback>
      </mc:AlternateContent>
    </p:spTree>
    <p:extLst>
      <p:ext uri="{BB962C8B-B14F-4D97-AF65-F5344CB8AC3E}">
        <p14:creationId xmlns:p14="http://schemas.microsoft.com/office/powerpoint/2010/main" val="411211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2EF77-0E66-2086-1593-67869974ED9F}"/>
              </a:ext>
            </a:extLst>
          </p:cNvPr>
          <p:cNvSpPr>
            <a:spLocks noGrp="1"/>
          </p:cNvSpPr>
          <p:nvPr>
            <p:ph type="title"/>
          </p:nvPr>
        </p:nvSpPr>
        <p:spPr/>
        <p:txBody>
          <a:bodyPr/>
          <a:lstStyle/>
          <a:p>
            <a:r>
              <a:rPr lang="en-US" dirty="0"/>
              <a:t>K-Mean Example</a:t>
            </a:r>
          </a:p>
        </p:txBody>
      </p:sp>
      <p:graphicFrame>
        <p:nvGraphicFramePr>
          <p:cNvPr id="4" name="Table 4">
            <a:extLst>
              <a:ext uri="{FF2B5EF4-FFF2-40B4-BE49-F238E27FC236}">
                <a16:creationId xmlns:a16="http://schemas.microsoft.com/office/drawing/2014/main" id="{DCAE0DE8-8D96-9604-09CB-3915E00CAE4E}"/>
              </a:ext>
            </a:extLst>
          </p:cNvPr>
          <p:cNvGraphicFramePr>
            <a:graphicFrameLocks noGrp="1"/>
          </p:cNvGraphicFramePr>
          <p:nvPr/>
        </p:nvGraphicFramePr>
        <p:xfrm>
          <a:off x="2127002" y="992798"/>
          <a:ext cx="9403936" cy="3566160"/>
        </p:xfrm>
        <a:graphic>
          <a:graphicData uri="http://schemas.openxmlformats.org/drawingml/2006/table">
            <a:tbl>
              <a:tblPr firstRow="1" bandRow="1">
                <a:tableStyleId>{5940675A-B579-460E-94D1-54222C63F5DA}</a:tableStyleId>
              </a:tblPr>
              <a:tblGrid>
                <a:gridCol w="1175492">
                  <a:extLst>
                    <a:ext uri="{9D8B030D-6E8A-4147-A177-3AD203B41FA5}">
                      <a16:colId xmlns:a16="http://schemas.microsoft.com/office/drawing/2014/main" val="3686462623"/>
                    </a:ext>
                  </a:extLst>
                </a:gridCol>
                <a:gridCol w="1175492">
                  <a:extLst>
                    <a:ext uri="{9D8B030D-6E8A-4147-A177-3AD203B41FA5}">
                      <a16:colId xmlns:a16="http://schemas.microsoft.com/office/drawing/2014/main" val="1472942615"/>
                    </a:ext>
                  </a:extLst>
                </a:gridCol>
                <a:gridCol w="1008414">
                  <a:extLst>
                    <a:ext uri="{9D8B030D-6E8A-4147-A177-3AD203B41FA5}">
                      <a16:colId xmlns:a16="http://schemas.microsoft.com/office/drawing/2014/main" val="3876576436"/>
                    </a:ext>
                  </a:extLst>
                </a:gridCol>
                <a:gridCol w="1009403">
                  <a:extLst>
                    <a:ext uri="{9D8B030D-6E8A-4147-A177-3AD203B41FA5}">
                      <a16:colId xmlns:a16="http://schemas.microsoft.com/office/drawing/2014/main" val="2152451891"/>
                    </a:ext>
                  </a:extLst>
                </a:gridCol>
                <a:gridCol w="1056903">
                  <a:extLst>
                    <a:ext uri="{9D8B030D-6E8A-4147-A177-3AD203B41FA5}">
                      <a16:colId xmlns:a16="http://schemas.microsoft.com/office/drawing/2014/main" val="2778306619"/>
                    </a:ext>
                  </a:extLst>
                </a:gridCol>
                <a:gridCol w="1033154">
                  <a:extLst>
                    <a:ext uri="{9D8B030D-6E8A-4147-A177-3AD203B41FA5}">
                      <a16:colId xmlns:a16="http://schemas.microsoft.com/office/drawing/2014/main" val="4069278267"/>
                    </a:ext>
                  </a:extLst>
                </a:gridCol>
                <a:gridCol w="1650670">
                  <a:extLst>
                    <a:ext uri="{9D8B030D-6E8A-4147-A177-3AD203B41FA5}">
                      <a16:colId xmlns:a16="http://schemas.microsoft.com/office/drawing/2014/main" val="3365074484"/>
                    </a:ext>
                  </a:extLst>
                </a:gridCol>
                <a:gridCol w="1294408">
                  <a:extLst>
                    <a:ext uri="{9D8B030D-6E8A-4147-A177-3AD203B41FA5}">
                      <a16:colId xmlns:a16="http://schemas.microsoft.com/office/drawing/2014/main" val="3417289028"/>
                    </a:ext>
                  </a:extLst>
                </a:gridCol>
              </a:tblGrid>
              <a:tr h="370840">
                <a:tc rowSpan="2" gridSpan="2">
                  <a:txBody>
                    <a:bodyPr/>
                    <a:lstStyle/>
                    <a:p>
                      <a:pPr algn="ctr"/>
                      <a:r>
                        <a:rPr lang="en-US" sz="2000" b="1" dirty="0"/>
                        <a:t>Data Points</a:t>
                      </a:r>
                    </a:p>
                  </a:txBody>
                  <a:tcPr/>
                </a:tc>
                <a:tc rowSpan="2" hMerge="1">
                  <a:txBody>
                    <a:bodyPr/>
                    <a:lstStyle/>
                    <a:p>
                      <a:endParaRPr lang="en-US"/>
                    </a:p>
                  </a:txBody>
                  <a:tcPr/>
                </a:tc>
                <a:tc gridSpan="4">
                  <a:txBody>
                    <a:bodyPr/>
                    <a:lstStyle/>
                    <a:p>
                      <a:pPr algn="ctr"/>
                      <a:r>
                        <a:rPr lang="en-US" sz="2000" b="1" dirty="0"/>
                        <a:t>Distance To Center</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rowSpan="2">
                  <a:txBody>
                    <a:bodyPr/>
                    <a:lstStyle/>
                    <a:p>
                      <a:pPr algn="ctr"/>
                      <a:r>
                        <a:rPr lang="en-US" sz="2000" b="1" dirty="0"/>
                        <a:t>Cluster</a:t>
                      </a:r>
                    </a:p>
                  </a:txBody>
                  <a:tcPr/>
                </a:tc>
                <a:tc rowSpan="2">
                  <a:txBody>
                    <a:bodyPr/>
                    <a:lstStyle/>
                    <a:p>
                      <a:pPr algn="ctr"/>
                      <a:r>
                        <a:rPr lang="en-US" sz="2000" b="1" dirty="0"/>
                        <a:t>New Cluster</a:t>
                      </a:r>
                    </a:p>
                  </a:txBody>
                  <a:tcPr/>
                </a:tc>
                <a:extLst>
                  <a:ext uri="{0D108BD9-81ED-4DB2-BD59-A6C34878D82A}">
                    <a16:rowId xmlns:a16="http://schemas.microsoft.com/office/drawing/2014/main" val="4105309022"/>
                  </a:ext>
                </a:extLst>
              </a:tr>
              <a:tr h="370840">
                <a:tc gridSpan="2" vMerge="1">
                  <a:txBody>
                    <a:bodyPr/>
                    <a:lstStyle/>
                    <a:p>
                      <a:endParaRPr lang="en-US" dirty="0"/>
                    </a:p>
                  </a:txBody>
                  <a:tcPr/>
                </a:tc>
                <a:tc hMerge="1" vMerge="1">
                  <a:txBody>
                    <a:bodyPr/>
                    <a:lstStyle/>
                    <a:p>
                      <a:endParaRPr lang="en-US" dirty="0"/>
                    </a:p>
                  </a:txBody>
                  <a:tcPr/>
                </a:tc>
                <a:tc>
                  <a:txBody>
                    <a:bodyPr/>
                    <a:lstStyle/>
                    <a:p>
                      <a:pPr algn="ctr"/>
                      <a:r>
                        <a:rPr lang="en-US" sz="2000" b="1" dirty="0"/>
                        <a:t>1.83</a:t>
                      </a:r>
                    </a:p>
                  </a:txBody>
                  <a:tcPr/>
                </a:tc>
                <a:tc>
                  <a:txBody>
                    <a:bodyPr/>
                    <a:lstStyle/>
                    <a:p>
                      <a:pPr algn="ctr"/>
                      <a:r>
                        <a:rPr lang="en-US" sz="2000" b="1" dirty="0"/>
                        <a:t>2.3</a:t>
                      </a:r>
                    </a:p>
                  </a:txBody>
                  <a:tcPr/>
                </a:tc>
                <a:tc>
                  <a:txBody>
                    <a:bodyPr/>
                    <a:lstStyle/>
                    <a:p>
                      <a:pPr algn="ctr"/>
                      <a:r>
                        <a:rPr lang="en-US" sz="2000" b="1" dirty="0"/>
                        <a:t>4.12</a:t>
                      </a:r>
                    </a:p>
                  </a:txBody>
                  <a:tcPr/>
                </a:tc>
                <a:tc>
                  <a:txBody>
                    <a:bodyPr/>
                    <a:lstStyle/>
                    <a:p>
                      <a:pPr algn="ctr"/>
                      <a:r>
                        <a:rPr lang="en-US" sz="2000" b="1" dirty="0"/>
                        <a:t>5.37</a:t>
                      </a:r>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820435397"/>
                  </a:ext>
                </a:extLst>
              </a:tr>
              <a:tr h="370840">
                <a:tc>
                  <a:txBody>
                    <a:bodyPr/>
                    <a:lstStyle/>
                    <a:p>
                      <a:pPr algn="ctr"/>
                      <a:r>
                        <a:rPr lang="en-US" sz="2000" dirty="0"/>
                        <a:t>1.0</a:t>
                      </a:r>
                    </a:p>
                  </a:txBody>
                  <a:tcPr/>
                </a:tc>
                <a:tc>
                  <a:txBody>
                    <a:bodyPr/>
                    <a:lstStyle/>
                    <a:p>
                      <a:pPr algn="ctr"/>
                      <a:r>
                        <a:rPr lang="en-US" sz="2000" dirty="0"/>
                        <a:t>1.0</a:t>
                      </a:r>
                    </a:p>
                  </a:txBody>
                  <a:tcPr/>
                </a:tc>
                <a:tc gridSpan="2">
                  <a:txBody>
                    <a:bodyPr/>
                    <a:lstStyle/>
                    <a:p>
                      <a:pPr algn="ctr"/>
                      <a:r>
                        <a:rPr lang="en-US" sz="2000" dirty="0">
                          <a:solidFill>
                            <a:srgbClr val="00B050"/>
                          </a:solidFill>
                        </a:rPr>
                        <a:t>1.54</a:t>
                      </a:r>
                    </a:p>
                  </a:txBody>
                  <a:tcPr/>
                </a:tc>
                <a:tc hMerge="1">
                  <a:txBody>
                    <a:bodyPr/>
                    <a:lstStyle/>
                    <a:p>
                      <a:pPr algn="ctr"/>
                      <a:endParaRPr lang="en-US" dirty="0"/>
                    </a:p>
                  </a:txBody>
                  <a:tcPr/>
                </a:tc>
                <a:tc gridSpan="2">
                  <a:txBody>
                    <a:bodyPr/>
                    <a:lstStyle/>
                    <a:p>
                      <a:pPr algn="ctr"/>
                      <a:r>
                        <a:rPr lang="en-US" sz="2000" dirty="0"/>
                        <a:t>5.36</a:t>
                      </a:r>
                    </a:p>
                  </a:txBody>
                  <a:tcPr/>
                </a:tc>
                <a:tc hMerge="1">
                  <a:txBody>
                    <a:bodyPr/>
                    <a:lstStyle/>
                    <a:p>
                      <a:pPr algn="ctr"/>
                      <a:endParaRPr lang="en-US" dirty="0"/>
                    </a:p>
                  </a:txBody>
                  <a:tcPr/>
                </a:tc>
                <a:tc>
                  <a:txBody>
                    <a:bodyPr/>
                    <a:lstStyle/>
                    <a:p>
                      <a:pPr algn="ctr"/>
                      <a:r>
                        <a:rPr lang="en-US" sz="2000" dirty="0"/>
                        <a:t>1</a:t>
                      </a:r>
                    </a:p>
                  </a:txBody>
                  <a:tcPr/>
                </a:tc>
                <a:tc>
                  <a:txBody>
                    <a:bodyPr/>
                    <a:lstStyle/>
                    <a:p>
                      <a:pPr algn="ctr"/>
                      <a:r>
                        <a:rPr lang="en-US" sz="2000" dirty="0"/>
                        <a:t>1</a:t>
                      </a:r>
                    </a:p>
                  </a:txBody>
                  <a:tcPr/>
                </a:tc>
                <a:extLst>
                  <a:ext uri="{0D108BD9-81ED-4DB2-BD59-A6C34878D82A}">
                    <a16:rowId xmlns:a16="http://schemas.microsoft.com/office/drawing/2014/main" val="3388203284"/>
                  </a:ext>
                </a:extLst>
              </a:tr>
              <a:tr h="370840">
                <a:tc>
                  <a:txBody>
                    <a:bodyPr/>
                    <a:lstStyle/>
                    <a:p>
                      <a:pPr algn="ctr"/>
                      <a:r>
                        <a:rPr lang="en-US" sz="2000" dirty="0"/>
                        <a:t>1.5</a:t>
                      </a:r>
                    </a:p>
                  </a:txBody>
                  <a:tcPr/>
                </a:tc>
                <a:tc>
                  <a:txBody>
                    <a:bodyPr/>
                    <a:lstStyle/>
                    <a:p>
                      <a:pPr algn="ctr"/>
                      <a:r>
                        <a:rPr lang="en-US" sz="2000" dirty="0"/>
                        <a:t>2.0</a:t>
                      </a:r>
                    </a:p>
                  </a:txBody>
                  <a:tcPr/>
                </a:tc>
                <a:tc gridSpan="2">
                  <a:txBody>
                    <a:bodyPr/>
                    <a:lstStyle/>
                    <a:p>
                      <a:pPr algn="ctr"/>
                      <a:r>
                        <a:rPr lang="en-US" sz="2000" dirty="0">
                          <a:solidFill>
                            <a:srgbClr val="00B050"/>
                          </a:solidFill>
                        </a:rPr>
                        <a:t>0.44</a:t>
                      </a:r>
                    </a:p>
                  </a:txBody>
                  <a:tcPr/>
                </a:tc>
                <a:tc hMerge="1">
                  <a:txBody>
                    <a:bodyPr/>
                    <a:lstStyle/>
                    <a:p>
                      <a:pPr algn="ctr"/>
                      <a:endParaRPr lang="en-US" dirty="0"/>
                    </a:p>
                  </a:txBody>
                  <a:tcPr/>
                </a:tc>
                <a:tc gridSpan="2">
                  <a:txBody>
                    <a:bodyPr/>
                    <a:lstStyle/>
                    <a:p>
                      <a:pPr algn="ctr"/>
                      <a:r>
                        <a:rPr lang="en-US" sz="2000" dirty="0"/>
                        <a:t>4.26</a:t>
                      </a:r>
                    </a:p>
                  </a:txBody>
                  <a:tcPr/>
                </a:tc>
                <a:tc hMerge="1">
                  <a:txBody>
                    <a:bodyPr/>
                    <a:lstStyle/>
                    <a:p>
                      <a:pPr algn="ctr"/>
                      <a:endParaRPr lang="en-US" dirty="0"/>
                    </a:p>
                  </a:txBody>
                  <a:tcPr/>
                </a:tc>
                <a:tc>
                  <a:txBody>
                    <a:bodyPr/>
                    <a:lstStyle/>
                    <a:p>
                      <a:pPr algn="ctr"/>
                      <a:r>
                        <a:rPr lang="en-US" sz="2000" dirty="0"/>
                        <a:t>1</a:t>
                      </a:r>
                    </a:p>
                  </a:txBody>
                  <a:tcPr/>
                </a:tc>
                <a:tc>
                  <a:txBody>
                    <a:bodyPr/>
                    <a:lstStyle/>
                    <a:p>
                      <a:pPr algn="ctr"/>
                      <a:r>
                        <a:rPr lang="en-US" sz="2000" dirty="0"/>
                        <a:t>1</a:t>
                      </a:r>
                    </a:p>
                  </a:txBody>
                  <a:tcPr/>
                </a:tc>
                <a:extLst>
                  <a:ext uri="{0D108BD9-81ED-4DB2-BD59-A6C34878D82A}">
                    <a16:rowId xmlns:a16="http://schemas.microsoft.com/office/drawing/2014/main" val="3989286471"/>
                  </a:ext>
                </a:extLst>
              </a:tr>
              <a:tr h="370840">
                <a:tc>
                  <a:txBody>
                    <a:bodyPr/>
                    <a:lstStyle/>
                    <a:p>
                      <a:pPr algn="ctr"/>
                      <a:r>
                        <a:rPr lang="en-US" sz="2000" dirty="0"/>
                        <a:t>3.0</a:t>
                      </a:r>
                    </a:p>
                  </a:txBody>
                  <a:tcPr/>
                </a:tc>
                <a:tc>
                  <a:txBody>
                    <a:bodyPr/>
                    <a:lstStyle/>
                    <a:p>
                      <a:pPr algn="ctr"/>
                      <a:r>
                        <a:rPr lang="en-US" sz="2000" dirty="0"/>
                        <a:t>4.0</a:t>
                      </a:r>
                    </a:p>
                  </a:txBody>
                  <a:tcPr/>
                </a:tc>
                <a:tc gridSpan="2">
                  <a:txBody>
                    <a:bodyPr/>
                    <a:lstStyle/>
                    <a:p>
                      <a:pPr algn="ctr"/>
                      <a:r>
                        <a:rPr lang="en-US" sz="2000" dirty="0"/>
                        <a:t>2.06</a:t>
                      </a:r>
                    </a:p>
                  </a:txBody>
                  <a:tcPr/>
                </a:tc>
                <a:tc hMerge="1">
                  <a:txBody>
                    <a:bodyPr/>
                    <a:lstStyle/>
                    <a:p>
                      <a:pPr algn="ctr"/>
                      <a:endParaRPr lang="en-US" dirty="0"/>
                    </a:p>
                  </a:txBody>
                  <a:tcPr/>
                </a:tc>
                <a:tc gridSpan="2">
                  <a:txBody>
                    <a:bodyPr/>
                    <a:lstStyle/>
                    <a:p>
                      <a:pPr algn="ctr"/>
                      <a:r>
                        <a:rPr lang="en-US" sz="2000" dirty="0">
                          <a:solidFill>
                            <a:srgbClr val="00B050"/>
                          </a:solidFill>
                        </a:rPr>
                        <a:t>1.76</a:t>
                      </a:r>
                    </a:p>
                  </a:txBody>
                  <a:tcPr/>
                </a:tc>
                <a:tc hMerge="1">
                  <a:txBody>
                    <a:bodyPr/>
                    <a:lstStyle/>
                    <a:p>
                      <a:pPr algn="ctr"/>
                      <a:endParaRPr lang="en-US" dirty="0"/>
                    </a:p>
                  </a:txBody>
                  <a:tcPr/>
                </a:tc>
                <a:tc>
                  <a:txBody>
                    <a:bodyPr/>
                    <a:lstStyle/>
                    <a:p>
                      <a:pPr algn="ctr"/>
                      <a:r>
                        <a:rPr lang="en-US" sz="2000" b="1" dirty="0">
                          <a:solidFill>
                            <a:srgbClr val="C00000"/>
                          </a:solidFill>
                        </a:rPr>
                        <a:t>1</a:t>
                      </a:r>
                    </a:p>
                  </a:txBody>
                  <a:tcPr/>
                </a:tc>
                <a:tc>
                  <a:txBody>
                    <a:bodyPr/>
                    <a:lstStyle/>
                    <a:p>
                      <a:pPr algn="ctr"/>
                      <a:r>
                        <a:rPr lang="en-US" sz="2000" b="1" dirty="0">
                          <a:solidFill>
                            <a:srgbClr val="C00000"/>
                          </a:solidFill>
                        </a:rPr>
                        <a:t>2</a:t>
                      </a:r>
                    </a:p>
                  </a:txBody>
                  <a:tcPr/>
                </a:tc>
                <a:extLst>
                  <a:ext uri="{0D108BD9-81ED-4DB2-BD59-A6C34878D82A}">
                    <a16:rowId xmlns:a16="http://schemas.microsoft.com/office/drawing/2014/main" val="3587907912"/>
                  </a:ext>
                </a:extLst>
              </a:tr>
              <a:tr h="370840">
                <a:tc>
                  <a:txBody>
                    <a:bodyPr/>
                    <a:lstStyle/>
                    <a:p>
                      <a:pPr algn="ctr"/>
                      <a:r>
                        <a:rPr lang="en-US" sz="2000" dirty="0"/>
                        <a:t>5.0</a:t>
                      </a:r>
                    </a:p>
                  </a:txBody>
                  <a:tcPr/>
                </a:tc>
                <a:tc>
                  <a:txBody>
                    <a:bodyPr/>
                    <a:lstStyle/>
                    <a:p>
                      <a:pPr algn="ctr"/>
                      <a:r>
                        <a:rPr lang="en-US" sz="2000" dirty="0"/>
                        <a:t>7.0</a:t>
                      </a:r>
                    </a:p>
                  </a:txBody>
                  <a:tcPr/>
                </a:tc>
                <a:tc gridSpan="2">
                  <a:txBody>
                    <a:bodyPr/>
                    <a:lstStyle/>
                    <a:p>
                      <a:pPr algn="ctr"/>
                      <a:r>
                        <a:rPr lang="en-US" sz="2000" dirty="0"/>
                        <a:t>5.66</a:t>
                      </a:r>
                    </a:p>
                  </a:txBody>
                  <a:tcPr/>
                </a:tc>
                <a:tc hMerge="1">
                  <a:txBody>
                    <a:bodyPr/>
                    <a:lstStyle/>
                    <a:p>
                      <a:pPr algn="ctr"/>
                      <a:endParaRPr lang="en-US" dirty="0"/>
                    </a:p>
                  </a:txBody>
                  <a:tcPr/>
                </a:tc>
                <a:tc gridSpan="2">
                  <a:txBody>
                    <a:bodyPr/>
                    <a:lstStyle/>
                    <a:p>
                      <a:pPr algn="ctr"/>
                      <a:r>
                        <a:rPr lang="en-US" sz="2000" dirty="0">
                          <a:solidFill>
                            <a:srgbClr val="00B050"/>
                          </a:solidFill>
                        </a:rPr>
                        <a:t>1.8</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361140248"/>
                  </a:ext>
                </a:extLst>
              </a:tr>
              <a:tr h="370840">
                <a:tc>
                  <a:txBody>
                    <a:bodyPr/>
                    <a:lstStyle/>
                    <a:p>
                      <a:pPr algn="ctr"/>
                      <a:r>
                        <a:rPr lang="en-US" sz="2000" dirty="0"/>
                        <a:t>3.5</a:t>
                      </a:r>
                    </a:p>
                  </a:txBody>
                  <a:tcPr/>
                </a:tc>
                <a:tc>
                  <a:txBody>
                    <a:bodyPr/>
                    <a:lstStyle/>
                    <a:p>
                      <a:pPr algn="ctr"/>
                      <a:r>
                        <a:rPr lang="en-US" sz="2000" dirty="0"/>
                        <a:t>5.0</a:t>
                      </a:r>
                    </a:p>
                  </a:txBody>
                  <a:tcPr/>
                </a:tc>
                <a:tc gridSpan="2">
                  <a:txBody>
                    <a:bodyPr/>
                    <a:lstStyle/>
                    <a:p>
                      <a:pPr algn="ctr"/>
                      <a:r>
                        <a:rPr lang="en-US" sz="2000" dirty="0"/>
                        <a:t>3.17</a:t>
                      </a:r>
                    </a:p>
                  </a:txBody>
                  <a:tcPr/>
                </a:tc>
                <a:tc hMerge="1">
                  <a:txBody>
                    <a:bodyPr/>
                    <a:lstStyle/>
                    <a:p>
                      <a:pPr algn="ctr"/>
                      <a:endParaRPr lang="en-US" dirty="0"/>
                    </a:p>
                  </a:txBody>
                  <a:tcPr/>
                </a:tc>
                <a:tc gridSpan="2">
                  <a:txBody>
                    <a:bodyPr/>
                    <a:lstStyle/>
                    <a:p>
                      <a:pPr algn="ctr"/>
                      <a:r>
                        <a:rPr lang="en-US" sz="2000" dirty="0">
                          <a:solidFill>
                            <a:srgbClr val="00B050"/>
                          </a:solidFill>
                        </a:rPr>
                        <a:t>0.72</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3011121406"/>
                  </a:ext>
                </a:extLst>
              </a:tr>
              <a:tr h="370840">
                <a:tc>
                  <a:txBody>
                    <a:bodyPr/>
                    <a:lstStyle/>
                    <a:p>
                      <a:pPr algn="ctr"/>
                      <a:r>
                        <a:rPr lang="en-US" sz="2000" dirty="0"/>
                        <a:t>4.5</a:t>
                      </a:r>
                    </a:p>
                  </a:txBody>
                  <a:tcPr/>
                </a:tc>
                <a:tc>
                  <a:txBody>
                    <a:bodyPr/>
                    <a:lstStyle/>
                    <a:p>
                      <a:pPr algn="ctr"/>
                      <a:r>
                        <a:rPr lang="en-US" sz="2000" dirty="0"/>
                        <a:t>5.0</a:t>
                      </a:r>
                    </a:p>
                  </a:txBody>
                  <a:tcPr/>
                </a:tc>
                <a:tc gridSpan="2">
                  <a:txBody>
                    <a:bodyPr/>
                    <a:lstStyle/>
                    <a:p>
                      <a:pPr algn="ctr"/>
                      <a:r>
                        <a:rPr lang="en-US" sz="2000" dirty="0"/>
                        <a:t>3.79</a:t>
                      </a:r>
                    </a:p>
                  </a:txBody>
                  <a:tcPr/>
                </a:tc>
                <a:tc hMerge="1">
                  <a:txBody>
                    <a:bodyPr/>
                    <a:lstStyle/>
                    <a:p>
                      <a:pPr algn="ctr"/>
                      <a:endParaRPr lang="en-US" dirty="0"/>
                    </a:p>
                  </a:txBody>
                  <a:tcPr/>
                </a:tc>
                <a:tc gridSpan="2">
                  <a:txBody>
                    <a:bodyPr/>
                    <a:lstStyle/>
                    <a:p>
                      <a:pPr algn="ctr"/>
                      <a:r>
                        <a:rPr lang="en-US" sz="2000" dirty="0">
                          <a:solidFill>
                            <a:srgbClr val="00B050"/>
                          </a:solidFill>
                        </a:rPr>
                        <a:t>0.53</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4048830717"/>
                  </a:ext>
                </a:extLst>
              </a:tr>
              <a:tr h="370840">
                <a:tc>
                  <a:txBody>
                    <a:bodyPr/>
                    <a:lstStyle/>
                    <a:p>
                      <a:pPr algn="ctr"/>
                      <a:r>
                        <a:rPr lang="en-US" sz="2000" dirty="0"/>
                        <a:t>3.5</a:t>
                      </a:r>
                    </a:p>
                  </a:txBody>
                  <a:tcPr/>
                </a:tc>
                <a:tc>
                  <a:txBody>
                    <a:bodyPr/>
                    <a:lstStyle/>
                    <a:p>
                      <a:pPr algn="ctr"/>
                      <a:r>
                        <a:rPr lang="en-US" sz="2000" dirty="0"/>
                        <a:t>4.5</a:t>
                      </a:r>
                    </a:p>
                  </a:txBody>
                  <a:tcPr/>
                </a:tc>
                <a:tc gridSpan="2">
                  <a:txBody>
                    <a:bodyPr/>
                    <a:lstStyle/>
                    <a:p>
                      <a:pPr algn="ctr"/>
                      <a:r>
                        <a:rPr lang="en-US" sz="2000" dirty="0"/>
                        <a:t>2.762</a:t>
                      </a:r>
                    </a:p>
                  </a:txBody>
                  <a:tcPr/>
                </a:tc>
                <a:tc hMerge="1">
                  <a:txBody>
                    <a:bodyPr/>
                    <a:lstStyle/>
                    <a:p>
                      <a:pPr algn="ctr"/>
                      <a:endParaRPr lang="en-US" dirty="0"/>
                    </a:p>
                  </a:txBody>
                  <a:tcPr/>
                </a:tc>
                <a:tc gridSpan="2">
                  <a:txBody>
                    <a:bodyPr/>
                    <a:lstStyle/>
                    <a:p>
                      <a:pPr algn="ctr"/>
                      <a:r>
                        <a:rPr lang="en-US" sz="2000" dirty="0">
                          <a:solidFill>
                            <a:srgbClr val="00B050"/>
                          </a:solidFill>
                        </a:rPr>
                        <a:t>1.06</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4268877181"/>
                  </a:ext>
                </a:extLst>
              </a:tr>
            </a:tbl>
          </a:graphicData>
        </a:graphic>
      </p:graphicFrame>
      <p:sp>
        <p:nvSpPr>
          <p:cNvPr id="5" name="TextBox 4">
            <a:extLst>
              <a:ext uri="{FF2B5EF4-FFF2-40B4-BE49-F238E27FC236}">
                <a16:creationId xmlns:a16="http://schemas.microsoft.com/office/drawing/2014/main" id="{ABEF6495-8E57-35E3-DDBE-92E409B5C759}"/>
              </a:ext>
            </a:extLst>
          </p:cNvPr>
          <p:cNvSpPr txBox="1"/>
          <p:nvPr/>
        </p:nvSpPr>
        <p:spPr>
          <a:xfrm>
            <a:off x="131951" y="1151907"/>
            <a:ext cx="1859805" cy="1015663"/>
          </a:xfrm>
          <a:prstGeom prst="rect">
            <a:avLst/>
          </a:prstGeom>
          <a:noFill/>
        </p:spPr>
        <p:txBody>
          <a:bodyPr wrap="none" rtlCol="0">
            <a:spAutoFit/>
          </a:bodyPr>
          <a:lstStyle/>
          <a:p>
            <a:r>
              <a:rPr lang="en-US" sz="2000" b="1" dirty="0"/>
              <a:t>Old  Centroid</a:t>
            </a:r>
          </a:p>
          <a:p>
            <a:r>
              <a:rPr lang="en-US" sz="2000" b="1" dirty="0"/>
              <a:t>K1 = (1.83,2.33)</a:t>
            </a:r>
          </a:p>
          <a:p>
            <a:r>
              <a:rPr lang="en-US" sz="2000" b="1" dirty="0"/>
              <a:t>K2 = (4.12,5.37)</a:t>
            </a:r>
          </a:p>
        </p:txBody>
      </p:sp>
      <p:sp>
        <p:nvSpPr>
          <p:cNvPr id="6" name="TextBox 5">
            <a:extLst>
              <a:ext uri="{FF2B5EF4-FFF2-40B4-BE49-F238E27FC236}">
                <a16:creationId xmlns:a16="http://schemas.microsoft.com/office/drawing/2014/main" id="{67BF4C15-3974-97EF-A338-9B4C3F9F6A03}"/>
              </a:ext>
            </a:extLst>
          </p:cNvPr>
          <p:cNvSpPr txBox="1"/>
          <p:nvPr/>
        </p:nvSpPr>
        <p:spPr>
          <a:xfrm>
            <a:off x="5420617" y="4840555"/>
            <a:ext cx="1847081" cy="1015663"/>
          </a:xfrm>
          <a:prstGeom prst="rect">
            <a:avLst/>
          </a:prstGeom>
          <a:noFill/>
        </p:spPr>
        <p:txBody>
          <a:bodyPr wrap="square" rtlCol="0">
            <a:spAutoFit/>
          </a:bodyPr>
          <a:lstStyle/>
          <a:p>
            <a:r>
              <a:rPr lang="en-US" sz="2000" b="1" dirty="0"/>
              <a:t>New  Centroid</a:t>
            </a:r>
          </a:p>
          <a:p>
            <a:r>
              <a:rPr lang="en-US" sz="2000" b="1" dirty="0"/>
              <a:t>K1 = (1.25,1.5)</a:t>
            </a:r>
          </a:p>
          <a:p>
            <a:r>
              <a:rPr lang="en-US" sz="2000" b="1" dirty="0"/>
              <a:t>K2 = (3.9,5.1)</a:t>
            </a:r>
          </a:p>
        </p:txBody>
      </p:sp>
    </p:spTree>
    <p:extLst>
      <p:ext uri="{BB962C8B-B14F-4D97-AF65-F5344CB8AC3E}">
        <p14:creationId xmlns:p14="http://schemas.microsoft.com/office/powerpoint/2010/main" val="146725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2EF77-0E66-2086-1593-67869974ED9F}"/>
              </a:ext>
            </a:extLst>
          </p:cNvPr>
          <p:cNvSpPr>
            <a:spLocks noGrp="1"/>
          </p:cNvSpPr>
          <p:nvPr>
            <p:ph type="title"/>
          </p:nvPr>
        </p:nvSpPr>
        <p:spPr/>
        <p:txBody>
          <a:bodyPr/>
          <a:lstStyle/>
          <a:p>
            <a:r>
              <a:rPr lang="en-US" dirty="0"/>
              <a:t>K-Mean Example</a:t>
            </a:r>
          </a:p>
        </p:txBody>
      </p:sp>
      <p:graphicFrame>
        <p:nvGraphicFramePr>
          <p:cNvPr id="4" name="Table 4">
            <a:extLst>
              <a:ext uri="{FF2B5EF4-FFF2-40B4-BE49-F238E27FC236}">
                <a16:creationId xmlns:a16="http://schemas.microsoft.com/office/drawing/2014/main" id="{DCAE0DE8-8D96-9604-09CB-3915E00CAE4E}"/>
              </a:ext>
            </a:extLst>
          </p:cNvPr>
          <p:cNvGraphicFramePr>
            <a:graphicFrameLocks noGrp="1"/>
          </p:cNvGraphicFramePr>
          <p:nvPr/>
        </p:nvGraphicFramePr>
        <p:xfrm>
          <a:off x="2127002" y="992798"/>
          <a:ext cx="9403936" cy="3566160"/>
        </p:xfrm>
        <a:graphic>
          <a:graphicData uri="http://schemas.openxmlformats.org/drawingml/2006/table">
            <a:tbl>
              <a:tblPr firstRow="1" bandRow="1">
                <a:tableStyleId>{5940675A-B579-460E-94D1-54222C63F5DA}</a:tableStyleId>
              </a:tblPr>
              <a:tblGrid>
                <a:gridCol w="1175492">
                  <a:extLst>
                    <a:ext uri="{9D8B030D-6E8A-4147-A177-3AD203B41FA5}">
                      <a16:colId xmlns:a16="http://schemas.microsoft.com/office/drawing/2014/main" val="3686462623"/>
                    </a:ext>
                  </a:extLst>
                </a:gridCol>
                <a:gridCol w="1175492">
                  <a:extLst>
                    <a:ext uri="{9D8B030D-6E8A-4147-A177-3AD203B41FA5}">
                      <a16:colId xmlns:a16="http://schemas.microsoft.com/office/drawing/2014/main" val="1472942615"/>
                    </a:ext>
                  </a:extLst>
                </a:gridCol>
                <a:gridCol w="1008414">
                  <a:extLst>
                    <a:ext uri="{9D8B030D-6E8A-4147-A177-3AD203B41FA5}">
                      <a16:colId xmlns:a16="http://schemas.microsoft.com/office/drawing/2014/main" val="3876576436"/>
                    </a:ext>
                  </a:extLst>
                </a:gridCol>
                <a:gridCol w="1009403">
                  <a:extLst>
                    <a:ext uri="{9D8B030D-6E8A-4147-A177-3AD203B41FA5}">
                      <a16:colId xmlns:a16="http://schemas.microsoft.com/office/drawing/2014/main" val="2152451891"/>
                    </a:ext>
                  </a:extLst>
                </a:gridCol>
                <a:gridCol w="1056903">
                  <a:extLst>
                    <a:ext uri="{9D8B030D-6E8A-4147-A177-3AD203B41FA5}">
                      <a16:colId xmlns:a16="http://schemas.microsoft.com/office/drawing/2014/main" val="2778306619"/>
                    </a:ext>
                  </a:extLst>
                </a:gridCol>
                <a:gridCol w="1033154">
                  <a:extLst>
                    <a:ext uri="{9D8B030D-6E8A-4147-A177-3AD203B41FA5}">
                      <a16:colId xmlns:a16="http://schemas.microsoft.com/office/drawing/2014/main" val="4069278267"/>
                    </a:ext>
                  </a:extLst>
                </a:gridCol>
                <a:gridCol w="1650670">
                  <a:extLst>
                    <a:ext uri="{9D8B030D-6E8A-4147-A177-3AD203B41FA5}">
                      <a16:colId xmlns:a16="http://schemas.microsoft.com/office/drawing/2014/main" val="3365074484"/>
                    </a:ext>
                  </a:extLst>
                </a:gridCol>
                <a:gridCol w="1294408">
                  <a:extLst>
                    <a:ext uri="{9D8B030D-6E8A-4147-A177-3AD203B41FA5}">
                      <a16:colId xmlns:a16="http://schemas.microsoft.com/office/drawing/2014/main" val="3417289028"/>
                    </a:ext>
                  </a:extLst>
                </a:gridCol>
              </a:tblGrid>
              <a:tr h="370840">
                <a:tc rowSpan="2" gridSpan="2">
                  <a:txBody>
                    <a:bodyPr/>
                    <a:lstStyle/>
                    <a:p>
                      <a:pPr algn="ctr"/>
                      <a:r>
                        <a:rPr lang="en-US" sz="2000" b="1" dirty="0"/>
                        <a:t>Data Points</a:t>
                      </a:r>
                    </a:p>
                  </a:txBody>
                  <a:tcPr/>
                </a:tc>
                <a:tc rowSpan="2" hMerge="1">
                  <a:txBody>
                    <a:bodyPr/>
                    <a:lstStyle/>
                    <a:p>
                      <a:endParaRPr lang="en-US"/>
                    </a:p>
                  </a:txBody>
                  <a:tcPr/>
                </a:tc>
                <a:tc gridSpan="4">
                  <a:txBody>
                    <a:bodyPr/>
                    <a:lstStyle/>
                    <a:p>
                      <a:pPr algn="ctr"/>
                      <a:r>
                        <a:rPr lang="en-US" sz="2000" b="1" dirty="0"/>
                        <a:t>Distance To Center</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rowSpan="2">
                  <a:txBody>
                    <a:bodyPr/>
                    <a:lstStyle/>
                    <a:p>
                      <a:pPr algn="ctr"/>
                      <a:r>
                        <a:rPr lang="en-US" sz="2000" b="1" dirty="0"/>
                        <a:t>Cluster</a:t>
                      </a:r>
                    </a:p>
                  </a:txBody>
                  <a:tcPr/>
                </a:tc>
                <a:tc rowSpan="2">
                  <a:txBody>
                    <a:bodyPr/>
                    <a:lstStyle/>
                    <a:p>
                      <a:pPr algn="ctr"/>
                      <a:r>
                        <a:rPr lang="en-US" sz="2000" b="1" dirty="0"/>
                        <a:t>New Cluster</a:t>
                      </a:r>
                    </a:p>
                  </a:txBody>
                  <a:tcPr/>
                </a:tc>
                <a:extLst>
                  <a:ext uri="{0D108BD9-81ED-4DB2-BD59-A6C34878D82A}">
                    <a16:rowId xmlns:a16="http://schemas.microsoft.com/office/drawing/2014/main" val="4105309022"/>
                  </a:ext>
                </a:extLst>
              </a:tr>
              <a:tr h="370840">
                <a:tc gridSpan="2" vMerge="1">
                  <a:txBody>
                    <a:bodyPr/>
                    <a:lstStyle/>
                    <a:p>
                      <a:endParaRPr lang="en-US" dirty="0"/>
                    </a:p>
                  </a:txBody>
                  <a:tcPr/>
                </a:tc>
                <a:tc hMerge="1" vMerge="1">
                  <a:txBody>
                    <a:bodyPr/>
                    <a:lstStyle/>
                    <a:p>
                      <a:endParaRPr lang="en-US" dirty="0"/>
                    </a:p>
                  </a:txBody>
                  <a:tcPr/>
                </a:tc>
                <a:tc>
                  <a:txBody>
                    <a:bodyPr/>
                    <a:lstStyle/>
                    <a:p>
                      <a:pPr algn="ctr"/>
                      <a:r>
                        <a:rPr lang="en-US" sz="2000" b="1" dirty="0"/>
                        <a:t>1.25</a:t>
                      </a:r>
                    </a:p>
                  </a:txBody>
                  <a:tcPr/>
                </a:tc>
                <a:tc>
                  <a:txBody>
                    <a:bodyPr/>
                    <a:lstStyle/>
                    <a:p>
                      <a:pPr algn="ctr"/>
                      <a:r>
                        <a:rPr lang="en-US" sz="2000" b="1" dirty="0"/>
                        <a:t>1.5</a:t>
                      </a:r>
                    </a:p>
                  </a:txBody>
                  <a:tcPr/>
                </a:tc>
                <a:tc>
                  <a:txBody>
                    <a:bodyPr/>
                    <a:lstStyle/>
                    <a:p>
                      <a:pPr algn="ctr"/>
                      <a:r>
                        <a:rPr lang="en-US" sz="2000" b="1" dirty="0"/>
                        <a:t>3.9</a:t>
                      </a:r>
                    </a:p>
                  </a:txBody>
                  <a:tcPr/>
                </a:tc>
                <a:tc>
                  <a:txBody>
                    <a:bodyPr/>
                    <a:lstStyle/>
                    <a:p>
                      <a:pPr algn="ctr"/>
                      <a:r>
                        <a:rPr lang="en-US" sz="2000" b="1" dirty="0"/>
                        <a:t>5.1</a:t>
                      </a:r>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820435397"/>
                  </a:ext>
                </a:extLst>
              </a:tr>
              <a:tr h="370840">
                <a:tc>
                  <a:txBody>
                    <a:bodyPr/>
                    <a:lstStyle/>
                    <a:p>
                      <a:pPr algn="ctr"/>
                      <a:r>
                        <a:rPr lang="en-US" sz="2000" dirty="0"/>
                        <a:t>1.0</a:t>
                      </a:r>
                    </a:p>
                  </a:txBody>
                  <a:tcPr/>
                </a:tc>
                <a:tc>
                  <a:txBody>
                    <a:bodyPr/>
                    <a:lstStyle/>
                    <a:p>
                      <a:pPr algn="ctr"/>
                      <a:r>
                        <a:rPr lang="en-US" sz="2000" dirty="0"/>
                        <a:t>1.0</a:t>
                      </a:r>
                    </a:p>
                  </a:txBody>
                  <a:tcPr/>
                </a:tc>
                <a:tc gridSpan="2">
                  <a:txBody>
                    <a:bodyPr/>
                    <a:lstStyle/>
                    <a:p>
                      <a:pPr algn="ctr"/>
                      <a:r>
                        <a:rPr lang="en-US" sz="2000" dirty="0">
                          <a:solidFill>
                            <a:srgbClr val="00B050"/>
                          </a:solidFill>
                        </a:rPr>
                        <a:t>0.55</a:t>
                      </a:r>
                    </a:p>
                  </a:txBody>
                  <a:tcPr/>
                </a:tc>
                <a:tc hMerge="1">
                  <a:txBody>
                    <a:bodyPr/>
                    <a:lstStyle/>
                    <a:p>
                      <a:pPr algn="ctr"/>
                      <a:endParaRPr lang="en-US" dirty="0"/>
                    </a:p>
                  </a:txBody>
                  <a:tcPr/>
                </a:tc>
                <a:tc gridSpan="2">
                  <a:txBody>
                    <a:bodyPr/>
                    <a:lstStyle/>
                    <a:p>
                      <a:pPr algn="ctr"/>
                      <a:r>
                        <a:rPr lang="en-US" sz="2000" dirty="0"/>
                        <a:t>5.02</a:t>
                      </a:r>
                    </a:p>
                  </a:txBody>
                  <a:tcPr/>
                </a:tc>
                <a:tc hMerge="1">
                  <a:txBody>
                    <a:bodyPr/>
                    <a:lstStyle/>
                    <a:p>
                      <a:pPr algn="ctr"/>
                      <a:endParaRPr lang="en-US" dirty="0"/>
                    </a:p>
                  </a:txBody>
                  <a:tcPr/>
                </a:tc>
                <a:tc>
                  <a:txBody>
                    <a:bodyPr/>
                    <a:lstStyle/>
                    <a:p>
                      <a:pPr algn="ctr"/>
                      <a:r>
                        <a:rPr lang="en-US" sz="2000" dirty="0"/>
                        <a:t>1</a:t>
                      </a:r>
                    </a:p>
                  </a:txBody>
                  <a:tcPr/>
                </a:tc>
                <a:tc>
                  <a:txBody>
                    <a:bodyPr/>
                    <a:lstStyle/>
                    <a:p>
                      <a:pPr algn="ctr"/>
                      <a:r>
                        <a:rPr lang="en-US" sz="2000" dirty="0"/>
                        <a:t>1</a:t>
                      </a:r>
                    </a:p>
                  </a:txBody>
                  <a:tcPr/>
                </a:tc>
                <a:extLst>
                  <a:ext uri="{0D108BD9-81ED-4DB2-BD59-A6C34878D82A}">
                    <a16:rowId xmlns:a16="http://schemas.microsoft.com/office/drawing/2014/main" val="3388203284"/>
                  </a:ext>
                </a:extLst>
              </a:tr>
              <a:tr h="370840">
                <a:tc>
                  <a:txBody>
                    <a:bodyPr/>
                    <a:lstStyle/>
                    <a:p>
                      <a:pPr algn="ctr"/>
                      <a:r>
                        <a:rPr lang="en-US" sz="2000" dirty="0"/>
                        <a:t>1.5</a:t>
                      </a:r>
                    </a:p>
                  </a:txBody>
                  <a:tcPr/>
                </a:tc>
                <a:tc>
                  <a:txBody>
                    <a:bodyPr/>
                    <a:lstStyle/>
                    <a:p>
                      <a:pPr algn="ctr"/>
                      <a:r>
                        <a:rPr lang="en-US" sz="2000" dirty="0"/>
                        <a:t>2.0</a:t>
                      </a:r>
                    </a:p>
                  </a:txBody>
                  <a:tcPr/>
                </a:tc>
                <a:tc gridSpan="2">
                  <a:txBody>
                    <a:bodyPr/>
                    <a:lstStyle/>
                    <a:p>
                      <a:pPr algn="ctr"/>
                      <a:r>
                        <a:rPr lang="en-US" sz="2000" dirty="0">
                          <a:solidFill>
                            <a:srgbClr val="00B050"/>
                          </a:solidFill>
                        </a:rPr>
                        <a:t>0.55</a:t>
                      </a:r>
                    </a:p>
                  </a:txBody>
                  <a:tcPr/>
                </a:tc>
                <a:tc hMerge="1">
                  <a:txBody>
                    <a:bodyPr/>
                    <a:lstStyle/>
                    <a:p>
                      <a:pPr algn="ctr"/>
                      <a:endParaRPr lang="en-US" dirty="0"/>
                    </a:p>
                  </a:txBody>
                  <a:tcPr/>
                </a:tc>
                <a:tc gridSpan="2">
                  <a:txBody>
                    <a:bodyPr/>
                    <a:lstStyle/>
                    <a:p>
                      <a:pPr algn="ctr"/>
                      <a:r>
                        <a:rPr lang="en-US" sz="2000" dirty="0"/>
                        <a:t>3.92</a:t>
                      </a:r>
                    </a:p>
                  </a:txBody>
                  <a:tcPr/>
                </a:tc>
                <a:tc hMerge="1">
                  <a:txBody>
                    <a:bodyPr/>
                    <a:lstStyle/>
                    <a:p>
                      <a:pPr algn="ctr"/>
                      <a:endParaRPr lang="en-US" dirty="0"/>
                    </a:p>
                  </a:txBody>
                  <a:tcPr/>
                </a:tc>
                <a:tc>
                  <a:txBody>
                    <a:bodyPr/>
                    <a:lstStyle/>
                    <a:p>
                      <a:pPr algn="ctr"/>
                      <a:r>
                        <a:rPr lang="en-US" sz="2000" dirty="0"/>
                        <a:t>1</a:t>
                      </a:r>
                    </a:p>
                  </a:txBody>
                  <a:tcPr/>
                </a:tc>
                <a:tc>
                  <a:txBody>
                    <a:bodyPr/>
                    <a:lstStyle/>
                    <a:p>
                      <a:pPr algn="ctr"/>
                      <a:r>
                        <a:rPr lang="en-US" sz="2000" dirty="0"/>
                        <a:t>1</a:t>
                      </a:r>
                    </a:p>
                  </a:txBody>
                  <a:tcPr/>
                </a:tc>
                <a:extLst>
                  <a:ext uri="{0D108BD9-81ED-4DB2-BD59-A6C34878D82A}">
                    <a16:rowId xmlns:a16="http://schemas.microsoft.com/office/drawing/2014/main" val="3989286471"/>
                  </a:ext>
                </a:extLst>
              </a:tr>
              <a:tr h="370840">
                <a:tc>
                  <a:txBody>
                    <a:bodyPr/>
                    <a:lstStyle/>
                    <a:p>
                      <a:pPr algn="ctr"/>
                      <a:r>
                        <a:rPr lang="en-US" sz="2000" dirty="0"/>
                        <a:t>3.0</a:t>
                      </a:r>
                    </a:p>
                  </a:txBody>
                  <a:tcPr/>
                </a:tc>
                <a:tc>
                  <a:txBody>
                    <a:bodyPr/>
                    <a:lstStyle/>
                    <a:p>
                      <a:pPr algn="ctr"/>
                      <a:r>
                        <a:rPr lang="en-US" sz="2000" dirty="0"/>
                        <a:t>4.0</a:t>
                      </a:r>
                    </a:p>
                  </a:txBody>
                  <a:tcPr/>
                </a:tc>
                <a:tc gridSpan="2">
                  <a:txBody>
                    <a:bodyPr/>
                    <a:lstStyle/>
                    <a:p>
                      <a:pPr algn="ctr"/>
                      <a:r>
                        <a:rPr lang="en-US" sz="2000" dirty="0"/>
                        <a:t>3.05</a:t>
                      </a:r>
                    </a:p>
                  </a:txBody>
                  <a:tcPr/>
                </a:tc>
                <a:tc hMerge="1">
                  <a:txBody>
                    <a:bodyPr/>
                    <a:lstStyle/>
                    <a:p>
                      <a:pPr algn="ctr"/>
                      <a:endParaRPr lang="en-US" dirty="0"/>
                    </a:p>
                  </a:txBody>
                  <a:tcPr/>
                </a:tc>
                <a:tc gridSpan="2">
                  <a:txBody>
                    <a:bodyPr/>
                    <a:lstStyle/>
                    <a:p>
                      <a:pPr algn="ctr"/>
                      <a:r>
                        <a:rPr lang="en-US" sz="2000" dirty="0">
                          <a:solidFill>
                            <a:srgbClr val="00B050"/>
                          </a:solidFill>
                        </a:rPr>
                        <a:t>1.42</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3587907912"/>
                  </a:ext>
                </a:extLst>
              </a:tr>
              <a:tr h="370840">
                <a:tc>
                  <a:txBody>
                    <a:bodyPr/>
                    <a:lstStyle/>
                    <a:p>
                      <a:pPr algn="ctr"/>
                      <a:r>
                        <a:rPr lang="en-US" sz="2000" dirty="0"/>
                        <a:t>5.0</a:t>
                      </a:r>
                    </a:p>
                  </a:txBody>
                  <a:tcPr/>
                </a:tc>
                <a:tc>
                  <a:txBody>
                    <a:bodyPr/>
                    <a:lstStyle/>
                    <a:p>
                      <a:pPr algn="ctr"/>
                      <a:r>
                        <a:rPr lang="en-US" sz="2000" dirty="0"/>
                        <a:t>7.0</a:t>
                      </a:r>
                    </a:p>
                  </a:txBody>
                  <a:tcPr/>
                </a:tc>
                <a:tc gridSpan="2">
                  <a:txBody>
                    <a:bodyPr/>
                    <a:lstStyle/>
                    <a:p>
                      <a:pPr algn="ctr"/>
                      <a:r>
                        <a:rPr lang="en-US" sz="2000" dirty="0"/>
                        <a:t>6.65</a:t>
                      </a:r>
                    </a:p>
                  </a:txBody>
                  <a:tcPr/>
                </a:tc>
                <a:tc hMerge="1">
                  <a:txBody>
                    <a:bodyPr/>
                    <a:lstStyle/>
                    <a:p>
                      <a:pPr algn="ctr"/>
                      <a:endParaRPr lang="en-US" dirty="0"/>
                    </a:p>
                  </a:txBody>
                  <a:tcPr/>
                </a:tc>
                <a:tc gridSpan="2">
                  <a:txBody>
                    <a:bodyPr/>
                    <a:lstStyle/>
                    <a:p>
                      <a:pPr algn="ctr"/>
                      <a:r>
                        <a:rPr lang="en-US" sz="2000" dirty="0">
                          <a:solidFill>
                            <a:srgbClr val="00B050"/>
                          </a:solidFill>
                        </a:rPr>
                        <a:t>2.19</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361140248"/>
                  </a:ext>
                </a:extLst>
              </a:tr>
              <a:tr h="370840">
                <a:tc>
                  <a:txBody>
                    <a:bodyPr/>
                    <a:lstStyle/>
                    <a:p>
                      <a:pPr algn="ctr"/>
                      <a:r>
                        <a:rPr lang="en-US" sz="2000" dirty="0"/>
                        <a:t>3.5</a:t>
                      </a:r>
                    </a:p>
                  </a:txBody>
                  <a:tcPr/>
                </a:tc>
                <a:tc>
                  <a:txBody>
                    <a:bodyPr/>
                    <a:lstStyle/>
                    <a:p>
                      <a:pPr algn="ctr"/>
                      <a:r>
                        <a:rPr lang="en-US" sz="2000" dirty="0"/>
                        <a:t>5.0</a:t>
                      </a:r>
                    </a:p>
                  </a:txBody>
                  <a:tcPr/>
                </a:tc>
                <a:tc gridSpan="2">
                  <a:txBody>
                    <a:bodyPr/>
                    <a:lstStyle/>
                    <a:p>
                      <a:pPr algn="ctr"/>
                      <a:r>
                        <a:rPr lang="en-US" sz="2000" dirty="0"/>
                        <a:t>4.16</a:t>
                      </a:r>
                    </a:p>
                  </a:txBody>
                  <a:tcPr/>
                </a:tc>
                <a:tc hMerge="1">
                  <a:txBody>
                    <a:bodyPr/>
                    <a:lstStyle/>
                    <a:p>
                      <a:pPr algn="ctr"/>
                      <a:endParaRPr lang="en-US" dirty="0"/>
                    </a:p>
                  </a:txBody>
                  <a:tcPr/>
                </a:tc>
                <a:tc gridSpan="2">
                  <a:txBody>
                    <a:bodyPr/>
                    <a:lstStyle/>
                    <a:p>
                      <a:pPr algn="ctr"/>
                      <a:r>
                        <a:rPr lang="en-US" sz="2000" dirty="0">
                          <a:solidFill>
                            <a:srgbClr val="00B050"/>
                          </a:solidFill>
                        </a:rPr>
                        <a:t>0.41</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3011121406"/>
                  </a:ext>
                </a:extLst>
              </a:tr>
              <a:tr h="370840">
                <a:tc>
                  <a:txBody>
                    <a:bodyPr/>
                    <a:lstStyle/>
                    <a:p>
                      <a:pPr algn="ctr"/>
                      <a:r>
                        <a:rPr lang="en-US" sz="2000" dirty="0"/>
                        <a:t>4.5</a:t>
                      </a:r>
                    </a:p>
                  </a:txBody>
                  <a:tcPr/>
                </a:tc>
                <a:tc>
                  <a:txBody>
                    <a:bodyPr/>
                    <a:lstStyle/>
                    <a:p>
                      <a:pPr algn="ctr"/>
                      <a:r>
                        <a:rPr lang="en-US" sz="2000" dirty="0"/>
                        <a:t>5.0</a:t>
                      </a:r>
                    </a:p>
                  </a:txBody>
                  <a:tcPr/>
                </a:tc>
                <a:tc gridSpan="2">
                  <a:txBody>
                    <a:bodyPr/>
                    <a:lstStyle/>
                    <a:p>
                      <a:pPr algn="ctr"/>
                      <a:r>
                        <a:rPr lang="en-US" sz="2000" dirty="0"/>
                        <a:t>4.77</a:t>
                      </a:r>
                    </a:p>
                  </a:txBody>
                  <a:tcPr/>
                </a:tc>
                <a:tc hMerge="1">
                  <a:txBody>
                    <a:bodyPr/>
                    <a:lstStyle/>
                    <a:p>
                      <a:pPr algn="ctr"/>
                      <a:endParaRPr lang="en-US" dirty="0"/>
                    </a:p>
                  </a:txBody>
                  <a:tcPr/>
                </a:tc>
                <a:tc gridSpan="2">
                  <a:txBody>
                    <a:bodyPr/>
                    <a:lstStyle/>
                    <a:p>
                      <a:pPr algn="ctr"/>
                      <a:r>
                        <a:rPr lang="en-US" sz="2000" dirty="0">
                          <a:solidFill>
                            <a:srgbClr val="00B050"/>
                          </a:solidFill>
                        </a:rPr>
                        <a:t>0.60</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4048830717"/>
                  </a:ext>
                </a:extLst>
              </a:tr>
              <a:tr h="370840">
                <a:tc>
                  <a:txBody>
                    <a:bodyPr/>
                    <a:lstStyle/>
                    <a:p>
                      <a:pPr algn="ctr"/>
                      <a:r>
                        <a:rPr lang="en-US" sz="2000" dirty="0"/>
                        <a:t>3.5</a:t>
                      </a:r>
                    </a:p>
                  </a:txBody>
                  <a:tcPr/>
                </a:tc>
                <a:tc>
                  <a:txBody>
                    <a:bodyPr/>
                    <a:lstStyle/>
                    <a:p>
                      <a:pPr algn="ctr"/>
                      <a:r>
                        <a:rPr lang="en-US" sz="2000" dirty="0"/>
                        <a:t>4.5</a:t>
                      </a:r>
                    </a:p>
                  </a:txBody>
                  <a:tcPr/>
                </a:tc>
                <a:tc gridSpan="2">
                  <a:txBody>
                    <a:bodyPr/>
                    <a:lstStyle/>
                    <a:p>
                      <a:pPr algn="ctr"/>
                      <a:r>
                        <a:rPr lang="en-US" sz="2000" dirty="0"/>
                        <a:t>3.75</a:t>
                      </a:r>
                    </a:p>
                  </a:txBody>
                  <a:tcPr/>
                </a:tc>
                <a:tc hMerge="1">
                  <a:txBody>
                    <a:bodyPr/>
                    <a:lstStyle/>
                    <a:p>
                      <a:pPr algn="ctr"/>
                      <a:endParaRPr lang="en-US" dirty="0"/>
                    </a:p>
                  </a:txBody>
                  <a:tcPr/>
                </a:tc>
                <a:tc gridSpan="2">
                  <a:txBody>
                    <a:bodyPr/>
                    <a:lstStyle/>
                    <a:p>
                      <a:pPr algn="ctr"/>
                      <a:r>
                        <a:rPr lang="en-US" sz="2000" dirty="0">
                          <a:solidFill>
                            <a:srgbClr val="00B050"/>
                          </a:solidFill>
                        </a:rPr>
                        <a:t>0.72</a:t>
                      </a:r>
                    </a:p>
                  </a:txBody>
                  <a:tcPr/>
                </a:tc>
                <a:tc hMerge="1">
                  <a:txBody>
                    <a:bodyPr/>
                    <a:lstStyle/>
                    <a:p>
                      <a:pPr algn="ctr"/>
                      <a:endParaRPr lang="en-US" dirty="0"/>
                    </a:p>
                  </a:txBody>
                  <a:tcPr/>
                </a:tc>
                <a:tc>
                  <a:txBody>
                    <a:bodyPr/>
                    <a:lstStyle/>
                    <a:p>
                      <a:pPr algn="ctr"/>
                      <a:r>
                        <a:rPr lang="en-US" sz="2000" dirty="0"/>
                        <a:t>2</a:t>
                      </a:r>
                    </a:p>
                  </a:txBody>
                  <a:tcPr/>
                </a:tc>
                <a:tc>
                  <a:txBody>
                    <a:bodyPr/>
                    <a:lstStyle/>
                    <a:p>
                      <a:pPr algn="ctr"/>
                      <a:r>
                        <a:rPr lang="en-US" sz="2000" dirty="0"/>
                        <a:t>2</a:t>
                      </a:r>
                    </a:p>
                  </a:txBody>
                  <a:tcPr/>
                </a:tc>
                <a:extLst>
                  <a:ext uri="{0D108BD9-81ED-4DB2-BD59-A6C34878D82A}">
                    <a16:rowId xmlns:a16="http://schemas.microsoft.com/office/drawing/2014/main" val="4268877181"/>
                  </a:ext>
                </a:extLst>
              </a:tr>
            </a:tbl>
          </a:graphicData>
        </a:graphic>
      </p:graphicFrame>
      <p:sp>
        <p:nvSpPr>
          <p:cNvPr id="5" name="TextBox 4">
            <a:extLst>
              <a:ext uri="{FF2B5EF4-FFF2-40B4-BE49-F238E27FC236}">
                <a16:creationId xmlns:a16="http://schemas.microsoft.com/office/drawing/2014/main" id="{ABEF6495-8E57-35E3-DDBE-92E409B5C759}"/>
              </a:ext>
            </a:extLst>
          </p:cNvPr>
          <p:cNvSpPr txBox="1"/>
          <p:nvPr/>
        </p:nvSpPr>
        <p:spPr>
          <a:xfrm>
            <a:off x="131951" y="1151907"/>
            <a:ext cx="1729961" cy="1015663"/>
          </a:xfrm>
          <a:prstGeom prst="rect">
            <a:avLst/>
          </a:prstGeom>
          <a:noFill/>
        </p:spPr>
        <p:txBody>
          <a:bodyPr wrap="none" rtlCol="0">
            <a:spAutoFit/>
          </a:bodyPr>
          <a:lstStyle/>
          <a:p>
            <a:r>
              <a:rPr lang="en-US" sz="2000" b="1" dirty="0"/>
              <a:t>Old  Centroid</a:t>
            </a:r>
          </a:p>
          <a:p>
            <a:r>
              <a:rPr lang="en-US" sz="2000" b="1" dirty="0"/>
              <a:t>K1 = (1.25,1.5)</a:t>
            </a:r>
          </a:p>
          <a:p>
            <a:r>
              <a:rPr lang="en-US" sz="2000" b="1" dirty="0"/>
              <a:t>K2 = (3.9,5.1)</a:t>
            </a:r>
          </a:p>
        </p:txBody>
      </p:sp>
      <p:sp>
        <p:nvSpPr>
          <p:cNvPr id="3" name="TextBox 2">
            <a:extLst>
              <a:ext uri="{FF2B5EF4-FFF2-40B4-BE49-F238E27FC236}">
                <a16:creationId xmlns:a16="http://schemas.microsoft.com/office/drawing/2014/main" id="{69D2C008-2BA9-258D-DB6F-1237410DE7EE}"/>
              </a:ext>
            </a:extLst>
          </p:cNvPr>
          <p:cNvSpPr txBox="1"/>
          <p:nvPr/>
        </p:nvSpPr>
        <p:spPr>
          <a:xfrm>
            <a:off x="1915208" y="4762005"/>
            <a:ext cx="8361584" cy="523220"/>
          </a:xfrm>
          <a:prstGeom prst="rect">
            <a:avLst/>
          </a:prstGeom>
          <a:noFill/>
        </p:spPr>
        <p:txBody>
          <a:bodyPr wrap="none" rtlCol="0">
            <a:spAutoFit/>
          </a:bodyPr>
          <a:lstStyle/>
          <a:p>
            <a:r>
              <a:rPr lang="en-US" sz="2800" b="1" dirty="0"/>
              <a:t>Here no Change in Cluster so we terminate the Algorithm</a:t>
            </a:r>
          </a:p>
        </p:txBody>
      </p:sp>
    </p:spTree>
    <p:extLst>
      <p:ext uri="{BB962C8B-B14F-4D97-AF65-F5344CB8AC3E}">
        <p14:creationId xmlns:p14="http://schemas.microsoft.com/office/powerpoint/2010/main" val="216390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9DF91-EF7A-8474-2EC7-164A1297B0F1}"/>
              </a:ext>
            </a:extLst>
          </p:cNvPr>
          <p:cNvSpPr>
            <a:spLocks noGrp="1"/>
          </p:cNvSpPr>
          <p:nvPr>
            <p:ph type="title"/>
          </p:nvPr>
        </p:nvSpPr>
        <p:spPr/>
        <p:txBody>
          <a:bodyPr/>
          <a:lstStyle/>
          <a:p>
            <a:r>
              <a:rPr lang="en-US" dirty="0"/>
              <a:t>K-Means Example</a:t>
            </a:r>
          </a:p>
        </p:txBody>
      </p:sp>
      <p:sp>
        <p:nvSpPr>
          <p:cNvPr id="4" name="Rectangle 3">
            <a:extLst>
              <a:ext uri="{FF2B5EF4-FFF2-40B4-BE49-F238E27FC236}">
                <a16:creationId xmlns:a16="http://schemas.microsoft.com/office/drawing/2014/main" id="{1B376571-421E-717E-62EA-B5C91D4FB21F}"/>
              </a:ext>
            </a:extLst>
          </p:cNvPr>
          <p:cNvSpPr/>
          <p:nvPr/>
        </p:nvSpPr>
        <p:spPr>
          <a:xfrm>
            <a:off x="715063" y="1122101"/>
            <a:ext cx="11261866" cy="4524315"/>
          </a:xfrm>
          <a:prstGeom prst="rect">
            <a:avLst/>
          </a:prstGeom>
          <a:solidFill>
            <a:schemeClr val="bg1">
              <a:lumMod val="95000"/>
            </a:schemeClr>
          </a:solidFill>
          <a:ln>
            <a:noFill/>
          </a:ln>
        </p:spPr>
        <p:txBody>
          <a:bodyPr wrap="square">
            <a:spAutoFit/>
          </a:bodyPr>
          <a:lstStyle/>
          <a:p>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numpy</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as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267F99"/>
                </a:solidFill>
                <a:latin typeface="Consolas" panose="020B0609020204030204" pitchFamily="49" charset="0"/>
                <a:cs typeface="Consolas" panose="020B0609020204030204" pitchFamily="49" charset="0"/>
              </a:rPr>
              <a:t>np</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matplotlib</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pyplot</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as</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plt</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from</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sklearn</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cluster</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KMeans</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from</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sklearn</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datasets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795E26"/>
                </a:solidFill>
                <a:latin typeface="Consolas" panose="020B0609020204030204" pitchFamily="49" charset="0"/>
                <a:cs typeface="Consolas" panose="020B0609020204030204" pitchFamily="49" charset="0"/>
              </a:rPr>
              <a:t>make_blobs</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y</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795E26"/>
                </a:solidFill>
                <a:latin typeface="Consolas" panose="020B0609020204030204" pitchFamily="49" charset="0"/>
                <a:cs typeface="Consolas" panose="020B0609020204030204" pitchFamily="49" charset="0"/>
              </a:rPr>
              <a:t>make_blobs</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n_samples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300</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centers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3</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random_state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42</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001080"/>
                </a:solidFill>
                <a:latin typeface="Consolas" panose="020B0609020204030204" pitchFamily="49" charset="0"/>
                <a:cs typeface="Consolas" panose="020B0609020204030204" pitchFamily="49" charset="0"/>
              </a:rPr>
              <a:t>kmeans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267F99"/>
                </a:solidFill>
                <a:latin typeface="Consolas" panose="020B0609020204030204" pitchFamily="49" charset="0"/>
                <a:cs typeface="Consolas" panose="020B0609020204030204" pitchFamily="49" charset="0"/>
              </a:rPr>
              <a:t>KMeans</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n_clusters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3</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random_state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42</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n_init</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10</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1080"/>
                </a:solidFill>
                <a:latin typeface="Consolas" panose="020B0609020204030204" pitchFamily="49" charset="0"/>
                <a:cs typeface="Consolas" panose="020B0609020204030204" pitchFamily="49" charset="0"/>
              </a:rPr>
              <a:t>kmeans</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fit</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1080"/>
                </a:solidFill>
                <a:latin typeface="Consolas" panose="020B0609020204030204" pitchFamily="49" charset="0"/>
                <a:cs typeface="Consolas" panose="020B0609020204030204" pitchFamily="49" charset="0"/>
              </a:rPr>
              <a:t>labels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1080"/>
                </a:solidFill>
                <a:latin typeface="Consolas" panose="020B0609020204030204" pitchFamily="49" charset="0"/>
                <a:cs typeface="Consolas" panose="020B0609020204030204" pitchFamily="49" charset="0"/>
              </a:rPr>
              <a:t>kmeans</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labels</a:t>
            </a:r>
            <a:r>
              <a:rPr lang="en-IN" sz="1600" dirty="0">
                <a:solidFill>
                  <a:srgbClr val="001080"/>
                </a:solidFill>
                <a:latin typeface="Consolas" panose="020B0609020204030204" pitchFamily="49" charset="0"/>
                <a:cs typeface="Consolas" panose="020B0609020204030204" pitchFamily="49" charset="0"/>
              </a:rPr>
              <a:t>_</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1080"/>
                </a:solidFill>
                <a:latin typeface="Consolas" panose="020B0609020204030204" pitchFamily="49" charset="0"/>
                <a:cs typeface="Consolas" panose="020B0609020204030204" pitchFamily="49" charset="0"/>
              </a:rPr>
              <a:t>centroids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1080"/>
                </a:solidFill>
                <a:latin typeface="Consolas" panose="020B0609020204030204" pitchFamily="49" charset="0"/>
                <a:cs typeface="Consolas" panose="020B0609020204030204" pitchFamily="49" charset="0"/>
              </a:rPr>
              <a:t>kmeans</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cluster_centers</a:t>
            </a:r>
            <a:r>
              <a:rPr lang="en-IN" sz="1600" dirty="0">
                <a:solidFill>
                  <a:srgbClr val="001080"/>
                </a:solidFill>
                <a:latin typeface="Consolas" panose="020B0609020204030204" pitchFamily="49" charset="0"/>
                <a:cs typeface="Consolas" panose="020B0609020204030204" pitchFamily="49" charset="0"/>
              </a:rPr>
              <a:t>_</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scatter</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0</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1</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c</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1080"/>
                </a:solidFill>
                <a:latin typeface="Consolas" panose="020B0609020204030204" pitchFamily="49" charset="0"/>
                <a:cs typeface="Consolas" panose="020B0609020204030204" pitchFamily="49" charset="0"/>
              </a:rPr>
              <a:t>labels</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cmap</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viridis</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alpha</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0.6</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edgecolors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'k'</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scatter</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1080"/>
                </a:solidFill>
                <a:latin typeface="Consolas" panose="020B0609020204030204" pitchFamily="49" charset="0"/>
                <a:cs typeface="Consolas" panose="020B0609020204030204" pitchFamily="49" charset="0"/>
              </a:rPr>
              <a:t>centroids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0</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centroids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1</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c</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'red'</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marker</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200</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label</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'Centroids'</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legend</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show</a:t>
            </a:r>
            <a:r>
              <a:rPr lang="en-IN" sz="1600" dirty="0">
                <a:solidFill>
                  <a:srgbClr val="000000"/>
                </a:solidFill>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EE739CAB-E4FF-8669-5A23-6EAF428E5691}"/>
              </a:ext>
            </a:extLst>
          </p:cNvPr>
          <p:cNvSpPr/>
          <p:nvPr/>
        </p:nvSpPr>
        <p:spPr>
          <a:xfrm>
            <a:off x="215071" y="1122101"/>
            <a:ext cx="499993" cy="452431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a:p>
            <a:pPr algn="r"/>
            <a:r>
              <a:rPr lang="en-IN" sz="1600" b="1" dirty="0">
                <a:solidFill>
                  <a:schemeClr val="tx1">
                    <a:lumMod val="75000"/>
                    <a:lumOff val="25000"/>
                  </a:schemeClr>
                </a:solidFill>
                <a:latin typeface="Consolas" panose="020B0609020204030204" pitchFamily="49" charset="0"/>
              </a:rPr>
              <a:t>14</a:t>
            </a:r>
          </a:p>
          <a:p>
            <a:pPr algn="r"/>
            <a:r>
              <a:rPr lang="en-IN" sz="1600" b="1" dirty="0">
                <a:solidFill>
                  <a:schemeClr val="tx1">
                    <a:lumMod val="75000"/>
                    <a:lumOff val="25000"/>
                  </a:schemeClr>
                </a:solidFill>
                <a:latin typeface="Consolas" panose="020B0609020204030204" pitchFamily="49" charset="0"/>
              </a:rPr>
              <a:t>15</a:t>
            </a:r>
          </a:p>
          <a:p>
            <a:pPr algn="r"/>
            <a:r>
              <a:rPr lang="en-IN" sz="1600" b="1" dirty="0">
                <a:solidFill>
                  <a:schemeClr val="tx1">
                    <a:lumMod val="75000"/>
                    <a:lumOff val="25000"/>
                  </a:schemeClr>
                </a:solidFill>
                <a:latin typeface="Consolas" panose="020B0609020204030204" pitchFamily="49" charset="0"/>
              </a:rPr>
              <a:t>16</a:t>
            </a:r>
          </a:p>
          <a:p>
            <a:pPr algn="r"/>
            <a:r>
              <a:rPr lang="en-IN" sz="1600" b="1" dirty="0">
                <a:solidFill>
                  <a:schemeClr val="tx1">
                    <a:lumMod val="75000"/>
                    <a:lumOff val="25000"/>
                  </a:schemeClr>
                </a:solidFill>
                <a:latin typeface="Consolas" panose="020B0609020204030204" pitchFamily="49" charset="0"/>
              </a:rPr>
              <a:t>17</a:t>
            </a:r>
          </a:p>
          <a:p>
            <a:pPr algn="r"/>
            <a:r>
              <a:rPr lang="en-IN" sz="1600" b="1" dirty="0">
                <a:solidFill>
                  <a:schemeClr val="tx1">
                    <a:lumMod val="75000"/>
                    <a:lumOff val="25000"/>
                  </a:schemeClr>
                </a:solidFill>
                <a:latin typeface="Consolas" panose="020B0609020204030204" pitchFamily="49" charset="0"/>
              </a:rPr>
              <a:t>18</a:t>
            </a:r>
          </a:p>
        </p:txBody>
      </p:sp>
      <p:sp>
        <p:nvSpPr>
          <p:cNvPr id="6" name="Rectangle: Top Corners Rounded 6">
            <a:extLst>
              <a:ext uri="{FF2B5EF4-FFF2-40B4-BE49-F238E27FC236}">
                <a16:creationId xmlns:a16="http://schemas.microsoft.com/office/drawing/2014/main" id="{DC33AB87-CEC6-EE16-7345-3B3A09874DDF}"/>
              </a:ext>
            </a:extLst>
          </p:cNvPr>
          <p:cNvSpPr/>
          <p:nvPr/>
        </p:nvSpPr>
        <p:spPr>
          <a:xfrm>
            <a:off x="215071" y="79291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K-</a:t>
            </a:r>
            <a:r>
              <a:rPr lang="en-US" sz="1600" dirty="0" err="1"/>
              <a:t>means</a:t>
            </a:r>
            <a:r>
              <a:rPr lang="en-US" sz="1600" dirty="0" err="1">
                <a:solidFill>
                  <a:schemeClr val="bg1"/>
                </a:solidFill>
              </a:rPr>
              <a:t>.py</a:t>
            </a:r>
            <a:endParaRPr lang="en-US" sz="1600" dirty="0">
              <a:solidFill>
                <a:schemeClr val="bg1"/>
              </a:solidFill>
            </a:endParaRPr>
          </a:p>
        </p:txBody>
      </p:sp>
    </p:spTree>
    <p:extLst>
      <p:ext uri="{BB962C8B-B14F-4D97-AF65-F5344CB8AC3E}">
        <p14:creationId xmlns:p14="http://schemas.microsoft.com/office/powerpoint/2010/main" val="371973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8D-51E0-457B-7EF4-F5B207215456}"/>
              </a:ext>
            </a:extLst>
          </p:cNvPr>
          <p:cNvSpPr>
            <a:spLocks noGrp="1"/>
          </p:cNvSpPr>
          <p:nvPr>
            <p:ph type="title"/>
          </p:nvPr>
        </p:nvSpPr>
        <p:spPr/>
        <p:txBody>
          <a:bodyPr/>
          <a:lstStyle/>
          <a:p>
            <a:r>
              <a:rPr lang="en-US" dirty="0"/>
              <a:t>K-Mean Example</a:t>
            </a:r>
          </a:p>
        </p:txBody>
      </p:sp>
      <p:pic>
        <p:nvPicPr>
          <p:cNvPr id="5" name="Picture 4">
            <a:extLst>
              <a:ext uri="{FF2B5EF4-FFF2-40B4-BE49-F238E27FC236}">
                <a16:creationId xmlns:a16="http://schemas.microsoft.com/office/drawing/2014/main" id="{050CD1B1-5A19-E786-DDD7-41FFA8302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933" y="899583"/>
            <a:ext cx="5842000" cy="4381500"/>
          </a:xfrm>
          <a:prstGeom prst="rect">
            <a:avLst/>
          </a:prstGeom>
        </p:spPr>
      </p:pic>
    </p:spTree>
    <p:extLst>
      <p:ext uri="{BB962C8B-B14F-4D97-AF65-F5344CB8AC3E}">
        <p14:creationId xmlns:p14="http://schemas.microsoft.com/office/powerpoint/2010/main" val="224477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B264B-666A-F814-7758-55CCDDB3478B}"/>
              </a:ext>
            </a:extLst>
          </p:cNvPr>
          <p:cNvSpPr>
            <a:spLocks noGrp="1"/>
          </p:cNvSpPr>
          <p:nvPr>
            <p:ph type="title"/>
          </p:nvPr>
        </p:nvSpPr>
        <p:spPr/>
        <p:txBody>
          <a:bodyPr>
            <a:normAutofit/>
          </a:bodyPr>
          <a:lstStyle/>
          <a:p>
            <a:r>
              <a:rPr lang="en-US" dirty="0"/>
              <a:t>k-Medoids: A Representative Object-Based Technique </a:t>
            </a:r>
          </a:p>
        </p:txBody>
      </p:sp>
      <p:sp>
        <p:nvSpPr>
          <p:cNvPr id="3" name="Content Placeholder 2">
            <a:extLst>
              <a:ext uri="{FF2B5EF4-FFF2-40B4-BE49-F238E27FC236}">
                <a16:creationId xmlns:a16="http://schemas.microsoft.com/office/drawing/2014/main" id="{FEBB14BA-0886-A4A9-0122-49AA0ABEB889}"/>
              </a:ext>
            </a:extLst>
          </p:cNvPr>
          <p:cNvSpPr>
            <a:spLocks noGrp="1"/>
          </p:cNvSpPr>
          <p:nvPr>
            <p:ph idx="1"/>
          </p:nvPr>
        </p:nvSpPr>
        <p:spPr/>
        <p:txBody>
          <a:bodyPr/>
          <a:lstStyle/>
          <a:p>
            <a:r>
              <a:rPr lang="en-US" dirty="0"/>
              <a:t>The k-means algorithm is sensitive to </a:t>
            </a:r>
            <a:r>
              <a:rPr lang="en-US" dirty="0">
                <a:solidFill>
                  <a:srgbClr val="C00000"/>
                </a:solidFill>
              </a:rPr>
              <a:t>outliers because such objects are far away from the majority </a:t>
            </a:r>
            <a:r>
              <a:rPr lang="en-US" dirty="0"/>
              <a:t>of the data </a:t>
            </a:r>
          </a:p>
          <a:p>
            <a:r>
              <a:rPr lang="en-US" dirty="0"/>
              <a:t>when assigned to a cluster, they can dramatically distort the </a:t>
            </a:r>
            <a:r>
              <a:rPr lang="en-US" dirty="0">
                <a:solidFill>
                  <a:srgbClr val="C00000"/>
                </a:solidFill>
              </a:rPr>
              <a:t>mean value of the cluster</a:t>
            </a:r>
            <a:r>
              <a:rPr lang="en-US" dirty="0"/>
              <a:t>. </a:t>
            </a:r>
          </a:p>
          <a:p>
            <a:r>
              <a:rPr lang="en-US" b="1" dirty="0"/>
              <a:t>K-Medoids</a:t>
            </a:r>
            <a:r>
              <a:rPr lang="en-US" dirty="0"/>
              <a:t>: Instead of taking the </a:t>
            </a:r>
            <a:r>
              <a:rPr lang="en-US" dirty="0">
                <a:solidFill>
                  <a:srgbClr val="C00000"/>
                </a:solidFill>
              </a:rPr>
              <a:t>mean value of the object </a:t>
            </a:r>
            <a:r>
              <a:rPr lang="en-US" dirty="0"/>
              <a:t>in a cluster as a reference point, </a:t>
            </a:r>
            <a:r>
              <a:rPr lang="en-US" dirty="0">
                <a:solidFill>
                  <a:srgbClr val="C00000"/>
                </a:solidFill>
              </a:rPr>
              <a:t>medoids can be used</a:t>
            </a:r>
            <a:r>
              <a:rPr lang="en-US" dirty="0"/>
              <a:t>, which is the </a:t>
            </a:r>
            <a:r>
              <a:rPr lang="en-US" dirty="0">
                <a:solidFill>
                  <a:srgbClr val="C00000"/>
                </a:solidFill>
              </a:rPr>
              <a:t>most centrally located object in a cluster</a:t>
            </a:r>
          </a:p>
          <a:p>
            <a:r>
              <a:rPr lang="en-US" dirty="0"/>
              <a:t>The Partitioning Around Medoids (PAM) algorithm is a popular realization of </a:t>
            </a:r>
            <a:r>
              <a:rPr lang="en-US" dirty="0">
                <a:solidFill>
                  <a:srgbClr val="C00000"/>
                </a:solidFill>
              </a:rPr>
              <a:t>k-medoids clustering. </a:t>
            </a:r>
          </a:p>
          <a:p>
            <a:pPr lvl="1"/>
            <a:r>
              <a:rPr lang="en-US" dirty="0"/>
              <a:t>Like the k-means algorithm, the </a:t>
            </a:r>
            <a:r>
              <a:rPr lang="en-US" dirty="0">
                <a:solidFill>
                  <a:srgbClr val="C00000"/>
                </a:solidFill>
              </a:rPr>
              <a:t>initial representative objects (called seeds) are chosen arbitrarily</a:t>
            </a:r>
            <a:r>
              <a:rPr lang="en-US" dirty="0"/>
              <a:t>. </a:t>
            </a:r>
          </a:p>
          <a:p>
            <a:pPr lvl="1"/>
            <a:r>
              <a:rPr lang="en-US" dirty="0"/>
              <a:t>We consider whether replacing a </a:t>
            </a:r>
            <a:r>
              <a:rPr lang="en-US" dirty="0">
                <a:solidFill>
                  <a:srgbClr val="C00000"/>
                </a:solidFill>
              </a:rPr>
              <a:t>representative object </a:t>
            </a:r>
            <a:r>
              <a:rPr lang="en-US" dirty="0"/>
              <a:t>by a </a:t>
            </a:r>
            <a:r>
              <a:rPr lang="en-US" dirty="0">
                <a:solidFill>
                  <a:srgbClr val="C00000"/>
                </a:solidFill>
              </a:rPr>
              <a:t>nonrepresentative object</a:t>
            </a:r>
            <a:r>
              <a:rPr lang="en-US" dirty="0"/>
              <a:t> would improve the </a:t>
            </a:r>
            <a:r>
              <a:rPr lang="en-US" dirty="0">
                <a:solidFill>
                  <a:srgbClr val="C00000"/>
                </a:solidFill>
              </a:rPr>
              <a:t>clustering quality</a:t>
            </a:r>
            <a:r>
              <a:rPr lang="en-US" dirty="0"/>
              <a:t>. </a:t>
            </a:r>
          </a:p>
          <a:p>
            <a:pPr lvl="1"/>
            <a:r>
              <a:rPr lang="en-US" dirty="0"/>
              <a:t>All the possible </a:t>
            </a:r>
            <a:r>
              <a:rPr lang="en-US" dirty="0">
                <a:solidFill>
                  <a:srgbClr val="C00000"/>
                </a:solidFill>
              </a:rPr>
              <a:t>replacements are tried out</a:t>
            </a:r>
            <a:r>
              <a:rPr lang="en-US" dirty="0"/>
              <a:t>. </a:t>
            </a:r>
          </a:p>
          <a:p>
            <a:pPr lvl="1"/>
            <a:r>
              <a:rPr lang="en-IN" dirty="0"/>
              <a:t>The iterative process of replacing representative objects by other objects continues until the quality of the resulting clustering cannot be </a:t>
            </a:r>
            <a:r>
              <a:rPr lang="en-IN" dirty="0">
                <a:solidFill>
                  <a:srgbClr val="C00000"/>
                </a:solidFill>
              </a:rPr>
              <a:t>improved </a:t>
            </a:r>
            <a:r>
              <a:rPr lang="en-IN" dirty="0"/>
              <a:t>by any </a:t>
            </a:r>
            <a:r>
              <a:rPr lang="en-IN" dirty="0">
                <a:solidFill>
                  <a:srgbClr val="C00000"/>
                </a:solidFill>
              </a:rPr>
              <a:t>replacement</a:t>
            </a:r>
            <a:r>
              <a:rPr lang="en-IN" dirty="0"/>
              <a:t>. This quality is m </a:t>
            </a:r>
          </a:p>
          <a:p>
            <a:pPr lvl="1"/>
            <a:endParaRPr lang="en-US" dirty="0"/>
          </a:p>
        </p:txBody>
      </p:sp>
    </p:spTree>
    <p:extLst>
      <p:ext uri="{BB962C8B-B14F-4D97-AF65-F5344CB8AC3E}">
        <p14:creationId xmlns:p14="http://schemas.microsoft.com/office/powerpoint/2010/main" val="158768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60DF-5321-ACBA-D81F-B1553C1CDE70}"/>
              </a:ext>
            </a:extLst>
          </p:cNvPr>
          <p:cNvSpPr>
            <a:spLocks noGrp="1"/>
          </p:cNvSpPr>
          <p:nvPr>
            <p:ph type="title"/>
          </p:nvPr>
        </p:nvSpPr>
        <p:spPr/>
        <p:txBody>
          <a:bodyPr>
            <a:normAutofit/>
          </a:bodyPr>
          <a:lstStyle/>
          <a:p>
            <a:r>
              <a:rPr lang="en-US" dirty="0"/>
              <a:t>k-medoids : Algorithm</a:t>
            </a:r>
          </a:p>
        </p:txBody>
      </p:sp>
      <p:sp>
        <p:nvSpPr>
          <p:cNvPr id="4" name="TextBox 3">
            <a:extLst>
              <a:ext uri="{FF2B5EF4-FFF2-40B4-BE49-F238E27FC236}">
                <a16:creationId xmlns:a16="http://schemas.microsoft.com/office/drawing/2014/main" id="{6A0C94B8-2DA6-16BE-2873-87F60723D2C5}"/>
              </a:ext>
            </a:extLst>
          </p:cNvPr>
          <p:cNvSpPr txBox="1"/>
          <p:nvPr/>
        </p:nvSpPr>
        <p:spPr>
          <a:xfrm>
            <a:off x="186705" y="858799"/>
            <a:ext cx="11503724" cy="923330"/>
          </a:xfrm>
          <a:prstGeom prst="rect">
            <a:avLst/>
          </a:prstGeom>
          <a:solidFill>
            <a:schemeClr val="bg2">
              <a:lumMod val="95000"/>
            </a:schemeClr>
          </a:solidFill>
          <a:ln w="12700">
            <a:solidFill>
              <a:schemeClr val="tx1"/>
            </a:solidFill>
          </a:ln>
        </p:spPr>
        <p:txBody>
          <a:bodyPr wrap="square">
            <a:spAutoFit/>
          </a:bodyPr>
          <a:lstStyle/>
          <a:p>
            <a:pPr marL="0" indent="0">
              <a:buNone/>
            </a:pPr>
            <a:r>
              <a:rPr lang="en-IN" b="1" dirty="0">
                <a:solidFill>
                  <a:srgbClr val="C00000"/>
                </a:solidFill>
                <a:latin typeface="Consolas" panose="020B0609020204030204" pitchFamily="49" charset="0"/>
                <a:cs typeface="Consolas" panose="020B0609020204030204" pitchFamily="49" charset="0"/>
              </a:rPr>
              <a:t>INPUT:</a:t>
            </a:r>
          </a:p>
          <a:p>
            <a:r>
              <a:rPr lang="en-IN" b="1" dirty="0">
                <a:solidFill>
                  <a:srgbClr val="C00000"/>
                </a:solidFill>
                <a:latin typeface="Consolas" panose="020B0609020204030204" pitchFamily="49" charset="0"/>
                <a:cs typeface="Consolas" panose="020B0609020204030204" pitchFamily="49" charset="0"/>
              </a:rPr>
              <a:t>k: </a:t>
            </a:r>
            <a:r>
              <a:rPr lang="en-IN" b="1" dirty="0">
                <a:latin typeface="Consolas" panose="020B0609020204030204" pitchFamily="49" charset="0"/>
                <a:cs typeface="Consolas" panose="020B0609020204030204" pitchFamily="49" charset="0"/>
              </a:rPr>
              <a:t>the number of clusters,</a:t>
            </a:r>
            <a:br>
              <a:rPr lang="en-IN" b="1" dirty="0">
                <a:latin typeface="Consolas" panose="020B0609020204030204" pitchFamily="49" charset="0"/>
                <a:cs typeface="Consolas" panose="020B0609020204030204" pitchFamily="49" charset="0"/>
              </a:rPr>
            </a:br>
            <a:r>
              <a:rPr lang="en-IN" b="1" dirty="0">
                <a:solidFill>
                  <a:srgbClr val="C00000"/>
                </a:solidFill>
                <a:latin typeface="Consolas" panose="020B0609020204030204" pitchFamily="49" charset="0"/>
                <a:cs typeface="Consolas" panose="020B0609020204030204" pitchFamily="49" charset="0"/>
              </a:rPr>
              <a:t>D: </a:t>
            </a:r>
            <a:r>
              <a:rPr lang="en-IN" b="1" dirty="0">
                <a:latin typeface="Consolas" panose="020B0609020204030204" pitchFamily="49" charset="0"/>
                <a:cs typeface="Consolas" panose="020B0609020204030204" pitchFamily="49" charset="0"/>
              </a:rPr>
              <a:t>a data set containing n objects. </a:t>
            </a:r>
          </a:p>
        </p:txBody>
      </p:sp>
      <p:sp>
        <p:nvSpPr>
          <p:cNvPr id="5" name="TextBox 4">
            <a:extLst>
              <a:ext uri="{FF2B5EF4-FFF2-40B4-BE49-F238E27FC236}">
                <a16:creationId xmlns:a16="http://schemas.microsoft.com/office/drawing/2014/main" id="{B5BE1710-81A9-EDB6-5F49-FF7707210C8B}"/>
              </a:ext>
            </a:extLst>
          </p:cNvPr>
          <p:cNvSpPr txBox="1"/>
          <p:nvPr/>
        </p:nvSpPr>
        <p:spPr>
          <a:xfrm>
            <a:off x="186705" y="2062539"/>
            <a:ext cx="11503724" cy="646331"/>
          </a:xfrm>
          <a:prstGeom prst="rect">
            <a:avLst/>
          </a:prstGeom>
          <a:solidFill>
            <a:schemeClr val="bg2">
              <a:lumMod val="95000"/>
            </a:schemeClr>
          </a:solidFill>
          <a:ln w="12700">
            <a:solidFill>
              <a:schemeClr val="tx1"/>
            </a:solidFill>
          </a:ln>
        </p:spPr>
        <p:txBody>
          <a:bodyPr wrap="square">
            <a:spAutoFit/>
          </a:bodyPr>
          <a:lstStyle/>
          <a:p>
            <a:pPr marL="0" indent="0">
              <a:buNone/>
            </a:pPr>
            <a:r>
              <a:rPr lang="en-IN" b="1" dirty="0">
                <a:solidFill>
                  <a:srgbClr val="C00000"/>
                </a:solidFill>
                <a:latin typeface="Consolas" panose="020B0609020204030204" pitchFamily="49" charset="0"/>
                <a:cs typeface="Consolas" panose="020B0609020204030204" pitchFamily="49" charset="0"/>
              </a:rPr>
              <a:t>Output:</a:t>
            </a:r>
          </a:p>
          <a:p>
            <a:r>
              <a:rPr lang="en-IN" b="1" dirty="0">
                <a:solidFill>
                  <a:schemeClr val="tx1">
                    <a:lumMod val="90000"/>
                    <a:lumOff val="10000"/>
                  </a:schemeClr>
                </a:solidFill>
                <a:latin typeface="Consolas" panose="020B0609020204030204" pitchFamily="49" charset="0"/>
                <a:cs typeface="Consolas" panose="020B0609020204030204" pitchFamily="49" charset="0"/>
              </a:rPr>
              <a:t>A set of k clusters. </a:t>
            </a:r>
          </a:p>
        </p:txBody>
      </p:sp>
      <p:sp>
        <p:nvSpPr>
          <p:cNvPr id="6" name="TextBox 5">
            <a:extLst>
              <a:ext uri="{FF2B5EF4-FFF2-40B4-BE49-F238E27FC236}">
                <a16:creationId xmlns:a16="http://schemas.microsoft.com/office/drawing/2014/main" id="{51A0BEE5-CF11-CD11-EBCD-EF24F2794131}"/>
              </a:ext>
            </a:extLst>
          </p:cNvPr>
          <p:cNvSpPr txBox="1"/>
          <p:nvPr/>
        </p:nvSpPr>
        <p:spPr>
          <a:xfrm>
            <a:off x="186705" y="2989281"/>
            <a:ext cx="11503724" cy="2031325"/>
          </a:xfrm>
          <a:prstGeom prst="rect">
            <a:avLst/>
          </a:prstGeom>
          <a:solidFill>
            <a:schemeClr val="bg2">
              <a:lumMod val="95000"/>
            </a:schemeClr>
          </a:solidFill>
          <a:ln w="12700">
            <a:solidFill>
              <a:schemeClr val="tx1"/>
            </a:solidFill>
          </a:ln>
        </p:spPr>
        <p:txBody>
          <a:bodyPr wrap="square">
            <a:spAutoFit/>
          </a:bodyPr>
          <a:lstStyle/>
          <a:p>
            <a:r>
              <a:rPr lang="en-IN" b="1" dirty="0">
                <a:latin typeface="Consolas" panose="020B0609020204030204" pitchFamily="49" charset="0"/>
                <a:cs typeface="Consolas" panose="020B0609020204030204" pitchFamily="49" charset="0"/>
              </a:rPr>
              <a:t>arbitrarily choose </a:t>
            </a:r>
            <a:r>
              <a:rPr lang="en-IN" b="1" dirty="0">
                <a:solidFill>
                  <a:srgbClr val="C00000"/>
                </a:solidFill>
                <a:latin typeface="Consolas" panose="020B0609020204030204" pitchFamily="49" charset="0"/>
                <a:cs typeface="Consolas" panose="020B0609020204030204" pitchFamily="49" charset="0"/>
              </a:rPr>
              <a:t>k objects </a:t>
            </a:r>
            <a:r>
              <a:rPr lang="en-IN" b="1" dirty="0">
                <a:latin typeface="Consolas" panose="020B0609020204030204" pitchFamily="49" charset="0"/>
                <a:cs typeface="Consolas" panose="020B0609020204030204" pitchFamily="49" charset="0"/>
              </a:rPr>
              <a:t>from </a:t>
            </a:r>
            <a:r>
              <a:rPr lang="en-IN" b="1" dirty="0">
                <a:solidFill>
                  <a:srgbClr val="C00000"/>
                </a:solidFill>
                <a:latin typeface="Consolas" panose="020B0609020204030204" pitchFamily="49" charset="0"/>
                <a:cs typeface="Consolas" panose="020B0609020204030204" pitchFamily="49" charset="0"/>
              </a:rPr>
              <a:t>D</a:t>
            </a:r>
            <a:r>
              <a:rPr lang="en-IN" b="1" dirty="0">
                <a:latin typeface="Consolas" panose="020B0609020204030204" pitchFamily="49" charset="0"/>
                <a:cs typeface="Consolas" panose="020B0609020204030204" pitchFamily="49" charset="0"/>
              </a:rPr>
              <a:t> as the </a:t>
            </a:r>
            <a:r>
              <a:rPr lang="en-IN" b="1" dirty="0">
                <a:solidFill>
                  <a:srgbClr val="C00000"/>
                </a:solidFill>
                <a:latin typeface="Consolas" panose="020B0609020204030204" pitchFamily="49" charset="0"/>
                <a:cs typeface="Consolas" panose="020B0609020204030204" pitchFamily="49" charset="0"/>
              </a:rPr>
              <a:t>initial representative objects or seeds</a:t>
            </a:r>
            <a:r>
              <a:rPr lang="en-IN" b="1" dirty="0">
                <a:latin typeface="Consolas" panose="020B0609020204030204" pitchFamily="49" charset="0"/>
                <a:cs typeface="Consolas" panose="020B0609020204030204" pitchFamily="49" charset="0"/>
              </a:rPr>
              <a:t>; </a:t>
            </a:r>
          </a:p>
          <a:p>
            <a:r>
              <a:rPr lang="en-IN" b="1" dirty="0">
                <a:solidFill>
                  <a:srgbClr val="00B050"/>
                </a:solidFill>
                <a:latin typeface="Consolas" panose="020B0609020204030204" pitchFamily="49" charset="0"/>
                <a:cs typeface="Consolas" panose="020B0609020204030204" pitchFamily="49" charset="0"/>
              </a:rPr>
              <a:t>repeat</a:t>
            </a:r>
            <a:r>
              <a:rPr lang="en-IN" b="1" dirty="0">
                <a:solidFill>
                  <a:schemeClr val="tx1">
                    <a:lumMod val="90000"/>
                    <a:lumOff val="10000"/>
                  </a:schemeClr>
                </a:solidFill>
                <a:latin typeface="Consolas" panose="020B0609020204030204" pitchFamily="49" charset="0"/>
                <a:cs typeface="Consolas" panose="020B0609020204030204" pitchFamily="49" charset="0"/>
              </a:rPr>
              <a:t> </a:t>
            </a:r>
          </a:p>
          <a:p>
            <a:pPr lvl="1"/>
            <a:r>
              <a:rPr lang="en-IN" b="1" dirty="0">
                <a:latin typeface="Consolas" panose="020B0609020204030204" pitchFamily="49" charset="0"/>
                <a:cs typeface="Consolas" panose="020B0609020204030204" pitchFamily="49" charset="0"/>
              </a:rPr>
              <a:t>assign each </a:t>
            </a:r>
            <a:r>
              <a:rPr lang="en-IN" b="1" dirty="0">
                <a:solidFill>
                  <a:srgbClr val="C00000"/>
                </a:solidFill>
                <a:latin typeface="Consolas" panose="020B0609020204030204" pitchFamily="49" charset="0"/>
                <a:cs typeface="Consolas" panose="020B0609020204030204" pitchFamily="49" charset="0"/>
              </a:rPr>
              <a:t>remaining object to the cluster </a:t>
            </a:r>
            <a:r>
              <a:rPr lang="en-IN" b="1" dirty="0">
                <a:latin typeface="Consolas" panose="020B0609020204030204" pitchFamily="49" charset="0"/>
                <a:cs typeface="Consolas" panose="020B0609020204030204" pitchFamily="49" charset="0"/>
              </a:rPr>
              <a:t>with the </a:t>
            </a:r>
            <a:r>
              <a:rPr lang="en-IN" b="1" dirty="0">
                <a:solidFill>
                  <a:srgbClr val="C00000"/>
                </a:solidFill>
                <a:latin typeface="Consolas" panose="020B0609020204030204" pitchFamily="49" charset="0"/>
                <a:cs typeface="Consolas" panose="020B0609020204030204" pitchFamily="49" charset="0"/>
              </a:rPr>
              <a:t>nearest representative object</a:t>
            </a:r>
            <a:r>
              <a:rPr lang="en-IN" b="1" dirty="0">
                <a:latin typeface="Consolas" panose="020B0609020204030204" pitchFamily="49" charset="0"/>
                <a:cs typeface="Consolas" panose="020B0609020204030204" pitchFamily="49" charset="0"/>
              </a:rPr>
              <a:t>;</a:t>
            </a:r>
          </a:p>
          <a:p>
            <a:pPr lvl="1"/>
            <a:r>
              <a:rPr lang="en-IN" b="1" dirty="0">
                <a:latin typeface="Consolas" panose="020B0609020204030204" pitchFamily="49" charset="0"/>
                <a:cs typeface="Consolas" panose="020B0609020204030204" pitchFamily="49" charset="0"/>
              </a:rPr>
              <a:t>randomly select a </a:t>
            </a:r>
            <a:r>
              <a:rPr lang="en-IN" b="1" dirty="0">
                <a:solidFill>
                  <a:srgbClr val="C00000"/>
                </a:solidFill>
                <a:latin typeface="Consolas" panose="020B0609020204030204" pitchFamily="49" charset="0"/>
                <a:cs typeface="Consolas" panose="020B0609020204030204" pitchFamily="49" charset="0"/>
              </a:rPr>
              <a:t>nonrepresentative object, </a:t>
            </a:r>
            <a:r>
              <a:rPr lang="en-IN" b="1" dirty="0" err="1">
                <a:solidFill>
                  <a:srgbClr val="C00000"/>
                </a:solidFill>
                <a:latin typeface="Consolas" panose="020B0609020204030204" pitchFamily="49" charset="0"/>
                <a:cs typeface="Consolas" panose="020B0609020204030204" pitchFamily="49" charset="0"/>
              </a:rPr>
              <a:t>O</a:t>
            </a:r>
            <a:r>
              <a:rPr lang="en-IN" b="1" baseline="-25000" dirty="0" err="1">
                <a:solidFill>
                  <a:srgbClr val="C00000"/>
                </a:solidFill>
                <a:latin typeface="Consolas" panose="020B0609020204030204" pitchFamily="49" charset="0"/>
                <a:cs typeface="Consolas" panose="020B0609020204030204" pitchFamily="49" charset="0"/>
              </a:rPr>
              <a:t>random</a:t>
            </a:r>
            <a:r>
              <a:rPr lang="en-IN" b="1" dirty="0">
                <a:latin typeface="Consolas" panose="020B0609020204030204" pitchFamily="49" charset="0"/>
                <a:cs typeface="Consolas" panose="020B0609020204030204" pitchFamily="49" charset="0"/>
              </a:rPr>
              <a:t>; </a:t>
            </a:r>
          </a:p>
          <a:p>
            <a:pPr lvl="1"/>
            <a:r>
              <a:rPr lang="en-IN" b="1" dirty="0">
                <a:latin typeface="Consolas" panose="020B0609020204030204" pitchFamily="49" charset="0"/>
                <a:cs typeface="Consolas" panose="020B0609020204030204" pitchFamily="49" charset="0"/>
              </a:rPr>
              <a:t>compute the </a:t>
            </a:r>
            <a:r>
              <a:rPr lang="en-IN" b="1" dirty="0">
                <a:solidFill>
                  <a:srgbClr val="C00000"/>
                </a:solidFill>
                <a:latin typeface="Consolas" panose="020B0609020204030204" pitchFamily="49" charset="0"/>
                <a:cs typeface="Consolas" panose="020B0609020204030204" pitchFamily="49" charset="0"/>
              </a:rPr>
              <a:t>total cost</a:t>
            </a:r>
            <a:r>
              <a:rPr lang="en-IN" b="1" dirty="0">
                <a:latin typeface="Consolas" panose="020B0609020204030204" pitchFamily="49" charset="0"/>
                <a:cs typeface="Consolas" panose="020B0609020204030204" pitchFamily="49" charset="0"/>
              </a:rPr>
              <a:t>, S, of </a:t>
            </a:r>
            <a:r>
              <a:rPr lang="en-IN" b="1" dirty="0">
                <a:solidFill>
                  <a:srgbClr val="C00000"/>
                </a:solidFill>
                <a:latin typeface="Consolas" panose="020B0609020204030204" pitchFamily="49" charset="0"/>
                <a:cs typeface="Consolas" panose="020B0609020204030204" pitchFamily="49" charset="0"/>
              </a:rPr>
              <a:t>swapping representative object</a:t>
            </a:r>
            <a:r>
              <a:rPr lang="en-IN" b="1" dirty="0">
                <a:latin typeface="Consolas" panose="020B0609020204030204" pitchFamily="49" charset="0"/>
                <a:cs typeface="Consolas" panose="020B0609020204030204" pitchFamily="49" charset="0"/>
              </a:rPr>
              <a:t>, </a:t>
            </a:r>
            <a:r>
              <a:rPr lang="en-IN" b="1" dirty="0" err="1">
                <a:latin typeface="Consolas" panose="020B0609020204030204" pitchFamily="49" charset="0"/>
                <a:cs typeface="Consolas" panose="020B0609020204030204" pitchFamily="49" charset="0"/>
              </a:rPr>
              <a:t>Oj</a:t>
            </a:r>
            <a:r>
              <a:rPr lang="en-IN" b="1" dirty="0">
                <a:latin typeface="Consolas" panose="020B0609020204030204" pitchFamily="49" charset="0"/>
                <a:cs typeface="Consolas" panose="020B0609020204030204" pitchFamily="49" charset="0"/>
              </a:rPr>
              <a:t>, with </a:t>
            </a:r>
            <a:r>
              <a:rPr lang="en-IN" b="1" dirty="0" err="1">
                <a:latin typeface="Consolas" panose="020B0609020204030204" pitchFamily="49" charset="0"/>
                <a:cs typeface="Consolas" panose="020B0609020204030204" pitchFamily="49" charset="0"/>
              </a:rPr>
              <a:t>O</a:t>
            </a:r>
            <a:r>
              <a:rPr lang="en-IN" b="1" baseline="-25000" dirty="0" err="1">
                <a:latin typeface="Consolas" panose="020B0609020204030204" pitchFamily="49" charset="0"/>
                <a:cs typeface="Consolas" panose="020B0609020204030204" pitchFamily="49" charset="0"/>
              </a:rPr>
              <a:t>random</a:t>
            </a:r>
            <a:r>
              <a:rPr lang="en-IN" b="1" dirty="0">
                <a:latin typeface="Consolas" panose="020B0609020204030204" pitchFamily="49" charset="0"/>
                <a:cs typeface="Consolas" panose="020B0609020204030204" pitchFamily="49" charset="0"/>
              </a:rPr>
              <a:t>;</a:t>
            </a:r>
            <a:br>
              <a:rPr lang="en-IN" b="1" dirty="0">
                <a:latin typeface="Consolas" panose="020B0609020204030204" pitchFamily="49" charset="0"/>
                <a:cs typeface="Consolas" panose="020B0609020204030204" pitchFamily="49" charset="0"/>
              </a:rPr>
            </a:br>
            <a:r>
              <a:rPr lang="en-IN" b="1" dirty="0">
                <a:latin typeface="Consolas" panose="020B0609020204030204" pitchFamily="49" charset="0"/>
                <a:cs typeface="Consolas" panose="020B0609020204030204" pitchFamily="49" charset="0"/>
              </a:rPr>
              <a:t>if S &lt; 0 then swap </a:t>
            </a:r>
            <a:r>
              <a:rPr lang="en-IN" b="1" dirty="0" err="1">
                <a:latin typeface="Consolas" panose="020B0609020204030204" pitchFamily="49" charset="0"/>
                <a:cs typeface="Consolas" panose="020B0609020204030204" pitchFamily="49" charset="0"/>
              </a:rPr>
              <a:t>o</a:t>
            </a:r>
            <a:r>
              <a:rPr lang="en-IN" b="1" baseline="-25000" dirty="0" err="1">
                <a:latin typeface="Consolas" panose="020B0609020204030204" pitchFamily="49" charset="0"/>
                <a:cs typeface="Consolas" panose="020B0609020204030204" pitchFamily="49" charset="0"/>
              </a:rPr>
              <a:t>j</a:t>
            </a:r>
            <a:r>
              <a:rPr lang="en-IN" b="1" dirty="0">
                <a:latin typeface="Consolas" panose="020B0609020204030204" pitchFamily="49" charset="0"/>
                <a:cs typeface="Consolas" panose="020B0609020204030204" pitchFamily="49" charset="0"/>
              </a:rPr>
              <a:t> with </a:t>
            </a:r>
            <a:r>
              <a:rPr lang="en-IN" b="1" dirty="0" err="1">
                <a:latin typeface="Consolas" panose="020B0609020204030204" pitchFamily="49" charset="0"/>
                <a:cs typeface="Consolas" panose="020B0609020204030204" pitchFamily="49" charset="0"/>
              </a:rPr>
              <a:t>o</a:t>
            </a:r>
            <a:r>
              <a:rPr lang="en-IN" b="1" baseline="-25000" dirty="0" err="1">
                <a:latin typeface="Consolas" panose="020B0609020204030204" pitchFamily="49" charset="0"/>
                <a:cs typeface="Consolas" panose="020B0609020204030204" pitchFamily="49" charset="0"/>
              </a:rPr>
              <a:t>random</a:t>
            </a:r>
            <a:r>
              <a:rPr lang="en-IN" b="1" dirty="0">
                <a:latin typeface="Consolas" panose="020B0609020204030204" pitchFamily="49" charset="0"/>
                <a:cs typeface="Consolas" panose="020B0609020204030204" pitchFamily="49" charset="0"/>
              </a:rPr>
              <a:t> to form the new set of k representative objects. </a:t>
            </a:r>
          </a:p>
          <a:p>
            <a:r>
              <a:rPr lang="en-IN" b="1" dirty="0">
                <a:solidFill>
                  <a:srgbClr val="00B050"/>
                </a:solidFill>
                <a:latin typeface="Consolas" panose="020B0609020204030204" pitchFamily="49" charset="0"/>
                <a:cs typeface="Consolas" panose="020B0609020204030204" pitchFamily="49" charset="0"/>
              </a:rPr>
              <a:t>until</a:t>
            </a:r>
            <a:r>
              <a:rPr lang="en-IN" b="1" dirty="0">
                <a:latin typeface="Consolas" panose="020B0609020204030204" pitchFamily="49" charset="0"/>
                <a:cs typeface="Consolas" panose="020B0609020204030204" pitchFamily="49" charset="0"/>
              </a:rPr>
              <a:t> no change;</a:t>
            </a:r>
          </a:p>
        </p:txBody>
      </p:sp>
    </p:spTree>
    <p:extLst>
      <p:ext uri="{BB962C8B-B14F-4D97-AF65-F5344CB8AC3E}">
        <p14:creationId xmlns:p14="http://schemas.microsoft.com/office/powerpoint/2010/main" val="224070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593B-2E97-4ECD-BB17-9BF51DC36404}"/>
              </a:ext>
            </a:extLst>
          </p:cNvPr>
          <p:cNvSpPr>
            <a:spLocks noGrp="1"/>
          </p:cNvSpPr>
          <p:nvPr>
            <p:ph type="title"/>
          </p:nvPr>
        </p:nvSpPr>
        <p:spPr/>
        <p:txBody>
          <a:bodyPr>
            <a:normAutofit/>
          </a:bodyPr>
          <a:lstStyle/>
          <a:p>
            <a:r>
              <a:rPr lang="en-US" dirty="0"/>
              <a:t>K-Medoids Clustering Algorithm - Example</a:t>
            </a:r>
            <a:endParaRPr lang="en-IN" dirty="0"/>
          </a:p>
        </p:txBody>
      </p:sp>
      <p:graphicFrame>
        <p:nvGraphicFramePr>
          <p:cNvPr id="6" name="Content Placeholder 4">
            <a:extLst>
              <a:ext uri="{FF2B5EF4-FFF2-40B4-BE49-F238E27FC236}">
                <a16:creationId xmlns:a16="http://schemas.microsoft.com/office/drawing/2014/main" id="{60BC7AAD-06C3-4954-82CD-4565EFEB5281}"/>
              </a:ext>
            </a:extLst>
          </p:cNvPr>
          <p:cNvGraphicFramePr>
            <a:graphicFrameLocks/>
          </p:cNvGraphicFramePr>
          <p:nvPr/>
        </p:nvGraphicFramePr>
        <p:xfrm>
          <a:off x="172761" y="1165860"/>
          <a:ext cx="2620415" cy="4526280"/>
        </p:xfrm>
        <a:graphic>
          <a:graphicData uri="http://schemas.openxmlformats.org/drawingml/2006/table">
            <a:tbl>
              <a:tblPr firstRow="1" bandRow="1">
                <a:tableStyleId>{8EC20E35-A176-4012-BC5E-935CFFF8708E}</a:tableStyleId>
              </a:tblPr>
              <a:tblGrid>
                <a:gridCol w="849528">
                  <a:extLst>
                    <a:ext uri="{9D8B030D-6E8A-4147-A177-3AD203B41FA5}">
                      <a16:colId xmlns:a16="http://schemas.microsoft.com/office/drawing/2014/main" val="131083297"/>
                    </a:ext>
                  </a:extLst>
                </a:gridCol>
                <a:gridCol w="849528">
                  <a:extLst>
                    <a:ext uri="{9D8B030D-6E8A-4147-A177-3AD203B41FA5}">
                      <a16:colId xmlns:a16="http://schemas.microsoft.com/office/drawing/2014/main" val="20000"/>
                    </a:ext>
                  </a:extLst>
                </a:gridCol>
                <a:gridCol w="921359">
                  <a:extLst>
                    <a:ext uri="{9D8B030D-6E8A-4147-A177-3AD203B41FA5}">
                      <a16:colId xmlns:a16="http://schemas.microsoft.com/office/drawing/2014/main" val="20001"/>
                    </a:ext>
                  </a:extLst>
                </a:gridCol>
              </a:tblGrid>
              <a:tr h="411480">
                <a:tc>
                  <a:txBody>
                    <a:bodyPr/>
                    <a:lstStyle/>
                    <a:p>
                      <a:pPr algn="ctr"/>
                      <a:r>
                        <a:rPr lang="en-US" dirty="0">
                          <a:solidFill>
                            <a:schemeClr val="tx1"/>
                          </a:solidFill>
                        </a:rPr>
                        <a:t>Sr.</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X</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Y</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pPr algn="ctr"/>
                      <a:r>
                        <a:rPr lang="en-US" sz="1900" b="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algn="ctr"/>
                      <a:r>
                        <a:rPr lang="en-US" sz="1900" b="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algn="ctr"/>
                      <a:r>
                        <a:rPr lang="en-US" sz="1900" b="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algn="ctr"/>
                      <a:r>
                        <a:rPr lang="en-US" sz="1900" u="sng"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1" dirty="0">
                          <a:solidFill>
                            <a:schemeClr val="accent6"/>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3473975"/>
                  </a:ext>
                </a:extLst>
              </a:tr>
              <a:tr h="411480">
                <a:tc>
                  <a:txBody>
                    <a:bodyPr/>
                    <a:lstStyle/>
                    <a:p>
                      <a:pPr algn="ctr"/>
                      <a:r>
                        <a:rPr lang="en-US" sz="1900" dirty="0"/>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5437047"/>
                  </a:ext>
                </a:extLst>
              </a:tr>
              <a:tr h="411480">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3925765"/>
                  </a:ext>
                </a:extLst>
              </a:tr>
              <a:tr h="411480">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121186"/>
                  </a:ext>
                </a:extLst>
              </a:tr>
              <a:tr h="411480">
                <a:tc>
                  <a:txBody>
                    <a:bodyPr/>
                    <a:lstStyle/>
                    <a:p>
                      <a:pPr algn="ctr"/>
                      <a:r>
                        <a:rPr lang="en-US" sz="1900" u="sng" dirty="0"/>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1" dirty="0">
                          <a:solidFill>
                            <a:schemeClr val="accent6"/>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2010987"/>
                  </a:ext>
                </a:extLst>
              </a:tr>
            </a:tbl>
          </a:graphicData>
        </a:graphic>
      </p:graphicFrame>
      <p:sp>
        <p:nvSpPr>
          <p:cNvPr id="5" name="TextBox 4">
            <a:extLst>
              <a:ext uri="{FF2B5EF4-FFF2-40B4-BE49-F238E27FC236}">
                <a16:creationId xmlns:a16="http://schemas.microsoft.com/office/drawing/2014/main" id="{CF648FB5-E195-4340-860B-AA4FE722D956}"/>
              </a:ext>
            </a:extLst>
          </p:cNvPr>
          <p:cNvSpPr txBox="1"/>
          <p:nvPr/>
        </p:nvSpPr>
        <p:spPr>
          <a:xfrm>
            <a:off x="3352798" y="861060"/>
            <a:ext cx="8666439" cy="923330"/>
          </a:xfrm>
          <a:prstGeom prst="rect">
            <a:avLst/>
          </a:prstGeom>
          <a:noFill/>
        </p:spPr>
        <p:txBody>
          <a:bodyPr wrap="square">
            <a:spAutoFit/>
          </a:bodyPr>
          <a:lstStyle/>
          <a:p>
            <a:r>
              <a:rPr lang="en-US" b="1" i="0" dirty="0">
                <a:solidFill>
                  <a:srgbClr val="40424E"/>
                </a:solidFill>
                <a:effectLst/>
                <a:latin typeface="+mj-lt"/>
              </a:rPr>
              <a:t>Step 1:</a:t>
            </a:r>
            <a:r>
              <a:rPr lang="en-US" dirty="0">
                <a:latin typeface="+mj-lt"/>
              </a:rPr>
              <a:t/>
            </a:r>
            <a:br>
              <a:rPr lang="en-US" dirty="0">
                <a:latin typeface="+mj-lt"/>
              </a:rPr>
            </a:br>
            <a:r>
              <a:rPr lang="en-US" b="0" i="0" dirty="0">
                <a:solidFill>
                  <a:srgbClr val="40424E"/>
                </a:solidFill>
                <a:effectLst/>
                <a:latin typeface="+mj-lt"/>
              </a:rPr>
              <a:t>Let the randomly selected 2 </a:t>
            </a:r>
            <a:r>
              <a:rPr lang="en-US" b="1" i="0" dirty="0">
                <a:solidFill>
                  <a:srgbClr val="40424E"/>
                </a:solidFill>
                <a:effectLst/>
                <a:latin typeface="+mj-lt"/>
              </a:rPr>
              <a:t>medoids</a:t>
            </a:r>
            <a:r>
              <a:rPr lang="en-US" b="0" i="0" dirty="0">
                <a:solidFill>
                  <a:srgbClr val="40424E"/>
                </a:solidFill>
                <a:effectLst/>
                <a:latin typeface="+mj-lt"/>
              </a:rPr>
              <a:t>, so select k = 2 and let </a:t>
            </a:r>
            <a:r>
              <a:rPr lang="en-US" b="1" i="0" dirty="0">
                <a:solidFill>
                  <a:srgbClr val="40424E"/>
                </a:solidFill>
                <a:effectLst/>
                <a:latin typeface="+mj-lt"/>
              </a:rPr>
              <a:t>C1 -(4, 5)</a:t>
            </a:r>
            <a:r>
              <a:rPr lang="en-US" b="0" i="0" dirty="0">
                <a:solidFill>
                  <a:srgbClr val="40424E"/>
                </a:solidFill>
                <a:effectLst/>
                <a:latin typeface="+mj-lt"/>
              </a:rPr>
              <a:t> and </a:t>
            </a:r>
            <a:r>
              <a:rPr lang="en-US" b="1" i="0" dirty="0">
                <a:solidFill>
                  <a:srgbClr val="40424E"/>
                </a:solidFill>
                <a:effectLst/>
                <a:latin typeface="+mj-lt"/>
              </a:rPr>
              <a:t>C2 -(8, 5)</a:t>
            </a:r>
            <a:r>
              <a:rPr lang="en-US" b="0" i="0" dirty="0">
                <a:solidFill>
                  <a:srgbClr val="40424E"/>
                </a:solidFill>
                <a:effectLst/>
                <a:latin typeface="+mj-lt"/>
              </a:rPr>
              <a:t> are the two medoids.</a:t>
            </a:r>
            <a:endParaRPr lang="en-IN" dirty="0">
              <a:latin typeface="+mj-lt"/>
            </a:endParaRPr>
          </a:p>
        </p:txBody>
      </p:sp>
      <p:sp>
        <p:nvSpPr>
          <p:cNvPr id="7" name="TextBox 6">
            <a:extLst>
              <a:ext uri="{FF2B5EF4-FFF2-40B4-BE49-F238E27FC236}">
                <a16:creationId xmlns:a16="http://schemas.microsoft.com/office/drawing/2014/main" id="{A0F318B6-D396-40BB-B3CC-D5D1FD137658}"/>
              </a:ext>
            </a:extLst>
          </p:cNvPr>
          <p:cNvSpPr txBox="1"/>
          <p:nvPr/>
        </p:nvSpPr>
        <p:spPr>
          <a:xfrm>
            <a:off x="3352798" y="1784390"/>
            <a:ext cx="8666438" cy="369332"/>
          </a:xfrm>
          <a:prstGeom prst="rect">
            <a:avLst/>
          </a:prstGeom>
          <a:noFill/>
        </p:spPr>
        <p:txBody>
          <a:bodyPr wrap="square">
            <a:spAutoFit/>
          </a:bodyPr>
          <a:lstStyle/>
          <a:p>
            <a:r>
              <a:rPr lang="en-US" b="0" i="0" dirty="0">
                <a:solidFill>
                  <a:srgbClr val="40424E"/>
                </a:solidFill>
                <a:effectLst/>
                <a:latin typeface="+mj-lt"/>
              </a:rPr>
              <a:t>The dissimilarity of each non-medoid point with the medoids is calculated and tabulated:</a:t>
            </a:r>
            <a:endParaRPr lang="en-IN" dirty="0">
              <a:latin typeface="+mj-lt"/>
            </a:endParaRPr>
          </a:p>
        </p:txBody>
      </p:sp>
      <p:graphicFrame>
        <p:nvGraphicFramePr>
          <p:cNvPr id="8" name="Content Placeholder 4">
            <a:extLst>
              <a:ext uri="{FF2B5EF4-FFF2-40B4-BE49-F238E27FC236}">
                <a16:creationId xmlns:a16="http://schemas.microsoft.com/office/drawing/2014/main" id="{96BA0DA5-ACCF-4078-8A4E-644C2040F65F}"/>
              </a:ext>
            </a:extLst>
          </p:cNvPr>
          <p:cNvGraphicFramePr>
            <a:graphicFrameLocks/>
          </p:cNvGraphicFramePr>
          <p:nvPr/>
        </p:nvGraphicFramePr>
        <p:xfrm>
          <a:off x="3352797" y="2153723"/>
          <a:ext cx="6213234" cy="3843220"/>
        </p:xfrm>
        <a:graphic>
          <a:graphicData uri="http://schemas.openxmlformats.org/drawingml/2006/table">
            <a:tbl>
              <a:tblPr firstRow="1" bandRow="1">
                <a:tableStyleId>{8EC20E35-A176-4012-BC5E-935CFFF8708E}</a:tableStyleId>
              </a:tblPr>
              <a:tblGrid>
                <a:gridCol w="454272">
                  <a:extLst>
                    <a:ext uri="{9D8B030D-6E8A-4147-A177-3AD203B41FA5}">
                      <a16:colId xmlns:a16="http://schemas.microsoft.com/office/drawing/2014/main" val="131083297"/>
                    </a:ext>
                  </a:extLst>
                </a:gridCol>
                <a:gridCol w="332216">
                  <a:extLst>
                    <a:ext uri="{9D8B030D-6E8A-4147-A177-3AD203B41FA5}">
                      <a16:colId xmlns:a16="http://schemas.microsoft.com/office/drawing/2014/main" val="20000"/>
                    </a:ext>
                  </a:extLst>
                </a:gridCol>
                <a:gridCol w="390785">
                  <a:extLst>
                    <a:ext uri="{9D8B030D-6E8A-4147-A177-3AD203B41FA5}">
                      <a16:colId xmlns:a16="http://schemas.microsoft.com/office/drawing/2014/main" val="20001"/>
                    </a:ext>
                  </a:extLst>
                </a:gridCol>
                <a:gridCol w="2355865">
                  <a:extLst>
                    <a:ext uri="{9D8B030D-6E8A-4147-A177-3AD203B41FA5}">
                      <a16:colId xmlns:a16="http://schemas.microsoft.com/office/drawing/2014/main" val="2015045789"/>
                    </a:ext>
                  </a:extLst>
                </a:gridCol>
                <a:gridCol w="2680096">
                  <a:extLst>
                    <a:ext uri="{9D8B030D-6E8A-4147-A177-3AD203B41FA5}">
                      <a16:colId xmlns:a16="http://schemas.microsoft.com/office/drawing/2014/main" val="1049811800"/>
                    </a:ext>
                  </a:extLst>
                </a:gridCol>
              </a:tblGrid>
              <a:tr h="645660">
                <a:tc>
                  <a:txBody>
                    <a:bodyPr/>
                    <a:lstStyle/>
                    <a:p>
                      <a:pPr algn="ctr"/>
                      <a:r>
                        <a:rPr lang="en-US" dirty="0">
                          <a:solidFill>
                            <a:schemeClr val="tx1"/>
                          </a:solidFill>
                        </a:rPr>
                        <a:t>Sr.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Dissimilarity From C1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Dissimilarity From C2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99695">
                <a:tc>
                  <a:txBody>
                    <a:bodyPr/>
                    <a:lstStyle/>
                    <a:p>
                      <a:pPr algn="ctr"/>
                      <a:r>
                        <a:rPr lang="en-US" sz="1900" b="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|(8-</a:t>
                      </a:r>
                      <a:r>
                        <a:rPr lang="en-US" sz="2000" b="1" dirty="0">
                          <a:solidFill>
                            <a:schemeClr val="accent6"/>
                          </a:solidFill>
                        </a:rPr>
                        <a:t>4</a:t>
                      </a:r>
                      <a:r>
                        <a:rPr lang="en-US" sz="2000" b="0" dirty="0">
                          <a:solidFill>
                            <a:schemeClr val="tx1"/>
                          </a:solidFill>
                        </a:rPr>
                        <a:t>)|+|(7-</a:t>
                      </a:r>
                      <a:r>
                        <a:rPr lang="en-US" sz="2000" b="1" dirty="0">
                          <a:solidFill>
                            <a:schemeClr val="accent6"/>
                          </a:solidFill>
                        </a:rPr>
                        <a:t>5</a:t>
                      </a:r>
                      <a:r>
                        <a:rPr lang="en-US" sz="2000" b="0" dirty="0">
                          <a:solidFill>
                            <a:schemeClr val="tx1"/>
                          </a:solidFill>
                        </a:rPr>
                        <a:t>)| = 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|(8-</a:t>
                      </a:r>
                      <a:r>
                        <a:rPr lang="en-US" sz="2000" b="1" dirty="0">
                          <a:solidFill>
                            <a:schemeClr val="accent6"/>
                          </a:solidFill>
                        </a:rPr>
                        <a:t>8</a:t>
                      </a:r>
                      <a:r>
                        <a:rPr lang="en-US" sz="2000" b="0" dirty="0">
                          <a:solidFill>
                            <a:schemeClr val="tx1"/>
                          </a:solidFill>
                        </a:rPr>
                        <a:t>)|+|(7-</a:t>
                      </a:r>
                      <a:r>
                        <a:rPr lang="en-US" sz="2000" b="1" dirty="0">
                          <a:solidFill>
                            <a:schemeClr val="accent6"/>
                          </a:solidFill>
                        </a:rPr>
                        <a:t>5</a:t>
                      </a:r>
                      <a:r>
                        <a:rPr lang="en-US" sz="2000" b="0" dirty="0">
                          <a:solidFill>
                            <a:schemeClr val="tx1"/>
                          </a:solidFill>
                        </a:rPr>
                        <a:t>)| = 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9695">
                <a:tc>
                  <a:txBody>
                    <a:bodyPr/>
                    <a:lstStyle/>
                    <a:p>
                      <a:pPr algn="ctr"/>
                      <a:r>
                        <a:rPr lang="en-US" sz="1900" b="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9695">
                <a:tc>
                  <a:txBody>
                    <a:bodyPr/>
                    <a:lstStyle/>
                    <a:p>
                      <a:pPr algn="ctr"/>
                      <a:r>
                        <a:rPr lang="en-US" sz="1900" b="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99695">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99695">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3473975"/>
                  </a:ext>
                </a:extLst>
              </a:tr>
              <a:tr h="399695">
                <a:tc>
                  <a:txBody>
                    <a:bodyPr/>
                    <a:lstStyle/>
                    <a:p>
                      <a:pPr algn="ctr"/>
                      <a:r>
                        <a:rPr lang="en-US" sz="1900" dirty="0"/>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5437047"/>
                  </a:ext>
                </a:extLst>
              </a:tr>
              <a:tr h="399695">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3925765"/>
                  </a:ext>
                </a:extLst>
              </a:tr>
              <a:tr h="399695">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121186"/>
                  </a:ext>
                </a:extLst>
              </a:tr>
            </a:tbl>
          </a:graphicData>
        </a:graphic>
      </p:graphicFrame>
      <p:sp>
        <p:nvSpPr>
          <p:cNvPr id="3" name="Rectangle 2">
            <a:extLst>
              <a:ext uri="{FF2B5EF4-FFF2-40B4-BE49-F238E27FC236}">
                <a16:creationId xmlns:a16="http://schemas.microsoft.com/office/drawing/2014/main" id="{D430630C-B50F-4C21-8263-6F68A3A16960}"/>
              </a:ext>
            </a:extLst>
          </p:cNvPr>
          <p:cNvSpPr/>
          <p:nvPr/>
        </p:nvSpPr>
        <p:spPr>
          <a:xfrm>
            <a:off x="4536831" y="3209328"/>
            <a:ext cx="5029200" cy="27876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8916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3"/>
                                        </p:tgtEl>
                                      </p:cBhvr>
                                    </p:animEffect>
                                    <p:set>
                                      <p:cBhvr>
                                        <p:cTn id="2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593B-2E97-4ECD-BB17-9BF51DC36404}"/>
              </a:ext>
            </a:extLst>
          </p:cNvPr>
          <p:cNvSpPr>
            <a:spLocks noGrp="1"/>
          </p:cNvSpPr>
          <p:nvPr>
            <p:ph type="title"/>
          </p:nvPr>
        </p:nvSpPr>
        <p:spPr/>
        <p:txBody>
          <a:bodyPr>
            <a:normAutofit/>
          </a:bodyPr>
          <a:lstStyle/>
          <a:p>
            <a:r>
              <a:rPr lang="en-US" dirty="0"/>
              <a:t>K-Medoids Clustering Algorithm – Example Cont..</a:t>
            </a:r>
            <a:endParaRPr lang="en-IN" dirty="0"/>
          </a:p>
        </p:txBody>
      </p:sp>
      <p:graphicFrame>
        <p:nvGraphicFramePr>
          <p:cNvPr id="8" name="Content Placeholder 4">
            <a:extLst>
              <a:ext uri="{FF2B5EF4-FFF2-40B4-BE49-F238E27FC236}">
                <a16:creationId xmlns:a16="http://schemas.microsoft.com/office/drawing/2014/main" id="{96BA0DA5-ACCF-4078-8A4E-644C2040F65F}"/>
              </a:ext>
            </a:extLst>
          </p:cNvPr>
          <p:cNvGraphicFramePr>
            <a:graphicFrameLocks/>
          </p:cNvGraphicFramePr>
          <p:nvPr/>
        </p:nvGraphicFramePr>
        <p:xfrm>
          <a:off x="240629" y="1239322"/>
          <a:ext cx="6400801" cy="3810000"/>
        </p:xfrm>
        <a:graphic>
          <a:graphicData uri="http://schemas.openxmlformats.org/drawingml/2006/table">
            <a:tbl>
              <a:tblPr firstRow="1" bandRow="1">
                <a:tableStyleId>{8EC20E35-A176-4012-BC5E-935CFFF8708E}</a:tableStyleId>
              </a:tblPr>
              <a:tblGrid>
                <a:gridCol w="1218350">
                  <a:extLst>
                    <a:ext uri="{9D8B030D-6E8A-4147-A177-3AD203B41FA5}">
                      <a16:colId xmlns:a16="http://schemas.microsoft.com/office/drawing/2014/main" val="131083297"/>
                    </a:ext>
                  </a:extLst>
                </a:gridCol>
                <a:gridCol w="1218350">
                  <a:extLst>
                    <a:ext uri="{9D8B030D-6E8A-4147-A177-3AD203B41FA5}">
                      <a16:colId xmlns:a16="http://schemas.microsoft.com/office/drawing/2014/main" val="20000"/>
                    </a:ext>
                  </a:extLst>
                </a:gridCol>
                <a:gridCol w="1321367">
                  <a:extLst>
                    <a:ext uri="{9D8B030D-6E8A-4147-A177-3AD203B41FA5}">
                      <a16:colId xmlns:a16="http://schemas.microsoft.com/office/drawing/2014/main" val="20001"/>
                    </a:ext>
                  </a:extLst>
                </a:gridCol>
                <a:gridCol w="1321367">
                  <a:extLst>
                    <a:ext uri="{9D8B030D-6E8A-4147-A177-3AD203B41FA5}">
                      <a16:colId xmlns:a16="http://schemas.microsoft.com/office/drawing/2014/main" val="2015045789"/>
                    </a:ext>
                  </a:extLst>
                </a:gridCol>
                <a:gridCol w="1321367">
                  <a:extLst>
                    <a:ext uri="{9D8B030D-6E8A-4147-A177-3AD203B41FA5}">
                      <a16:colId xmlns:a16="http://schemas.microsoft.com/office/drawing/2014/main" val="1049811800"/>
                    </a:ext>
                  </a:extLst>
                </a:gridCol>
              </a:tblGrid>
              <a:tr h="0">
                <a:tc>
                  <a:txBody>
                    <a:bodyPr/>
                    <a:lstStyle/>
                    <a:p>
                      <a:pPr algn="ctr"/>
                      <a:r>
                        <a:rPr lang="en-US" dirty="0">
                          <a:solidFill>
                            <a:schemeClr val="tx1"/>
                          </a:solidFill>
                        </a:rPr>
                        <a:t>Sr.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Dissimilarity  From C1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Dissimilarity  From C2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0">
                <a:tc>
                  <a:txBody>
                    <a:bodyPr/>
                    <a:lstStyle/>
                    <a:p>
                      <a:pPr algn="ctr"/>
                      <a:r>
                        <a:rPr lang="en-US" sz="1900" b="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lgn="ctr"/>
                      <a:r>
                        <a:rPr lang="en-US" sz="1900" b="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2"/>
                          </a:solidFill>
                        </a:rPr>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algn="ctr"/>
                      <a:r>
                        <a:rPr lang="en-US" sz="1900" b="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2"/>
                          </a:solidFill>
                        </a:rPr>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0">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2"/>
                          </a:solidFill>
                        </a:rPr>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3473975"/>
                  </a:ext>
                </a:extLst>
              </a:tr>
              <a:tr h="0">
                <a:tc>
                  <a:txBody>
                    <a:bodyPr/>
                    <a:lstStyle/>
                    <a:p>
                      <a:pPr algn="ctr"/>
                      <a:r>
                        <a:rPr lang="en-US" sz="1900" dirty="0"/>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5437047"/>
                  </a:ext>
                </a:extLst>
              </a:tr>
              <a:tr h="341822">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3925765"/>
                  </a:ext>
                </a:extLst>
              </a:tr>
              <a:tr h="0">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121186"/>
                  </a:ext>
                </a:extLst>
              </a:tr>
            </a:tbl>
          </a:graphicData>
        </a:graphic>
      </p:graphicFrame>
      <p:sp>
        <p:nvSpPr>
          <p:cNvPr id="10" name="TextBox 9">
            <a:extLst>
              <a:ext uri="{FF2B5EF4-FFF2-40B4-BE49-F238E27FC236}">
                <a16:creationId xmlns:a16="http://schemas.microsoft.com/office/drawing/2014/main" id="{0A52B55A-3C67-4C54-B354-E739F843D191}"/>
              </a:ext>
            </a:extLst>
          </p:cNvPr>
          <p:cNvSpPr txBox="1"/>
          <p:nvPr/>
        </p:nvSpPr>
        <p:spPr>
          <a:xfrm>
            <a:off x="6769768" y="1239322"/>
            <a:ext cx="5181603" cy="1477328"/>
          </a:xfrm>
          <a:prstGeom prst="rect">
            <a:avLst/>
          </a:prstGeom>
          <a:noFill/>
        </p:spPr>
        <p:txBody>
          <a:bodyPr wrap="square">
            <a:spAutoFit/>
          </a:bodyPr>
          <a:lstStyle/>
          <a:p>
            <a:pPr marL="285750" indent="-285750" algn="just">
              <a:buFont typeface="Arial" panose="020B0604020202020204" pitchFamily="34" charset="0"/>
              <a:buChar char="•"/>
            </a:pPr>
            <a:r>
              <a:rPr lang="en-IN" dirty="0"/>
              <a:t>Each point is assigned to the cluster of that medoid whose dissimilarity is less.</a:t>
            </a:r>
          </a:p>
          <a:p>
            <a:pPr marL="285750" indent="-285750" algn="just">
              <a:buFont typeface="Arial" panose="020B0604020202020204" pitchFamily="34" charset="0"/>
              <a:buChar char="•"/>
            </a:pPr>
            <a:r>
              <a:rPr lang="en-IN" dirty="0"/>
              <a:t>The points </a:t>
            </a:r>
            <a:r>
              <a:rPr lang="en-IN" b="1" dirty="0">
                <a:solidFill>
                  <a:schemeClr val="tx2"/>
                </a:solidFill>
              </a:rPr>
              <a:t>1, 2, 5 go to cluster C1 </a:t>
            </a:r>
            <a:r>
              <a:rPr lang="en-IN" dirty="0"/>
              <a:t>and </a:t>
            </a:r>
            <a:r>
              <a:rPr lang="en-IN" b="1" dirty="0">
                <a:solidFill>
                  <a:schemeClr val="accent6"/>
                </a:solidFill>
              </a:rPr>
              <a:t>0, 3, 6, 7, 8 go to cluster C2</a:t>
            </a:r>
            <a:r>
              <a:rPr lang="en-IN" dirty="0"/>
              <a:t>.</a:t>
            </a:r>
          </a:p>
          <a:p>
            <a:pPr marL="285750" indent="-285750" algn="just">
              <a:buFont typeface="Arial" panose="020B0604020202020204" pitchFamily="34" charset="0"/>
              <a:buChar char="•"/>
            </a:pPr>
            <a:r>
              <a:rPr lang="en-IN" dirty="0"/>
              <a:t>The Cost = (3 + 4 + 4) + (2 + 2 + 3 + 1 + 1) = 20</a:t>
            </a:r>
          </a:p>
        </p:txBody>
      </p:sp>
    </p:spTree>
    <p:extLst>
      <p:ext uri="{BB962C8B-B14F-4D97-AF65-F5344CB8AC3E}">
        <p14:creationId xmlns:p14="http://schemas.microsoft.com/office/powerpoint/2010/main" val="427812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5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593B-2E97-4ECD-BB17-9BF51DC36404}"/>
              </a:ext>
            </a:extLst>
          </p:cNvPr>
          <p:cNvSpPr>
            <a:spLocks noGrp="1"/>
          </p:cNvSpPr>
          <p:nvPr>
            <p:ph type="title"/>
          </p:nvPr>
        </p:nvSpPr>
        <p:spPr/>
        <p:txBody>
          <a:bodyPr>
            <a:normAutofit/>
          </a:bodyPr>
          <a:lstStyle/>
          <a:p>
            <a:r>
              <a:rPr lang="en-US" dirty="0"/>
              <a:t>K-Medoids Clustering Algorithm – Example Cont..</a:t>
            </a:r>
            <a:endParaRPr lang="en-IN" dirty="0"/>
          </a:p>
        </p:txBody>
      </p:sp>
      <p:graphicFrame>
        <p:nvGraphicFramePr>
          <p:cNvPr id="5" name="Content Placeholder 4">
            <a:extLst>
              <a:ext uri="{FF2B5EF4-FFF2-40B4-BE49-F238E27FC236}">
                <a16:creationId xmlns:a16="http://schemas.microsoft.com/office/drawing/2014/main" id="{7D78ED11-DA0E-4D1F-950E-3A14FE1D276F}"/>
              </a:ext>
            </a:extLst>
          </p:cNvPr>
          <p:cNvGraphicFramePr>
            <a:graphicFrameLocks/>
          </p:cNvGraphicFramePr>
          <p:nvPr/>
        </p:nvGraphicFramePr>
        <p:xfrm>
          <a:off x="240322" y="1164731"/>
          <a:ext cx="6400801" cy="3810000"/>
        </p:xfrm>
        <a:graphic>
          <a:graphicData uri="http://schemas.openxmlformats.org/drawingml/2006/table">
            <a:tbl>
              <a:tblPr firstRow="1" bandRow="1">
                <a:tableStyleId>{8EC20E35-A176-4012-BC5E-935CFFF8708E}</a:tableStyleId>
              </a:tblPr>
              <a:tblGrid>
                <a:gridCol w="1218350">
                  <a:extLst>
                    <a:ext uri="{9D8B030D-6E8A-4147-A177-3AD203B41FA5}">
                      <a16:colId xmlns:a16="http://schemas.microsoft.com/office/drawing/2014/main" val="131083297"/>
                    </a:ext>
                  </a:extLst>
                </a:gridCol>
                <a:gridCol w="1218350">
                  <a:extLst>
                    <a:ext uri="{9D8B030D-6E8A-4147-A177-3AD203B41FA5}">
                      <a16:colId xmlns:a16="http://schemas.microsoft.com/office/drawing/2014/main" val="20000"/>
                    </a:ext>
                  </a:extLst>
                </a:gridCol>
                <a:gridCol w="1321367">
                  <a:extLst>
                    <a:ext uri="{9D8B030D-6E8A-4147-A177-3AD203B41FA5}">
                      <a16:colId xmlns:a16="http://schemas.microsoft.com/office/drawing/2014/main" val="20001"/>
                    </a:ext>
                  </a:extLst>
                </a:gridCol>
                <a:gridCol w="1321367">
                  <a:extLst>
                    <a:ext uri="{9D8B030D-6E8A-4147-A177-3AD203B41FA5}">
                      <a16:colId xmlns:a16="http://schemas.microsoft.com/office/drawing/2014/main" val="2015045789"/>
                    </a:ext>
                  </a:extLst>
                </a:gridCol>
                <a:gridCol w="1321367">
                  <a:extLst>
                    <a:ext uri="{9D8B030D-6E8A-4147-A177-3AD203B41FA5}">
                      <a16:colId xmlns:a16="http://schemas.microsoft.com/office/drawing/2014/main" val="1049811800"/>
                    </a:ext>
                  </a:extLst>
                </a:gridCol>
              </a:tblGrid>
              <a:tr h="0">
                <a:tc>
                  <a:txBody>
                    <a:bodyPr/>
                    <a:lstStyle/>
                    <a:p>
                      <a:pPr algn="ctr"/>
                      <a:r>
                        <a:rPr lang="en-US" dirty="0">
                          <a:solidFill>
                            <a:schemeClr val="tx1"/>
                          </a:solidFill>
                        </a:rPr>
                        <a:t>Sr.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Dissimilarity  From C1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Dissimilarity  From C2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0">
                <a:tc>
                  <a:txBody>
                    <a:bodyPr/>
                    <a:lstStyle/>
                    <a:p>
                      <a:pPr algn="ctr"/>
                      <a:r>
                        <a:rPr lang="en-US" sz="1900" b="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lgn="ctr"/>
                      <a:r>
                        <a:rPr lang="en-US" sz="1900" b="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algn="ctr"/>
                      <a:r>
                        <a:rPr lang="en-US" sz="1900" b="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0">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802041"/>
                  </a:ext>
                </a:extLst>
              </a:tr>
              <a:tr h="0">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3473975"/>
                  </a:ext>
                </a:extLst>
              </a:tr>
              <a:tr h="0">
                <a:tc>
                  <a:txBody>
                    <a:bodyPr/>
                    <a:lstStyle/>
                    <a:p>
                      <a:pPr algn="ctr"/>
                      <a:r>
                        <a:rPr lang="en-US" sz="1900" dirty="0"/>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5437047"/>
                  </a:ext>
                </a:extLst>
              </a:tr>
              <a:tr h="0">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121186"/>
                  </a:ext>
                </a:extLst>
              </a:tr>
            </a:tbl>
          </a:graphicData>
        </a:graphic>
      </p:graphicFrame>
      <p:sp>
        <p:nvSpPr>
          <p:cNvPr id="6" name="Rectangle 3">
            <a:extLst>
              <a:ext uri="{FF2B5EF4-FFF2-40B4-BE49-F238E27FC236}">
                <a16:creationId xmlns:a16="http://schemas.microsoft.com/office/drawing/2014/main" id="{EB530787-164E-4660-BEBF-275B27FA1FBB}"/>
              </a:ext>
            </a:extLst>
          </p:cNvPr>
          <p:cNvSpPr>
            <a:spLocks noChangeArrowheads="1"/>
          </p:cNvSpPr>
          <p:nvPr/>
        </p:nvSpPr>
        <p:spPr bwMode="auto">
          <a:xfrm>
            <a:off x="6860313" y="1164731"/>
            <a:ext cx="4965341" cy="16619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rgbClr val="40424E"/>
                </a:solidFill>
                <a:effectLst/>
                <a:latin typeface="+mj-lt"/>
              </a:rPr>
              <a:t>Step 3: randomly select one non-medoid point and recalculate the cost.</a:t>
            </a:r>
            <a:endParaRPr lang="en-US" altLang="en-US" dirty="0">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40424E"/>
                </a:solidFill>
                <a:effectLst/>
                <a:latin typeface="+mj-lt"/>
              </a:rPr>
              <a:t>Let the randomly selected point be (8, 4).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40424E"/>
                </a:solidFill>
                <a:effectLst/>
                <a:latin typeface="+mj-lt"/>
              </a:rPr>
              <a:t>The dissimilarity of each non-medoid point with the medoids – </a:t>
            </a:r>
            <a:r>
              <a:rPr kumimoji="0" lang="en-US" altLang="en-US" b="1" i="0" u="none" strike="noStrike" cap="none" normalizeH="0" baseline="0" dirty="0">
                <a:ln>
                  <a:noFill/>
                </a:ln>
                <a:solidFill>
                  <a:srgbClr val="40424E"/>
                </a:solidFill>
                <a:effectLst/>
                <a:latin typeface="+mj-lt"/>
              </a:rPr>
              <a:t>C1 (4, 5) </a:t>
            </a:r>
            <a:r>
              <a:rPr kumimoji="0" lang="en-US" altLang="en-US" b="0" i="0" u="none" strike="noStrike" cap="none" normalizeH="0" baseline="0" dirty="0">
                <a:ln>
                  <a:noFill/>
                </a:ln>
                <a:solidFill>
                  <a:srgbClr val="40424E"/>
                </a:solidFill>
                <a:effectLst/>
                <a:latin typeface="+mj-lt"/>
              </a:rPr>
              <a:t>and </a:t>
            </a:r>
            <a:r>
              <a:rPr kumimoji="0" lang="en-US" altLang="en-US" b="1" i="0" u="none" strike="noStrike" cap="none" normalizeH="0" baseline="0" dirty="0">
                <a:ln>
                  <a:noFill/>
                </a:ln>
                <a:solidFill>
                  <a:srgbClr val="40424E"/>
                </a:solidFill>
                <a:effectLst/>
                <a:latin typeface="+mj-lt"/>
              </a:rPr>
              <a:t>C2 (8, 4) </a:t>
            </a:r>
            <a:r>
              <a:rPr kumimoji="0" lang="en-US" altLang="en-US" b="0" i="0" u="none" strike="noStrike" cap="none" normalizeH="0" baseline="0" dirty="0">
                <a:ln>
                  <a:noFill/>
                </a:ln>
                <a:solidFill>
                  <a:srgbClr val="40424E"/>
                </a:solidFill>
                <a:effectLst/>
                <a:latin typeface="+mj-lt"/>
              </a:rPr>
              <a:t>is calculated and tabulated.</a:t>
            </a:r>
            <a:r>
              <a:rPr kumimoji="0" lang="en-US" altLang="en-US" b="0" i="0" u="none" strike="noStrike" cap="none" normalizeH="0" baseline="0" dirty="0">
                <a:ln>
                  <a:noFill/>
                </a:ln>
                <a:solidFill>
                  <a:schemeClr val="tx1"/>
                </a:solidFill>
                <a:effectLst/>
                <a:latin typeface="+mj-lt"/>
              </a:rPr>
              <a:t> </a:t>
            </a:r>
          </a:p>
        </p:txBody>
      </p:sp>
    </p:spTree>
    <p:extLst>
      <p:ext uri="{BB962C8B-B14F-4D97-AF65-F5344CB8AC3E}">
        <p14:creationId xmlns:p14="http://schemas.microsoft.com/office/powerpoint/2010/main" val="408517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593B-2E97-4ECD-BB17-9BF51DC36404}"/>
              </a:ext>
            </a:extLst>
          </p:cNvPr>
          <p:cNvSpPr>
            <a:spLocks noGrp="1"/>
          </p:cNvSpPr>
          <p:nvPr>
            <p:ph type="title"/>
          </p:nvPr>
        </p:nvSpPr>
        <p:spPr/>
        <p:txBody>
          <a:bodyPr>
            <a:normAutofit/>
          </a:bodyPr>
          <a:lstStyle/>
          <a:p>
            <a:r>
              <a:rPr lang="en-US" dirty="0"/>
              <a:t>K-Medoids Clustering Algorithm – Example Cont..</a:t>
            </a:r>
            <a:endParaRPr lang="en-IN" dirty="0"/>
          </a:p>
        </p:txBody>
      </p:sp>
      <p:graphicFrame>
        <p:nvGraphicFramePr>
          <p:cNvPr id="7" name="Content Placeholder 4">
            <a:extLst>
              <a:ext uri="{FF2B5EF4-FFF2-40B4-BE49-F238E27FC236}">
                <a16:creationId xmlns:a16="http://schemas.microsoft.com/office/drawing/2014/main" id="{40D0D3DF-83ED-4644-95DD-DAA29E2DB729}"/>
              </a:ext>
            </a:extLst>
          </p:cNvPr>
          <p:cNvGraphicFramePr>
            <a:graphicFrameLocks/>
          </p:cNvGraphicFramePr>
          <p:nvPr/>
        </p:nvGraphicFramePr>
        <p:xfrm>
          <a:off x="231529" y="1164731"/>
          <a:ext cx="6400801" cy="3810000"/>
        </p:xfrm>
        <a:graphic>
          <a:graphicData uri="http://schemas.openxmlformats.org/drawingml/2006/table">
            <a:tbl>
              <a:tblPr firstRow="1" bandRow="1">
                <a:tableStyleId>{8EC20E35-A176-4012-BC5E-935CFFF8708E}</a:tableStyleId>
              </a:tblPr>
              <a:tblGrid>
                <a:gridCol w="1218350">
                  <a:extLst>
                    <a:ext uri="{9D8B030D-6E8A-4147-A177-3AD203B41FA5}">
                      <a16:colId xmlns:a16="http://schemas.microsoft.com/office/drawing/2014/main" val="131083297"/>
                    </a:ext>
                  </a:extLst>
                </a:gridCol>
                <a:gridCol w="1218350">
                  <a:extLst>
                    <a:ext uri="{9D8B030D-6E8A-4147-A177-3AD203B41FA5}">
                      <a16:colId xmlns:a16="http://schemas.microsoft.com/office/drawing/2014/main" val="20000"/>
                    </a:ext>
                  </a:extLst>
                </a:gridCol>
                <a:gridCol w="1321367">
                  <a:extLst>
                    <a:ext uri="{9D8B030D-6E8A-4147-A177-3AD203B41FA5}">
                      <a16:colId xmlns:a16="http://schemas.microsoft.com/office/drawing/2014/main" val="20001"/>
                    </a:ext>
                  </a:extLst>
                </a:gridCol>
                <a:gridCol w="1321367">
                  <a:extLst>
                    <a:ext uri="{9D8B030D-6E8A-4147-A177-3AD203B41FA5}">
                      <a16:colId xmlns:a16="http://schemas.microsoft.com/office/drawing/2014/main" val="2015045789"/>
                    </a:ext>
                  </a:extLst>
                </a:gridCol>
                <a:gridCol w="1321367">
                  <a:extLst>
                    <a:ext uri="{9D8B030D-6E8A-4147-A177-3AD203B41FA5}">
                      <a16:colId xmlns:a16="http://schemas.microsoft.com/office/drawing/2014/main" val="1049811800"/>
                    </a:ext>
                  </a:extLst>
                </a:gridCol>
              </a:tblGrid>
              <a:tr h="0">
                <a:tc>
                  <a:txBody>
                    <a:bodyPr/>
                    <a:lstStyle/>
                    <a:p>
                      <a:pPr algn="ctr"/>
                      <a:r>
                        <a:rPr lang="en-US" dirty="0">
                          <a:solidFill>
                            <a:schemeClr val="tx1"/>
                          </a:solidFill>
                        </a:rPr>
                        <a:t>Sr.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Dissimilarity  From C1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Dissimilarity  From C2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0">
                <a:tc>
                  <a:txBody>
                    <a:bodyPr/>
                    <a:lstStyle/>
                    <a:p>
                      <a:pPr algn="ctr"/>
                      <a:r>
                        <a:rPr lang="en-US" sz="1900" b="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lgn="ctr"/>
                      <a:r>
                        <a:rPr lang="en-US" sz="1900" b="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2"/>
                          </a:solidFill>
                        </a:rPr>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algn="ctr"/>
                      <a:r>
                        <a:rPr lang="en-US" sz="1900" b="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2"/>
                          </a:solidFill>
                        </a:rPr>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0">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802041"/>
                  </a:ext>
                </a:extLst>
              </a:tr>
              <a:tr h="0">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tx2"/>
                          </a:solidFill>
                        </a:rPr>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3473975"/>
                  </a:ext>
                </a:extLst>
              </a:tr>
              <a:tr h="0">
                <a:tc>
                  <a:txBody>
                    <a:bodyPr/>
                    <a:lstStyle/>
                    <a:p>
                      <a:pPr algn="ctr"/>
                      <a:r>
                        <a:rPr lang="en-US" sz="1900" dirty="0"/>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5437047"/>
                  </a:ext>
                </a:extLst>
              </a:tr>
              <a:tr h="0">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solidFill>
                            <a:schemeClr val="accent6"/>
                          </a:solidFill>
                        </a:rPr>
                        <a:t>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121186"/>
                  </a:ext>
                </a:extLst>
              </a:tr>
            </a:tbl>
          </a:graphicData>
        </a:graphic>
      </p:graphicFrame>
      <p:sp>
        <p:nvSpPr>
          <p:cNvPr id="8" name="Rectangle 3">
            <a:extLst>
              <a:ext uri="{FF2B5EF4-FFF2-40B4-BE49-F238E27FC236}">
                <a16:creationId xmlns:a16="http://schemas.microsoft.com/office/drawing/2014/main" id="{FC97E15D-7ABC-40C5-A903-8B1697B80D9F}"/>
              </a:ext>
            </a:extLst>
          </p:cNvPr>
          <p:cNvSpPr>
            <a:spLocks noChangeArrowheads="1"/>
          </p:cNvSpPr>
          <p:nvPr/>
        </p:nvSpPr>
        <p:spPr bwMode="auto">
          <a:xfrm>
            <a:off x="6798767" y="1164731"/>
            <a:ext cx="5161704" cy="41549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j-lt"/>
              </a:rPr>
              <a:t>Each point is assigned to that cluster whose dissimilarity is less. </a:t>
            </a:r>
            <a:r>
              <a:rPr kumimoji="0" lang="en-US" altLang="en-US" b="1" i="0" u="none" strike="noStrike" cap="none" normalizeH="0" baseline="0" dirty="0">
                <a:ln>
                  <a:noFill/>
                </a:ln>
                <a:solidFill>
                  <a:schemeClr val="tx2"/>
                </a:solidFill>
                <a:effectLst/>
                <a:latin typeface="+mj-lt"/>
              </a:rPr>
              <a:t>So, the points 1, 2, 5 go to cluster C1 </a:t>
            </a:r>
            <a:r>
              <a:rPr kumimoji="0" lang="en-US" altLang="en-US" b="0" i="0" u="none" strike="noStrike" cap="none" normalizeH="0" baseline="0" dirty="0">
                <a:ln>
                  <a:noFill/>
                </a:ln>
                <a:solidFill>
                  <a:schemeClr val="tx1"/>
                </a:solidFill>
                <a:effectLst/>
                <a:latin typeface="+mj-lt"/>
              </a:rPr>
              <a:t>and </a:t>
            </a:r>
            <a:r>
              <a:rPr kumimoji="0" lang="en-US" altLang="en-US" b="1" i="0" u="none" strike="noStrike" cap="none" normalizeH="0" baseline="0" dirty="0">
                <a:ln>
                  <a:noFill/>
                </a:ln>
                <a:solidFill>
                  <a:schemeClr val="accent6"/>
                </a:solidFill>
                <a:effectLst/>
                <a:latin typeface="+mj-lt"/>
              </a:rPr>
              <a:t>0, 3, 4, 6, 8 go to cluster C2</a:t>
            </a:r>
            <a:r>
              <a:rPr kumimoji="0" lang="en-US" altLang="en-US" b="0" i="0" u="none" strike="noStrike" cap="none" normalizeH="0" baseline="0" dirty="0">
                <a:ln>
                  <a:noFill/>
                </a:ln>
                <a:solidFill>
                  <a:schemeClr val="tx1"/>
                </a:solidFill>
                <a:effectLst/>
                <a:latin typeface="+mj-lt"/>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j-lt"/>
              </a:rPr>
              <a:t>The New cost, </a:t>
            </a:r>
          </a:p>
          <a:p>
            <a:pPr lvl="1" algn="just"/>
            <a:r>
              <a:rPr kumimoji="0" lang="en-US" altLang="en-US" b="0" i="0" u="none" strike="noStrike" cap="none" normalizeH="0" baseline="0" dirty="0">
                <a:ln>
                  <a:noFill/>
                </a:ln>
                <a:solidFill>
                  <a:schemeClr val="tx1"/>
                </a:solidFill>
                <a:effectLst/>
                <a:latin typeface="+mj-lt"/>
              </a:rPr>
              <a:t>= </a:t>
            </a:r>
            <a:r>
              <a:rPr lang="en-US" altLang="en-US" dirty="0">
                <a:latin typeface="+mj-lt"/>
              </a:rPr>
              <a:t>(3 + 4 + 4) + (3 + 3 + 1 + 2 + 2) = 22</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j-lt"/>
              </a:rPr>
              <a:t>Swap Cost = New Cost – Previous Cost </a:t>
            </a:r>
            <a:endParaRPr lang="en-US" altLang="en-US" dirty="0">
              <a:latin typeface="+mj-lt"/>
            </a:endParaRPr>
          </a:p>
          <a:p>
            <a:pPr marR="0" lvl="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mj-lt"/>
              </a:rPr>
              <a:t>	</a:t>
            </a:r>
            <a:r>
              <a:rPr lang="en-US" altLang="en-US" dirty="0">
                <a:latin typeface="+mj-lt"/>
              </a:rPr>
              <a:t>  </a:t>
            </a:r>
            <a:r>
              <a:rPr kumimoji="0" lang="en-US" altLang="en-US" b="0" i="0" u="none" strike="noStrike" cap="none" normalizeH="0" baseline="0" dirty="0">
                <a:ln>
                  <a:noFill/>
                </a:ln>
                <a:solidFill>
                  <a:schemeClr val="tx1"/>
                </a:solidFill>
                <a:effectLst/>
                <a:latin typeface="+mj-lt"/>
              </a:rPr>
              <a:t>= 22 – 20 </a:t>
            </a:r>
          </a:p>
          <a:p>
            <a:pPr marR="0" lvl="0" algn="just" defTabSz="914400" rtl="0" eaLnBrk="0" fontAlgn="base" latinLnBrk="0" hangingPunct="0">
              <a:lnSpc>
                <a:spcPct val="100000"/>
              </a:lnSpc>
              <a:spcBef>
                <a:spcPct val="0"/>
              </a:spcBef>
              <a:spcAft>
                <a:spcPct val="0"/>
              </a:spcAft>
              <a:buClrTx/>
              <a:buSzTx/>
              <a:tabLst/>
            </a:pPr>
            <a:r>
              <a:rPr lang="en-US" altLang="en-US" dirty="0">
                <a:latin typeface="+mj-lt"/>
              </a:rPr>
              <a:t>	  = 2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j-lt"/>
              </a:rPr>
              <a:t>So, 2&gt;0 that is positive,</a:t>
            </a:r>
            <a:r>
              <a:rPr kumimoji="0" lang="en-US" altLang="en-US" b="0" i="0" u="none" strike="noStrike" cap="none" normalizeH="0" dirty="0">
                <a:ln>
                  <a:noFill/>
                </a:ln>
                <a:solidFill>
                  <a:schemeClr val="tx1"/>
                </a:solidFill>
                <a:effectLst/>
                <a:latin typeface="+mj-lt"/>
              </a:rPr>
              <a:t> now our previous medoid is best.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latin typeface="+mj-lt"/>
              </a:rPr>
              <a:t>The total cost of Medoid (8,4) &gt; the total cost when (8,5) was the medoid earlier &amp; it generates the same clusters as earlier.</a:t>
            </a:r>
            <a:endParaRPr kumimoji="0" lang="en-US" altLang="en-US" b="1" i="0" u="none" strike="noStrike" cap="none" normalizeH="0" dirty="0">
              <a:ln>
                <a:noFill/>
              </a:ln>
              <a:solidFill>
                <a:schemeClr val="tx1"/>
              </a:solidFill>
              <a:effectLst/>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aseline="0" dirty="0">
                <a:latin typeface="+mj-lt"/>
              </a:rPr>
              <a:t>If</a:t>
            </a:r>
            <a:r>
              <a:rPr lang="en-US" altLang="en-US" dirty="0">
                <a:latin typeface="+mj-lt"/>
              </a:rPr>
              <a:t> you get negative then you have to take new medoid and recalculate again.</a:t>
            </a:r>
            <a:endParaRPr kumimoji="0" lang="en-US" altLang="en-US"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4283757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fade">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fade">
                                      <p:cBhvr>
                                        <p:cTn id="37" dur="500"/>
                                        <p:tgtEl>
                                          <p:spTgt spid="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fade">
                                      <p:cBhvr>
                                        <p:cTn id="42" dur="500"/>
                                        <p:tgtEl>
                                          <p:spTgt spid="8">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Effect transition="in" filter="fade">
                                      <p:cBhvr>
                                        <p:cTn id="47" dur="500"/>
                                        <p:tgtEl>
                                          <p:spTgt spid="8">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8" end="8"/>
                                            </p:txEl>
                                          </p:spTgt>
                                        </p:tgtEl>
                                        <p:attrNameLst>
                                          <p:attrName>style.visibility</p:attrName>
                                        </p:attrNameLst>
                                      </p:cBhvr>
                                      <p:to>
                                        <p:strVal val="visible"/>
                                      </p:to>
                                    </p:set>
                                    <p:animEffect transition="in" filter="fade">
                                      <p:cBhvr>
                                        <p:cTn id="52"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593B-2E97-4ECD-BB17-9BF51DC36404}"/>
              </a:ext>
            </a:extLst>
          </p:cNvPr>
          <p:cNvSpPr>
            <a:spLocks noGrp="1"/>
          </p:cNvSpPr>
          <p:nvPr>
            <p:ph type="title"/>
          </p:nvPr>
        </p:nvSpPr>
        <p:spPr/>
        <p:txBody>
          <a:bodyPr>
            <a:normAutofit/>
          </a:bodyPr>
          <a:lstStyle/>
          <a:p>
            <a:r>
              <a:rPr lang="en-US" dirty="0"/>
              <a:t>K-Medoids Clustering Algorithm – Example Cont..</a:t>
            </a:r>
            <a:endParaRPr lang="en-IN" dirty="0"/>
          </a:p>
        </p:txBody>
      </p:sp>
      <p:sp>
        <p:nvSpPr>
          <p:cNvPr id="11" name="Rectangle 3">
            <a:extLst>
              <a:ext uri="{FF2B5EF4-FFF2-40B4-BE49-F238E27FC236}">
                <a16:creationId xmlns:a16="http://schemas.microsoft.com/office/drawing/2014/main" id="{1F873352-2A5B-4A2B-9FDE-4B6FF3A6FB3F}"/>
              </a:ext>
            </a:extLst>
          </p:cNvPr>
          <p:cNvSpPr>
            <a:spLocks noChangeArrowheads="1"/>
          </p:cNvSpPr>
          <p:nvPr/>
        </p:nvSpPr>
        <p:spPr bwMode="auto">
          <a:xfrm>
            <a:off x="3317358" y="1255950"/>
            <a:ext cx="6256421"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j-lt"/>
              </a:rPr>
              <a:t>As the swap cost is not less than zero, we undo the swap.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j-lt"/>
              </a:rPr>
              <a:t>Hence (4, </a:t>
            </a:r>
            <a:r>
              <a:rPr lang="en-US" altLang="en-US" dirty="0">
                <a:latin typeface="+mj-lt"/>
              </a:rPr>
              <a:t>5</a:t>
            </a:r>
            <a:r>
              <a:rPr kumimoji="0" lang="en-US" altLang="en-US" b="0" i="0" u="none" strike="noStrike" cap="none" normalizeH="0" baseline="0" dirty="0">
                <a:ln>
                  <a:noFill/>
                </a:ln>
                <a:solidFill>
                  <a:schemeClr val="tx1"/>
                </a:solidFill>
                <a:effectLst/>
                <a:latin typeface="+mj-lt"/>
              </a:rPr>
              <a:t>) and (8, </a:t>
            </a:r>
            <a:r>
              <a:rPr lang="en-US" altLang="en-US" dirty="0">
                <a:latin typeface="+mj-lt"/>
              </a:rPr>
              <a:t>5</a:t>
            </a:r>
            <a:r>
              <a:rPr kumimoji="0" lang="en-US" altLang="en-US" b="0" i="0" u="none" strike="noStrike" cap="none" normalizeH="0" baseline="0" dirty="0">
                <a:ln>
                  <a:noFill/>
                </a:ln>
                <a:solidFill>
                  <a:schemeClr val="tx1"/>
                </a:solidFill>
                <a:effectLst/>
                <a:latin typeface="+mj-lt"/>
              </a:rPr>
              <a:t>) are the final medoids.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j-lt"/>
              </a:rPr>
              <a:t>The clustering would be in the following way</a:t>
            </a:r>
          </a:p>
        </p:txBody>
      </p:sp>
      <p:pic>
        <p:nvPicPr>
          <p:cNvPr id="4" name="Picture 3">
            <a:extLst>
              <a:ext uri="{FF2B5EF4-FFF2-40B4-BE49-F238E27FC236}">
                <a16:creationId xmlns:a16="http://schemas.microsoft.com/office/drawing/2014/main" id="{91BDCD8C-C4B8-4B29-ADFB-C0A23F6145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6833" y="2299202"/>
            <a:ext cx="5597473" cy="3396220"/>
          </a:xfrm>
          <a:prstGeom prst="rect">
            <a:avLst/>
          </a:prstGeom>
        </p:spPr>
      </p:pic>
      <p:graphicFrame>
        <p:nvGraphicFramePr>
          <p:cNvPr id="7" name="Content Placeholder 4">
            <a:extLst>
              <a:ext uri="{FF2B5EF4-FFF2-40B4-BE49-F238E27FC236}">
                <a16:creationId xmlns:a16="http://schemas.microsoft.com/office/drawing/2014/main" id="{49F5AC08-EB07-415B-BDD1-26AB9DB317E7}"/>
              </a:ext>
            </a:extLst>
          </p:cNvPr>
          <p:cNvGraphicFramePr>
            <a:graphicFrameLocks/>
          </p:cNvGraphicFramePr>
          <p:nvPr/>
        </p:nvGraphicFramePr>
        <p:xfrm>
          <a:off x="347375" y="1256625"/>
          <a:ext cx="2620415" cy="4526280"/>
        </p:xfrm>
        <a:graphic>
          <a:graphicData uri="http://schemas.openxmlformats.org/drawingml/2006/table">
            <a:tbl>
              <a:tblPr firstRow="1" bandRow="1">
                <a:tableStyleId>{8EC20E35-A176-4012-BC5E-935CFFF8708E}</a:tableStyleId>
              </a:tblPr>
              <a:tblGrid>
                <a:gridCol w="849528">
                  <a:extLst>
                    <a:ext uri="{9D8B030D-6E8A-4147-A177-3AD203B41FA5}">
                      <a16:colId xmlns:a16="http://schemas.microsoft.com/office/drawing/2014/main" val="131083297"/>
                    </a:ext>
                  </a:extLst>
                </a:gridCol>
                <a:gridCol w="849528">
                  <a:extLst>
                    <a:ext uri="{9D8B030D-6E8A-4147-A177-3AD203B41FA5}">
                      <a16:colId xmlns:a16="http://schemas.microsoft.com/office/drawing/2014/main" val="20000"/>
                    </a:ext>
                  </a:extLst>
                </a:gridCol>
                <a:gridCol w="921359">
                  <a:extLst>
                    <a:ext uri="{9D8B030D-6E8A-4147-A177-3AD203B41FA5}">
                      <a16:colId xmlns:a16="http://schemas.microsoft.com/office/drawing/2014/main" val="20001"/>
                    </a:ext>
                  </a:extLst>
                </a:gridCol>
              </a:tblGrid>
              <a:tr h="411480">
                <a:tc>
                  <a:txBody>
                    <a:bodyPr/>
                    <a:lstStyle/>
                    <a:p>
                      <a:pPr algn="ctr"/>
                      <a:r>
                        <a:rPr lang="en-US" dirty="0">
                          <a:solidFill>
                            <a:schemeClr val="tx1"/>
                          </a:solidFill>
                        </a:rPr>
                        <a:t>Sr.</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X</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dirty="0">
                          <a:solidFill>
                            <a:schemeClr val="tx1"/>
                          </a:solidFill>
                        </a:rPr>
                        <a:t>Y</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pPr algn="ctr"/>
                      <a:r>
                        <a:rPr lang="en-US" sz="1900" b="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algn="ctr"/>
                      <a:r>
                        <a:rPr lang="en-US" sz="1900" b="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solidFill>
                            <a:schemeClr val="tx1"/>
                          </a:solidFill>
                        </a:rPr>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algn="ctr"/>
                      <a:r>
                        <a:rPr lang="en-US" sz="1900" b="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algn="ctr"/>
                      <a:r>
                        <a:rPr lang="en-US" sz="1900" b="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algn="ctr"/>
                      <a:r>
                        <a:rPr lang="en-US" sz="1900"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1"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3473975"/>
                  </a:ext>
                </a:extLst>
              </a:tr>
              <a:tr h="411480">
                <a:tc>
                  <a:txBody>
                    <a:bodyPr/>
                    <a:lstStyle/>
                    <a:p>
                      <a:pPr algn="ctr"/>
                      <a:r>
                        <a:rPr lang="en-US" sz="1900" dirty="0"/>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5437047"/>
                  </a:ext>
                </a:extLst>
              </a:tr>
              <a:tr h="411480">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3925765"/>
                  </a:ext>
                </a:extLst>
              </a:tr>
              <a:tr h="411480">
                <a:tc>
                  <a:txBody>
                    <a:bodyPr/>
                    <a:lstStyle/>
                    <a:p>
                      <a:pPr algn="ctr"/>
                      <a:r>
                        <a:rPr lang="en-US" sz="1900" dirty="0"/>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dirty="0"/>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0"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121186"/>
                  </a:ext>
                </a:extLst>
              </a:tr>
              <a:tr h="411480">
                <a:tc>
                  <a:txBody>
                    <a:bodyPr/>
                    <a:lstStyle/>
                    <a:p>
                      <a:pPr algn="ctr"/>
                      <a:r>
                        <a:rPr lang="en-US" sz="1900" dirty="0"/>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900" b="1" dirty="0"/>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b="1"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2010987"/>
                  </a:ext>
                </a:extLst>
              </a:tr>
            </a:tbl>
          </a:graphicData>
        </a:graphic>
      </p:graphicFrame>
      <p:sp>
        <p:nvSpPr>
          <p:cNvPr id="3" name="Oval 2">
            <a:extLst>
              <a:ext uri="{FF2B5EF4-FFF2-40B4-BE49-F238E27FC236}">
                <a16:creationId xmlns:a16="http://schemas.microsoft.com/office/drawing/2014/main" id="{654379C6-77B4-458E-B7C7-E3EDFFBC96F8}"/>
              </a:ext>
            </a:extLst>
          </p:cNvPr>
          <p:cNvSpPr/>
          <p:nvPr/>
        </p:nvSpPr>
        <p:spPr>
          <a:xfrm>
            <a:off x="7904285" y="3789485"/>
            <a:ext cx="149469" cy="211015"/>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7DED9D41-98E5-44AF-9BBD-CF5D9B6519CD}"/>
              </a:ext>
            </a:extLst>
          </p:cNvPr>
          <p:cNvSpPr/>
          <p:nvPr/>
        </p:nvSpPr>
        <p:spPr>
          <a:xfrm>
            <a:off x="5893778" y="3786297"/>
            <a:ext cx="149469" cy="211015"/>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9969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fade">
                                      <p:cBhvr>
                                        <p:cTn id="17" dur="500"/>
                                        <p:tgtEl>
                                          <p:spTgt spid="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fade">
                                      <p:cBhvr>
                                        <p:cTn id="22" dur="500"/>
                                        <p:tgtEl>
                                          <p:spTgt spid="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9DF91-EF7A-8474-2EC7-164A1297B0F1}"/>
              </a:ext>
            </a:extLst>
          </p:cNvPr>
          <p:cNvSpPr>
            <a:spLocks noGrp="1"/>
          </p:cNvSpPr>
          <p:nvPr>
            <p:ph type="title"/>
          </p:nvPr>
        </p:nvSpPr>
        <p:spPr/>
        <p:txBody>
          <a:bodyPr/>
          <a:lstStyle/>
          <a:p>
            <a:r>
              <a:rPr lang="en-US" dirty="0"/>
              <a:t>K-Medoids Example</a:t>
            </a:r>
          </a:p>
        </p:txBody>
      </p:sp>
      <p:sp>
        <p:nvSpPr>
          <p:cNvPr id="4" name="Rectangle 3">
            <a:extLst>
              <a:ext uri="{FF2B5EF4-FFF2-40B4-BE49-F238E27FC236}">
                <a16:creationId xmlns:a16="http://schemas.microsoft.com/office/drawing/2014/main" id="{1B376571-421E-717E-62EA-B5C91D4FB21F}"/>
              </a:ext>
            </a:extLst>
          </p:cNvPr>
          <p:cNvSpPr/>
          <p:nvPr/>
        </p:nvSpPr>
        <p:spPr>
          <a:xfrm>
            <a:off x="715063" y="1122101"/>
            <a:ext cx="11261866" cy="4524315"/>
          </a:xfrm>
          <a:prstGeom prst="rect">
            <a:avLst/>
          </a:prstGeom>
          <a:solidFill>
            <a:schemeClr val="bg1">
              <a:lumMod val="95000"/>
            </a:schemeClr>
          </a:solidFill>
          <a:ln>
            <a:noFill/>
          </a:ln>
        </p:spPr>
        <p:txBody>
          <a:bodyPr wrap="square">
            <a:spAutoFit/>
          </a:bodyPr>
          <a:lstStyle/>
          <a:p>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numpy</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as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267F99"/>
                </a:solidFill>
                <a:latin typeface="Consolas" panose="020B0609020204030204" pitchFamily="49" charset="0"/>
                <a:cs typeface="Consolas" panose="020B0609020204030204" pitchFamily="49" charset="0"/>
              </a:rPr>
              <a:t>np</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matplotlib</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pyplot</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as</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plt</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from</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sklearn</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datasets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795E26"/>
                </a:solidFill>
                <a:latin typeface="Consolas" panose="020B0609020204030204" pitchFamily="49" charset="0"/>
                <a:cs typeface="Consolas" panose="020B0609020204030204" pitchFamily="49" charset="0"/>
              </a:rPr>
              <a:t>make_blobs</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from</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sklearn_extra.cluster</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KMedoids</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y</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795E26"/>
                </a:solidFill>
                <a:latin typeface="Consolas" panose="020B0609020204030204" pitchFamily="49" charset="0"/>
                <a:cs typeface="Consolas" panose="020B0609020204030204" pitchFamily="49" charset="0"/>
              </a:rPr>
              <a:t>make_blobs</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n_samples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300</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centers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3</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random_state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42</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001080"/>
                </a:solidFill>
                <a:latin typeface="Consolas" panose="020B0609020204030204" pitchFamily="49" charset="0"/>
                <a:cs typeface="Consolas" panose="020B0609020204030204" pitchFamily="49" charset="0"/>
              </a:rPr>
              <a:t>kmedoids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KMedoids</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n_clusters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3</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random_state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42</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1080"/>
                </a:solidFill>
                <a:latin typeface="Consolas" panose="020B0609020204030204" pitchFamily="49" charset="0"/>
                <a:cs typeface="Consolas" panose="020B0609020204030204" pitchFamily="49" charset="0"/>
              </a:rPr>
              <a:t>kmedoids</a:t>
            </a:r>
            <a:r>
              <a:rPr lang="en-IN" sz="1600" dirty="0" err="1">
                <a:solidFill>
                  <a:srgbClr val="000000"/>
                </a:solidFill>
                <a:latin typeface="Consolas" panose="020B0609020204030204" pitchFamily="49" charset="0"/>
                <a:cs typeface="Consolas" panose="020B0609020204030204" pitchFamily="49" charset="0"/>
              </a:rPr>
              <a:t>.fit</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1080"/>
                </a:solidFill>
                <a:latin typeface="Consolas" panose="020B0609020204030204" pitchFamily="49" charset="0"/>
                <a:cs typeface="Consolas" panose="020B0609020204030204" pitchFamily="49" charset="0"/>
              </a:rPr>
              <a:t>labels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1080"/>
                </a:solidFill>
                <a:latin typeface="Consolas" panose="020B0609020204030204" pitchFamily="49" charset="0"/>
                <a:cs typeface="Consolas" panose="020B0609020204030204" pitchFamily="49" charset="0"/>
              </a:rPr>
              <a:t>kmedoids</a:t>
            </a:r>
            <a:r>
              <a:rPr lang="en-IN" sz="1600" dirty="0" err="1">
                <a:solidFill>
                  <a:srgbClr val="000000"/>
                </a:solidFill>
                <a:latin typeface="Consolas" panose="020B0609020204030204" pitchFamily="49" charset="0"/>
                <a:cs typeface="Consolas" panose="020B0609020204030204" pitchFamily="49" charset="0"/>
              </a:rPr>
              <a:t>.labels</a:t>
            </a:r>
            <a:r>
              <a:rPr lang="en-IN" sz="1600" dirty="0">
                <a:solidFill>
                  <a:srgbClr val="000000"/>
                </a:solidFill>
                <a:latin typeface="Consolas" panose="020B0609020204030204" pitchFamily="49" charset="0"/>
                <a:cs typeface="Consolas" panose="020B0609020204030204" pitchFamily="49" charset="0"/>
              </a:rPr>
              <a:t>_</a:t>
            </a:r>
          </a:p>
          <a:p>
            <a:r>
              <a:rPr lang="en-IN" sz="1600" dirty="0">
                <a:solidFill>
                  <a:srgbClr val="001080"/>
                </a:solidFill>
                <a:latin typeface="Consolas" panose="020B0609020204030204" pitchFamily="49" charset="0"/>
                <a:cs typeface="Consolas" panose="020B0609020204030204" pitchFamily="49" charset="0"/>
              </a:rPr>
              <a:t>medoids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kmedoids</a:t>
            </a:r>
            <a:r>
              <a:rPr lang="en-IN" sz="1600" dirty="0" err="1">
                <a:solidFill>
                  <a:srgbClr val="000000"/>
                </a:solidFill>
                <a:latin typeface="Consolas" panose="020B0609020204030204" pitchFamily="49" charset="0"/>
                <a:cs typeface="Consolas" panose="020B0609020204030204" pitchFamily="49" charset="0"/>
              </a:rPr>
              <a:t>.medoid_indices</a:t>
            </a:r>
            <a:r>
              <a:rPr lang="en-IN" sz="1600" dirty="0">
                <a:solidFill>
                  <a:srgbClr val="000000"/>
                </a:solidFill>
                <a:latin typeface="Consolas" panose="020B0609020204030204" pitchFamily="49" charset="0"/>
                <a:cs typeface="Consolas" panose="020B0609020204030204" pitchFamily="49" charset="0"/>
              </a:rPr>
              <a:t>_]</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8000"/>
                </a:solidFill>
                <a:latin typeface="Consolas" panose="020B0609020204030204" pitchFamily="49" charset="0"/>
                <a:cs typeface="Consolas" panose="020B0609020204030204" pitchFamily="49" charset="0"/>
              </a:rPr>
              <a:t># Plot results</a:t>
            </a:r>
            <a:endParaRPr lang="en-IN" sz="1600" dirty="0">
              <a:solidFill>
                <a:srgbClr val="000000"/>
              </a:solidFill>
              <a:latin typeface="Consolas" panose="020B0609020204030204" pitchFamily="49" charset="0"/>
              <a:cs typeface="Consolas" panose="020B0609020204030204" pitchFamily="49" charset="0"/>
            </a:endParaRP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scatter</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0</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1</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c</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1080"/>
                </a:solidFill>
                <a:latin typeface="Consolas" panose="020B0609020204030204" pitchFamily="49" charset="0"/>
                <a:cs typeface="Consolas" panose="020B0609020204030204" pitchFamily="49" charset="0"/>
              </a:rPr>
              <a:t>labels</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cmap</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viridis</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alpha</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0.6</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edgecolors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'k'</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scatter</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1080"/>
                </a:solidFill>
                <a:latin typeface="Consolas" panose="020B0609020204030204" pitchFamily="49" charset="0"/>
                <a:cs typeface="Consolas" panose="020B0609020204030204" pitchFamily="49" charset="0"/>
              </a:rPr>
              <a:t>medoids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0</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medoids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1</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c</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'red'</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marker</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200</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label</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'Medoids'</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legend</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savefig</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abc.png</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EE739CAB-E4FF-8669-5A23-6EAF428E5691}"/>
              </a:ext>
            </a:extLst>
          </p:cNvPr>
          <p:cNvSpPr/>
          <p:nvPr/>
        </p:nvSpPr>
        <p:spPr>
          <a:xfrm>
            <a:off x="215071" y="1122101"/>
            <a:ext cx="499993" cy="452431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a:p>
            <a:pPr algn="r"/>
            <a:r>
              <a:rPr lang="en-IN" sz="1600" b="1" dirty="0">
                <a:solidFill>
                  <a:schemeClr val="tx1">
                    <a:lumMod val="75000"/>
                    <a:lumOff val="25000"/>
                  </a:schemeClr>
                </a:solidFill>
                <a:latin typeface="Consolas" panose="020B0609020204030204" pitchFamily="49" charset="0"/>
              </a:rPr>
              <a:t>14</a:t>
            </a:r>
          </a:p>
          <a:p>
            <a:pPr algn="r"/>
            <a:r>
              <a:rPr lang="en-IN" sz="1600" b="1" dirty="0">
                <a:solidFill>
                  <a:schemeClr val="tx1">
                    <a:lumMod val="75000"/>
                    <a:lumOff val="25000"/>
                  </a:schemeClr>
                </a:solidFill>
                <a:latin typeface="Consolas" panose="020B0609020204030204" pitchFamily="49" charset="0"/>
              </a:rPr>
              <a:t>15</a:t>
            </a:r>
          </a:p>
          <a:p>
            <a:pPr algn="r"/>
            <a:r>
              <a:rPr lang="en-IN" sz="1600" b="1" dirty="0">
                <a:solidFill>
                  <a:schemeClr val="tx1">
                    <a:lumMod val="75000"/>
                    <a:lumOff val="25000"/>
                  </a:schemeClr>
                </a:solidFill>
                <a:latin typeface="Consolas" panose="020B0609020204030204" pitchFamily="49" charset="0"/>
              </a:rPr>
              <a:t>16</a:t>
            </a:r>
          </a:p>
          <a:p>
            <a:pPr algn="r"/>
            <a:r>
              <a:rPr lang="en-IN" sz="1600" b="1" dirty="0">
                <a:solidFill>
                  <a:schemeClr val="tx1">
                    <a:lumMod val="75000"/>
                    <a:lumOff val="25000"/>
                  </a:schemeClr>
                </a:solidFill>
                <a:latin typeface="Consolas" panose="020B0609020204030204" pitchFamily="49" charset="0"/>
              </a:rPr>
              <a:t>17</a:t>
            </a:r>
          </a:p>
          <a:p>
            <a:pPr algn="r"/>
            <a:r>
              <a:rPr lang="en-IN" sz="1600" b="1" dirty="0">
                <a:solidFill>
                  <a:schemeClr val="tx1">
                    <a:lumMod val="75000"/>
                    <a:lumOff val="25000"/>
                  </a:schemeClr>
                </a:solidFill>
                <a:latin typeface="Consolas" panose="020B0609020204030204" pitchFamily="49" charset="0"/>
              </a:rPr>
              <a:t>18</a:t>
            </a:r>
          </a:p>
        </p:txBody>
      </p:sp>
      <p:sp>
        <p:nvSpPr>
          <p:cNvPr id="6" name="Rectangle: Top Corners Rounded 6">
            <a:extLst>
              <a:ext uri="{FF2B5EF4-FFF2-40B4-BE49-F238E27FC236}">
                <a16:creationId xmlns:a16="http://schemas.microsoft.com/office/drawing/2014/main" id="{DC33AB87-CEC6-EE16-7345-3B3A09874DDF}"/>
              </a:ext>
            </a:extLst>
          </p:cNvPr>
          <p:cNvSpPr/>
          <p:nvPr/>
        </p:nvSpPr>
        <p:spPr>
          <a:xfrm>
            <a:off x="215071" y="79291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K-</a:t>
            </a:r>
            <a:r>
              <a:rPr lang="en-US" sz="1600" dirty="0" err="1"/>
              <a:t>Medoids</a:t>
            </a:r>
            <a:r>
              <a:rPr lang="en-US" sz="1600" dirty="0" err="1">
                <a:solidFill>
                  <a:schemeClr val="bg1"/>
                </a:solidFill>
              </a:rPr>
              <a:t>.py</a:t>
            </a:r>
            <a:endParaRPr lang="en-US" sz="1600" dirty="0">
              <a:solidFill>
                <a:schemeClr val="bg1"/>
              </a:solidFill>
            </a:endParaRPr>
          </a:p>
        </p:txBody>
      </p:sp>
    </p:spTree>
    <p:extLst>
      <p:ext uri="{BB962C8B-B14F-4D97-AF65-F5344CB8AC3E}">
        <p14:creationId xmlns:p14="http://schemas.microsoft.com/office/powerpoint/2010/main" val="370623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8D-51E0-457B-7EF4-F5B207215456}"/>
              </a:ext>
            </a:extLst>
          </p:cNvPr>
          <p:cNvSpPr>
            <a:spLocks noGrp="1"/>
          </p:cNvSpPr>
          <p:nvPr>
            <p:ph type="title"/>
          </p:nvPr>
        </p:nvSpPr>
        <p:spPr/>
        <p:txBody>
          <a:bodyPr/>
          <a:lstStyle/>
          <a:p>
            <a:r>
              <a:rPr lang="en-US" dirty="0"/>
              <a:t>K-Medoids Example</a:t>
            </a:r>
          </a:p>
        </p:txBody>
      </p:sp>
      <p:pic>
        <p:nvPicPr>
          <p:cNvPr id="4" name="Picture 3">
            <a:extLst>
              <a:ext uri="{FF2B5EF4-FFF2-40B4-BE49-F238E27FC236}">
                <a16:creationId xmlns:a16="http://schemas.microsoft.com/office/drawing/2014/main" id="{C45A7638-7F3D-0E66-8E46-CFD8914EE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711" y="711201"/>
            <a:ext cx="5842000" cy="4381500"/>
          </a:xfrm>
          <a:prstGeom prst="rect">
            <a:avLst/>
          </a:prstGeom>
        </p:spPr>
      </p:pic>
    </p:spTree>
    <p:extLst>
      <p:ext uri="{BB962C8B-B14F-4D97-AF65-F5344CB8AC3E}">
        <p14:creationId xmlns:p14="http://schemas.microsoft.com/office/powerpoint/2010/main" val="132528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BBFC-64F1-B0B4-D3B3-DF6F8728E1AB}"/>
              </a:ext>
            </a:extLst>
          </p:cNvPr>
          <p:cNvSpPr>
            <a:spLocks noGrp="1"/>
          </p:cNvSpPr>
          <p:nvPr>
            <p:ph type="title"/>
          </p:nvPr>
        </p:nvSpPr>
        <p:spPr/>
        <p:txBody>
          <a:bodyPr>
            <a:normAutofit/>
          </a:bodyPr>
          <a:lstStyle/>
          <a:p>
            <a:r>
              <a:rPr lang="en-US" dirty="0"/>
              <a:t>Hierarchical methods  </a:t>
            </a:r>
          </a:p>
        </p:txBody>
      </p:sp>
      <p:sp>
        <p:nvSpPr>
          <p:cNvPr id="3" name="Content Placeholder 2">
            <a:extLst>
              <a:ext uri="{FF2B5EF4-FFF2-40B4-BE49-F238E27FC236}">
                <a16:creationId xmlns:a16="http://schemas.microsoft.com/office/drawing/2014/main" id="{9D0233B0-ED66-6EF2-2DAE-4A3C6981E607}"/>
              </a:ext>
            </a:extLst>
          </p:cNvPr>
          <p:cNvSpPr>
            <a:spLocks noGrp="1"/>
          </p:cNvSpPr>
          <p:nvPr>
            <p:ph idx="1"/>
          </p:nvPr>
        </p:nvSpPr>
        <p:spPr/>
        <p:txBody>
          <a:bodyPr/>
          <a:lstStyle/>
          <a:p>
            <a:r>
              <a:rPr lang="en-US" dirty="0"/>
              <a:t>A hierarchical method creates a </a:t>
            </a:r>
            <a:r>
              <a:rPr lang="en-US" dirty="0">
                <a:solidFill>
                  <a:srgbClr val="C00000"/>
                </a:solidFill>
              </a:rPr>
              <a:t>hierarchical decomposition </a:t>
            </a:r>
            <a:r>
              <a:rPr lang="en-US" dirty="0"/>
              <a:t>of the </a:t>
            </a:r>
            <a:r>
              <a:rPr lang="en-US" dirty="0">
                <a:solidFill>
                  <a:srgbClr val="C00000"/>
                </a:solidFill>
              </a:rPr>
              <a:t>given set of data objects</a:t>
            </a:r>
            <a:r>
              <a:rPr lang="en-US" dirty="0"/>
              <a:t>.</a:t>
            </a:r>
          </a:p>
          <a:p>
            <a:r>
              <a:rPr lang="en-US" dirty="0"/>
              <a:t>A hierarchical clustering method works by </a:t>
            </a:r>
            <a:r>
              <a:rPr lang="en-US" dirty="0">
                <a:solidFill>
                  <a:srgbClr val="C00000"/>
                </a:solidFill>
              </a:rPr>
              <a:t>grouping data objects into a hierarchy or “tree” </a:t>
            </a:r>
            <a:r>
              <a:rPr lang="en-US" dirty="0"/>
              <a:t>of clusters. </a:t>
            </a:r>
          </a:p>
          <a:p>
            <a:r>
              <a:rPr lang="en-US" dirty="0"/>
              <a:t>Representing data objects in the form of a </a:t>
            </a:r>
            <a:r>
              <a:rPr lang="en-US" dirty="0">
                <a:solidFill>
                  <a:srgbClr val="C00000"/>
                </a:solidFill>
              </a:rPr>
              <a:t>hierarchy is useful for data summarization </a:t>
            </a:r>
            <a:r>
              <a:rPr lang="en-US" dirty="0"/>
              <a:t>and visualization. </a:t>
            </a:r>
          </a:p>
          <a:p>
            <a:r>
              <a:rPr lang="en-US" dirty="0"/>
              <a:t>A hierarchical method can be classified as being either </a:t>
            </a:r>
            <a:r>
              <a:rPr lang="en-US" dirty="0">
                <a:solidFill>
                  <a:srgbClr val="C00000"/>
                </a:solidFill>
              </a:rPr>
              <a:t>agglomerative</a:t>
            </a:r>
            <a:r>
              <a:rPr lang="en-US" dirty="0"/>
              <a:t> or </a:t>
            </a:r>
            <a:r>
              <a:rPr lang="en-US" dirty="0">
                <a:solidFill>
                  <a:srgbClr val="C00000"/>
                </a:solidFill>
              </a:rPr>
              <a:t>divisive</a:t>
            </a:r>
            <a:r>
              <a:rPr lang="en-US" dirty="0"/>
              <a:t>, based on how the hierarchical </a:t>
            </a:r>
            <a:r>
              <a:rPr lang="en-US" dirty="0">
                <a:solidFill>
                  <a:srgbClr val="C00000"/>
                </a:solidFill>
              </a:rPr>
              <a:t>decomposition is formed</a:t>
            </a:r>
            <a:r>
              <a:rPr lang="en-US" dirty="0"/>
              <a:t>. </a:t>
            </a:r>
          </a:p>
          <a:p>
            <a:r>
              <a:rPr lang="en-IN" dirty="0"/>
              <a:t>Hierarchical clustering methods can face challenges when it </a:t>
            </a:r>
            <a:r>
              <a:rPr lang="en-IN" dirty="0">
                <a:solidFill>
                  <a:srgbClr val="C00000"/>
                </a:solidFill>
              </a:rPr>
              <a:t>comes to deciding</a:t>
            </a:r>
            <a:r>
              <a:rPr lang="en-IN" dirty="0"/>
              <a:t> when to </a:t>
            </a:r>
            <a:r>
              <a:rPr lang="en-IN" dirty="0">
                <a:solidFill>
                  <a:srgbClr val="C00000"/>
                </a:solidFill>
              </a:rPr>
              <a:t>combine or separate groups </a:t>
            </a:r>
            <a:r>
              <a:rPr lang="en-IN" dirty="0"/>
              <a:t>of objects.</a:t>
            </a:r>
          </a:p>
          <a:p>
            <a:r>
              <a:rPr lang="en-IN" dirty="0"/>
              <a:t>This choice is </a:t>
            </a:r>
            <a:r>
              <a:rPr lang="en-IN" dirty="0">
                <a:solidFill>
                  <a:srgbClr val="C00000"/>
                </a:solidFill>
              </a:rPr>
              <a:t>vital because once this action is taken</a:t>
            </a:r>
            <a:r>
              <a:rPr lang="en-IN" dirty="0"/>
              <a:t>, it sets the </a:t>
            </a:r>
            <a:r>
              <a:rPr lang="en-IN" dirty="0">
                <a:solidFill>
                  <a:srgbClr val="C00000"/>
                </a:solidFill>
              </a:rPr>
              <a:t>stage for subsequent clustering steps.</a:t>
            </a:r>
          </a:p>
          <a:p>
            <a:r>
              <a:rPr lang="en-IN" dirty="0"/>
              <a:t>Importantly, these methods </a:t>
            </a:r>
            <a:r>
              <a:rPr lang="en-IN" dirty="0">
                <a:solidFill>
                  <a:srgbClr val="C00000"/>
                </a:solidFill>
              </a:rPr>
              <a:t>cannot reverse previous </a:t>
            </a:r>
            <a:r>
              <a:rPr lang="en-IN" dirty="0"/>
              <a:t>actions </a:t>
            </a:r>
            <a:r>
              <a:rPr lang="en-IN" dirty="0">
                <a:solidFill>
                  <a:srgbClr val="C00000"/>
                </a:solidFill>
              </a:rPr>
              <a:t>or swap objects between clusters</a:t>
            </a:r>
            <a:r>
              <a:rPr lang="en-IN" dirty="0"/>
              <a:t>.  </a:t>
            </a:r>
            <a:endParaRPr lang="en-US" dirty="0"/>
          </a:p>
          <a:p>
            <a:r>
              <a:rPr lang="en-IN" dirty="0"/>
              <a:t>Therefore, if the decisions to </a:t>
            </a:r>
            <a:r>
              <a:rPr lang="en-IN" dirty="0">
                <a:solidFill>
                  <a:srgbClr val="C00000"/>
                </a:solidFill>
              </a:rPr>
              <a:t>combine or separate are not made wisely</a:t>
            </a:r>
            <a:r>
              <a:rPr lang="en-IN" dirty="0"/>
              <a:t>.</a:t>
            </a:r>
            <a:endParaRPr lang="en-US" dirty="0"/>
          </a:p>
          <a:p>
            <a:endParaRPr lang="en-US" dirty="0"/>
          </a:p>
        </p:txBody>
      </p:sp>
    </p:spTree>
    <p:extLst>
      <p:ext uri="{BB962C8B-B14F-4D97-AF65-F5344CB8AC3E}">
        <p14:creationId xmlns:p14="http://schemas.microsoft.com/office/powerpoint/2010/main" val="14424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41161-3468-B7A5-6D92-EBE52F501F6B}"/>
              </a:ext>
            </a:extLst>
          </p:cNvPr>
          <p:cNvSpPr>
            <a:spLocks noGrp="1"/>
          </p:cNvSpPr>
          <p:nvPr>
            <p:ph type="title"/>
          </p:nvPr>
        </p:nvSpPr>
        <p:spPr/>
        <p:txBody>
          <a:bodyPr/>
          <a:lstStyle/>
          <a:p>
            <a:r>
              <a:rPr lang="en-US" dirty="0"/>
              <a:t>Agglomerative approach vs Divisive approach</a:t>
            </a:r>
          </a:p>
        </p:txBody>
      </p:sp>
      <p:sp>
        <p:nvSpPr>
          <p:cNvPr id="3" name="Content Placeholder 2">
            <a:extLst>
              <a:ext uri="{FF2B5EF4-FFF2-40B4-BE49-F238E27FC236}">
                <a16:creationId xmlns:a16="http://schemas.microsoft.com/office/drawing/2014/main" id="{04EE0E9F-5886-9276-C923-215D4F488A27}"/>
              </a:ext>
            </a:extLst>
          </p:cNvPr>
          <p:cNvSpPr>
            <a:spLocks noGrp="1"/>
          </p:cNvSpPr>
          <p:nvPr>
            <p:ph idx="1"/>
          </p:nvPr>
        </p:nvSpPr>
        <p:spPr>
          <a:xfrm>
            <a:off x="131181" y="863444"/>
            <a:ext cx="4829440" cy="5578501"/>
          </a:xfrm>
        </p:spPr>
        <p:txBody>
          <a:bodyPr/>
          <a:lstStyle/>
          <a:p>
            <a:r>
              <a:rPr lang="en-US" dirty="0"/>
              <a:t>Agglomerative approach(AGNES):</a:t>
            </a:r>
          </a:p>
          <a:p>
            <a:pPr lvl="1"/>
            <a:r>
              <a:rPr lang="en-US" dirty="0"/>
              <a:t>It also called </a:t>
            </a:r>
            <a:r>
              <a:rPr lang="en-US" dirty="0">
                <a:solidFill>
                  <a:srgbClr val="C00000"/>
                </a:solidFill>
              </a:rPr>
              <a:t>bottom-up approach</a:t>
            </a:r>
            <a:r>
              <a:rPr lang="en-US" dirty="0"/>
              <a:t>.</a:t>
            </a:r>
          </a:p>
          <a:p>
            <a:pPr lvl="1"/>
            <a:r>
              <a:rPr lang="en-IN" dirty="0"/>
              <a:t>It starts with each object forming a </a:t>
            </a:r>
            <a:r>
              <a:rPr lang="en-IN" dirty="0">
                <a:solidFill>
                  <a:srgbClr val="C00000"/>
                </a:solidFill>
              </a:rPr>
              <a:t>separate group</a:t>
            </a:r>
            <a:r>
              <a:rPr lang="en-IN" dirty="0"/>
              <a:t>.</a:t>
            </a:r>
          </a:p>
          <a:p>
            <a:pPr lvl="1"/>
            <a:r>
              <a:rPr lang="en-IN" dirty="0"/>
              <a:t>It </a:t>
            </a:r>
            <a:r>
              <a:rPr lang="en-IN" dirty="0">
                <a:solidFill>
                  <a:srgbClr val="C00000"/>
                </a:solidFill>
              </a:rPr>
              <a:t>successively merges </a:t>
            </a:r>
            <a:r>
              <a:rPr lang="en-IN" dirty="0"/>
              <a:t>the </a:t>
            </a:r>
            <a:r>
              <a:rPr lang="en-IN" dirty="0">
                <a:solidFill>
                  <a:srgbClr val="C00000"/>
                </a:solidFill>
              </a:rPr>
              <a:t>objects or groups </a:t>
            </a:r>
            <a:r>
              <a:rPr lang="en-IN" dirty="0"/>
              <a:t>close to </a:t>
            </a:r>
            <a:r>
              <a:rPr lang="en-IN" dirty="0">
                <a:solidFill>
                  <a:srgbClr val="C00000"/>
                </a:solidFill>
              </a:rPr>
              <a:t>one another</a:t>
            </a:r>
            <a:r>
              <a:rPr lang="en-IN" dirty="0"/>
              <a:t>, until all the groups are merged into one (the topmost level of the hierarchy), or a </a:t>
            </a:r>
            <a:r>
              <a:rPr lang="en-IN" dirty="0">
                <a:solidFill>
                  <a:srgbClr val="C00000"/>
                </a:solidFill>
              </a:rPr>
              <a:t>termination condition holds</a:t>
            </a:r>
            <a:r>
              <a:rPr lang="en-IN" dirty="0"/>
              <a:t>. </a:t>
            </a:r>
          </a:p>
          <a:p>
            <a:r>
              <a:rPr lang="en-US" dirty="0"/>
              <a:t>Divisive approach(DIANA):</a:t>
            </a:r>
          </a:p>
          <a:p>
            <a:pPr lvl="1"/>
            <a:r>
              <a:rPr lang="en-US" dirty="0"/>
              <a:t>It also called </a:t>
            </a:r>
            <a:r>
              <a:rPr lang="en-US" dirty="0">
                <a:solidFill>
                  <a:srgbClr val="C00000"/>
                </a:solidFill>
              </a:rPr>
              <a:t>top-down approach</a:t>
            </a:r>
            <a:r>
              <a:rPr lang="en-US" dirty="0"/>
              <a:t>.</a:t>
            </a:r>
          </a:p>
          <a:p>
            <a:pPr lvl="1"/>
            <a:r>
              <a:rPr lang="en-US" dirty="0"/>
              <a:t>It starts with all the objects in the </a:t>
            </a:r>
            <a:r>
              <a:rPr lang="en-US" dirty="0">
                <a:solidFill>
                  <a:srgbClr val="C00000"/>
                </a:solidFill>
              </a:rPr>
              <a:t>same cluster</a:t>
            </a:r>
            <a:r>
              <a:rPr lang="en-US" dirty="0"/>
              <a:t>. </a:t>
            </a:r>
          </a:p>
          <a:p>
            <a:pPr lvl="1"/>
            <a:r>
              <a:rPr lang="en-US" dirty="0"/>
              <a:t>In each </a:t>
            </a:r>
            <a:r>
              <a:rPr lang="en-US" dirty="0">
                <a:solidFill>
                  <a:srgbClr val="C00000"/>
                </a:solidFill>
              </a:rPr>
              <a:t>successive iteration</a:t>
            </a:r>
            <a:r>
              <a:rPr lang="en-US" dirty="0"/>
              <a:t>, a cluster is split into </a:t>
            </a:r>
            <a:r>
              <a:rPr lang="en-US" dirty="0">
                <a:solidFill>
                  <a:srgbClr val="C00000"/>
                </a:solidFill>
              </a:rPr>
              <a:t>smaller clusters</a:t>
            </a:r>
            <a:r>
              <a:rPr lang="en-US" dirty="0"/>
              <a:t>, until eventually each object is in </a:t>
            </a:r>
            <a:r>
              <a:rPr lang="en-US" dirty="0">
                <a:solidFill>
                  <a:srgbClr val="C00000"/>
                </a:solidFill>
              </a:rPr>
              <a:t>one cluster</a:t>
            </a:r>
            <a:r>
              <a:rPr lang="en-US" dirty="0"/>
              <a:t>, or a </a:t>
            </a:r>
            <a:r>
              <a:rPr lang="en-US" dirty="0">
                <a:solidFill>
                  <a:srgbClr val="C00000"/>
                </a:solidFill>
              </a:rPr>
              <a:t>termination condition holds</a:t>
            </a:r>
            <a:r>
              <a:rPr lang="en-US" dirty="0"/>
              <a:t>. </a:t>
            </a:r>
          </a:p>
          <a:p>
            <a:endParaRPr lang="en-US" dirty="0"/>
          </a:p>
        </p:txBody>
      </p:sp>
      <p:grpSp>
        <p:nvGrpSpPr>
          <p:cNvPr id="4" name="Group 4">
            <a:extLst>
              <a:ext uri="{FF2B5EF4-FFF2-40B4-BE49-F238E27FC236}">
                <a16:creationId xmlns:a16="http://schemas.microsoft.com/office/drawing/2014/main" id="{D3B5AD33-C8D6-61B4-F498-EBF2E3B7FF57}"/>
              </a:ext>
            </a:extLst>
          </p:cNvPr>
          <p:cNvGrpSpPr>
            <a:grpSpLocks/>
          </p:cNvGrpSpPr>
          <p:nvPr/>
        </p:nvGrpSpPr>
        <p:grpSpPr bwMode="auto">
          <a:xfrm>
            <a:off x="5051611" y="1463040"/>
            <a:ext cx="7140389" cy="3649663"/>
            <a:chOff x="1200" y="1776"/>
            <a:chExt cx="4336" cy="2299"/>
          </a:xfrm>
        </p:grpSpPr>
        <p:sp>
          <p:nvSpPr>
            <p:cNvPr id="5" name="Line 5">
              <a:extLst>
                <a:ext uri="{FF2B5EF4-FFF2-40B4-BE49-F238E27FC236}">
                  <a16:creationId xmlns:a16="http://schemas.microsoft.com/office/drawing/2014/main" id="{DAAF3DF4-D566-382F-EFFF-FCCE8FCF9305}"/>
                </a:ext>
              </a:extLst>
            </p:cNvPr>
            <p:cNvSpPr>
              <a:spLocks noChangeShapeType="1"/>
            </p:cNvSpPr>
            <p:nvPr/>
          </p:nvSpPr>
          <p:spPr bwMode="auto">
            <a:xfrm>
              <a:off x="1200" y="2112"/>
              <a:ext cx="32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6" name="Group 6">
              <a:extLst>
                <a:ext uri="{FF2B5EF4-FFF2-40B4-BE49-F238E27FC236}">
                  <a16:creationId xmlns:a16="http://schemas.microsoft.com/office/drawing/2014/main" id="{04704A86-DE7D-F49C-7A19-20CA29A0B9A0}"/>
                </a:ext>
              </a:extLst>
            </p:cNvPr>
            <p:cNvGrpSpPr>
              <a:grpSpLocks/>
            </p:cNvGrpSpPr>
            <p:nvPr/>
          </p:nvGrpSpPr>
          <p:grpSpPr bwMode="auto">
            <a:xfrm>
              <a:off x="1440" y="1785"/>
              <a:ext cx="480" cy="327"/>
              <a:chOff x="1104" y="1785"/>
              <a:chExt cx="480" cy="327"/>
            </a:xfrm>
          </p:grpSpPr>
          <p:sp>
            <p:nvSpPr>
              <p:cNvPr id="58" name="Line 7">
                <a:extLst>
                  <a:ext uri="{FF2B5EF4-FFF2-40B4-BE49-F238E27FC236}">
                    <a16:creationId xmlns:a16="http://schemas.microsoft.com/office/drawing/2014/main" id="{C4FC68E5-6A48-E2E7-FC00-7FED6A09491D}"/>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Text Box 8">
                <a:extLst>
                  <a:ext uri="{FF2B5EF4-FFF2-40B4-BE49-F238E27FC236}">
                    <a16:creationId xmlns:a16="http://schemas.microsoft.com/office/drawing/2014/main" id="{331197A1-31CE-AB97-4F81-D00579CE7295}"/>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0</a:t>
                </a:r>
                <a:endParaRPr lang="en-US" altLang="zh-CN" sz="2400">
                  <a:latin typeface="+mn-lt"/>
                  <a:ea typeface="SimSun" panose="02010600030101010101" pitchFamily="2" charset="-122"/>
                </a:endParaRPr>
              </a:p>
            </p:txBody>
          </p:sp>
        </p:grpSp>
        <p:grpSp>
          <p:nvGrpSpPr>
            <p:cNvPr id="7" name="Group 9">
              <a:extLst>
                <a:ext uri="{FF2B5EF4-FFF2-40B4-BE49-F238E27FC236}">
                  <a16:creationId xmlns:a16="http://schemas.microsoft.com/office/drawing/2014/main" id="{32EB8155-3784-EF44-7FE1-F2410A1B99A6}"/>
                </a:ext>
              </a:extLst>
            </p:cNvPr>
            <p:cNvGrpSpPr>
              <a:grpSpLocks/>
            </p:cNvGrpSpPr>
            <p:nvPr/>
          </p:nvGrpSpPr>
          <p:grpSpPr bwMode="auto">
            <a:xfrm>
              <a:off x="1968" y="1776"/>
              <a:ext cx="480" cy="327"/>
              <a:chOff x="1104" y="1785"/>
              <a:chExt cx="480" cy="327"/>
            </a:xfrm>
          </p:grpSpPr>
          <p:sp>
            <p:nvSpPr>
              <p:cNvPr id="56" name="Line 10">
                <a:extLst>
                  <a:ext uri="{FF2B5EF4-FFF2-40B4-BE49-F238E27FC236}">
                    <a16:creationId xmlns:a16="http://schemas.microsoft.com/office/drawing/2014/main" id="{92C22B0E-32F6-F54D-3F44-8150F78ACF61}"/>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Text Box 11">
                <a:extLst>
                  <a:ext uri="{FF2B5EF4-FFF2-40B4-BE49-F238E27FC236}">
                    <a16:creationId xmlns:a16="http://schemas.microsoft.com/office/drawing/2014/main" id="{FF3B68E5-25B6-A9E3-9C42-E7301029F0AF}"/>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dirty="0">
                    <a:latin typeface="+mn-lt"/>
                    <a:ea typeface="SimSun" panose="02010600030101010101" pitchFamily="2" charset="-122"/>
                  </a:rPr>
                  <a:t>Step 1</a:t>
                </a:r>
                <a:endParaRPr lang="en-US" altLang="zh-CN" sz="2400" dirty="0">
                  <a:latin typeface="+mn-lt"/>
                  <a:ea typeface="SimSun" panose="02010600030101010101" pitchFamily="2" charset="-122"/>
                </a:endParaRPr>
              </a:p>
            </p:txBody>
          </p:sp>
        </p:grpSp>
        <p:grpSp>
          <p:nvGrpSpPr>
            <p:cNvPr id="8" name="Group 12">
              <a:extLst>
                <a:ext uri="{FF2B5EF4-FFF2-40B4-BE49-F238E27FC236}">
                  <a16:creationId xmlns:a16="http://schemas.microsoft.com/office/drawing/2014/main" id="{7DE1E612-7FA8-8DA0-B97C-6B1635CCDF91}"/>
                </a:ext>
              </a:extLst>
            </p:cNvPr>
            <p:cNvGrpSpPr>
              <a:grpSpLocks/>
            </p:cNvGrpSpPr>
            <p:nvPr/>
          </p:nvGrpSpPr>
          <p:grpSpPr bwMode="auto">
            <a:xfrm>
              <a:off x="2496" y="1776"/>
              <a:ext cx="480" cy="327"/>
              <a:chOff x="1104" y="1785"/>
              <a:chExt cx="480" cy="327"/>
            </a:xfrm>
          </p:grpSpPr>
          <p:sp>
            <p:nvSpPr>
              <p:cNvPr id="54" name="Line 13">
                <a:extLst>
                  <a:ext uri="{FF2B5EF4-FFF2-40B4-BE49-F238E27FC236}">
                    <a16:creationId xmlns:a16="http://schemas.microsoft.com/office/drawing/2014/main" id="{1B2D830F-5BE9-FABC-0B67-7A9F39E5C740}"/>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Text Box 14">
                <a:extLst>
                  <a:ext uri="{FF2B5EF4-FFF2-40B4-BE49-F238E27FC236}">
                    <a16:creationId xmlns:a16="http://schemas.microsoft.com/office/drawing/2014/main" id="{F23C232F-E134-910F-9820-FE260C4EF15C}"/>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2</a:t>
                </a:r>
                <a:endParaRPr lang="en-US" altLang="zh-CN" sz="2400">
                  <a:latin typeface="+mn-lt"/>
                  <a:ea typeface="SimSun" panose="02010600030101010101" pitchFamily="2" charset="-122"/>
                </a:endParaRPr>
              </a:p>
            </p:txBody>
          </p:sp>
        </p:grpSp>
        <p:grpSp>
          <p:nvGrpSpPr>
            <p:cNvPr id="9" name="Group 15">
              <a:extLst>
                <a:ext uri="{FF2B5EF4-FFF2-40B4-BE49-F238E27FC236}">
                  <a16:creationId xmlns:a16="http://schemas.microsoft.com/office/drawing/2014/main" id="{6922D8D0-38CE-4919-EE8F-C8165E7B745C}"/>
                </a:ext>
              </a:extLst>
            </p:cNvPr>
            <p:cNvGrpSpPr>
              <a:grpSpLocks/>
            </p:cNvGrpSpPr>
            <p:nvPr/>
          </p:nvGrpSpPr>
          <p:grpSpPr bwMode="auto">
            <a:xfrm>
              <a:off x="2976" y="1776"/>
              <a:ext cx="480" cy="327"/>
              <a:chOff x="1104" y="1785"/>
              <a:chExt cx="480" cy="327"/>
            </a:xfrm>
          </p:grpSpPr>
          <p:sp>
            <p:nvSpPr>
              <p:cNvPr id="52" name="Line 16">
                <a:extLst>
                  <a:ext uri="{FF2B5EF4-FFF2-40B4-BE49-F238E27FC236}">
                    <a16:creationId xmlns:a16="http://schemas.microsoft.com/office/drawing/2014/main" id="{ED076808-3290-5CB2-07CB-C1FE2E3ED957}"/>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Text Box 17">
                <a:extLst>
                  <a:ext uri="{FF2B5EF4-FFF2-40B4-BE49-F238E27FC236}">
                    <a16:creationId xmlns:a16="http://schemas.microsoft.com/office/drawing/2014/main" id="{027C46D0-4291-7E28-2586-384183E4D601}"/>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dirty="0">
                    <a:latin typeface="+mn-lt"/>
                    <a:ea typeface="SimSun" panose="02010600030101010101" pitchFamily="2" charset="-122"/>
                  </a:rPr>
                  <a:t>Step 3</a:t>
                </a:r>
                <a:endParaRPr lang="en-US" altLang="zh-CN" sz="2400" dirty="0">
                  <a:latin typeface="+mn-lt"/>
                  <a:ea typeface="SimSun" panose="02010600030101010101" pitchFamily="2" charset="-122"/>
                </a:endParaRPr>
              </a:p>
            </p:txBody>
          </p:sp>
        </p:grpSp>
        <p:grpSp>
          <p:nvGrpSpPr>
            <p:cNvPr id="10" name="Group 18">
              <a:extLst>
                <a:ext uri="{FF2B5EF4-FFF2-40B4-BE49-F238E27FC236}">
                  <a16:creationId xmlns:a16="http://schemas.microsoft.com/office/drawing/2014/main" id="{A5DB6CDD-CC3B-8FF6-0288-226E1DCA4916}"/>
                </a:ext>
              </a:extLst>
            </p:cNvPr>
            <p:cNvGrpSpPr>
              <a:grpSpLocks/>
            </p:cNvGrpSpPr>
            <p:nvPr/>
          </p:nvGrpSpPr>
          <p:grpSpPr bwMode="auto">
            <a:xfrm>
              <a:off x="3456" y="1776"/>
              <a:ext cx="480" cy="327"/>
              <a:chOff x="1104" y="1785"/>
              <a:chExt cx="480" cy="327"/>
            </a:xfrm>
          </p:grpSpPr>
          <p:sp>
            <p:nvSpPr>
              <p:cNvPr id="50" name="Line 19">
                <a:extLst>
                  <a:ext uri="{FF2B5EF4-FFF2-40B4-BE49-F238E27FC236}">
                    <a16:creationId xmlns:a16="http://schemas.microsoft.com/office/drawing/2014/main" id="{8720B33C-4EAB-F635-2415-5A2FBE883FF0}"/>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Text Box 20">
                <a:extLst>
                  <a:ext uri="{FF2B5EF4-FFF2-40B4-BE49-F238E27FC236}">
                    <a16:creationId xmlns:a16="http://schemas.microsoft.com/office/drawing/2014/main" id="{177F6777-9527-5416-31ED-3AC28EF67727}"/>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4</a:t>
                </a:r>
                <a:endParaRPr lang="en-US" altLang="zh-CN" sz="2400">
                  <a:latin typeface="+mn-lt"/>
                  <a:ea typeface="SimSun" panose="02010600030101010101" pitchFamily="2" charset="-122"/>
                </a:endParaRPr>
              </a:p>
            </p:txBody>
          </p:sp>
        </p:grpSp>
        <p:sp>
          <p:nvSpPr>
            <p:cNvPr id="11" name="Text Box 21">
              <a:extLst>
                <a:ext uri="{FF2B5EF4-FFF2-40B4-BE49-F238E27FC236}">
                  <a16:creationId xmlns:a16="http://schemas.microsoft.com/office/drawing/2014/main" id="{677149B3-91AA-ED26-921C-28515CE098C8}"/>
                </a:ext>
              </a:extLst>
            </p:cNvPr>
            <p:cNvSpPr txBox="1">
              <a:spLocks noChangeArrowheads="1"/>
            </p:cNvSpPr>
            <p:nvPr/>
          </p:nvSpPr>
          <p:spPr bwMode="auto">
            <a:xfrm>
              <a:off x="1440" y="25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b</a:t>
              </a:r>
            </a:p>
          </p:txBody>
        </p:sp>
        <p:sp>
          <p:nvSpPr>
            <p:cNvPr id="12" name="Text Box 22">
              <a:extLst>
                <a:ext uri="{FF2B5EF4-FFF2-40B4-BE49-F238E27FC236}">
                  <a16:creationId xmlns:a16="http://schemas.microsoft.com/office/drawing/2014/main" id="{C57AFE94-4F1E-F6C3-DBD4-E47D27357D31}"/>
                </a:ext>
              </a:extLst>
            </p:cNvPr>
            <p:cNvSpPr txBox="1">
              <a:spLocks noChangeArrowheads="1"/>
            </p:cNvSpPr>
            <p:nvPr/>
          </p:nvSpPr>
          <p:spPr bwMode="auto">
            <a:xfrm>
              <a:off x="1440" y="31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d</a:t>
              </a:r>
            </a:p>
          </p:txBody>
        </p:sp>
        <p:sp>
          <p:nvSpPr>
            <p:cNvPr id="13" name="Text Box 23">
              <a:extLst>
                <a:ext uri="{FF2B5EF4-FFF2-40B4-BE49-F238E27FC236}">
                  <a16:creationId xmlns:a16="http://schemas.microsoft.com/office/drawing/2014/main" id="{14AF39A1-AB9C-A54F-45FF-AC333FC46EB1}"/>
                </a:ext>
              </a:extLst>
            </p:cNvPr>
            <p:cNvSpPr txBox="1">
              <a:spLocks noChangeArrowheads="1"/>
            </p:cNvSpPr>
            <p:nvPr/>
          </p:nvSpPr>
          <p:spPr bwMode="auto">
            <a:xfrm>
              <a:off x="1440" y="28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c</a:t>
              </a:r>
            </a:p>
          </p:txBody>
        </p:sp>
        <p:sp>
          <p:nvSpPr>
            <p:cNvPr id="14" name="Text Box 24">
              <a:extLst>
                <a:ext uri="{FF2B5EF4-FFF2-40B4-BE49-F238E27FC236}">
                  <a16:creationId xmlns:a16="http://schemas.microsoft.com/office/drawing/2014/main" id="{B8EA8A09-A37D-F4D4-0DCE-365BAAAE3456}"/>
                </a:ext>
              </a:extLst>
            </p:cNvPr>
            <p:cNvSpPr txBox="1">
              <a:spLocks noChangeArrowheads="1"/>
            </p:cNvSpPr>
            <p:nvPr/>
          </p:nvSpPr>
          <p:spPr bwMode="auto">
            <a:xfrm>
              <a:off x="1440" y="34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e</a:t>
              </a:r>
            </a:p>
          </p:txBody>
        </p:sp>
        <p:sp>
          <p:nvSpPr>
            <p:cNvPr id="15" name="Text Box 25">
              <a:extLst>
                <a:ext uri="{FF2B5EF4-FFF2-40B4-BE49-F238E27FC236}">
                  <a16:creationId xmlns:a16="http://schemas.microsoft.com/office/drawing/2014/main" id="{DEE7EBA1-B094-D8DF-BF37-E81D1ED13B97}"/>
                </a:ext>
              </a:extLst>
            </p:cNvPr>
            <p:cNvSpPr txBox="1">
              <a:spLocks noChangeArrowheads="1"/>
            </p:cNvSpPr>
            <p:nvPr/>
          </p:nvSpPr>
          <p:spPr bwMode="auto">
            <a:xfrm>
              <a:off x="1440" y="22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a</a:t>
              </a:r>
            </a:p>
          </p:txBody>
        </p:sp>
        <p:sp>
          <p:nvSpPr>
            <p:cNvPr id="16" name="Oval 26">
              <a:extLst>
                <a:ext uri="{FF2B5EF4-FFF2-40B4-BE49-F238E27FC236}">
                  <a16:creationId xmlns:a16="http://schemas.microsoft.com/office/drawing/2014/main" id="{2D43F370-516D-3F57-99C2-5FBABE6F3345}"/>
                </a:ext>
              </a:extLst>
            </p:cNvPr>
            <p:cNvSpPr>
              <a:spLocks noChangeArrowheads="1"/>
            </p:cNvSpPr>
            <p:nvPr/>
          </p:nvSpPr>
          <p:spPr bwMode="auto">
            <a:xfrm>
              <a:off x="1392" y="225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17" name="Oval 27">
              <a:extLst>
                <a:ext uri="{FF2B5EF4-FFF2-40B4-BE49-F238E27FC236}">
                  <a16:creationId xmlns:a16="http://schemas.microsoft.com/office/drawing/2014/main" id="{8AC2176A-90D9-CA43-A4E7-D25245E052B8}"/>
                </a:ext>
              </a:extLst>
            </p:cNvPr>
            <p:cNvSpPr>
              <a:spLocks noChangeArrowheads="1"/>
            </p:cNvSpPr>
            <p:nvPr/>
          </p:nvSpPr>
          <p:spPr bwMode="auto">
            <a:xfrm>
              <a:off x="1392" y="2544"/>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18" name="Oval 28">
              <a:extLst>
                <a:ext uri="{FF2B5EF4-FFF2-40B4-BE49-F238E27FC236}">
                  <a16:creationId xmlns:a16="http://schemas.microsoft.com/office/drawing/2014/main" id="{36456D46-2340-A903-22EB-33DC3222BC35}"/>
                </a:ext>
              </a:extLst>
            </p:cNvPr>
            <p:cNvSpPr>
              <a:spLocks noChangeArrowheads="1"/>
            </p:cNvSpPr>
            <p:nvPr/>
          </p:nvSpPr>
          <p:spPr bwMode="auto">
            <a:xfrm>
              <a:off x="1392" y="283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19" name="Oval 29">
              <a:extLst>
                <a:ext uri="{FF2B5EF4-FFF2-40B4-BE49-F238E27FC236}">
                  <a16:creationId xmlns:a16="http://schemas.microsoft.com/office/drawing/2014/main" id="{4BAA6462-D608-BEE3-4E45-0B00DA5AE59A}"/>
                </a:ext>
              </a:extLst>
            </p:cNvPr>
            <p:cNvSpPr>
              <a:spLocks noChangeArrowheads="1"/>
            </p:cNvSpPr>
            <p:nvPr/>
          </p:nvSpPr>
          <p:spPr bwMode="auto">
            <a:xfrm>
              <a:off x="1392" y="312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0" name="Oval 30">
              <a:extLst>
                <a:ext uri="{FF2B5EF4-FFF2-40B4-BE49-F238E27FC236}">
                  <a16:creationId xmlns:a16="http://schemas.microsoft.com/office/drawing/2014/main" id="{58EA181E-07F4-AB19-2948-CFA3D18DCF78}"/>
                </a:ext>
              </a:extLst>
            </p:cNvPr>
            <p:cNvSpPr>
              <a:spLocks noChangeArrowheads="1"/>
            </p:cNvSpPr>
            <p:nvPr/>
          </p:nvSpPr>
          <p:spPr bwMode="auto">
            <a:xfrm>
              <a:off x="1392"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1" name="Text Box 31">
              <a:extLst>
                <a:ext uri="{FF2B5EF4-FFF2-40B4-BE49-F238E27FC236}">
                  <a16:creationId xmlns:a16="http://schemas.microsoft.com/office/drawing/2014/main" id="{906CC322-001C-1C11-2DC0-57211E1CA20C}"/>
                </a:ext>
              </a:extLst>
            </p:cNvPr>
            <p:cNvSpPr txBox="1">
              <a:spLocks noChangeArrowheads="1"/>
            </p:cNvSpPr>
            <p:nvPr/>
          </p:nvSpPr>
          <p:spPr bwMode="auto">
            <a:xfrm>
              <a:off x="1968" y="2304"/>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dirty="0">
                  <a:latin typeface="+mn-lt"/>
                  <a:ea typeface="SimSun" panose="02010600030101010101" pitchFamily="2" charset="-122"/>
                </a:rPr>
                <a:t>a b</a:t>
              </a:r>
            </a:p>
          </p:txBody>
        </p:sp>
        <p:sp>
          <p:nvSpPr>
            <p:cNvPr id="22" name="Oval 32">
              <a:extLst>
                <a:ext uri="{FF2B5EF4-FFF2-40B4-BE49-F238E27FC236}">
                  <a16:creationId xmlns:a16="http://schemas.microsoft.com/office/drawing/2014/main" id="{06315D7E-3063-1390-D037-6BDF4FF92A91}"/>
                </a:ext>
              </a:extLst>
            </p:cNvPr>
            <p:cNvSpPr>
              <a:spLocks noChangeArrowheads="1"/>
            </p:cNvSpPr>
            <p:nvPr/>
          </p:nvSpPr>
          <p:spPr bwMode="auto">
            <a:xfrm>
              <a:off x="1872" y="2352"/>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3" name="Text Box 33">
              <a:extLst>
                <a:ext uri="{FF2B5EF4-FFF2-40B4-BE49-F238E27FC236}">
                  <a16:creationId xmlns:a16="http://schemas.microsoft.com/office/drawing/2014/main" id="{41BFAC0E-4F59-30E1-4318-3590B02CF1B9}"/>
                </a:ext>
              </a:extLst>
            </p:cNvPr>
            <p:cNvSpPr txBox="1">
              <a:spLocks noChangeArrowheads="1"/>
            </p:cNvSpPr>
            <p:nvPr/>
          </p:nvSpPr>
          <p:spPr bwMode="auto">
            <a:xfrm>
              <a:off x="2496" y="3216"/>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d e</a:t>
              </a:r>
            </a:p>
          </p:txBody>
        </p:sp>
        <p:sp>
          <p:nvSpPr>
            <p:cNvPr id="24" name="Oval 34">
              <a:extLst>
                <a:ext uri="{FF2B5EF4-FFF2-40B4-BE49-F238E27FC236}">
                  <a16:creationId xmlns:a16="http://schemas.microsoft.com/office/drawing/2014/main" id="{BAD6C65C-36D9-923B-7863-F878421AD06A}"/>
                </a:ext>
              </a:extLst>
            </p:cNvPr>
            <p:cNvSpPr>
              <a:spLocks noChangeArrowheads="1"/>
            </p:cNvSpPr>
            <p:nvPr/>
          </p:nvSpPr>
          <p:spPr bwMode="auto">
            <a:xfrm>
              <a:off x="2400" y="3264"/>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5" name="Text Box 35">
              <a:extLst>
                <a:ext uri="{FF2B5EF4-FFF2-40B4-BE49-F238E27FC236}">
                  <a16:creationId xmlns:a16="http://schemas.microsoft.com/office/drawing/2014/main" id="{A11A99ED-50E2-D536-D744-5D34C04E6873}"/>
                </a:ext>
              </a:extLst>
            </p:cNvPr>
            <p:cNvSpPr txBox="1">
              <a:spLocks noChangeArrowheads="1"/>
            </p:cNvSpPr>
            <p:nvPr/>
          </p:nvSpPr>
          <p:spPr bwMode="auto">
            <a:xfrm>
              <a:off x="2880" y="2928"/>
              <a:ext cx="4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c d e</a:t>
              </a:r>
            </a:p>
          </p:txBody>
        </p:sp>
        <p:sp>
          <p:nvSpPr>
            <p:cNvPr id="26" name="Oval 36">
              <a:extLst>
                <a:ext uri="{FF2B5EF4-FFF2-40B4-BE49-F238E27FC236}">
                  <a16:creationId xmlns:a16="http://schemas.microsoft.com/office/drawing/2014/main" id="{5F6A3F48-CC65-CD91-C428-7B96843E70FF}"/>
                </a:ext>
              </a:extLst>
            </p:cNvPr>
            <p:cNvSpPr>
              <a:spLocks noChangeArrowheads="1"/>
            </p:cNvSpPr>
            <p:nvPr/>
          </p:nvSpPr>
          <p:spPr bwMode="auto">
            <a:xfrm>
              <a:off x="2784" y="2928"/>
              <a:ext cx="62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7" name="Text Box 37">
              <a:extLst>
                <a:ext uri="{FF2B5EF4-FFF2-40B4-BE49-F238E27FC236}">
                  <a16:creationId xmlns:a16="http://schemas.microsoft.com/office/drawing/2014/main" id="{9217CC8C-EA3D-7FDA-4423-EE964AB292DB}"/>
                </a:ext>
              </a:extLst>
            </p:cNvPr>
            <p:cNvSpPr txBox="1">
              <a:spLocks noChangeArrowheads="1"/>
            </p:cNvSpPr>
            <p:nvPr/>
          </p:nvSpPr>
          <p:spPr bwMode="auto">
            <a:xfrm>
              <a:off x="3216" y="2592"/>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400">
                  <a:latin typeface="+mn-lt"/>
                  <a:ea typeface="SimSun" panose="02010600030101010101" pitchFamily="2" charset="-122"/>
                </a:rPr>
                <a:t>a b c d e</a:t>
              </a:r>
            </a:p>
          </p:txBody>
        </p:sp>
        <p:sp>
          <p:nvSpPr>
            <p:cNvPr id="28" name="Oval 38">
              <a:extLst>
                <a:ext uri="{FF2B5EF4-FFF2-40B4-BE49-F238E27FC236}">
                  <a16:creationId xmlns:a16="http://schemas.microsoft.com/office/drawing/2014/main" id="{662AB5E4-CA32-A6A1-FD39-106206D9304A}"/>
                </a:ext>
              </a:extLst>
            </p:cNvPr>
            <p:cNvSpPr>
              <a:spLocks noChangeArrowheads="1"/>
            </p:cNvSpPr>
            <p:nvPr/>
          </p:nvSpPr>
          <p:spPr bwMode="auto">
            <a:xfrm>
              <a:off x="3120" y="2592"/>
              <a:ext cx="1008"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mn-lt"/>
              </a:endParaRPr>
            </a:p>
          </p:txBody>
        </p:sp>
        <p:sp>
          <p:nvSpPr>
            <p:cNvPr id="29" name="Line 39">
              <a:extLst>
                <a:ext uri="{FF2B5EF4-FFF2-40B4-BE49-F238E27FC236}">
                  <a16:creationId xmlns:a16="http://schemas.microsoft.com/office/drawing/2014/main" id="{5046CE6D-3E04-EA83-A6A7-6AE227473A9C}"/>
                </a:ext>
              </a:extLst>
            </p:cNvPr>
            <p:cNvSpPr>
              <a:spLocks noChangeShapeType="1"/>
            </p:cNvSpPr>
            <p:nvPr/>
          </p:nvSpPr>
          <p:spPr bwMode="auto">
            <a:xfrm>
              <a:off x="1200" y="3753"/>
              <a:ext cx="321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40">
              <a:extLst>
                <a:ext uri="{FF2B5EF4-FFF2-40B4-BE49-F238E27FC236}">
                  <a16:creationId xmlns:a16="http://schemas.microsoft.com/office/drawing/2014/main" id="{4133B8C7-55C9-49EA-01AA-2EC2D681119D}"/>
                </a:ext>
              </a:extLst>
            </p:cNvPr>
            <p:cNvSpPr>
              <a:spLocks noChangeShapeType="1"/>
            </p:cNvSpPr>
            <p:nvPr/>
          </p:nvSpPr>
          <p:spPr bwMode="auto">
            <a:xfrm flipH="1">
              <a:off x="1536" y="3753"/>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41">
              <a:extLst>
                <a:ext uri="{FF2B5EF4-FFF2-40B4-BE49-F238E27FC236}">
                  <a16:creationId xmlns:a16="http://schemas.microsoft.com/office/drawing/2014/main" id="{AE2A8902-A425-6C74-5686-2AB65B9F8C1D}"/>
                </a:ext>
              </a:extLst>
            </p:cNvPr>
            <p:cNvSpPr txBox="1">
              <a:spLocks noChangeArrowheads="1"/>
            </p:cNvSpPr>
            <p:nvPr/>
          </p:nvSpPr>
          <p:spPr bwMode="auto">
            <a:xfrm>
              <a:off x="1440" y="38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4</a:t>
              </a:r>
              <a:endParaRPr lang="en-US" altLang="zh-CN" sz="2400">
                <a:latin typeface="+mn-lt"/>
                <a:ea typeface="SimSun" panose="02010600030101010101" pitchFamily="2" charset="-122"/>
              </a:endParaRPr>
            </a:p>
          </p:txBody>
        </p:sp>
        <p:sp>
          <p:nvSpPr>
            <p:cNvPr id="32" name="Line 42">
              <a:extLst>
                <a:ext uri="{FF2B5EF4-FFF2-40B4-BE49-F238E27FC236}">
                  <a16:creationId xmlns:a16="http://schemas.microsoft.com/office/drawing/2014/main" id="{9069BFF0-11E5-1F6A-FF55-7E0D3276CD4F}"/>
                </a:ext>
              </a:extLst>
            </p:cNvPr>
            <p:cNvSpPr>
              <a:spLocks noChangeShapeType="1"/>
            </p:cNvSpPr>
            <p:nvPr/>
          </p:nvSpPr>
          <p:spPr bwMode="auto">
            <a:xfrm flipH="1">
              <a:off x="2064"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Text Box 43">
              <a:extLst>
                <a:ext uri="{FF2B5EF4-FFF2-40B4-BE49-F238E27FC236}">
                  <a16:creationId xmlns:a16="http://schemas.microsoft.com/office/drawing/2014/main" id="{A6749F6A-659E-4D6B-62D9-570AD6DC071C}"/>
                </a:ext>
              </a:extLst>
            </p:cNvPr>
            <p:cNvSpPr txBox="1">
              <a:spLocks noChangeArrowheads="1"/>
            </p:cNvSpPr>
            <p:nvPr/>
          </p:nvSpPr>
          <p:spPr bwMode="auto">
            <a:xfrm>
              <a:off x="1968"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3</a:t>
              </a:r>
              <a:endParaRPr lang="en-US" altLang="zh-CN" sz="2400">
                <a:latin typeface="+mn-lt"/>
                <a:ea typeface="SimSun" panose="02010600030101010101" pitchFamily="2" charset="-122"/>
              </a:endParaRPr>
            </a:p>
          </p:txBody>
        </p:sp>
        <p:sp>
          <p:nvSpPr>
            <p:cNvPr id="34" name="Line 44">
              <a:extLst>
                <a:ext uri="{FF2B5EF4-FFF2-40B4-BE49-F238E27FC236}">
                  <a16:creationId xmlns:a16="http://schemas.microsoft.com/office/drawing/2014/main" id="{8F45E76D-6C33-FEFD-F2BB-CADE7CC0D724}"/>
                </a:ext>
              </a:extLst>
            </p:cNvPr>
            <p:cNvSpPr>
              <a:spLocks noChangeShapeType="1"/>
            </p:cNvSpPr>
            <p:nvPr/>
          </p:nvSpPr>
          <p:spPr bwMode="auto">
            <a:xfrm flipH="1">
              <a:off x="259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Text Box 45">
              <a:extLst>
                <a:ext uri="{FF2B5EF4-FFF2-40B4-BE49-F238E27FC236}">
                  <a16:creationId xmlns:a16="http://schemas.microsoft.com/office/drawing/2014/main" id="{E3791A37-F7DC-CE8C-E0B4-960A6391484B}"/>
                </a:ext>
              </a:extLst>
            </p:cNvPr>
            <p:cNvSpPr txBox="1">
              <a:spLocks noChangeArrowheads="1"/>
            </p:cNvSpPr>
            <p:nvPr/>
          </p:nvSpPr>
          <p:spPr bwMode="auto">
            <a:xfrm>
              <a:off x="249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2</a:t>
              </a:r>
              <a:endParaRPr lang="en-US" altLang="zh-CN" sz="2400">
                <a:latin typeface="+mn-lt"/>
                <a:ea typeface="SimSun" panose="02010600030101010101" pitchFamily="2" charset="-122"/>
              </a:endParaRPr>
            </a:p>
          </p:txBody>
        </p:sp>
        <p:sp>
          <p:nvSpPr>
            <p:cNvPr id="36" name="Line 46">
              <a:extLst>
                <a:ext uri="{FF2B5EF4-FFF2-40B4-BE49-F238E27FC236}">
                  <a16:creationId xmlns:a16="http://schemas.microsoft.com/office/drawing/2014/main" id="{F1CC3C64-BE6B-6E21-05C5-7A986AA3168A}"/>
                </a:ext>
              </a:extLst>
            </p:cNvPr>
            <p:cNvSpPr>
              <a:spLocks noChangeShapeType="1"/>
            </p:cNvSpPr>
            <p:nvPr/>
          </p:nvSpPr>
          <p:spPr bwMode="auto">
            <a:xfrm flipH="1">
              <a:off x="307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Text Box 47">
              <a:extLst>
                <a:ext uri="{FF2B5EF4-FFF2-40B4-BE49-F238E27FC236}">
                  <a16:creationId xmlns:a16="http://schemas.microsoft.com/office/drawing/2014/main" id="{43EB8672-C556-8803-A337-092ECAF8188F}"/>
                </a:ext>
              </a:extLst>
            </p:cNvPr>
            <p:cNvSpPr txBox="1">
              <a:spLocks noChangeArrowheads="1"/>
            </p:cNvSpPr>
            <p:nvPr/>
          </p:nvSpPr>
          <p:spPr bwMode="auto">
            <a:xfrm>
              <a:off x="297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1</a:t>
              </a:r>
              <a:endParaRPr lang="en-US" altLang="zh-CN" sz="2400">
                <a:latin typeface="+mn-lt"/>
                <a:ea typeface="SimSun" panose="02010600030101010101" pitchFamily="2" charset="-122"/>
              </a:endParaRPr>
            </a:p>
          </p:txBody>
        </p:sp>
        <p:sp>
          <p:nvSpPr>
            <p:cNvPr id="38" name="Line 48">
              <a:extLst>
                <a:ext uri="{FF2B5EF4-FFF2-40B4-BE49-F238E27FC236}">
                  <a16:creationId xmlns:a16="http://schemas.microsoft.com/office/drawing/2014/main" id="{2B8D2C6B-0BDF-5C54-76BB-95599574FBC0}"/>
                </a:ext>
              </a:extLst>
            </p:cNvPr>
            <p:cNvSpPr>
              <a:spLocks noChangeShapeType="1"/>
            </p:cNvSpPr>
            <p:nvPr/>
          </p:nvSpPr>
          <p:spPr bwMode="auto">
            <a:xfrm flipH="1">
              <a:off x="355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Text Box 49">
              <a:extLst>
                <a:ext uri="{FF2B5EF4-FFF2-40B4-BE49-F238E27FC236}">
                  <a16:creationId xmlns:a16="http://schemas.microsoft.com/office/drawing/2014/main" id="{A28CA09F-DDC2-C75C-D184-FAC06D95C3D4}"/>
                </a:ext>
              </a:extLst>
            </p:cNvPr>
            <p:cNvSpPr txBox="1">
              <a:spLocks noChangeArrowheads="1"/>
            </p:cNvSpPr>
            <p:nvPr/>
          </p:nvSpPr>
          <p:spPr bwMode="auto">
            <a:xfrm>
              <a:off x="345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a:latin typeface="+mn-lt"/>
                  <a:ea typeface="SimSun" panose="02010600030101010101" pitchFamily="2" charset="-122"/>
                </a:rPr>
                <a:t>Step 0</a:t>
              </a:r>
              <a:endParaRPr lang="en-US" altLang="zh-CN" sz="2400">
                <a:latin typeface="+mn-lt"/>
                <a:ea typeface="SimSun" panose="02010600030101010101" pitchFamily="2" charset="-122"/>
              </a:endParaRPr>
            </a:p>
          </p:txBody>
        </p:sp>
        <p:sp>
          <p:nvSpPr>
            <p:cNvPr id="40" name="Line 50">
              <a:extLst>
                <a:ext uri="{FF2B5EF4-FFF2-40B4-BE49-F238E27FC236}">
                  <a16:creationId xmlns:a16="http://schemas.microsoft.com/office/drawing/2014/main" id="{BE912262-52FC-08A1-8A0C-7CBB044558EC}"/>
                </a:ext>
              </a:extLst>
            </p:cNvPr>
            <p:cNvSpPr>
              <a:spLocks noChangeShapeType="1"/>
            </p:cNvSpPr>
            <p:nvPr/>
          </p:nvSpPr>
          <p:spPr bwMode="auto">
            <a:xfrm>
              <a:off x="1680" y="2352"/>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51">
              <a:extLst>
                <a:ext uri="{FF2B5EF4-FFF2-40B4-BE49-F238E27FC236}">
                  <a16:creationId xmlns:a16="http://schemas.microsoft.com/office/drawing/2014/main" id="{89175857-6659-2B10-45DB-07544E42A41A}"/>
                </a:ext>
              </a:extLst>
            </p:cNvPr>
            <p:cNvSpPr>
              <a:spLocks noChangeShapeType="1"/>
            </p:cNvSpPr>
            <p:nvPr/>
          </p:nvSpPr>
          <p:spPr bwMode="auto">
            <a:xfrm flipV="1">
              <a:off x="1680" y="244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52">
              <a:extLst>
                <a:ext uri="{FF2B5EF4-FFF2-40B4-BE49-F238E27FC236}">
                  <a16:creationId xmlns:a16="http://schemas.microsoft.com/office/drawing/2014/main" id="{63AB7AB2-1333-4D8B-CD59-A69F1080A498}"/>
                </a:ext>
              </a:extLst>
            </p:cNvPr>
            <p:cNvSpPr>
              <a:spLocks noChangeShapeType="1"/>
            </p:cNvSpPr>
            <p:nvPr/>
          </p:nvSpPr>
          <p:spPr bwMode="auto">
            <a:xfrm>
              <a:off x="1680" y="3216"/>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53">
              <a:extLst>
                <a:ext uri="{FF2B5EF4-FFF2-40B4-BE49-F238E27FC236}">
                  <a16:creationId xmlns:a16="http://schemas.microsoft.com/office/drawing/2014/main" id="{FFA0CBE9-28F8-F158-C1CB-C278CB7E6167}"/>
                </a:ext>
              </a:extLst>
            </p:cNvPr>
            <p:cNvSpPr>
              <a:spLocks noChangeShapeType="1"/>
            </p:cNvSpPr>
            <p:nvPr/>
          </p:nvSpPr>
          <p:spPr bwMode="auto">
            <a:xfrm flipV="1">
              <a:off x="1680" y="3360"/>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54">
              <a:extLst>
                <a:ext uri="{FF2B5EF4-FFF2-40B4-BE49-F238E27FC236}">
                  <a16:creationId xmlns:a16="http://schemas.microsoft.com/office/drawing/2014/main" id="{280B8471-1D2B-C620-963C-C6D65D525F6D}"/>
                </a:ext>
              </a:extLst>
            </p:cNvPr>
            <p:cNvSpPr>
              <a:spLocks noChangeShapeType="1"/>
            </p:cNvSpPr>
            <p:nvPr/>
          </p:nvSpPr>
          <p:spPr bwMode="auto">
            <a:xfrm>
              <a:off x="1680" y="2976"/>
              <a:ext cx="110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55">
              <a:extLst>
                <a:ext uri="{FF2B5EF4-FFF2-40B4-BE49-F238E27FC236}">
                  <a16:creationId xmlns:a16="http://schemas.microsoft.com/office/drawing/2014/main" id="{335867D8-B5C9-8905-F66A-65B5FC513A69}"/>
                </a:ext>
              </a:extLst>
            </p:cNvPr>
            <p:cNvSpPr>
              <a:spLocks noChangeShapeType="1"/>
            </p:cNvSpPr>
            <p:nvPr/>
          </p:nvSpPr>
          <p:spPr bwMode="auto">
            <a:xfrm flipV="1">
              <a:off x="2688" y="3072"/>
              <a:ext cx="9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56">
              <a:extLst>
                <a:ext uri="{FF2B5EF4-FFF2-40B4-BE49-F238E27FC236}">
                  <a16:creationId xmlns:a16="http://schemas.microsoft.com/office/drawing/2014/main" id="{C9783F8A-013C-133A-3093-117293A5A0D9}"/>
                </a:ext>
              </a:extLst>
            </p:cNvPr>
            <p:cNvSpPr>
              <a:spLocks noChangeShapeType="1"/>
            </p:cNvSpPr>
            <p:nvPr/>
          </p:nvSpPr>
          <p:spPr bwMode="auto">
            <a:xfrm>
              <a:off x="2400" y="2496"/>
              <a:ext cx="72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57">
              <a:extLst>
                <a:ext uri="{FF2B5EF4-FFF2-40B4-BE49-F238E27FC236}">
                  <a16:creationId xmlns:a16="http://schemas.microsoft.com/office/drawing/2014/main" id="{B5549C8E-72E6-B49E-423F-7E4E46C1DB42}"/>
                </a:ext>
              </a:extLst>
            </p:cNvPr>
            <p:cNvSpPr>
              <a:spLocks noChangeShapeType="1"/>
            </p:cNvSpPr>
            <p:nvPr/>
          </p:nvSpPr>
          <p:spPr bwMode="auto">
            <a:xfrm flipV="1">
              <a:off x="3072" y="2736"/>
              <a:ext cx="4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58">
              <a:extLst>
                <a:ext uri="{FF2B5EF4-FFF2-40B4-BE49-F238E27FC236}">
                  <a16:creationId xmlns:a16="http://schemas.microsoft.com/office/drawing/2014/main" id="{8767F63B-68E3-C854-1F8F-3BA112B306FC}"/>
                </a:ext>
              </a:extLst>
            </p:cNvPr>
            <p:cNvSpPr txBox="1">
              <a:spLocks noChangeArrowheads="1"/>
            </p:cNvSpPr>
            <p:nvPr/>
          </p:nvSpPr>
          <p:spPr bwMode="auto">
            <a:xfrm>
              <a:off x="4352" y="1824"/>
              <a:ext cx="118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b="1" dirty="0">
                  <a:latin typeface="+mn-lt"/>
                  <a:ea typeface="SimSun" panose="02010600030101010101" pitchFamily="2" charset="-122"/>
                </a:rPr>
                <a:t>agglomerative</a:t>
              </a:r>
            </a:p>
            <a:p>
              <a:pPr algn="ctr">
                <a:spcBef>
                  <a:spcPct val="0"/>
                </a:spcBef>
                <a:buClrTx/>
                <a:buSzTx/>
                <a:buFontTx/>
                <a:buNone/>
              </a:pPr>
              <a:r>
                <a:rPr lang="en-US" altLang="zh-CN" sz="2400" b="1" dirty="0">
                  <a:latin typeface="+mn-lt"/>
                  <a:ea typeface="SimSun" panose="02010600030101010101" pitchFamily="2" charset="-122"/>
                </a:rPr>
                <a:t>(AGNES)</a:t>
              </a:r>
            </a:p>
          </p:txBody>
        </p:sp>
        <p:sp>
          <p:nvSpPr>
            <p:cNvPr id="49" name="Text Box 59">
              <a:extLst>
                <a:ext uri="{FF2B5EF4-FFF2-40B4-BE49-F238E27FC236}">
                  <a16:creationId xmlns:a16="http://schemas.microsoft.com/office/drawing/2014/main" id="{4094ADC7-2AF7-87B5-636F-ABA7D147D0DB}"/>
                </a:ext>
              </a:extLst>
            </p:cNvPr>
            <p:cNvSpPr txBox="1">
              <a:spLocks noChangeArrowheads="1"/>
            </p:cNvSpPr>
            <p:nvPr/>
          </p:nvSpPr>
          <p:spPr bwMode="auto">
            <a:xfrm>
              <a:off x="4475" y="3552"/>
              <a:ext cx="72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b="1">
                  <a:latin typeface="+mn-lt"/>
                  <a:ea typeface="SimSun" panose="02010600030101010101" pitchFamily="2" charset="-122"/>
                </a:rPr>
                <a:t>divisive</a:t>
              </a:r>
            </a:p>
            <a:p>
              <a:pPr algn="ctr">
                <a:spcBef>
                  <a:spcPct val="0"/>
                </a:spcBef>
                <a:buClrTx/>
                <a:buSzTx/>
                <a:buFontTx/>
                <a:buNone/>
              </a:pPr>
              <a:r>
                <a:rPr lang="en-US" altLang="zh-CN" sz="2400" b="1">
                  <a:latin typeface="+mn-lt"/>
                  <a:ea typeface="SimSun" panose="02010600030101010101" pitchFamily="2" charset="-122"/>
                </a:rPr>
                <a:t>(DIANA)</a:t>
              </a:r>
              <a:endParaRPr lang="en-US" altLang="zh-CN" sz="2400">
                <a:latin typeface="+mn-lt"/>
                <a:ea typeface="SimSun" panose="02010600030101010101" pitchFamily="2" charset="-122"/>
              </a:endParaRPr>
            </a:p>
          </p:txBody>
        </p:sp>
      </p:grpSp>
    </p:spTree>
    <p:extLst>
      <p:ext uri="{BB962C8B-B14F-4D97-AF65-F5344CB8AC3E}">
        <p14:creationId xmlns:p14="http://schemas.microsoft.com/office/powerpoint/2010/main" val="103341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2732C-9F95-889D-286F-3872D56FA990}"/>
              </a:ext>
            </a:extLst>
          </p:cNvPr>
          <p:cNvSpPr>
            <a:spLocks noGrp="1"/>
          </p:cNvSpPr>
          <p:nvPr>
            <p:ph type="title"/>
          </p:nvPr>
        </p:nvSpPr>
        <p:spPr/>
        <p:txBody>
          <a:bodyPr>
            <a:normAutofit/>
          </a:bodyPr>
          <a:lstStyle/>
          <a:p>
            <a:r>
              <a:rPr lang="en-US" dirty="0"/>
              <a:t>Dendrogram: Shows How Clusters are Merged</a:t>
            </a:r>
          </a:p>
        </p:txBody>
      </p:sp>
      <p:grpSp>
        <p:nvGrpSpPr>
          <p:cNvPr id="48" name="Group 47">
            <a:extLst>
              <a:ext uri="{FF2B5EF4-FFF2-40B4-BE49-F238E27FC236}">
                <a16:creationId xmlns:a16="http://schemas.microsoft.com/office/drawing/2014/main" id="{9D21FD82-66B0-149C-1BC4-C6A60E670143}"/>
              </a:ext>
            </a:extLst>
          </p:cNvPr>
          <p:cNvGrpSpPr/>
          <p:nvPr/>
        </p:nvGrpSpPr>
        <p:grpSpPr>
          <a:xfrm>
            <a:off x="5300532" y="920470"/>
            <a:ext cx="6505839" cy="5158378"/>
            <a:chOff x="4183380" y="880109"/>
            <a:chExt cx="8686800" cy="5715000"/>
          </a:xfrm>
        </p:grpSpPr>
        <p:sp>
          <p:nvSpPr>
            <p:cNvPr id="4" name="Oval 2">
              <a:extLst>
                <a:ext uri="{FF2B5EF4-FFF2-40B4-BE49-F238E27FC236}">
                  <a16:creationId xmlns:a16="http://schemas.microsoft.com/office/drawing/2014/main" id="{5632B189-C8AF-3EC3-DDF7-C20FC88DFE29}"/>
                </a:ext>
              </a:extLst>
            </p:cNvPr>
            <p:cNvSpPr>
              <a:spLocks noChangeArrowheads="1"/>
            </p:cNvSpPr>
            <p:nvPr/>
          </p:nvSpPr>
          <p:spPr bwMode="auto">
            <a:xfrm>
              <a:off x="119557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 name="Oval 3">
              <a:extLst>
                <a:ext uri="{FF2B5EF4-FFF2-40B4-BE49-F238E27FC236}">
                  <a16:creationId xmlns:a16="http://schemas.microsoft.com/office/drawing/2014/main" id="{E4CD71AC-927D-7FF4-00F9-893AA86BD2F7}"/>
                </a:ext>
              </a:extLst>
            </p:cNvPr>
            <p:cNvSpPr>
              <a:spLocks noChangeArrowheads="1"/>
            </p:cNvSpPr>
            <p:nvPr/>
          </p:nvSpPr>
          <p:spPr bwMode="auto">
            <a:xfrm>
              <a:off x="108889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6" name="Oval 4">
              <a:extLst>
                <a:ext uri="{FF2B5EF4-FFF2-40B4-BE49-F238E27FC236}">
                  <a16:creationId xmlns:a16="http://schemas.microsoft.com/office/drawing/2014/main" id="{E3B8B32C-694D-A780-0857-91D4C68B0D58}"/>
                </a:ext>
              </a:extLst>
            </p:cNvPr>
            <p:cNvSpPr>
              <a:spLocks noChangeArrowheads="1"/>
            </p:cNvSpPr>
            <p:nvPr/>
          </p:nvSpPr>
          <p:spPr bwMode="auto">
            <a:xfrm>
              <a:off x="98983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7" name="Oval 5">
              <a:extLst>
                <a:ext uri="{FF2B5EF4-FFF2-40B4-BE49-F238E27FC236}">
                  <a16:creationId xmlns:a16="http://schemas.microsoft.com/office/drawing/2014/main" id="{1E824889-996C-1FC7-32B4-C4D7C0B76DCB}"/>
                </a:ext>
              </a:extLst>
            </p:cNvPr>
            <p:cNvSpPr>
              <a:spLocks noChangeArrowheads="1"/>
            </p:cNvSpPr>
            <p:nvPr/>
          </p:nvSpPr>
          <p:spPr bwMode="auto">
            <a:xfrm>
              <a:off x="89839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8" name="Oval 6">
              <a:extLst>
                <a:ext uri="{FF2B5EF4-FFF2-40B4-BE49-F238E27FC236}">
                  <a16:creationId xmlns:a16="http://schemas.microsoft.com/office/drawing/2014/main" id="{5026E62C-CC5C-1FBC-3B03-B143321ECF80}"/>
                </a:ext>
              </a:extLst>
            </p:cNvPr>
            <p:cNvSpPr>
              <a:spLocks noChangeArrowheads="1"/>
            </p:cNvSpPr>
            <p:nvPr/>
          </p:nvSpPr>
          <p:spPr bwMode="auto">
            <a:xfrm>
              <a:off x="79933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9" name="Oval 7">
              <a:extLst>
                <a:ext uri="{FF2B5EF4-FFF2-40B4-BE49-F238E27FC236}">
                  <a16:creationId xmlns:a16="http://schemas.microsoft.com/office/drawing/2014/main" id="{E97F13AD-FF4B-8C12-016C-802930C4E53C}"/>
                </a:ext>
              </a:extLst>
            </p:cNvPr>
            <p:cNvSpPr>
              <a:spLocks noChangeArrowheads="1"/>
            </p:cNvSpPr>
            <p:nvPr/>
          </p:nvSpPr>
          <p:spPr bwMode="auto">
            <a:xfrm>
              <a:off x="70027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0" name="Oval 8">
              <a:extLst>
                <a:ext uri="{FF2B5EF4-FFF2-40B4-BE49-F238E27FC236}">
                  <a16:creationId xmlns:a16="http://schemas.microsoft.com/office/drawing/2014/main" id="{015E7F2C-571D-191B-2C09-086D241AFFD1}"/>
                </a:ext>
              </a:extLst>
            </p:cNvPr>
            <p:cNvSpPr>
              <a:spLocks noChangeArrowheads="1"/>
            </p:cNvSpPr>
            <p:nvPr/>
          </p:nvSpPr>
          <p:spPr bwMode="auto">
            <a:xfrm>
              <a:off x="60883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1" name="Oval 9">
              <a:extLst>
                <a:ext uri="{FF2B5EF4-FFF2-40B4-BE49-F238E27FC236}">
                  <a16:creationId xmlns:a16="http://schemas.microsoft.com/office/drawing/2014/main" id="{AE003F90-5795-4F95-8B84-1A277FB83D35}"/>
                </a:ext>
              </a:extLst>
            </p:cNvPr>
            <p:cNvSpPr>
              <a:spLocks noChangeArrowheads="1"/>
            </p:cNvSpPr>
            <p:nvPr/>
          </p:nvSpPr>
          <p:spPr bwMode="auto">
            <a:xfrm>
              <a:off x="50977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2" name="Oval 10">
              <a:extLst>
                <a:ext uri="{FF2B5EF4-FFF2-40B4-BE49-F238E27FC236}">
                  <a16:creationId xmlns:a16="http://schemas.microsoft.com/office/drawing/2014/main" id="{6D0DF978-3ADE-506E-8F88-A2F3ADA1EB84}"/>
                </a:ext>
              </a:extLst>
            </p:cNvPr>
            <p:cNvSpPr>
              <a:spLocks noChangeArrowheads="1"/>
            </p:cNvSpPr>
            <p:nvPr/>
          </p:nvSpPr>
          <p:spPr bwMode="auto">
            <a:xfrm>
              <a:off x="4183380" y="5604509"/>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3" name="Line 11">
              <a:extLst>
                <a:ext uri="{FF2B5EF4-FFF2-40B4-BE49-F238E27FC236}">
                  <a16:creationId xmlns:a16="http://schemas.microsoft.com/office/drawing/2014/main" id="{E6703679-7850-F4EE-0E8E-10A67B2E01B8}"/>
                </a:ext>
              </a:extLst>
            </p:cNvPr>
            <p:cNvSpPr>
              <a:spLocks noChangeShapeType="1"/>
            </p:cNvSpPr>
            <p:nvPr/>
          </p:nvSpPr>
          <p:spPr bwMode="auto">
            <a:xfrm>
              <a:off x="4259580" y="4766309"/>
              <a:ext cx="91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2">
              <a:extLst>
                <a:ext uri="{FF2B5EF4-FFF2-40B4-BE49-F238E27FC236}">
                  <a16:creationId xmlns:a16="http://schemas.microsoft.com/office/drawing/2014/main" id="{1DCCD0CB-254B-8875-DACE-A0D9F73F7443}"/>
                </a:ext>
              </a:extLst>
            </p:cNvPr>
            <p:cNvSpPr>
              <a:spLocks noChangeShapeType="1"/>
            </p:cNvSpPr>
            <p:nvPr/>
          </p:nvSpPr>
          <p:spPr bwMode="auto">
            <a:xfrm>
              <a:off x="5173980" y="4766309"/>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3">
              <a:extLst>
                <a:ext uri="{FF2B5EF4-FFF2-40B4-BE49-F238E27FC236}">
                  <a16:creationId xmlns:a16="http://schemas.microsoft.com/office/drawing/2014/main" id="{7E3D4EAD-B08A-12B8-27BB-32FD844E1C17}"/>
                </a:ext>
              </a:extLst>
            </p:cNvPr>
            <p:cNvSpPr>
              <a:spLocks noChangeShapeType="1"/>
            </p:cNvSpPr>
            <p:nvPr/>
          </p:nvSpPr>
          <p:spPr bwMode="auto">
            <a:xfrm>
              <a:off x="7078980" y="4766309"/>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4">
              <a:extLst>
                <a:ext uri="{FF2B5EF4-FFF2-40B4-BE49-F238E27FC236}">
                  <a16:creationId xmlns:a16="http://schemas.microsoft.com/office/drawing/2014/main" id="{26FF1562-088D-EBBB-14F3-58E3D52C99CD}"/>
                </a:ext>
              </a:extLst>
            </p:cNvPr>
            <p:cNvSpPr>
              <a:spLocks noChangeShapeType="1"/>
            </p:cNvSpPr>
            <p:nvPr/>
          </p:nvSpPr>
          <p:spPr bwMode="auto">
            <a:xfrm>
              <a:off x="7078980" y="4766309"/>
              <a:ext cx="990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5">
              <a:extLst>
                <a:ext uri="{FF2B5EF4-FFF2-40B4-BE49-F238E27FC236}">
                  <a16:creationId xmlns:a16="http://schemas.microsoft.com/office/drawing/2014/main" id="{CD69E4D3-C4B6-C42F-8F5F-49B45E2A103B}"/>
                </a:ext>
              </a:extLst>
            </p:cNvPr>
            <p:cNvSpPr>
              <a:spLocks noChangeShapeType="1"/>
            </p:cNvSpPr>
            <p:nvPr/>
          </p:nvSpPr>
          <p:spPr bwMode="auto">
            <a:xfrm>
              <a:off x="8069580" y="4766309"/>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6">
              <a:extLst>
                <a:ext uri="{FF2B5EF4-FFF2-40B4-BE49-F238E27FC236}">
                  <a16:creationId xmlns:a16="http://schemas.microsoft.com/office/drawing/2014/main" id="{6FEDC9F1-C764-4ADC-7C6C-0942C8EC2C2D}"/>
                </a:ext>
              </a:extLst>
            </p:cNvPr>
            <p:cNvSpPr>
              <a:spLocks noChangeShapeType="1"/>
            </p:cNvSpPr>
            <p:nvPr/>
          </p:nvSpPr>
          <p:spPr bwMode="auto">
            <a:xfrm>
              <a:off x="10965180" y="4842509"/>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7">
              <a:extLst>
                <a:ext uri="{FF2B5EF4-FFF2-40B4-BE49-F238E27FC236}">
                  <a16:creationId xmlns:a16="http://schemas.microsoft.com/office/drawing/2014/main" id="{C2A72426-4809-D11F-630D-C63F0F137CFC}"/>
                </a:ext>
              </a:extLst>
            </p:cNvPr>
            <p:cNvSpPr>
              <a:spLocks noChangeShapeType="1"/>
            </p:cNvSpPr>
            <p:nvPr/>
          </p:nvSpPr>
          <p:spPr bwMode="auto">
            <a:xfrm>
              <a:off x="10965180" y="4842509"/>
              <a:ext cx="1066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8">
              <a:extLst>
                <a:ext uri="{FF2B5EF4-FFF2-40B4-BE49-F238E27FC236}">
                  <a16:creationId xmlns:a16="http://schemas.microsoft.com/office/drawing/2014/main" id="{E681D8B9-783A-7E20-39AB-CEA3B13CCADF}"/>
                </a:ext>
              </a:extLst>
            </p:cNvPr>
            <p:cNvSpPr>
              <a:spLocks noChangeShapeType="1"/>
            </p:cNvSpPr>
            <p:nvPr/>
          </p:nvSpPr>
          <p:spPr bwMode="auto">
            <a:xfrm>
              <a:off x="12031980" y="4842509"/>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 name="Line 19">
              <a:extLst>
                <a:ext uri="{FF2B5EF4-FFF2-40B4-BE49-F238E27FC236}">
                  <a16:creationId xmlns:a16="http://schemas.microsoft.com/office/drawing/2014/main" id="{2D358A2D-3F60-CEA1-DA42-EA401A5E5A99}"/>
                </a:ext>
              </a:extLst>
            </p:cNvPr>
            <p:cNvSpPr>
              <a:spLocks noChangeShapeType="1"/>
            </p:cNvSpPr>
            <p:nvPr/>
          </p:nvSpPr>
          <p:spPr bwMode="auto">
            <a:xfrm>
              <a:off x="4716780" y="4004309"/>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0">
              <a:extLst>
                <a:ext uri="{FF2B5EF4-FFF2-40B4-BE49-F238E27FC236}">
                  <a16:creationId xmlns:a16="http://schemas.microsoft.com/office/drawing/2014/main" id="{CE2F5E9E-40A4-CD91-BF33-ED152B2FFBCB}"/>
                </a:ext>
              </a:extLst>
            </p:cNvPr>
            <p:cNvSpPr>
              <a:spLocks noChangeShapeType="1"/>
            </p:cNvSpPr>
            <p:nvPr/>
          </p:nvSpPr>
          <p:spPr bwMode="auto">
            <a:xfrm>
              <a:off x="4716780" y="4004309"/>
              <a:ext cx="144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1">
              <a:extLst>
                <a:ext uri="{FF2B5EF4-FFF2-40B4-BE49-F238E27FC236}">
                  <a16:creationId xmlns:a16="http://schemas.microsoft.com/office/drawing/2014/main" id="{DD5F2492-397E-182D-8A6B-30EDDBCD2831}"/>
                </a:ext>
              </a:extLst>
            </p:cNvPr>
            <p:cNvSpPr>
              <a:spLocks noChangeShapeType="1"/>
            </p:cNvSpPr>
            <p:nvPr/>
          </p:nvSpPr>
          <p:spPr bwMode="auto">
            <a:xfrm>
              <a:off x="6164580" y="4004309"/>
              <a:ext cx="0" cy="1676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2">
              <a:extLst>
                <a:ext uri="{FF2B5EF4-FFF2-40B4-BE49-F238E27FC236}">
                  <a16:creationId xmlns:a16="http://schemas.microsoft.com/office/drawing/2014/main" id="{D345B545-2FC7-631C-D352-42DBD69B1369}"/>
                </a:ext>
              </a:extLst>
            </p:cNvPr>
            <p:cNvSpPr>
              <a:spLocks noChangeShapeType="1"/>
            </p:cNvSpPr>
            <p:nvPr/>
          </p:nvSpPr>
          <p:spPr bwMode="auto">
            <a:xfrm>
              <a:off x="7459980" y="4004309"/>
              <a:ext cx="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3">
              <a:extLst>
                <a:ext uri="{FF2B5EF4-FFF2-40B4-BE49-F238E27FC236}">
                  <a16:creationId xmlns:a16="http://schemas.microsoft.com/office/drawing/2014/main" id="{5033805B-7370-4CFA-5E37-627F0BB4E4D8}"/>
                </a:ext>
              </a:extLst>
            </p:cNvPr>
            <p:cNvSpPr>
              <a:spLocks noChangeShapeType="1"/>
            </p:cNvSpPr>
            <p:nvPr/>
          </p:nvSpPr>
          <p:spPr bwMode="auto">
            <a:xfrm>
              <a:off x="7536180" y="4004309"/>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4">
              <a:extLst>
                <a:ext uri="{FF2B5EF4-FFF2-40B4-BE49-F238E27FC236}">
                  <a16:creationId xmlns:a16="http://schemas.microsoft.com/office/drawing/2014/main" id="{F30D7A8B-A125-3F73-9819-0F394723E26B}"/>
                </a:ext>
              </a:extLst>
            </p:cNvPr>
            <p:cNvSpPr>
              <a:spLocks noChangeShapeType="1"/>
            </p:cNvSpPr>
            <p:nvPr/>
          </p:nvSpPr>
          <p:spPr bwMode="auto">
            <a:xfrm>
              <a:off x="7612380" y="4004309"/>
              <a:ext cx="144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5">
              <a:extLst>
                <a:ext uri="{FF2B5EF4-FFF2-40B4-BE49-F238E27FC236}">
                  <a16:creationId xmlns:a16="http://schemas.microsoft.com/office/drawing/2014/main" id="{C72A3196-6057-8DED-1556-F850936A589C}"/>
                </a:ext>
              </a:extLst>
            </p:cNvPr>
            <p:cNvSpPr>
              <a:spLocks noChangeShapeType="1"/>
            </p:cNvSpPr>
            <p:nvPr/>
          </p:nvSpPr>
          <p:spPr bwMode="auto">
            <a:xfrm>
              <a:off x="9060180" y="4004309"/>
              <a:ext cx="0" cy="1676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6">
              <a:extLst>
                <a:ext uri="{FF2B5EF4-FFF2-40B4-BE49-F238E27FC236}">
                  <a16:creationId xmlns:a16="http://schemas.microsoft.com/office/drawing/2014/main" id="{05A987F2-2705-0C51-7267-D1F97925E725}"/>
                </a:ext>
              </a:extLst>
            </p:cNvPr>
            <p:cNvSpPr>
              <a:spLocks noChangeShapeType="1"/>
            </p:cNvSpPr>
            <p:nvPr/>
          </p:nvSpPr>
          <p:spPr bwMode="auto">
            <a:xfrm>
              <a:off x="7536180" y="4004309"/>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7">
              <a:extLst>
                <a:ext uri="{FF2B5EF4-FFF2-40B4-BE49-F238E27FC236}">
                  <a16:creationId xmlns:a16="http://schemas.microsoft.com/office/drawing/2014/main" id="{98243FA8-8261-66F3-FD37-818002AC52CD}"/>
                </a:ext>
              </a:extLst>
            </p:cNvPr>
            <p:cNvSpPr>
              <a:spLocks noChangeShapeType="1"/>
            </p:cNvSpPr>
            <p:nvPr/>
          </p:nvSpPr>
          <p:spPr bwMode="auto">
            <a:xfrm>
              <a:off x="8298180" y="3166109"/>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 name="Line 28">
              <a:extLst>
                <a:ext uri="{FF2B5EF4-FFF2-40B4-BE49-F238E27FC236}">
                  <a16:creationId xmlns:a16="http://schemas.microsoft.com/office/drawing/2014/main" id="{F8FFA9B9-C94A-46CF-03BD-9FEA55BB8B03}"/>
                </a:ext>
              </a:extLst>
            </p:cNvPr>
            <p:cNvSpPr>
              <a:spLocks noChangeShapeType="1"/>
            </p:cNvSpPr>
            <p:nvPr/>
          </p:nvSpPr>
          <p:spPr bwMode="auto">
            <a:xfrm flipV="1">
              <a:off x="9974580" y="3166109"/>
              <a:ext cx="0" cy="2514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1" name="Line 29">
              <a:extLst>
                <a:ext uri="{FF2B5EF4-FFF2-40B4-BE49-F238E27FC236}">
                  <a16:creationId xmlns:a16="http://schemas.microsoft.com/office/drawing/2014/main" id="{5912E10E-29E9-32E9-69F3-3710180638F0}"/>
                </a:ext>
              </a:extLst>
            </p:cNvPr>
            <p:cNvSpPr>
              <a:spLocks noChangeShapeType="1"/>
            </p:cNvSpPr>
            <p:nvPr/>
          </p:nvSpPr>
          <p:spPr bwMode="auto">
            <a:xfrm>
              <a:off x="8298180" y="3166109"/>
              <a:ext cx="1676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2" name="Line 30">
              <a:extLst>
                <a:ext uri="{FF2B5EF4-FFF2-40B4-BE49-F238E27FC236}">
                  <a16:creationId xmlns:a16="http://schemas.microsoft.com/office/drawing/2014/main" id="{4FCDDA39-5AF8-8524-7823-309D617170B3}"/>
                </a:ext>
              </a:extLst>
            </p:cNvPr>
            <p:cNvSpPr>
              <a:spLocks noChangeShapeType="1"/>
            </p:cNvSpPr>
            <p:nvPr/>
          </p:nvSpPr>
          <p:spPr bwMode="auto">
            <a:xfrm>
              <a:off x="9136380" y="2327909"/>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3" name="Line 31">
              <a:extLst>
                <a:ext uri="{FF2B5EF4-FFF2-40B4-BE49-F238E27FC236}">
                  <a16:creationId xmlns:a16="http://schemas.microsoft.com/office/drawing/2014/main" id="{1F9CE265-40FE-A542-8209-887270487828}"/>
                </a:ext>
              </a:extLst>
            </p:cNvPr>
            <p:cNvSpPr>
              <a:spLocks noChangeShapeType="1"/>
            </p:cNvSpPr>
            <p:nvPr/>
          </p:nvSpPr>
          <p:spPr bwMode="auto">
            <a:xfrm flipV="1">
              <a:off x="11498580" y="2251709"/>
              <a:ext cx="0" cy="2590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4" name="Line 32">
              <a:extLst>
                <a:ext uri="{FF2B5EF4-FFF2-40B4-BE49-F238E27FC236}">
                  <a16:creationId xmlns:a16="http://schemas.microsoft.com/office/drawing/2014/main" id="{8CAB1DDD-6C47-FEDC-3187-1E680DB4A813}"/>
                </a:ext>
              </a:extLst>
            </p:cNvPr>
            <p:cNvSpPr>
              <a:spLocks noChangeShapeType="1"/>
            </p:cNvSpPr>
            <p:nvPr/>
          </p:nvSpPr>
          <p:spPr bwMode="auto">
            <a:xfrm flipH="1">
              <a:off x="9136380" y="2251709"/>
              <a:ext cx="2362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5" name="Line 33">
              <a:extLst>
                <a:ext uri="{FF2B5EF4-FFF2-40B4-BE49-F238E27FC236}">
                  <a16:creationId xmlns:a16="http://schemas.microsoft.com/office/drawing/2014/main" id="{8DAFE35B-9FB8-97D6-6108-8294105E6437}"/>
                </a:ext>
              </a:extLst>
            </p:cNvPr>
            <p:cNvSpPr>
              <a:spLocks noChangeShapeType="1"/>
            </p:cNvSpPr>
            <p:nvPr/>
          </p:nvSpPr>
          <p:spPr bwMode="auto">
            <a:xfrm flipV="1">
              <a:off x="9136380" y="2251709"/>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6" name="Line 34">
              <a:extLst>
                <a:ext uri="{FF2B5EF4-FFF2-40B4-BE49-F238E27FC236}">
                  <a16:creationId xmlns:a16="http://schemas.microsoft.com/office/drawing/2014/main" id="{9DCDA540-5A69-5F19-EEF3-2E779DF0A9CC}"/>
                </a:ext>
              </a:extLst>
            </p:cNvPr>
            <p:cNvSpPr>
              <a:spLocks noChangeShapeType="1"/>
            </p:cNvSpPr>
            <p:nvPr/>
          </p:nvSpPr>
          <p:spPr bwMode="auto">
            <a:xfrm>
              <a:off x="10279380" y="1337309"/>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7" name="Line 35">
              <a:extLst>
                <a:ext uri="{FF2B5EF4-FFF2-40B4-BE49-F238E27FC236}">
                  <a16:creationId xmlns:a16="http://schemas.microsoft.com/office/drawing/2014/main" id="{180CE2A9-D663-F732-A908-0EB8AB988A5D}"/>
                </a:ext>
              </a:extLst>
            </p:cNvPr>
            <p:cNvSpPr>
              <a:spLocks noChangeShapeType="1"/>
            </p:cNvSpPr>
            <p:nvPr/>
          </p:nvSpPr>
          <p:spPr bwMode="auto">
            <a:xfrm flipH="1">
              <a:off x="5554980" y="1337309"/>
              <a:ext cx="472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 name="Line 36">
              <a:extLst>
                <a:ext uri="{FF2B5EF4-FFF2-40B4-BE49-F238E27FC236}">
                  <a16:creationId xmlns:a16="http://schemas.microsoft.com/office/drawing/2014/main" id="{6FDF0DAE-9510-031C-6C22-BD853118A901}"/>
                </a:ext>
              </a:extLst>
            </p:cNvPr>
            <p:cNvSpPr>
              <a:spLocks noChangeShapeType="1"/>
            </p:cNvSpPr>
            <p:nvPr/>
          </p:nvSpPr>
          <p:spPr bwMode="auto">
            <a:xfrm flipV="1">
              <a:off x="5402580" y="1337309"/>
              <a:ext cx="0" cy="2667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9" name="Line 37">
              <a:extLst>
                <a:ext uri="{FF2B5EF4-FFF2-40B4-BE49-F238E27FC236}">
                  <a16:creationId xmlns:a16="http://schemas.microsoft.com/office/drawing/2014/main" id="{C2CD4F09-B8FE-DBAD-779C-2D554056422F}"/>
                </a:ext>
              </a:extLst>
            </p:cNvPr>
            <p:cNvSpPr>
              <a:spLocks noChangeShapeType="1"/>
            </p:cNvSpPr>
            <p:nvPr/>
          </p:nvSpPr>
          <p:spPr bwMode="auto">
            <a:xfrm>
              <a:off x="5935980" y="1337309"/>
              <a:ext cx="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 name="Line 38">
              <a:extLst>
                <a:ext uri="{FF2B5EF4-FFF2-40B4-BE49-F238E27FC236}">
                  <a16:creationId xmlns:a16="http://schemas.microsoft.com/office/drawing/2014/main" id="{ED4DD40E-4982-C2AC-A5A6-F995EB153328}"/>
                </a:ext>
              </a:extLst>
            </p:cNvPr>
            <p:cNvSpPr>
              <a:spLocks noChangeShapeType="1"/>
            </p:cNvSpPr>
            <p:nvPr/>
          </p:nvSpPr>
          <p:spPr bwMode="auto">
            <a:xfrm flipH="1">
              <a:off x="5402580" y="1337309"/>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 name="Line 39">
              <a:extLst>
                <a:ext uri="{FF2B5EF4-FFF2-40B4-BE49-F238E27FC236}">
                  <a16:creationId xmlns:a16="http://schemas.microsoft.com/office/drawing/2014/main" id="{E8B96A36-CB8D-DA11-2902-39FE55C0139E}"/>
                </a:ext>
              </a:extLst>
            </p:cNvPr>
            <p:cNvSpPr>
              <a:spLocks noChangeShapeType="1"/>
            </p:cNvSpPr>
            <p:nvPr/>
          </p:nvSpPr>
          <p:spPr bwMode="auto">
            <a:xfrm flipV="1">
              <a:off x="7840980" y="880109"/>
              <a:ext cx="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 name="Line 41">
              <a:extLst>
                <a:ext uri="{FF2B5EF4-FFF2-40B4-BE49-F238E27FC236}">
                  <a16:creationId xmlns:a16="http://schemas.microsoft.com/office/drawing/2014/main" id="{D4FF9D93-CEF9-E210-5CD3-FAD36BE44328}"/>
                </a:ext>
              </a:extLst>
            </p:cNvPr>
            <p:cNvSpPr>
              <a:spLocks noChangeShapeType="1"/>
            </p:cNvSpPr>
            <p:nvPr/>
          </p:nvSpPr>
          <p:spPr bwMode="auto">
            <a:xfrm>
              <a:off x="4259580" y="4766309"/>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 name="Slide Number Placeholder 45">
              <a:extLst>
                <a:ext uri="{FF2B5EF4-FFF2-40B4-BE49-F238E27FC236}">
                  <a16:creationId xmlns:a16="http://schemas.microsoft.com/office/drawing/2014/main" id="{8F6093D2-905E-1F3F-BF19-D55F6229592A}"/>
                </a:ext>
              </a:extLst>
            </p:cNvPr>
            <p:cNvSpPr txBox="1">
              <a:spLocks/>
            </p:cNvSpPr>
            <p:nvPr/>
          </p:nvSpPr>
          <p:spPr>
            <a:xfrm>
              <a:off x="10965180" y="6214109"/>
              <a:ext cx="1905000" cy="381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914400" rtl="0" eaLnBrk="1" latinLnBrk="0" hangingPunct="1">
                <a:spcBef>
                  <a:spcPct val="20000"/>
                </a:spcBef>
                <a:buClr>
                  <a:schemeClr val="folHlink"/>
                </a:buClr>
                <a:buSzPct val="60000"/>
                <a:buFont typeface="Wingdings" pitchFamily="2" charset="2"/>
                <a:buChar char="n"/>
                <a:defRPr sz="28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Clr>
                  <a:schemeClr val="hlink"/>
                </a:buClr>
                <a:buSzPct val="55000"/>
                <a:buFont typeface="Wingdings" pitchFamily="2" charset="2"/>
                <a:buChar char="n"/>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Clr>
                  <a:schemeClr val="folHlink"/>
                </a:buClr>
                <a:buSzPct val="50000"/>
                <a:buFont typeface="Wingdings" pitchFamily="2" charset="2"/>
                <a:buChar char="n"/>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Clr>
                  <a:schemeClr val="accent2"/>
                </a:buClr>
                <a:buSzPct val="55000"/>
                <a:buFont typeface="Wingdings" pitchFamily="2" charset="2"/>
                <a:buChar char="n"/>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Clr>
                  <a:schemeClr val="accent1"/>
                </a:buClr>
                <a:buSzPct val="50000"/>
                <a:buFont typeface="Wingdings" pitchFamily="2" charset="2"/>
                <a:buChar char="n"/>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itchFamily="2" charset="2"/>
                <a:buChar char="n"/>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itchFamily="2" charset="2"/>
                <a:buChar char="n"/>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itchFamily="2" charset="2"/>
                <a:buChar char="n"/>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itchFamily="2" charset="2"/>
                <a:buChar char="n"/>
                <a:defRPr sz="2000" kern="1200">
                  <a:solidFill>
                    <a:schemeClr val="tx1"/>
                  </a:solidFill>
                  <a:latin typeface="Arial" panose="020B0604020202020204" pitchFamily="34" charset="0"/>
                  <a:ea typeface="+mn-ea"/>
                  <a:cs typeface="+mn-cs"/>
                </a:defRPr>
              </a:lvl9pPr>
            </a:lstStyle>
            <a:p>
              <a:pPr>
                <a:spcBef>
                  <a:spcPct val="0"/>
                </a:spcBef>
                <a:buClrTx/>
                <a:buSzTx/>
                <a:buFontTx/>
                <a:buNone/>
              </a:pPr>
              <a:fld id="{F0A16574-E197-FF4F-9694-6051EC7F1482}" type="slidenum">
                <a:rPr lang="en-US" altLang="en-US" sz="1200" smtClean="0">
                  <a:latin typeface="Tahoma" panose="020B0604030504040204" pitchFamily="34" charset="0"/>
                </a:rPr>
                <a:pPr>
                  <a:spcBef>
                    <a:spcPct val="0"/>
                  </a:spcBef>
                  <a:buClrTx/>
                  <a:buSzTx/>
                  <a:buFontTx/>
                  <a:buNone/>
                </a:pPr>
                <a:t>34</a:t>
              </a:fld>
              <a:endParaRPr lang="en-US" altLang="en-US" sz="1200">
                <a:latin typeface="Tahoma" panose="020B0604030504040204" pitchFamily="34" charset="0"/>
              </a:endParaRPr>
            </a:p>
          </p:txBody>
        </p:sp>
      </p:grpSp>
      <p:sp>
        <p:nvSpPr>
          <p:cNvPr id="44" name="TextBox 43">
            <a:extLst>
              <a:ext uri="{FF2B5EF4-FFF2-40B4-BE49-F238E27FC236}">
                <a16:creationId xmlns:a16="http://schemas.microsoft.com/office/drawing/2014/main" id="{A5DDA851-944C-6AEF-D153-04A9491C3DBD}"/>
              </a:ext>
            </a:extLst>
          </p:cNvPr>
          <p:cNvSpPr txBox="1"/>
          <p:nvPr/>
        </p:nvSpPr>
        <p:spPr>
          <a:xfrm>
            <a:off x="3632103" y="837504"/>
            <a:ext cx="1040129" cy="369332"/>
          </a:xfrm>
          <a:prstGeom prst="rect">
            <a:avLst/>
          </a:prstGeom>
          <a:noFill/>
        </p:spPr>
        <p:txBody>
          <a:bodyPr wrap="square" rtlCol="0">
            <a:spAutoFit/>
          </a:bodyPr>
          <a:lstStyle/>
          <a:p>
            <a:r>
              <a:rPr lang="en-US" dirty="0"/>
              <a:t>Step= - 0</a:t>
            </a:r>
          </a:p>
        </p:txBody>
      </p:sp>
      <p:sp>
        <p:nvSpPr>
          <p:cNvPr id="47" name="Content Placeholder 2">
            <a:extLst>
              <a:ext uri="{FF2B5EF4-FFF2-40B4-BE49-F238E27FC236}">
                <a16:creationId xmlns:a16="http://schemas.microsoft.com/office/drawing/2014/main" id="{1064A678-FDE4-F24A-4698-01592AE3AAC9}"/>
              </a:ext>
            </a:extLst>
          </p:cNvPr>
          <p:cNvSpPr>
            <a:spLocks noGrp="1"/>
          </p:cNvSpPr>
          <p:nvPr>
            <p:ph idx="1"/>
          </p:nvPr>
        </p:nvSpPr>
        <p:spPr>
          <a:xfrm>
            <a:off x="131181" y="863444"/>
            <a:ext cx="3061599" cy="5578501"/>
          </a:xfrm>
        </p:spPr>
        <p:txBody>
          <a:bodyPr/>
          <a:lstStyle/>
          <a:p>
            <a:r>
              <a:rPr lang="en-US" dirty="0">
                <a:solidFill>
                  <a:srgbClr val="C00000"/>
                </a:solidFill>
              </a:rPr>
              <a:t>Decompose data objects into a several levels of nested partitioning </a:t>
            </a:r>
            <a:r>
              <a:rPr lang="en-US" dirty="0"/>
              <a:t>(tree of clusters), called a dendrogram</a:t>
            </a:r>
          </a:p>
          <a:p>
            <a:endParaRPr lang="en-US" dirty="0"/>
          </a:p>
          <a:p>
            <a:r>
              <a:rPr lang="en-US" dirty="0"/>
              <a:t>A clustering of the data </a:t>
            </a:r>
            <a:r>
              <a:rPr lang="en-US" dirty="0">
                <a:solidFill>
                  <a:srgbClr val="C00000"/>
                </a:solidFill>
              </a:rPr>
              <a:t>objects is obtained by cutting the dendrogram at the desired level</a:t>
            </a:r>
            <a:r>
              <a:rPr lang="en-US" dirty="0"/>
              <a:t>, then each connected component </a:t>
            </a:r>
            <a:r>
              <a:rPr lang="en-US" dirty="0">
                <a:solidFill>
                  <a:srgbClr val="C00000"/>
                </a:solidFill>
              </a:rPr>
              <a:t>forms a cluster</a:t>
            </a:r>
          </a:p>
        </p:txBody>
      </p:sp>
      <p:sp>
        <p:nvSpPr>
          <p:cNvPr id="49" name="TextBox 48">
            <a:extLst>
              <a:ext uri="{FF2B5EF4-FFF2-40B4-BE49-F238E27FC236}">
                <a16:creationId xmlns:a16="http://schemas.microsoft.com/office/drawing/2014/main" id="{5F44FD30-8C97-1380-03BB-2690F2EFF96D}"/>
              </a:ext>
            </a:extLst>
          </p:cNvPr>
          <p:cNvSpPr txBox="1"/>
          <p:nvPr/>
        </p:nvSpPr>
        <p:spPr>
          <a:xfrm>
            <a:off x="3632102" y="1221955"/>
            <a:ext cx="1040129" cy="369332"/>
          </a:xfrm>
          <a:prstGeom prst="rect">
            <a:avLst/>
          </a:prstGeom>
          <a:noFill/>
        </p:spPr>
        <p:txBody>
          <a:bodyPr wrap="square" rtlCol="0">
            <a:spAutoFit/>
          </a:bodyPr>
          <a:lstStyle/>
          <a:p>
            <a:r>
              <a:rPr lang="en-US" dirty="0"/>
              <a:t>Step= - 2</a:t>
            </a:r>
          </a:p>
        </p:txBody>
      </p:sp>
      <p:sp>
        <p:nvSpPr>
          <p:cNvPr id="50" name="TextBox 49">
            <a:extLst>
              <a:ext uri="{FF2B5EF4-FFF2-40B4-BE49-F238E27FC236}">
                <a16:creationId xmlns:a16="http://schemas.microsoft.com/office/drawing/2014/main" id="{56CF71D6-B389-8E95-A653-0818B7508C3D}"/>
              </a:ext>
            </a:extLst>
          </p:cNvPr>
          <p:cNvSpPr txBox="1"/>
          <p:nvPr/>
        </p:nvSpPr>
        <p:spPr>
          <a:xfrm>
            <a:off x="3644158" y="1973814"/>
            <a:ext cx="1040129" cy="369332"/>
          </a:xfrm>
          <a:prstGeom prst="rect">
            <a:avLst/>
          </a:prstGeom>
          <a:noFill/>
        </p:spPr>
        <p:txBody>
          <a:bodyPr wrap="square" rtlCol="0">
            <a:spAutoFit/>
          </a:bodyPr>
          <a:lstStyle/>
          <a:p>
            <a:r>
              <a:rPr lang="en-US" dirty="0"/>
              <a:t>Step= - 3</a:t>
            </a:r>
          </a:p>
        </p:txBody>
      </p:sp>
      <p:sp>
        <p:nvSpPr>
          <p:cNvPr id="51" name="TextBox 50">
            <a:extLst>
              <a:ext uri="{FF2B5EF4-FFF2-40B4-BE49-F238E27FC236}">
                <a16:creationId xmlns:a16="http://schemas.microsoft.com/office/drawing/2014/main" id="{91169DEB-228F-7B33-0D06-6A12BE4928ED}"/>
              </a:ext>
            </a:extLst>
          </p:cNvPr>
          <p:cNvSpPr txBox="1"/>
          <p:nvPr/>
        </p:nvSpPr>
        <p:spPr>
          <a:xfrm>
            <a:off x="3649890" y="2763299"/>
            <a:ext cx="1040129" cy="369332"/>
          </a:xfrm>
          <a:prstGeom prst="rect">
            <a:avLst/>
          </a:prstGeom>
          <a:noFill/>
        </p:spPr>
        <p:txBody>
          <a:bodyPr wrap="square" rtlCol="0">
            <a:spAutoFit/>
          </a:bodyPr>
          <a:lstStyle/>
          <a:p>
            <a:r>
              <a:rPr lang="en-US" dirty="0"/>
              <a:t>Step= - 4</a:t>
            </a:r>
          </a:p>
        </p:txBody>
      </p:sp>
      <p:sp>
        <p:nvSpPr>
          <p:cNvPr id="52" name="TextBox 51">
            <a:extLst>
              <a:ext uri="{FF2B5EF4-FFF2-40B4-BE49-F238E27FC236}">
                <a16:creationId xmlns:a16="http://schemas.microsoft.com/office/drawing/2014/main" id="{47BD3246-5429-6ED6-28B4-B60EC9714EFF}"/>
              </a:ext>
            </a:extLst>
          </p:cNvPr>
          <p:cNvSpPr txBox="1"/>
          <p:nvPr/>
        </p:nvSpPr>
        <p:spPr>
          <a:xfrm>
            <a:off x="3660840" y="3555717"/>
            <a:ext cx="1040129" cy="369332"/>
          </a:xfrm>
          <a:prstGeom prst="rect">
            <a:avLst/>
          </a:prstGeom>
          <a:noFill/>
        </p:spPr>
        <p:txBody>
          <a:bodyPr wrap="square" rtlCol="0">
            <a:spAutoFit/>
          </a:bodyPr>
          <a:lstStyle/>
          <a:p>
            <a:r>
              <a:rPr lang="en-US" dirty="0"/>
              <a:t>Step= - 5</a:t>
            </a:r>
          </a:p>
        </p:txBody>
      </p:sp>
      <p:sp>
        <p:nvSpPr>
          <p:cNvPr id="53" name="TextBox 52">
            <a:extLst>
              <a:ext uri="{FF2B5EF4-FFF2-40B4-BE49-F238E27FC236}">
                <a16:creationId xmlns:a16="http://schemas.microsoft.com/office/drawing/2014/main" id="{801FFB50-2FBB-E1E0-4BBB-9AA885B6DCEC}"/>
              </a:ext>
            </a:extLst>
          </p:cNvPr>
          <p:cNvSpPr txBox="1"/>
          <p:nvPr/>
        </p:nvSpPr>
        <p:spPr>
          <a:xfrm>
            <a:off x="3674588" y="4304643"/>
            <a:ext cx="1040129" cy="369332"/>
          </a:xfrm>
          <a:prstGeom prst="rect">
            <a:avLst/>
          </a:prstGeom>
          <a:noFill/>
        </p:spPr>
        <p:txBody>
          <a:bodyPr wrap="square" rtlCol="0">
            <a:spAutoFit/>
          </a:bodyPr>
          <a:lstStyle/>
          <a:p>
            <a:r>
              <a:rPr lang="en-US" dirty="0"/>
              <a:t>Step= - 6</a:t>
            </a:r>
          </a:p>
        </p:txBody>
      </p:sp>
      <p:sp>
        <p:nvSpPr>
          <p:cNvPr id="54" name="TextBox 53">
            <a:extLst>
              <a:ext uri="{FF2B5EF4-FFF2-40B4-BE49-F238E27FC236}">
                <a16:creationId xmlns:a16="http://schemas.microsoft.com/office/drawing/2014/main" id="{2382940B-0A51-F3FC-42A7-0730174D97B0}"/>
              </a:ext>
            </a:extLst>
          </p:cNvPr>
          <p:cNvSpPr txBox="1"/>
          <p:nvPr/>
        </p:nvSpPr>
        <p:spPr>
          <a:xfrm>
            <a:off x="3694782" y="5169128"/>
            <a:ext cx="1040129" cy="369332"/>
          </a:xfrm>
          <a:prstGeom prst="rect">
            <a:avLst/>
          </a:prstGeom>
          <a:noFill/>
        </p:spPr>
        <p:txBody>
          <a:bodyPr wrap="square" rtlCol="0">
            <a:spAutoFit/>
          </a:bodyPr>
          <a:lstStyle/>
          <a:p>
            <a:r>
              <a:rPr lang="en-US" dirty="0"/>
              <a:t>Step= - 7</a:t>
            </a:r>
          </a:p>
        </p:txBody>
      </p:sp>
    </p:spTree>
    <p:extLst>
      <p:ext uri="{BB962C8B-B14F-4D97-AF65-F5344CB8AC3E}">
        <p14:creationId xmlns:p14="http://schemas.microsoft.com/office/powerpoint/2010/main" val="424273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9" grpId="0"/>
      <p:bldP spid="50" grpId="0"/>
      <p:bldP spid="51" grpId="0"/>
      <p:bldP spid="52" grpId="0"/>
      <p:bldP spid="53" grpId="0"/>
      <p:bldP spid="5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4A811-DBD9-C159-02EB-FA30158575EE}"/>
              </a:ext>
            </a:extLst>
          </p:cNvPr>
          <p:cNvSpPr>
            <a:spLocks noGrp="1"/>
          </p:cNvSpPr>
          <p:nvPr>
            <p:ph type="title"/>
          </p:nvPr>
        </p:nvSpPr>
        <p:spPr/>
        <p:txBody>
          <a:bodyPr>
            <a:normAutofit/>
          </a:bodyPr>
          <a:lstStyle/>
          <a:p>
            <a:r>
              <a:rPr lang="en-US" dirty="0"/>
              <a:t>Distance Measures in Algorithmic Methods </a:t>
            </a:r>
          </a:p>
        </p:txBody>
      </p:sp>
      <p:sp>
        <p:nvSpPr>
          <p:cNvPr id="3" name="Content Placeholder 2">
            <a:extLst>
              <a:ext uri="{FF2B5EF4-FFF2-40B4-BE49-F238E27FC236}">
                <a16:creationId xmlns:a16="http://schemas.microsoft.com/office/drawing/2014/main" id="{E6838938-F1F8-1827-F720-8976C2E59443}"/>
              </a:ext>
            </a:extLst>
          </p:cNvPr>
          <p:cNvSpPr>
            <a:spLocks noGrp="1"/>
          </p:cNvSpPr>
          <p:nvPr>
            <p:ph idx="1"/>
          </p:nvPr>
        </p:nvSpPr>
        <p:spPr>
          <a:xfrm>
            <a:off x="131180" y="863444"/>
            <a:ext cx="11929641" cy="711200"/>
          </a:xfrm>
        </p:spPr>
        <p:txBody>
          <a:bodyPr/>
          <a:lstStyle/>
          <a:p>
            <a:r>
              <a:rPr lang="en-US" dirty="0"/>
              <a:t>Whether using an </a:t>
            </a:r>
            <a:r>
              <a:rPr lang="en-US" dirty="0">
                <a:solidFill>
                  <a:srgbClr val="C00000"/>
                </a:solidFill>
              </a:rPr>
              <a:t>agglomerative method or a divisive method</a:t>
            </a:r>
            <a:r>
              <a:rPr lang="en-US" dirty="0"/>
              <a:t>, a core need is to measure the distance between </a:t>
            </a:r>
            <a:r>
              <a:rPr lang="en-US" dirty="0">
                <a:solidFill>
                  <a:srgbClr val="C00000"/>
                </a:solidFill>
              </a:rPr>
              <a:t>two clusters</a:t>
            </a:r>
            <a:r>
              <a:rPr lang="en-US" dirty="0"/>
              <a:t>, where each cluster </a:t>
            </a:r>
            <a:r>
              <a:rPr lang="en-US" dirty="0">
                <a:solidFill>
                  <a:srgbClr val="C00000"/>
                </a:solidFill>
              </a:rPr>
              <a:t>is generally a set of objects</a:t>
            </a:r>
            <a:r>
              <a:rPr lang="en-US" dirty="0"/>
              <a:t>. </a:t>
            </a:r>
          </a:p>
          <a:p>
            <a:pPr lvl="1"/>
            <a:endParaRPr lang="en-US" b="1" dirty="0"/>
          </a:p>
        </p:txBody>
      </p:sp>
      <p:sp>
        <p:nvSpPr>
          <p:cNvPr id="4" name="Content Placeholder 2">
            <a:extLst>
              <a:ext uri="{FF2B5EF4-FFF2-40B4-BE49-F238E27FC236}">
                <a16:creationId xmlns:a16="http://schemas.microsoft.com/office/drawing/2014/main" id="{1033834D-38E3-91AA-A35A-83BB6B0AA1C2}"/>
              </a:ext>
            </a:extLst>
          </p:cNvPr>
          <p:cNvSpPr txBox="1">
            <a:spLocks/>
          </p:cNvSpPr>
          <p:nvPr/>
        </p:nvSpPr>
        <p:spPr>
          <a:xfrm>
            <a:off x="131181" y="1726886"/>
            <a:ext cx="4600840" cy="426766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Single link:</a:t>
            </a:r>
          </a:p>
          <a:p>
            <a:pPr lvl="1"/>
            <a:r>
              <a:rPr lang="en-US" dirty="0">
                <a:solidFill>
                  <a:srgbClr val="C00000"/>
                </a:solidFill>
              </a:rPr>
              <a:t>Smallest</a:t>
            </a:r>
            <a:r>
              <a:rPr lang="en-US" dirty="0"/>
              <a:t> distance between an element in </a:t>
            </a:r>
            <a:r>
              <a:rPr lang="en-US" dirty="0">
                <a:solidFill>
                  <a:srgbClr val="C00000"/>
                </a:solidFill>
              </a:rPr>
              <a:t>one cluster and an element in the other</a:t>
            </a:r>
            <a:r>
              <a:rPr lang="en-US" dirty="0"/>
              <a:t>, i.e.,  </a:t>
            </a:r>
          </a:p>
          <a:p>
            <a:pPr lvl="1"/>
            <a:r>
              <a:rPr lang="en-US" dirty="0" err="1"/>
              <a:t>dist</a:t>
            </a:r>
            <a:r>
              <a:rPr lang="en-US" dirty="0"/>
              <a:t>(K</a:t>
            </a:r>
            <a:r>
              <a:rPr lang="en-US" baseline="-25000" dirty="0"/>
              <a:t>i</a:t>
            </a:r>
            <a:r>
              <a:rPr lang="en-US" dirty="0"/>
              <a:t>, </a:t>
            </a:r>
            <a:r>
              <a:rPr lang="en-US" dirty="0" err="1"/>
              <a:t>K</a:t>
            </a:r>
            <a:r>
              <a:rPr lang="en-US" baseline="-25000" dirty="0" err="1"/>
              <a:t>j</a:t>
            </a:r>
            <a:r>
              <a:rPr lang="en-US" dirty="0"/>
              <a:t>) = min(t</a:t>
            </a:r>
            <a:r>
              <a:rPr lang="en-US" baseline="-25000" dirty="0"/>
              <a:t>ip</a:t>
            </a:r>
            <a:r>
              <a:rPr lang="en-US" dirty="0"/>
              <a:t>, </a:t>
            </a:r>
            <a:r>
              <a:rPr lang="en-US" dirty="0" err="1"/>
              <a:t>t</a:t>
            </a:r>
            <a:r>
              <a:rPr lang="en-US" baseline="-25000" dirty="0" err="1"/>
              <a:t>jq</a:t>
            </a:r>
            <a:r>
              <a:rPr lang="en-US" dirty="0"/>
              <a:t>)</a:t>
            </a:r>
          </a:p>
          <a:p>
            <a:pPr lvl="1"/>
            <a:endParaRPr lang="en-US" dirty="0"/>
          </a:p>
          <a:p>
            <a:r>
              <a:rPr lang="en-US" b="1" dirty="0"/>
              <a:t>Complete link:</a:t>
            </a:r>
          </a:p>
          <a:p>
            <a:pPr lvl="1"/>
            <a:r>
              <a:rPr lang="en-US" dirty="0">
                <a:solidFill>
                  <a:srgbClr val="C00000"/>
                </a:solidFill>
              </a:rPr>
              <a:t>largest</a:t>
            </a:r>
            <a:r>
              <a:rPr lang="en-US" dirty="0"/>
              <a:t> distance between an element in </a:t>
            </a:r>
            <a:r>
              <a:rPr lang="en-US" dirty="0">
                <a:solidFill>
                  <a:srgbClr val="C00000"/>
                </a:solidFill>
              </a:rPr>
              <a:t>one cluster and an element in the other</a:t>
            </a:r>
            <a:r>
              <a:rPr lang="en-US" dirty="0"/>
              <a:t>, i.e.,  </a:t>
            </a:r>
          </a:p>
          <a:p>
            <a:pPr lvl="1"/>
            <a:r>
              <a:rPr lang="en-US" dirty="0" err="1"/>
              <a:t>dist</a:t>
            </a:r>
            <a:r>
              <a:rPr lang="en-US" dirty="0"/>
              <a:t>(K</a:t>
            </a:r>
            <a:r>
              <a:rPr lang="en-US" baseline="-25000" dirty="0"/>
              <a:t>i</a:t>
            </a:r>
            <a:r>
              <a:rPr lang="en-US" dirty="0"/>
              <a:t>, </a:t>
            </a:r>
            <a:r>
              <a:rPr lang="en-US" dirty="0" err="1"/>
              <a:t>K</a:t>
            </a:r>
            <a:r>
              <a:rPr lang="en-US" baseline="-25000" dirty="0" err="1"/>
              <a:t>j</a:t>
            </a:r>
            <a:r>
              <a:rPr lang="en-US" dirty="0"/>
              <a:t>) = max(t</a:t>
            </a:r>
            <a:r>
              <a:rPr lang="en-US" baseline="-25000" dirty="0"/>
              <a:t>ip</a:t>
            </a:r>
            <a:r>
              <a:rPr lang="en-US" dirty="0"/>
              <a:t>, </a:t>
            </a:r>
            <a:r>
              <a:rPr lang="en-US" dirty="0" err="1"/>
              <a:t>t</a:t>
            </a:r>
            <a:r>
              <a:rPr lang="en-US" baseline="-25000" dirty="0" err="1"/>
              <a:t>jq</a:t>
            </a:r>
            <a:r>
              <a:rPr lang="en-US" dirty="0"/>
              <a:t>)</a:t>
            </a:r>
          </a:p>
          <a:p>
            <a:pPr lvl="1"/>
            <a:endParaRPr lang="en-US" dirty="0"/>
          </a:p>
          <a:p>
            <a:pPr lvl="1"/>
            <a:endParaRPr lang="en-US" dirty="0"/>
          </a:p>
          <a:p>
            <a:pPr lvl="1"/>
            <a:endParaRPr lang="en-US" b="1" dirty="0"/>
          </a:p>
        </p:txBody>
      </p:sp>
      <p:sp>
        <p:nvSpPr>
          <p:cNvPr id="5" name="Oval 4">
            <a:extLst>
              <a:ext uri="{FF2B5EF4-FFF2-40B4-BE49-F238E27FC236}">
                <a16:creationId xmlns:a16="http://schemas.microsoft.com/office/drawing/2014/main" id="{EF4E5CC4-2B68-19E4-0034-9A5A260394BA}"/>
              </a:ext>
            </a:extLst>
          </p:cNvPr>
          <p:cNvSpPr/>
          <p:nvPr/>
        </p:nvSpPr>
        <p:spPr>
          <a:xfrm>
            <a:off x="6267450" y="1901668"/>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Oval 5">
            <a:extLst>
              <a:ext uri="{FF2B5EF4-FFF2-40B4-BE49-F238E27FC236}">
                <a16:creationId xmlns:a16="http://schemas.microsoft.com/office/drawing/2014/main" id="{6086427F-C6AA-2628-43FC-54226DFB4BC0}"/>
              </a:ext>
            </a:extLst>
          </p:cNvPr>
          <p:cNvSpPr/>
          <p:nvPr/>
        </p:nvSpPr>
        <p:spPr>
          <a:xfrm>
            <a:off x="10111740" y="1901668"/>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EE0A318B-F103-C29E-438F-FF8A9247A7CB}"/>
              </a:ext>
            </a:extLst>
          </p:cNvPr>
          <p:cNvSpPr/>
          <p:nvPr/>
        </p:nvSpPr>
        <p:spPr>
          <a:xfrm>
            <a:off x="6537960" y="2251710"/>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4A1667D-54FA-9CFD-4501-BFFDEA36E870}"/>
              </a:ext>
            </a:extLst>
          </p:cNvPr>
          <p:cNvSpPr/>
          <p:nvPr/>
        </p:nvSpPr>
        <p:spPr>
          <a:xfrm>
            <a:off x="7193280" y="2529840"/>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B7B060C-2D7C-D9E5-77CE-BFD26328B6B9}"/>
              </a:ext>
            </a:extLst>
          </p:cNvPr>
          <p:cNvSpPr/>
          <p:nvPr/>
        </p:nvSpPr>
        <p:spPr>
          <a:xfrm>
            <a:off x="6934200" y="2933700"/>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937AE04-C0FC-D0FC-2C11-4C87F1B72D1E}"/>
              </a:ext>
            </a:extLst>
          </p:cNvPr>
          <p:cNvSpPr/>
          <p:nvPr/>
        </p:nvSpPr>
        <p:spPr>
          <a:xfrm>
            <a:off x="11159490" y="2244090"/>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DAB1097-07C2-9A9B-E102-F0F89D4B7786}"/>
              </a:ext>
            </a:extLst>
          </p:cNvPr>
          <p:cNvSpPr/>
          <p:nvPr/>
        </p:nvSpPr>
        <p:spPr>
          <a:xfrm>
            <a:off x="10306050" y="2533650"/>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A2FE244-57F3-4C6D-6813-38DB202376C5}"/>
              </a:ext>
            </a:extLst>
          </p:cNvPr>
          <p:cNvSpPr/>
          <p:nvPr/>
        </p:nvSpPr>
        <p:spPr>
          <a:xfrm>
            <a:off x="10824210" y="2937510"/>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910E2967-78E9-7738-7C42-9B8CF3DECCF8}"/>
              </a:ext>
            </a:extLst>
          </p:cNvPr>
          <p:cNvCxnSpPr>
            <a:stCxn id="8" idx="6"/>
            <a:endCxn id="14" idx="2"/>
          </p:cNvCxnSpPr>
          <p:nvPr/>
        </p:nvCxnSpPr>
        <p:spPr>
          <a:xfrm>
            <a:off x="7341870" y="2604135"/>
            <a:ext cx="2964180" cy="3810"/>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1C0C20C8-FEC2-B2A7-75B4-BBABEA4D70E5}"/>
              </a:ext>
            </a:extLst>
          </p:cNvPr>
          <p:cNvSpPr/>
          <p:nvPr/>
        </p:nvSpPr>
        <p:spPr>
          <a:xfrm>
            <a:off x="6267450" y="4044315"/>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Oval 18">
            <a:extLst>
              <a:ext uri="{FF2B5EF4-FFF2-40B4-BE49-F238E27FC236}">
                <a16:creationId xmlns:a16="http://schemas.microsoft.com/office/drawing/2014/main" id="{C33C3EB9-1624-26CB-E090-8A43FE8C855F}"/>
              </a:ext>
            </a:extLst>
          </p:cNvPr>
          <p:cNvSpPr/>
          <p:nvPr/>
        </p:nvSpPr>
        <p:spPr>
          <a:xfrm>
            <a:off x="10111740" y="4044315"/>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Oval 19">
            <a:extLst>
              <a:ext uri="{FF2B5EF4-FFF2-40B4-BE49-F238E27FC236}">
                <a16:creationId xmlns:a16="http://schemas.microsoft.com/office/drawing/2014/main" id="{C038FD55-0DC6-A533-9039-A6F1B3ECE4AB}"/>
              </a:ext>
            </a:extLst>
          </p:cNvPr>
          <p:cNvSpPr/>
          <p:nvPr/>
        </p:nvSpPr>
        <p:spPr>
          <a:xfrm>
            <a:off x="6537960" y="439435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3CC0011-A09D-598D-238C-F6AD80CEFD91}"/>
              </a:ext>
            </a:extLst>
          </p:cNvPr>
          <p:cNvSpPr/>
          <p:nvPr/>
        </p:nvSpPr>
        <p:spPr>
          <a:xfrm>
            <a:off x="7193280" y="467248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D0A2784-ED8F-48BA-76A0-44FE1A464154}"/>
              </a:ext>
            </a:extLst>
          </p:cNvPr>
          <p:cNvSpPr/>
          <p:nvPr/>
        </p:nvSpPr>
        <p:spPr>
          <a:xfrm>
            <a:off x="6934200" y="507634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E2140E5-994F-D4BD-C736-5809F6787768}"/>
              </a:ext>
            </a:extLst>
          </p:cNvPr>
          <p:cNvSpPr/>
          <p:nvPr/>
        </p:nvSpPr>
        <p:spPr>
          <a:xfrm>
            <a:off x="11159490" y="438673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464528D-5D23-0B13-ABCB-5670DC7620A9}"/>
              </a:ext>
            </a:extLst>
          </p:cNvPr>
          <p:cNvSpPr/>
          <p:nvPr/>
        </p:nvSpPr>
        <p:spPr>
          <a:xfrm>
            <a:off x="10306050" y="467629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7AE639D-726C-6BFF-F11A-CB105021AC55}"/>
              </a:ext>
            </a:extLst>
          </p:cNvPr>
          <p:cNvSpPr/>
          <p:nvPr/>
        </p:nvSpPr>
        <p:spPr>
          <a:xfrm>
            <a:off x="10824210" y="508015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4F13B788-C50B-12C2-9DC5-2FDF9A079F03}"/>
              </a:ext>
            </a:extLst>
          </p:cNvPr>
          <p:cNvCxnSpPr>
            <a:cxnSpLocks/>
            <a:stCxn id="20" idx="6"/>
            <a:endCxn id="23" idx="2"/>
          </p:cNvCxnSpPr>
          <p:nvPr/>
        </p:nvCxnSpPr>
        <p:spPr>
          <a:xfrm flipV="1">
            <a:off x="6686550" y="4461032"/>
            <a:ext cx="4472940" cy="76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577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3" grpId="0" animBg="1"/>
      <p:bldP spid="14" grpId="0" animBg="1"/>
      <p:bldP spid="15"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D7AA4-4CA6-C9D2-5B8E-0C9B3E97DADF}"/>
              </a:ext>
            </a:extLst>
          </p:cNvPr>
          <p:cNvSpPr>
            <a:spLocks noGrp="1"/>
          </p:cNvSpPr>
          <p:nvPr>
            <p:ph type="title"/>
          </p:nvPr>
        </p:nvSpPr>
        <p:spPr/>
        <p:txBody>
          <a:bodyPr/>
          <a:lstStyle/>
          <a:p>
            <a:r>
              <a:rPr lang="en-US" dirty="0"/>
              <a:t>Distance Measures in Algorithmic Methods </a:t>
            </a:r>
          </a:p>
        </p:txBody>
      </p:sp>
      <p:sp>
        <p:nvSpPr>
          <p:cNvPr id="4" name="Content Placeholder 2">
            <a:extLst>
              <a:ext uri="{FF2B5EF4-FFF2-40B4-BE49-F238E27FC236}">
                <a16:creationId xmlns:a16="http://schemas.microsoft.com/office/drawing/2014/main" id="{723B0048-7666-61FC-E599-58F35AB86F43}"/>
              </a:ext>
            </a:extLst>
          </p:cNvPr>
          <p:cNvSpPr txBox="1">
            <a:spLocks/>
          </p:cNvSpPr>
          <p:nvPr/>
        </p:nvSpPr>
        <p:spPr>
          <a:xfrm>
            <a:off x="148590" y="812486"/>
            <a:ext cx="4600840" cy="426766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b="1" dirty="0">
                <a:cs typeface="Tahoma" panose="020B0604030504040204" pitchFamily="34" charset="0"/>
                <a:sym typeface="Symbol" pitchFamily="2" charset="2"/>
              </a:rPr>
              <a:t>Average</a:t>
            </a:r>
            <a:r>
              <a:rPr lang="en-US" b="1" dirty="0"/>
              <a:t> link:</a:t>
            </a:r>
          </a:p>
          <a:p>
            <a:pPr lvl="1"/>
            <a:r>
              <a:rPr lang="en-US" dirty="0">
                <a:solidFill>
                  <a:srgbClr val="C00000"/>
                </a:solidFill>
              </a:rPr>
              <a:t>Average</a:t>
            </a:r>
            <a:r>
              <a:rPr lang="en-US" dirty="0"/>
              <a:t> distance between an element in </a:t>
            </a:r>
            <a:r>
              <a:rPr lang="en-US" dirty="0">
                <a:solidFill>
                  <a:srgbClr val="C00000"/>
                </a:solidFill>
              </a:rPr>
              <a:t>one cluster and an element in the other</a:t>
            </a:r>
            <a:r>
              <a:rPr lang="en-US" dirty="0"/>
              <a:t>, i.e.,  </a:t>
            </a:r>
          </a:p>
          <a:p>
            <a:pPr lvl="1"/>
            <a:r>
              <a:rPr lang="en-US" dirty="0" err="1"/>
              <a:t>dist</a:t>
            </a:r>
            <a:r>
              <a:rPr lang="en-US" dirty="0"/>
              <a:t>(K</a:t>
            </a:r>
            <a:r>
              <a:rPr lang="en-US" baseline="-25000" dirty="0"/>
              <a:t>i</a:t>
            </a:r>
            <a:r>
              <a:rPr lang="en-US" dirty="0"/>
              <a:t>, </a:t>
            </a:r>
            <a:r>
              <a:rPr lang="en-US" dirty="0" err="1"/>
              <a:t>K</a:t>
            </a:r>
            <a:r>
              <a:rPr lang="en-US" baseline="-25000" dirty="0" err="1"/>
              <a:t>j</a:t>
            </a:r>
            <a:r>
              <a:rPr lang="en-US" dirty="0"/>
              <a:t>) = Avg(t</a:t>
            </a:r>
            <a:r>
              <a:rPr lang="en-US" baseline="-25000" dirty="0"/>
              <a:t>ip</a:t>
            </a:r>
            <a:r>
              <a:rPr lang="en-US" dirty="0"/>
              <a:t>, </a:t>
            </a:r>
            <a:r>
              <a:rPr lang="en-US" dirty="0" err="1"/>
              <a:t>t</a:t>
            </a:r>
            <a:r>
              <a:rPr lang="en-US" baseline="-25000" dirty="0" err="1"/>
              <a:t>jq</a:t>
            </a:r>
            <a:r>
              <a:rPr lang="en-US" dirty="0"/>
              <a:t>)</a:t>
            </a:r>
          </a:p>
          <a:p>
            <a:pPr lvl="1"/>
            <a:endParaRPr lang="en-US" dirty="0"/>
          </a:p>
          <a:p>
            <a:r>
              <a:rPr lang="en-US" b="1" dirty="0"/>
              <a:t>Centroid link:</a:t>
            </a:r>
          </a:p>
          <a:p>
            <a:pPr lvl="1"/>
            <a:r>
              <a:rPr lang="en-US" dirty="0"/>
              <a:t>distance between the </a:t>
            </a:r>
            <a:r>
              <a:rPr lang="en-US" dirty="0">
                <a:solidFill>
                  <a:srgbClr val="C00000"/>
                </a:solidFill>
              </a:rPr>
              <a:t>centroids of two clusters</a:t>
            </a:r>
            <a:r>
              <a:rPr lang="en-US" dirty="0"/>
              <a:t>, i.e.,  </a:t>
            </a:r>
          </a:p>
          <a:p>
            <a:pPr lvl="1"/>
            <a:r>
              <a:rPr lang="en-US" dirty="0" err="1"/>
              <a:t>dist</a:t>
            </a:r>
            <a:r>
              <a:rPr lang="en-US" dirty="0"/>
              <a:t>(Ki, </a:t>
            </a:r>
            <a:r>
              <a:rPr lang="en-US" dirty="0" err="1"/>
              <a:t>Kj</a:t>
            </a:r>
            <a:r>
              <a:rPr lang="en-US" dirty="0"/>
              <a:t>) = </a:t>
            </a:r>
            <a:r>
              <a:rPr lang="en-US" dirty="0" err="1"/>
              <a:t>dist</a:t>
            </a:r>
            <a:r>
              <a:rPr lang="en-US" dirty="0"/>
              <a:t>(Ci, </a:t>
            </a:r>
            <a:r>
              <a:rPr lang="en-US" dirty="0" err="1"/>
              <a:t>Cj</a:t>
            </a:r>
            <a:r>
              <a:rPr lang="en-US" dirty="0"/>
              <a:t>)</a:t>
            </a:r>
          </a:p>
          <a:p>
            <a:pPr lvl="1"/>
            <a:endParaRPr lang="en-US" dirty="0"/>
          </a:p>
          <a:p>
            <a:pPr lvl="1"/>
            <a:endParaRPr lang="en-US" dirty="0"/>
          </a:p>
          <a:p>
            <a:pPr lvl="1"/>
            <a:endParaRPr lang="en-US" dirty="0"/>
          </a:p>
          <a:p>
            <a:pPr lvl="1"/>
            <a:endParaRPr lang="en-US" b="1" dirty="0"/>
          </a:p>
        </p:txBody>
      </p:sp>
      <p:sp>
        <p:nvSpPr>
          <p:cNvPr id="5" name="Oval 4">
            <a:extLst>
              <a:ext uri="{FF2B5EF4-FFF2-40B4-BE49-F238E27FC236}">
                <a16:creationId xmlns:a16="http://schemas.microsoft.com/office/drawing/2014/main" id="{379B57A2-0903-F2D9-8438-135400339C11}"/>
              </a:ext>
            </a:extLst>
          </p:cNvPr>
          <p:cNvSpPr/>
          <p:nvPr/>
        </p:nvSpPr>
        <p:spPr>
          <a:xfrm>
            <a:off x="6096000" y="1186815"/>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Oval 5">
            <a:extLst>
              <a:ext uri="{FF2B5EF4-FFF2-40B4-BE49-F238E27FC236}">
                <a16:creationId xmlns:a16="http://schemas.microsoft.com/office/drawing/2014/main" id="{0DF05F7B-5424-550B-0049-2638EC4E3FCF}"/>
              </a:ext>
            </a:extLst>
          </p:cNvPr>
          <p:cNvSpPr/>
          <p:nvPr/>
        </p:nvSpPr>
        <p:spPr>
          <a:xfrm>
            <a:off x="9940290" y="1186815"/>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B41811FE-EA0E-0ECC-0C5D-AD39F6CF0A14}"/>
              </a:ext>
            </a:extLst>
          </p:cNvPr>
          <p:cNvSpPr/>
          <p:nvPr/>
        </p:nvSpPr>
        <p:spPr>
          <a:xfrm>
            <a:off x="6366510" y="153685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B1F4CFA-0B15-D52E-82D2-96E34F737AF0}"/>
              </a:ext>
            </a:extLst>
          </p:cNvPr>
          <p:cNvSpPr/>
          <p:nvPr/>
        </p:nvSpPr>
        <p:spPr>
          <a:xfrm>
            <a:off x="7021830" y="181498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2CFC2E5-438D-B557-79C6-23AD89CE6E45}"/>
              </a:ext>
            </a:extLst>
          </p:cNvPr>
          <p:cNvSpPr/>
          <p:nvPr/>
        </p:nvSpPr>
        <p:spPr>
          <a:xfrm>
            <a:off x="6762750" y="221884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6859D96-A300-76EE-74DC-00C5233F44B6}"/>
              </a:ext>
            </a:extLst>
          </p:cNvPr>
          <p:cNvSpPr/>
          <p:nvPr/>
        </p:nvSpPr>
        <p:spPr>
          <a:xfrm>
            <a:off x="10988040" y="152923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47EDB85-365F-B270-FCB8-EFEED6D08887}"/>
              </a:ext>
            </a:extLst>
          </p:cNvPr>
          <p:cNvSpPr/>
          <p:nvPr/>
        </p:nvSpPr>
        <p:spPr>
          <a:xfrm>
            <a:off x="10134600" y="181879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B1936F4-4DE6-3EA6-AC11-14C6233388D0}"/>
              </a:ext>
            </a:extLst>
          </p:cNvPr>
          <p:cNvSpPr/>
          <p:nvPr/>
        </p:nvSpPr>
        <p:spPr>
          <a:xfrm>
            <a:off x="10652760" y="222265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A41CF7E8-EFD1-7753-C427-C7C5AE25A568}"/>
              </a:ext>
            </a:extLst>
          </p:cNvPr>
          <p:cNvCxnSpPr>
            <a:cxnSpLocks/>
            <a:stCxn id="7" idx="6"/>
            <a:endCxn id="10" idx="2"/>
          </p:cNvCxnSpPr>
          <p:nvPr/>
        </p:nvCxnSpPr>
        <p:spPr>
          <a:xfrm flipV="1">
            <a:off x="6515100" y="1603532"/>
            <a:ext cx="4472940" cy="76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49F2B4A-AE8B-3833-723B-C1A755F5636B}"/>
              </a:ext>
            </a:extLst>
          </p:cNvPr>
          <p:cNvCxnSpPr>
            <a:cxnSpLocks/>
            <a:endCxn id="11" idx="2"/>
          </p:cNvCxnSpPr>
          <p:nvPr/>
        </p:nvCxnSpPr>
        <p:spPr>
          <a:xfrm>
            <a:off x="7250430" y="1889282"/>
            <a:ext cx="2884170" cy="38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3CD3E0E-75D7-2182-592C-58931F2D7B15}"/>
              </a:ext>
            </a:extLst>
          </p:cNvPr>
          <p:cNvCxnSpPr>
            <a:cxnSpLocks/>
          </p:cNvCxnSpPr>
          <p:nvPr/>
        </p:nvCxnSpPr>
        <p:spPr>
          <a:xfrm flipV="1">
            <a:off x="6911340" y="2258138"/>
            <a:ext cx="3741420" cy="35004"/>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3A0B5B6A-75EE-E9B8-A8A5-04A8F9650DDB}"/>
              </a:ext>
            </a:extLst>
          </p:cNvPr>
          <p:cNvSpPr/>
          <p:nvPr/>
        </p:nvSpPr>
        <p:spPr>
          <a:xfrm>
            <a:off x="6096000" y="3102609"/>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Oval 18">
            <a:extLst>
              <a:ext uri="{FF2B5EF4-FFF2-40B4-BE49-F238E27FC236}">
                <a16:creationId xmlns:a16="http://schemas.microsoft.com/office/drawing/2014/main" id="{189F03E5-A86B-33A7-25CF-D914428D22B6}"/>
              </a:ext>
            </a:extLst>
          </p:cNvPr>
          <p:cNvSpPr/>
          <p:nvPr/>
        </p:nvSpPr>
        <p:spPr>
          <a:xfrm>
            <a:off x="9940290" y="3102609"/>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Oval 19">
            <a:extLst>
              <a:ext uri="{FF2B5EF4-FFF2-40B4-BE49-F238E27FC236}">
                <a16:creationId xmlns:a16="http://schemas.microsoft.com/office/drawing/2014/main" id="{2EB1F9DB-8BE5-A1FC-46E1-6FDC4D72C31D}"/>
              </a:ext>
            </a:extLst>
          </p:cNvPr>
          <p:cNvSpPr/>
          <p:nvPr/>
        </p:nvSpPr>
        <p:spPr>
          <a:xfrm>
            <a:off x="6366510" y="345265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E8F6A35-6B5A-E333-7D4F-F5883A6A67FB}"/>
              </a:ext>
            </a:extLst>
          </p:cNvPr>
          <p:cNvSpPr/>
          <p:nvPr/>
        </p:nvSpPr>
        <p:spPr>
          <a:xfrm>
            <a:off x="7021830" y="373078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70715B1-208B-E95F-FB42-66F295A1999D}"/>
              </a:ext>
            </a:extLst>
          </p:cNvPr>
          <p:cNvSpPr/>
          <p:nvPr/>
        </p:nvSpPr>
        <p:spPr>
          <a:xfrm>
            <a:off x="6762750" y="413464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5680C03-C5DF-830E-9D22-895E35A37F0F}"/>
              </a:ext>
            </a:extLst>
          </p:cNvPr>
          <p:cNvSpPr/>
          <p:nvPr/>
        </p:nvSpPr>
        <p:spPr>
          <a:xfrm>
            <a:off x="10988040" y="344503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6152341-85F2-7D49-F513-95A5C02EF1D4}"/>
              </a:ext>
            </a:extLst>
          </p:cNvPr>
          <p:cNvSpPr/>
          <p:nvPr/>
        </p:nvSpPr>
        <p:spPr>
          <a:xfrm>
            <a:off x="10134600" y="373459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E69B5E8-F76B-DCB2-92E3-F2ED7DCA58FF}"/>
              </a:ext>
            </a:extLst>
          </p:cNvPr>
          <p:cNvSpPr/>
          <p:nvPr/>
        </p:nvSpPr>
        <p:spPr>
          <a:xfrm>
            <a:off x="10652760" y="413845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1FEF9642-CA07-19A0-5680-2B9EBB49B554}"/>
              </a:ext>
            </a:extLst>
          </p:cNvPr>
          <p:cNvCxnSpPr>
            <a:cxnSpLocks/>
            <a:endCxn id="30" idx="1"/>
          </p:cNvCxnSpPr>
          <p:nvPr/>
        </p:nvCxnSpPr>
        <p:spPr>
          <a:xfrm>
            <a:off x="6875145" y="3894929"/>
            <a:ext cx="3709035" cy="18526"/>
          </a:xfrm>
          <a:prstGeom prst="line">
            <a:avLst/>
          </a:prstGeom>
        </p:spPr>
        <p:style>
          <a:lnRef idx="1">
            <a:schemeClr val="accent1"/>
          </a:lnRef>
          <a:fillRef idx="0">
            <a:schemeClr val="accent1"/>
          </a:fillRef>
          <a:effectRef idx="0">
            <a:schemeClr val="accent1"/>
          </a:effectRef>
          <a:fontRef idx="minor">
            <a:schemeClr val="tx1"/>
          </a:fontRef>
        </p:style>
      </p:cxnSp>
      <p:sp>
        <p:nvSpPr>
          <p:cNvPr id="29" name="5-Point Star 28">
            <a:extLst>
              <a:ext uri="{FF2B5EF4-FFF2-40B4-BE49-F238E27FC236}">
                <a16:creationId xmlns:a16="http://schemas.microsoft.com/office/drawing/2014/main" id="{D6D4A79B-FA21-1E75-11B7-2AC45204AB16}"/>
              </a:ext>
            </a:extLst>
          </p:cNvPr>
          <p:cNvSpPr/>
          <p:nvPr/>
        </p:nvSpPr>
        <p:spPr>
          <a:xfrm>
            <a:off x="6705600" y="3805076"/>
            <a:ext cx="148590" cy="18399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5-Point Star 29">
            <a:extLst>
              <a:ext uri="{FF2B5EF4-FFF2-40B4-BE49-F238E27FC236}">
                <a16:creationId xmlns:a16="http://schemas.microsoft.com/office/drawing/2014/main" id="{F49BF43D-C0F9-007E-A3FF-CBE60B268C03}"/>
              </a:ext>
            </a:extLst>
          </p:cNvPr>
          <p:cNvSpPr/>
          <p:nvPr/>
        </p:nvSpPr>
        <p:spPr>
          <a:xfrm>
            <a:off x="10584180" y="3843176"/>
            <a:ext cx="148590" cy="18399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850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8" grpId="0" animBg="1"/>
      <p:bldP spid="19" grpId="0" animBg="1"/>
      <p:bldP spid="20" grpId="0" animBg="1"/>
      <p:bldP spid="21" grpId="0" animBg="1"/>
      <p:bldP spid="22" grpId="0" animBg="1"/>
      <p:bldP spid="23" grpId="0" animBg="1"/>
      <p:bldP spid="24" grpId="0" animBg="1"/>
      <p:bldP spid="25" grpId="0" animBg="1"/>
      <p:bldP spid="29" grpId="0" animBg="1"/>
      <p:bldP spid="3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9DF91-EF7A-8474-2EC7-164A1297B0F1}"/>
              </a:ext>
            </a:extLst>
          </p:cNvPr>
          <p:cNvSpPr>
            <a:spLocks noGrp="1"/>
          </p:cNvSpPr>
          <p:nvPr>
            <p:ph type="title"/>
          </p:nvPr>
        </p:nvSpPr>
        <p:spPr/>
        <p:txBody>
          <a:bodyPr/>
          <a:lstStyle/>
          <a:p>
            <a:r>
              <a:rPr lang="en-US" dirty="0"/>
              <a:t>Example</a:t>
            </a:r>
          </a:p>
        </p:txBody>
      </p:sp>
      <p:sp>
        <p:nvSpPr>
          <p:cNvPr id="4" name="Rectangle 3">
            <a:extLst>
              <a:ext uri="{FF2B5EF4-FFF2-40B4-BE49-F238E27FC236}">
                <a16:creationId xmlns:a16="http://schemas.microsoft.com/office/drawing/2014/main" id="{1B376571-421E-717E-62EA-B5C91D4FB21F}"/>
              </a:ext>
            </a:extLst>
          </p:cNvPr>
          <p:cNvSpPr/>
          <p:nvPr/>
        </p:nvSpPr>
        <p:spPr>
          <a:xfrm>
            <a:off x="715063" y="1122101"/>
            <a:ext cx="6859781" cy="4031873"/>
          </a:xfrm>
          <a:prstGeom prst="rect">
            <a:avLst/>
          </a:prstGeom>
          <a:solidFill>
            <a:schemeClr val="bg1">
              <a:lumMod val="95000"/>
            </a:schemeClr>
          </a:solidFill>
          <a:ln>
            <a:noFill/>
          </a:ln>
        </p:spPr>
        <p:txBody>
          <a:bodyPr wrap="square">
            <a:spAutoFit/>
          </a:bodyPr>
          <a:lstStyle/>
          <a:p>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numpy</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as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267F99"/>
                </a:solidFill>
                <a:latin typeface="Consolas" panose="020B0609020204030204" pitchFamily="49" charset="0"/>
                <a:cs typeface="Consolas" panose="020B0609020204030204" pitchFamily="49" charset="0"/>
              </a:rPr>
              <a:t>np</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matplotlib</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pyplot</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as</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plt</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from</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scipy.cluster.hierarchy</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dendrogram, linkage</a:t>
            </a:r>
          </a:p>
          <a:p>
            <a:r>
              <a:rPr lang="en-IN" sz="1600" dirty="0">
                <a:solidFill>
                  <a:srgbClr val="AF00DB"/>
                </a:solidFill>
                <a:latin typeface="Consolas" panose="020B0609020204030204" pitchFamily="49" charset="0"/>
                <a:cs typeface="Consolas" panose="020B0609020204030204" pitchFamily="49" charset="0"/>
              </a:rPr>
              <a:t>from</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sklearn</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datasets</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795E26"/>
                </a:solidFill>
                <a:latin typeface="Consolas" panose="020B0609020204030204" pitchFamily="49" charset="0"/>
                <a:cs typeface="Consolas" panose="020B0609020204030204" pitchFamily="49" charset="0"/>
              </a:rPr>
              <a:t>make_blobs</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AF00DB"/>
                </a:solidFill>
                <a:latin typeface="Consolas" panose="020B0609020204030204" pitchFamily="49" charset="0"/>
                <a:cs typeface="Consolas" panose="020B0609020204030204" pitchFamily="49" charset="0"/>
              </a:rPr>
              <a:t>from</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sklearn</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267F99"/>
                </a:solidFill>
                <a:latin typeface="Consolas" panose="020B0609020204030204" pitchFamily="49" charset="0"/>
                <a:cs typeface="Consolas" panose="020B0609020204030204" pitchFamily="49" charset="0"/>
              </a:rPr>
              <a:t>cluster</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AF00DB"/>
                </a:solidFill>
                <a:latin typeface="Consolas" panose="020B0609020204030204" pitchFamily="49" charset="0"/>
                <a:cs typeface="Consolas" panose="020B0609020204030204" pitchFamily="49" charset="0"/>
              </a:rPr>
              <a:t>import</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267F99"/>
                </a:solidFill>
                <a:latin typeface="Consolas" panose="020B0609020204030204" pitchFamily="49" charset="0"/>
                <a:cs typeface="Consolas" panose="020B0609020204030204" pitchFamily="49" charset="0"/>
              </a:rPr>
              <a:t>AgglomerativeClustering</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_</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795E26"/>
                </a:solidFill>
                <a:latin typeface="Consolas" panose="020B0609020204030204" pitchFamily="49" charset="0"/>
                <a:cs typeface="Consolas" panose="020B0609020204030204" pitchFamily="49" charset="0"/>
              </a:rPr>
              <a:t>make_blobs</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n_samples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10</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centers</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3</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random_state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42</a:t>
            </a:r>
            <a:r>
              <a:rPr lang="en-IN" sz="1600" dirty="0">
                <a:solidFill>
                  <a:srgbClr val="000000"/>
                </a:solidFill>
                <a:latin typeface="Consolas" panose="020B0609020204030204" pitchFamily="49" charset="0"/>
                <a:cs typeface="Consolas" panose="020B0609020204030204" pitchFamily="49" charset="0"/>
              </a:rPr>
              <a:t>)</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1080"/>
                </a:solidFill>
                <a:latin typeface="Consolas" panose="020B0609020204030204" pitchFamily="49" charset="0"/>
                <a:cs typeface="Consolas" panose="020B0609020204030204" pitchFamily="49" charset="0"/>
              </a:rPr>
              <a:t>linked</a:t>
            </a:r>
            <a:r>
              <a:rPr lang="en-IN" sz="1600" dirty="0">
                <a:solidFill>
                  <a:srgbClr val="000000"/>
                </a:solidFill>
                <a:latin typeface="Consolas" panose="020B0609020204030204" pitchFamily="49" charset="0"/>
                <a:cs typeface="Consolas" panose="020B0609020204030204" pitchFamily="49" charset="0"/>
              </a:rPr>
              <a:t> = linkage(</a:t>
            </a:r>
            <a:r>
              <a:rPr lang="en-IN" sz="1600" dirty="0">
                <a:solidFill>
                  <a:srgbClr val="0070C1"/>
                </a:solidFill>
                <a:latin typeface="Consolas" panose="020B0609020204030204" pitchFamily="49" charset="0"/>
                <a:cs typeface="Consolas" panose="020B0609020204030204" pitchFamily="49" charset="0"/>
              </a:rPr>
              <a:t>X</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01080"/>
                </a:solidFill>
                <a:latin typeface="Consolas" panose="020B0609020204030204" pitchFamily="49" charset="0"/>
                <a:cs typeface="Consolas" panose="020B0609020204030204" pitchFamily="49" charset="0"/>
              </a:rPr>
              <a:t>method</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'ward'</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figure</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1080"/>
                </a:solidFill>
                <a:latin typeface="Consolas" panose="020B0609020204030204" pitchFamily="49" charset="0"/>
                <a:cs typeface="Consolas" panose="020B0609020204030204" pitchFamily="49" charset="0"/>
              </a:rPr>
              <a:t>figsize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8</a:t>
            </a:r>
            <a:r>
              <a:rPr lang="en-IN" sz="1600" dirty="0">
                <a:solidFill>
                  <a:srgbClr val="000000"/>
                </a:solidFill>
                <a:latin typeface="Consolas" panose="020B0609020204030204" pitchFamily="49" charset="0"/>
                <a:cs typeface="Consolas" panose="020B0609020204030204" pitchFamily="49" charset="0"/>
              </a:rPr>
              <a:t>, </a:t>
            </a:r>
            <a:r>
              <a:rPr lang="en-IN" sz="1600" dirty="0">
                <a:solidFill>
                  <a:srgbClr val="098658"/>
                </a:solidFill>
                <a:latin typeface="Consolas" panose="020B0609020204030204" pitchFamily="49" charset="0"/>
                <a:cs typeface="Consolas" panose="020B0609020204030204" pitchFamily="49" charset="0"/>
              </a:rPr>
              <a:t>5</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dendrogram(</a:t>
            </a:r>
            <a:r>
              <a:rPr lang="en-IN" sz="1600" dirty="0">
                <a:solidFill>
                  <a:srgbClr val="001080"/>
                </a:solidFill>
                <a:latin typeface="Consolas" panose="020B0609020204030204" pitchFamily="49" charset="0"/>
                <a:cs typeface="Consolas" panose="020B0609020204030204" pitchFamily="49" charset="0"/>
              </a:rPr>
              <a:t>linked</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axhline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01080"/>
                </a:solidFill>
                <a:latin typeface="Consolas" panose="020B0609020204030204" pitchFamily="49" charset="0"/>
                <a:cs typeface="Consolas" panose="020B0609020204030204" pitchFamily="49" charset="0"/>
              </a:rPr>
              <a:t>y</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10</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color</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'r'</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1080"/>
                </a:solidFill>
                <a:latin typeface="Consolas" panose="020B0609020204030204" pitchFamily="49" charset="0"/>
                <a:cs typeface="Consolas" panose="020B0609020204030204" pitchFamily="49" charset="0"/>
              </a:rPr>
              <a:t>linestyle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title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"Dendrogram"</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xlabel</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"Sample Index"</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ylabel</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"Distance"</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267F99"/>
                </a:solidFill>
                <a:latin typeface="Consolas" panose="020B0609020204030204" pitchFamily="49" charset="0"/>
                <a:cs typeface="Consolas" panose="020B0609020204030204" pitchFamily="49" charset="0"/>
              </a:rPr>
              <a:t>plt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795E26"/>
                </a:solidFill>
                <a:latin typeface="Consolas" panose="020B0609020204030204" pitchFamily="49" charset="0"/>
                <a:cs typeface="Consolas" panose="020B0609020204030204" pitchFamily="49" charset="0"/>
              </a:rPr>
              <a:t>show</a:t>
            </a:r>
            <a:r>
              <a:rPr lang="en-IN" sz="1600" dirty="0">
                <a:solidFill>
                  <a:srgbClr val="000000"/>
                </a:solidFill>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EE739CAB-E4FF-8669-5A23-6EAF428E5691}"/>
              </a:ext>
            </a:extLst>
          </p:cNvPr>
          <p:cNvSpPr/>
          <p:nvPr/>
        </p:nvSpPr>
        <p:spPr>
          <a:xfrm>
            <a:off x="215071" y="1122101"/>
            <a:ext cx="499993" cy="403187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a:p>
            <a:pPr algn="r"/>
            <a:r>
              <a:rPr lang="en-IN" sz="1600" b="1" dirty="0">
                <a:solidFill>
                  <a:schemeClr val="tx1">
                    <a:lumMod val="75000"/>
                    <a:lumOff val="25000"/>
                  </a:schemeClr>
                </a:solidFill>
                <a:latin typeface="Consolas" panose="020B0609020204030204" pitchFamily="49" charset="0"/>
              </a:rPr>
              <a:t>14</a:t>
            </a:r>
          </a:p>
          <a:p>
            <a:pPr algn="r"/>
            <a:r>
              <a:rPr lang="en-IN" sz="1600" b="1" dirty="0">
                <a:solidFill>
                  <a:schemeClr val="tx1">
                    <a:lumMod val="75000"/>
                    <a:lumOff val="25000"/>
                  </a:schemeClr>
                </a:solidFill>
                <a:latin typeface="Consolas" panose="020B0609020204030204" pitchFamily="49" charset="0"/>
              </a:rPr>
              <a:t>15</a:t>
            </a:r>
          </a:p>
          <a:p>
            <a:pPr algn="r"/>
            <a:r>
              <a:rPr lang="en-IN" sz="1600" b="1" dirty="0">
                <a:solidFill>
                  <a:schemeClr val="tx1">
                    <a:lumMod val="75000"/>
                    <a:lumOff val="25000"/>
                  </a:schemeClr>
                </a:solidFill>
                <a:latin typeface="Consolas" panose="020B0609020204030204" pitchFamily="49" charset="0"/>
              </a:rPr>
              <a:t>16</a:t>
            </a:r>
          </a:p>
        </p:txBody>
      </p:sp>
      <p:sp>
        <p:nvSpPr>
          <p:cNvPr id="6" name="Rectangle: Top Corners Rounded 6">
            <a:extLst>
              <a:ext uri="{FF2B5EF4-FFF2-40B4-BE49-F238E27FC236}">
                <a16:creationId xmlns:a16="http://schemas.microsoft.com/office/drawing/2014/main" id="{DC33AB87-CEC6-EE16-7345-3B3A09874DDF}"/>
              </a:ext>
            </a:extLst>
          </p:cNvPr>
          <p:cNvSpPr/>
          <p:nvPr/>
        </p:nvSpPr>
        <p:spPr>
          <a:xfrm>
            <a:off x="215071" y="79291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t>Agglomerative</a:t>
            </a:r>
            <a:r>
              <a:rPr lang="en-US" sz="1600" dirty="0" err="1">
                <a:solidFill>
                  <a:schemeClr val="bg1"/>
                </a:solidFill>
              </a:rPr>
              <a:t>.py</a:t>
            </a:r>
            <a:endParaRPr lang="en-US" sz="1600" dirty="0">
              <a:solidFill>
                <a:schemeClr val="bg1"/>
              </a:solidFill>
            </a:endParaRPr>
          </a:p>
        </p:txBody>
      </p:sp>
      <p:pic>
        <p:nvPicPr>
          <p:cNvPr id="9" name="Picture 8">
            <a:extLst>
              <a:ext uri="{FF2B5EF4-FFF2-40B4-BE49-F238E27FC236}">
                <a16:creationId xmlns:a16="http://schemas.microsoft.com/office/drawing/2014/main" id="{ED74B0B8-01F4-8D4E-35B1-E8C1872E0C8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653285" y="1262127"/>
            <a:ext cx="4323644" cy="2787055"/>
          </a:xfrm>
          <a:prstGeom prst="rect">
            <a:avLst/>
          </a:prstGeom>
        </p:spPr>
      </p:pic>
    </p:spTree>
    <p:extLst>
      <p:ext uri="{BB962C8B-B14F-4D97-AF65-F5344CB8AC3E}">
        <p14:creationId xmlns:p14="http://schemas.microsoft.com/office/powerpoint/2010/main" val="197956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9DF91-EF7A-8474-2EC7-164A1297B0F1}"/>
              </a:ext>
            </a:extLst>
          </p:cNvPr>
          <p:cNvSpPr>
            <a:spLocks noGrp="1"/>
          </p:cNvSpPr>
          <p:nvPr>
            <p:ph type="title"/>
          </p:nvPr>
        </p:nvSpPr>
        <p:spPr/>
        <p:txBody>
          <a:bodyPr/>
          <a:lstStyle/>
          <a:p>
            <a:r>
              <a:rPr lang="en-US" dirty="0"/>
              <a:t>Example</a:t>
            </a:r>
          </a:p>
        </p:txBody>
      </p:sp>
      <p:sp>
        <p:nvSpPr>
          <p:cNvPr id="4" name="Rectangle 3">
            <a:extLst>
              <a:ext uri="{FF2B5EF4-FFF2-40B4-BE49-F238E27FC236}">
                <a16:creationId xmlns:a16="http://schemas.microsoft.com/office/drawing/2014/main" id="{1B376571-421E-717E-62EA-B5C91D4FB21F}"/>
              </a:ext>
            </a:extLst>
          </p:cNvPr>
          <p:cNvSpPr/>
          <p:nvPr/>
        </p:nvSpPr>
        <p:spPr>
          <a:xfrm>
            <a:off x="715063" y="1122101"/>
            <a:ext cx="6859781" cy="2554545"/>
          </a:xfrm>
          <a:prstGeom prst="rect">
            <a:avLst/>
          </a:prstGeom>
          <a:solidFill>
            <a:schemeClr val="bg1">
              <a:lumMod val="95000"/>
            </a:schemeClr>
          </a:solidFill>
          <a:ln>
            <a:noFill/>
          </a:ln>
        </p:spPr>
        <p:txBody>
          <a:bodyPr wrap="square">
            <a:spAutoFit/>
          </a:bodyPr>
          <a:lstStyle/>
          <a:p>
            <a:r>
              <a:rPr lang="en-IN" sz="1600" dirty="0" err="1">
                <a:solidFill>
                  <a:srgbClr val="001080"/>
                </a:solidFill>
                <a:latin typeface="Menlo" panose="020B0609030804020204" pitchFamily="49" charset="0"/>
              </a:rPr>
              <a:t>num_clusters</a:t>
            </a:r>
            <a:r>
              <a:rPr lang="en-IN" sz="1600" dirty="0">
                <a:solidFill>
                  <a:srgbClr val="000000"/>
                </a:solidFill>
                <a:latin typeface="Menlo" panose="020B0609030804020204" pitchFamily="49" charset="0"/>
              </a:rPr>
              <a:t> = </a:t>
            </a:r>
            <a:r>
              <a:rPr lang="en-IN" sz="1600" dirty="0">
                <a:solidFill>
                  <a:srgbClr val="098658"/>
                </a:solidFill>
                <a:latin typeface="Menlo" panose="020B0609030804020204" pitchFamily="49" charset="0"/>
              </a:rPr>
              <a:t>5</a:t>
            </a:r>
            <a:endParaRPr lang="en-IN" sz="1600" dirty="0">
              <a:solidFill>
                <a:srgbClr val="000000"/>
              </a:solidFill>
              <a:latin typeface="Menlo" panose="020B0609030804020204" pitchFamily="49" charset="0"/>
            </a:endParaRPr>
          </a:p>
          <a:p>
            <a:r>
              <a:rPr lang="en-IN" sz="1600" dirty="0">
                <a:solidFill>
                  <a:srgbClr val="001080"/>
                </a:solidFill>
                <a:latin typeface="Menlo" panose="020B0609030804020204" pitchFamily="49" charset="0"/>
              </a:rPr>
              <a:t>model</a:t>
            </a:r>
            <a:r>
              <a:rPr lang="en-IN" sz="1600" dirty="0">
                <a:solidFill>
                  <a:srgbClr val="000000"/>
                </a:solidFill>
                <a:latin typeface="Menlo" panose="020B0609030804020204" pitchFamily="49" charset="0"/>
              </a:rPr>
              <a:t> = </a:t>
            </a:r>
            <a:r>
              <a:rPr lang="en-IN" sz="1600" dirty="0" err="1">
                <a:solidFill>
                  <a:srgbClr val="267F99"/>
                </a:solidFill>
                <a:latin typeface="Menlo" panose="020B0609030804020204" pitchFamily="49" charset="0"/>
              </a:rPr>
              <a:t>AgglomerativeClustering</a:t>
            </a:r>
            <a:r>
              <a:rPr lang="en-IN" sz="1600" dirty="0">
                <a:solidFill>
                  <a:srgbClr val="000000"/>
                </a:solidFill>
                <a:latin typeface="Menlo" panose="020B0609030804020204" pitchFamily="49" charset="0"/>
              </a:rPr>
              <a:t>(</a:t>
            </a:r>
            <a:r>
              <a:rPr lang="en-IN" sz="1600" dirty="0" err="1">
                <a:solidFill>
                  <a:srgbClr val="001080"/>
                </a:solidFill>
                <a:latin typeface="Menlo" panose="020B0609030804020204" pitchFamily="49" charset="0"/>
              </a:rPr>
              <a:t>n_clusters</a:t>
            </a:r>
            <a:r>
              <a:rPr lang="en-IN" sz="1600" dirty="0">
                <a:solidFill>
                  <a:srgbClr val="000000"/>
                </a:solidFill>
                <a:latin typeface="Menlo" panose="020B0609030804020204" pitchFamily="49" charset="0"/>
              </a:rPr>
              <a:t>=</a:t>
            </a:r>
            <a:r>
              <a:rPr lang="en-IN" sz="1600" dirty="0" err="1">
                <a:solidFill>
                  <a:srgbClr val="001080"/>
                </a:solidFill>
                <a:latin typeface="Menlo" panose="020B0609030804020204" pitchFamily="49" charset="0"/>
              </a:rPr>
              <a:t>num_clusters</a:t>
            </a:r>
            <a:r>
              <a:rPr lang="en-IN" sz="1600" dirty="0">
                <a:solidFill>
                  <a:srgbClr val="000000"/>
                </a:solidFill>
                <a:latin typeface="Menlo" panose="020B0609030804020204" pitchFamily="49" charset="0"/>
              </a:rPr>
              <a:t>, </a:t>
            </a:r>
            <a:r>
              <a:rPr lang="en-IN" sz="1600" dirty="0">
                <a:solidFill>
                  <a:srgbClr val="001080"/>
                </a:solidFill>
                <a:latin typeface="Menlo" panose="020B0609030804020204" pitchFamily="49" charset="0"/>
              </a:rPr>
              <a:t>linkage</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"ward"</a:t>
            </a:r>
            <a:r>
              <a:rPr lang="en-IN" sz="1600" dirty="0">
                <a:solidFill>
                  <a:srgbClr val="000000"/>
                </a:solidFill>
                <a:latin typeface="Menlo" panose="020B0609030804020204" pitchFamily="49" charset="0"/>
              </a:rPr>
              <a:t>)</a:t>
            </a:r>
          </a:p>
          <a:p>
            <a:r>
              <a:rPr lang="en-IN" sz="1600" dirty="0" err="1">
                <a:solidFill>
                  <a:srgbClr val="001080"/>
                </a:solidFill>
                <a:latin typeface="Menlo" panose="020B0609030804020204" pitchFamily="49" charset="0"/>
              </a:rPr>
              <a:t>pred_labels</a:t>
            </a:r>
            <a:r>
              <a:rPr lang="en-IN" sz="1600" dirty="0">
                <a:solidFill>
                  <a:srgbClr val="000000"/>
                </a:solidFill>
                <a:latin typeface="Menlo" panose="020B0609030804020204" pitchFamily="49" charset="0"/>
              </a:rPr>
              <a:t> = </a:t>
            </a:r>
            <a:r>
              <a:rPr lang="en-IN" sz="1600" dirty="0" err="1">
                <a:solidFill>
                  <a:srgbClr val="001080"/>
                </a:solidFill>
                <a:latin typeface="Menlo" panose="020B0609030804020204" pitchFamily="49" charset="0"/>
              </a:rPr>
              <a:t>model</a:t>
            </a:r>
            <a:r>
              <a:rPr lang="en-IN" sz="1600" dirty="0" err="1">
                <a:solidFill>
                  <a:srgbClr val="000000"/>
                </a:solidFill>
                <a:latin typeface="Menlo" panose="020B0609030804020204" pitchFamily="49" charset="0"/>
              </a:rPr>
              <a:t>.</a:t>
            </a:r>
            <a:r>
              <a:rPr lang="en-IN" sz="1600" dirty="0" err="1">
                <a:solidFill>
                  <a:srgbClr val="795E26"/>
                </a:solidFill>
                <a:latin typeface="Menlo" panose="020B0609030804020204" pitchFamily="49" charset="0"/>
              </a:rPr>
              <a:t>fit_predict</a:t>
            </a:r>
            <a:r>
              <a:rPr lang="en-IN" sz="1600" dirty="0">
                <a:solidFill>
                  <a:srgbClr val="000000"/>
                </a:solidFill>
                <a:latin typeface="Menlo" panose="020B0609030804020204" pitchFamily="49" charset="0"/>
              </a:rPr>
              <a:t>(</a:t>
            </a:r>
            <a:r>
              <a:rPr lang="en-IN" sz="1600" dirty="0">
                <a:solidFill>
                  <a:srgbClr val="0070C1"/>
                </a:solidFill>
                <a:latin typeface="Menlo" panose="020B0609030804020204" pitchFamily="49" charset="0"/>
              </a:rPr>
              <a:t>X</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a:r>
            <a:br>
              <a:rPr lang="en-IN" sz="1600" dirty="0">
                <a:solidFill>
                  <a:srgbClr val="000000"/>
                </a:solidFill>
                <a:latin typeface="Menlo" panose="020B0609030804020204" pitchFamily="49" charset="0"/>
              </a:rPr>
            </a:br>
            <a:r>
              <a:rPr lang="en-IN" sz="1600" dirty="0" err="1">
                <a:solidFill>
                  <a:srgbClr val="267F99"/>
                </a:solidFill>
                <a:latin typeface="Menlo" panose="020B0609030804020204" pitchFamily="49" charset="0"/>
              </a:rPr>
              <a:t>plt</a:t>
            </a:r>
            <a:r>
              <a:rPr lang="en-IN" sz="1600" dirty="0" err="1">
                <a:solidFill>
                  <a:srgbClr val="000000"/>
                </a:solidFill>
                <a:latin typeface="Menlo" panose="020B0609030804020204" pitchFamily="49" charset="0"/>
              </a:rPr>
              <a:t>.</a:t>
            </a:r>
            <a:r>
              <a:rPr lang="en-IN" sz="1600" dirty="0" err="1">
                <a:solidFill>
                  <a:srgbClr val="795E26"/>
                </a:solidFill>
                <a:latin typeface="Menlo" panose="020B0609030804020204" pitchFamily="49" charset="0"/>
              </a:rPr>
              <a:t>scatter</a:t>
            </a:r>
            <a:r>
              <a:rPr lang="en-IN" sz="1600" dirty="0">
                <a:solidFill>
                  <a:srgbClr val="000000"/>
                </a:solidFill>
                <a:latin typeface="Menlo" panose="020B0609030804020204" pitchFamily="49" charset="0"/>
              </a:rPr>
              <a:t>(</a:t>
            </a:r>
            <a:r>
              <a:rPr lang="en-IN" sz="1600" dirty="0">
                <a:solidFill>
                  <a:srgbClr val="0070C1"/>
                </a:solidFill>
                <a:latin typeface="Menlo" panose="020B0609030804020204" pitchFamily="49" charset="0"/>
              </a:rPr>
              <a:t>X</a:t>
            </a:r>
            <a:r>
              <a:rPr lang="en-IN" sz="1600" dirty="0">
                <a:solidFill>
                  <a:srgbClr val="000000"/>
                </a:solidFill>
                <a:latin typeface="Menlo" panose="020B0609030804020204" pitchFamily="49" charset="0"/>
              </a:rPr>
              <a:t>[:, </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 </a:t>
            </a:r>
            <a:r>
              <a:rPr lang="en-IN" sz="1600" dirty="0">
                <a:solidFill>
                  <a:srgbClr val="0070C1"/>
                </a:solidFill>
                <a:latin typeface="Menlo" panose="020B0609030804020204" pitchFamily="49" charset="0"/>
              </a:rPr>
              <a:t>X</a:t>
            </a:r>
            <a:r>
              <a:rPr lang="en-IN" sz="1600" dirty="0">
                <a:solidFill>
                  <a:srgbClr val="000000"/>
                </a:solidFill>
                <a:latin typeface="Menlo" panose="020B0609030804020204" pitchFamily="49" charset="0"/>
              </a:rPr>
              <a:t>[:, </a:t>
            </a:r>
            <a:r>
              <a:rPr lang="en-IN" sz="1600" dirty="0">
                <a:solidFill>
                  <a:srgbClr val="098658"/>
                </a:solidFill>
                <a:latin typeface="Menlo" panose="020B0609030804020204" pitchFamily="49" charset="0"/>
              </a:rPr>
              <a:t>1</a:t>
            </a:r>
            <a:r>
              <a:rPr lang="en-IN" sz="1600" dirty="0">
                <a:solidFill>
                  <a:srgbClr val="000000"/>
                </a:solidFill>
                <a:latin typeface="Menlo" panose="020B0609030804020204" pitchFamily="49" charset="0"/>
              </a:rPr>
              <a:t>], </a:t>
            </a:r>
            <a:r>
              <a:rPr lang="en-IN" sz="1600" dirty="0">
                <a:solidFill>
                  <a:srgbClr val="001080"/>
                </a:solidFill>
                <a:latin typeface="Menlo" panose="020B0609030804020204" pitchFamily="49" charset="0"/>
              </a:rPr>
              <a:t>c</a:t>
            </a:r>
            <a:r>
              <a:rPr lang="en-IN" sz="1600" dirty="0">
                <a:solidFill>
                  <a:srgbClr val="000000"/>
                </a:solidFill>
                <a:latin typeface="Menlo" panose="020B0609030804020204" pitchFamily="49" charset="0"/>
              </a:rPr>
              <a:t>=</a:t>
            </a:r>
            <a:r>
              <a:rPr lang="en-IN" sz="1600" dirty="0" err="1">
                <a:solidFill>
                  <a:srgbClr val="001080"/>
                </a:solidFill>
                <a:latin typeface="Menlo" panose="020B0609030804020204" pitchFamily="49" charset="0"/>
              </a:rPr>
              <a:t>pred_labels</a:t>
            </a:r>
            <a:r>
              <a:rPr lang="en-IN" sz="1600" dirty="0">
                <a:solidFill>
                  <a:srgbClr val="000000"/>
                </a:solidFill>
                <a:latin typeface="Menlo" panose="020B0609030804020204" pitchFamily="49" charset="0"/>
              </a:rPr>
              <a:t>, </a:t>
            </a:r>
            <a:r>
              <a:rPr lang="en-IN" sz="1600" dirty="0" err="1">
                <a:solidFill>
                  <a:srgbClr val="001080"/>
                </a:solidFill>
                <a:latin typeface="Menlo" panose="020B0609030804020204" pitchFamily="49" charset="0"/>
              </a:rPr>
              <a:t>cmap</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'rainbow'</a:t>
            </a:r>
            <a:r>
              <a:rPr lang="en-IN" sz="1600" dirty="0">
                <a:solidFill>
                  <a:srgbClr val="000000"/>
                </a:solidFill>
                <a:latin typeface="Menlo" panose="020B0609030804020204" pitchFamily="49" charset="0"/>
              </a:rPr>
              <a:t>, </a:t>
            </a:r>
            <a:r>
              <a:rPr lang="en-IN" sz="1600" dirty="0">
                <a:solidFill>
                  <a:srgbClr val="001080"/>
                </a:solidFill>
                <a:latin typeface="Menlo" panose="020B0609030804020204" pitchFamily="49" charset="0"/>
              </a:rPr>
              <a:t>s</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100</a:t>
            </a:r>
            <a:r>
              <a:rPr lang="en-IN" sz="1600" dirty="0">
                <a:solidFill>
                  <a:srgbClr val="000000"/>
                </a:solidFill>
                <a:latin typeface="Menlo" panose="020B0609030804020204" pitchFamily="49" charset="0"/>
              </a:rPr>
              <a:t>)</a:t>
            </a:r>
          </a:p>
          <a:p>
            <a:r>
              <a:rPr lang="en-IN" sz="1600" dirty="0" err="1">
                <a:solidFill>
                  <a:srgbClr val="267F99"/>
                </a:solidFill>
                <a:latin typeface="Menlo" panose="020B0609030804020204" pitchFamily="49" charset="0"/>
              </a:rPr>
              <a:t>plt</a:t>
            </a:r>
            <a:r>
              <a:rPr lang="en-IN" sz="1600" dirty="0" err="1">
                <a:solidFill>
                  <a:srgbClr val="000000"/>
                </a:solidFill>
                <a:latin typeface="Menlo" panose="020B0609030804020204" pitchFamily="49" charset="0"/>
              </a:rPr>
              <a:t>.</a:t>
            </a:r>
            <a:r>
              <a:rPr lang="en-IN" sz="1600" dirty="0" err="1">
                <a:solidFill>
                  <a:srgbClr val="795E26"/>
                </a:solidFill>
                <a:latin typeface="Menlo" panose="020B0609030804020204" pitchFamily="49" charset="0"/>
              </a:rPr>
              <a:t>title</a:t>
            </a:r>
            <a:r>
              <a:rPr lang="en-IN" sz="1600" dirty="0">
                <a:solidFill>
                  <a:srgbClr val="000000"/>
                </a:solidFill>
                <a:latin typeface="Menlo" panose="020B0609030804020204" pitchFamily="49" charset="0"/>
              </a:rPr>
              <a:t>(</a:t>
            </a:r>
            <a:r>
              <a:rPr lang="en-IN" sz="1600" dirty="0" err="1">
                <a:solidFill>
                  <a:srgbClr val="0000FF"/>
                </a:solidFill>
                <a:latin typeface="Menlo" panose="020B0609030804020204" pitchFamily="49" charset="0"/>
              </a:rPr>
              <a:t>f</a:t>
            </a:r>
            <a:r>
              <a:rPr lang="en-IN" sz="1600" dirty="0" err="1">
                <a:solidFill>
                  <a:srgbClr val="A31515"/>
                </a:solidFill>
                <a:latin typeface="Menlo" panose="020B0609030804020204" pitchFamily="49" charset="0"/>
              </a:rPr>
              <a:t>"Agglomerative</a:t>
            </a:r>
            <a:r>
              <a:rPr lang="en-IN" sz="1600" dirty="0">
                <a:solidFill>
                  <a:srgbClr val="A31515"/>
                </a:solidFill>
                <a:latin typeface="Menlo" panose="020B0609030804020204" pitchFamily="49" charset="0"/>
              </a:rPr>
              <a:t> (K=</a:t>
            </a:r>
            <a:r>
              <a:rPr lang="en-IN" sz="1600" dirty="0">
                <a:solidFill>
                  <a:srgbClr val="0000FF"/>
                </a:solidFill>
                <a:latin typeface="Menlo" panose="020B0609030804020204" pitchFamily="49" charset="0"/>
              </a:rPr>
              <a:t>{</a:t>
            </a:r>
            <a:r>
              <a:rPr lang="en-IN" sz="1600" dirty="0" err="1">
                <a:solidFill>
                  <a:srgbClr val="001080"/>
                </a:solidFill>
                <a:latin typeface="Menlo" panose="020B0609030804020204" pitchFamily="49" charset="0"/>
              </a:rPr>
              <a:t>num_clusters</a:t>
            </a:r>
            <a:r>
              <a:rPr lang="en-IN" sz="1600" dirty="0">
                <a:solidFill>
                  <a:srgbClr val="0000FF"/>
                </a:solidFill>
                <a:latin typeface="Menlo" panose="020B0609030804020204" pitchFamily="49" charset="0"/>
              </a:rPr>
              <a:t>}</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a:t>
            </a:r>
          </a:p>
          <a:p>
            <a:r>
              <a:rPr lang="en-IN" sz="1600" dirty="0" err="1">
                <a:solidFill>
                  <a:srgbClr val="267F99"/>
                </a:solidFill>
                <a:latin typeface="Menlo" panose="020B0609030804020204" pitchFamily="49" charset="0"/>
              </a:rPr>
              <a:t>plt</a:t>
            </a:r>
            <a:r>
              <a:rPr lang="en-IN" sz="1600" dirty="0" err="1">
                <a:solidFill>
                  <a:srgbClr val="000000"/>
                </a:solidFill>
                <a:latin typeface="Menlo" panose="020B0609030804020204" pitchFamily="49" charset="0"/>
              </a:rPr>
              <a:t>.</a:t>
            </a:r>
            <a:r>
              <a:rPr lang="en-IN" sz="1600" dirty="0" err="1">
                <a:solidFill>
                  <a:srgbClr val="795E26"/>
                </a:solidFill>
                <a:latin typeface="Menlo" panose="020B0609030804020204" pitchFamily="49" charset="0"/>
              </a:rPr>
              <a:t>show</a:t>
            </a:r>
            <a:r>
              <a:rPr lang="en-IN" sz="1600" dirty="0">
                <a:solidFill>
                  <a:srgbClr val="000000"/>
                </a:solidFill>
                <a:latin typeface="Menlo" panose="020B0609030804020204" pitchFamily="49" charset="0"/>
              </a:rPr>
              <a:t>()</a:t>
            </a:r>
          </a:p>
        </p:txBody>
      </p:sp>
      <p:sp>
        <p:nvSpPr>
          <p:cNvPr id="5" name="Rectangle 4">
            <a:extLst>
              <a:ext uri="{FF2B5EF4-FFF2-40B4-BE49-F238E27FC236}">
                <a16:creationId xmlns:a16="http://schemas.microsoft.com/office/drawing/2014/main" id="{EE739CAB-E4FF-8669-5A23-6EAF428E5691}"/>
              </a:ext>
            </a:extLst>
          </p:cNvPr>
          <p:cNvSpPr/>
          <p:nvPr/>
        </p:nvSpPr>
        <p:spPr>
          <a:xfrm>
            <a:off x="215071" y="1122101"/>
            <a:ext cx="499993" cy="255454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17</a:t>
            </a:r>
          </a:p>
          <a:p>
            <a:pPr algn="r"/>
            <a:r>
              <a:rPr lang="en-IN" sz="1600" b="1" dirty="0">
                <a:solidFill>
                  <a:schemeClr val="tx1">
                    <a:lumMod val="75000"/>
                    <a:lumOff val="25000"/>
                  </a:schemeClr>
                </a:solidFill>
                <a:latin typeface="Consolas" panose="020B0609020204030204" pitchFamily="49" charset="0"/>
              </a:rPr>
              <a:t>18</a:t>
            </a:r>
          </a:p>
          <a:p>
            <a:pPr algn="r"/>
            <a:r>
              <a:rPr lang="en-IN" sz="1600" b="1" dirty="0">
                <a:solidFill>
                  <a:schemeClr val="tx1">
                    <a:lumMod val="75000"/>
                    <a:lumOff val="25000"/>
                  </a:schemeClr>
                </a:solidFill>
                <a:latin typeface="Consolas" panose="020B0609020204030204" pitchFamily="49" charset="0"/>
              </a:rPr>
              <a:t>19</a:t>
            </a:r>
          </a:p>
          <a:p>
            <a:pPr algn="r"/>
            <a:endParaRPr lang="en-IN" sz="1600" b="1" dirty="0">
              <a:solidFill>
                <a:schemeClr val="tx1">
                  <a:lumMod val="75000"/>
                  <a:lumOff val="25000"/>
                </a:schemeClr>
              </a:solidFill>
              <a:latin typeface="Consolas" panose="020B0609020204030204" pitchFamily="49" charset="0"/>
            </a:endParaRPr>
          </a:p>
          <a:p>
            <a:pPr algn="r"/>
            <a:r>
              <a:rPr lang="en-IN" sz="1600" b="1" dirty="0">
                <a:solidFill>
                  <a:schemeClr val="tx1">
                    <a:lumMod val="75000"/>
                    <a:lumOff val="25000"/>
                  </a:schemeClr>
                </a:solidFill>
                <a:latin typeface="Consolas" panose="020B0609020204030204" pitchFamily="49" charset="0"/>
              </a:rPr>
              <a:t>20</a:t>
            </a:r>
          </a:p>
          <a:p>
            <a:pPr algn="r"/>
            <a:r>
              <a:rPr lang="en-IN" sz="1600" b="1" dirty="0">
                <a:solidFill>
                  <a:schemeClr val="tx1">
                    <a:lumMod val="75000"/>
                    <a:lumOff val="25000"/>
                  </a:schemeClr>
                </a:solidFill>
                <a:latin typeface="Consolas" panose="020B0609020204030204" pitchFamily="49" charset="0"/>
              </a:rPr>
              <a:t>21</a:t>
            </a:r>
          </a:p>
          <a:p>
            <a:pPr algn="r"/>
            <a:r>
              <a:rPr lang="en-IN" sz="1600" b="1" dirty="0">
                <a:solidFill>
                  <a:schemeClr val="tx1">
                    <a:lumMod val="75000"/>
                    <a:lumOff val="25000"/>
                  </a:schemeClr>
                </a:solidFill>
                <a:latin typeface="Consolas" panose="020B0609020204030204" pitchFamily="49" charset="0"/>
              </a:rPr>
              <a:t>22</a:t>
            </a:r>
          </a:p>
          <a:p>
            <a:pPr algn="r"/>
            <a:r>
              <a:rPr lang="en-IN" sz="1600" b="1" dirty="0">
                <a:solidFill>
                  <a:schemeClr val="tx1">
                    <a:lumMod val="75000"/>
                    <a:lumOff val="25000"/>
                  </a:schemeClr>
                </a:solidFill>
                <a:latin typeface="Consolas" panose="020B0609020204030204" pitchFamily="49" charset="0"/>
              </a:rPr>
              <a:t>23</a:t>
            </a:r>
          </a:p>
          <a:p>
            <a:pPr algn="r"/>
            <a:r>
              <a:rPr lang="en-IN" sz="1600" b="1" dirty="0">
                <a:solidFill>
                  <a:schemeClr val="tx1">
                    <a:lumMod val="75000"/>
                    <a:lumOff val="25000"/>
                  </a:schemeClr>
                </a:solidFill>
                <a:latin typeface="Consolas" panose="020B0609020204030204" pitchFamily="49" charset="0"/>
              </a:rPr>
              <a:t>24</a:t>
            </a:r>
          </a:p>
          <a:p>
            <a:pPr algn="r"/>
            <a:r>
              <a:rPr lang="en-IN" sz="1600" b="1" dirty="0">
                <a:solidFill>
                  <a:schemeClr val="tx1">
                    <a:lumMod val="75000"/>
                    <a:lumOff val="25000"/>
                  </a:schemeClr>
                </a:solidFill>
                <a:latin typeface="Consolas" panose="020B0609020204030204" pitchFamily="49" charset="0"/>
              </a:rPr>
              <a:t>25</a:t>
            </a:r>
          </a:p>
        </p:txBody>
      </p:sp>
      <p:sp>
        <p:nvSpPr>
          <p:cNvPr id="6" name="Rectangle: Top Corners Rounded 6">
            <a:extLst>
              <a:ext uri="{FF2B5EF4-FFF2-40B4-BE49-F238E27FC236}">
                <a16:creationId xmlns:a16="http://schemas.microsoft.com/office/drawing/2014/main" id="{DC33AB87-CEC6-EE16-7345-3B3A09874DDF}"/>
              </a:ext>
            </a:extLst>
          </p:cNvPr>
          <p:cNvSpPr/>
          <p:nvPr/>
        </p:nvSpPr>
        <p:spPr>
          <a:xfrm>
            <a:off x="215071" y="79291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t>Agglomerative</a:t>
            </a:r>
            <a:r>
              <a:rPr lang="en-US" sz="1600" dirty="0" err="1">
                <a:solidFill>
                  <a:schemeClr val="bg1"/>
                </a:solidFill>
              </a:rPr>
              <a:t>.py</a:t>
            </a:r>
            <a:endParaRPr lang="en-US" sz="1600" dirty="0">
              <a:solidFill>
                <a:schemeClr val="bg1"/>
              </a:solidFill>
            </a:endParaRPr>
          </a:p>
        </p:txBody>
      </p:sp>
      <p:pic>
        <p:nvPicPr>
          <p:cNvPr id="7" name="Picture 6">
            <a:extLst>
              <a:ext uri="{FF2B5EF4-FFF2-40B4-BE49-F238E27FC236}">
                <a16:creationId xmlns:a16="http://schemas.microsoft.com/office/drawing/2014/main" id="{22DA211B-F461-600D-3E68-D035AAB177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8016" y="1122100"/>
            <a:ext cx="4250425" cy="3066077"/>
          </a:xfrm>
          <a:prstGeom prst="rect">
            <a:avLst/>
          </a:prstGeom>
        </p:spPr>
      </p:pic>
    </p:spTree>
    <p:extLst>
      <p:ext uri="{BB962C8B-B14F-4D97-AF65-F5344CB8AC3E}">
        <p14:creationId xmlns:p14="http://schemas.microsoft.com/office/powerpoint/2010/main" val="407627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C908D-E482-8EAD-2DC4-F504A7653426}"/>
              </a:ext>
            </a:extLst>
          </p:cNvPr>
          <p:cNvSpPr>
            <a:spLocks noGrp="1"/>
          </p:cNvSpPr>
          <p:nvPr>
            <p:ph type="title"/>
          </p:nvPr>
        </p:nvSpPr>
        <p:spPr/>
        <p:txBody>
          <a:bodyPr/>
          <a:lstStyle/>
          <a:p>
            <a:r>
              <a:rPr lang="en-US" altLang="zh-CN" sz="3600" dirty="0">
                <a:ea typeface="SimSun" panose="02010600030101010101" pitchFamily="2" charset="-122"/>
              </a:rPr>
              <a:t>Weakness of agglomerative clustering methods</a:t>
            </a:r>
            <a:endParaRPr lang="en-US" dirty="0"/>
          </a:p>
        </p:txBody>
      </p:sp>
      <p:sp>
        <p:nvSpPr>
          <p:cNvPr id="3" name="Content Placeholder 2">
            <a:extLst>
              <a:ext uri="{FF2B5EF4-FFF2-40B4-BE49-F238E27FC236}">
                <a16:creationId xmlns:a16="http://schemas.microsoft.com/office/drawing/2014/main" id="{5C62AE0E-5AF3-3502-E64D-E299D1055D5F}"/>
              </a:ext>
            </a:extLst>
          </p:cNvPr>
          <p:cNvSpPr>
            <a:spLocks noGrp="1"/>
          </p:cNvSpPr>
          <p:nvPr>
            <p:ph idx="1"/>
          </p:nvPr>
        </p:nvSpPr>
        <p:spPr/>
        <p:txBody>
          <a:bodyPr/>
          <a:lstStyle/>
          <a:p>
            <a:r>
              <a:rPr lang="en-US" dirty="0"/>
              <a:t>Can never </a:t>
            </a:r>
            <a:r>
              <a:rPr lang="en-US" dirty="0">
                <a:solidFill>
                  <a:srgbClr val="C00000"/>
                </a:solidFill>
              </a:rPr>
              <a:t>undo what was done previously</a:t>
            </a:r>
          </a:p>
          <a:p>
            <a:r>
              <a:rPr lang="en-US" dirty="0"/>
              <a:t>Do </a:t>
            </a:r>
            <a:r>
              <a:rPr lang="en-US" dirty="0">
                <a:solidFill>
                  <a:srgbClr val="C00000"/>
                </a:solidFill>
              </a:rPr>
              <a:t>not scale well</a:t>
            </a:r>
            <a:r>
              <a:rPr lang="en-US" dirty="0"/>
              <a:t>: time complexity of </a:t>
            </a:r>
            <a:r>
              <a:rPr lang="en-US" dirty="0">
                <a:solidFill>
                  <a:srgbClr val="C00000"/>
                </a:solidFill>
              </a:rPr>
              <a:t>at least O(n</a:t>
            </a:r>
            <a:r>
              <a:rPr lang="en-US" baseline="30000" dirty="0">
                <a:solidFill>
                  <a:srgbClr val="C00000"/>
                </a:solidFill>
              </a:rPr>
              <a:t>2</a:t>
            </a:r>
            <a:r>
              <a:rPr lang="en-US" dirty="0">
                <a:solidFill>
                  <a:srgbClr val="C00000"/>
                </a:solidFill>
              </a:rPr>
              <a:t>), </a:t>
            </a:r>
            <a:r>
              <a:rPr lang="en-US" dirty="0"/>
              <a:t>where n is the number of total objects</a:t>
            </a:r>
          </a:p>
          <a:p>
            <a:r>
              <a:rPr lang="en-US" dirty="0">
                <a:solidFill>
                  <a:srgbClr val="C00000"/>
                </a:solidFill>
              </a:rPr>
              <a:t>Integration of hierarchical &amp; distance-based clustering</a:t>
            </a:r>
          </a:p>
          <a:p>
            <a:pPr lvl="1"/>
            <a:r>
              <a:rPr lang="en-US" dirty="0">
                <a:solidFill>
                  <a:srgbClr val="C00000"/>
                </a:solidFill>
              </a:rPr>
              <a:t>BIRCH</a:t>
            </a:r>
            <a:r>
              <a:rPr lang="en-US" dirty="0"/>
              <a:t>: uses CF-tree and incrementally adjusts the quality of sub-clusters.</a:t>
            </a:r>
          </a:p>
          <a:p>
            <a:pPr lvl="1"/>
            <a:r>
              <a:rPr lang="en-US" dirty="0">
                <a:solidFill>
                  <a:srgbClr val="C00000"/>
                </a:solidFill>
              </a:rPr>
              <a:t>CHAMELEON:</a:t>
            </a:r>
            <a:r>
              <a:rPr lang="en-US" dirty="0"/>
              <a:t> hierarchical clustering using dynamic modeling</a:t>
            </a:r>
          </a:p>
          <a:p>
            <a:endParaRPr lang="en-US" dirty="0"/>
          </a:p>
        </p:txBody>
      </p:sp>
    </p:spTree>
    <p:extLst>
      <p:ext uri="{BB962C8B-B14F-4D97-AF65-F5344CB8AC3E}">
        <p14:creationId xmlns:p14="http://schemas.microsoft.com/office/powerpoint/2010/main" val="191148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5E991-77D1-BA05-8346-2D7C3BD868E9}"/>
              </a:ext>
            </a:extLst>
          </p:cNvPr>
          <p:cNvSpPr>
            <a:spLocks noGrp="1"/>
          </p:cNvSpPr>
          <p:nvPr>
            <p:ph type="title"/>
          </p:nvPr>
        </p:nvSpPr>
        <p:spPr/>
        <p:txBody>
          <a:bodyPr>
            <a:normAutofit fontScale="90000"/>
          </a:bodyPr>
          <a:lstStyle/>
          <a:p>
            <a:r>
              <a:rPr lang="en-US" altLang="zh-CN" dirty="0">
                <a:ea typeface="SimSun" panose="02010600030101010101" pitchFamily="2" charset="-122"/>
              </a:rPr>
              <a:t>BIRCH (Balanced Iterative Reducing and Clustering Using Hierarchies)</a:t>
            </a:r>
            <a:endParaRPr lang="en-US" dirty="0"/>
          </a:p>
        </p:txBody>
      </p:sp>
      <p:sp>
        <p:nvSpPr>
          <p:cNvPr id="3" name="Content Placeholder 2">
            <a:extLst>
              <a:ext uri="{FF2B5EF4-FFF2-40B4-BE49-F238E27FC236}">
                <a16:creationId xmlns:a16="http://schemas.microsoft.com/office/drawing/2014/main" id="{4CBC3B45-8423-23C8-181B-7F5AB00725CF}"/>
              </a:ext>
            </a:extLst>
          </p:cNvPr>
          <p:cNvSpPr>
            <a:spLocks noGrp="1"/>
          </p:cNvSpPr>
          <p:nvPr>
            <p:ph idx="1"/>
          </p:nvPr>
        </p:nvSpPr>
        <p:spPr/>
        <p:txBody>
          <a:bodyPr/>
          <a:lstStyle/>
          <a:p>
            <a:r>
              <a:rPr lang="en-US" dirty="0">
                <a:solidFill>
                  <a:srgbClr val="C00000"/>
                </a:solidFill>
              </a:rPr>
              <a:t>Balanced Iterative Reducing and Clustering using Hierarchies (BIRCH) </a:t>
            </a:r>
            <a:r>
              <a:rPr lang="en-US" dirty="0"/>
              <a:t>is designed for clustering a large amount of numeric data by </a:t>
            </a:r>
            <a:r>
              <a:rPr lang="en-US" dirty="0">
                <a:solidFill>
                  <a:srgbClr val="C00000"/>
                </a:solidFill>
              </a:rPr>
              <a:t>integrating hierarchical clustering </a:t>
            </a:r>
            <a:r>
              <a:rPr lang="en-US" dirty="0"/>
              <a:t>and other clustering methods such as </a:t>
            </a:r>
            <a:r>
              <a:rPr lang="en-US" dirty="0">
                <a:solidFill>
                  <a:srgbClr val="C00000"/>
                </a:solidFill>
              </a:rPr>
              <a:t>iterative partitioning. </a:t>
            </a:r>
          </a:p>
          <a:p>
            <a:r>
              <a:rPr lang="en-US" dirty="0"/>
              <a:t>Incrementally construct a CF (Clustering Feature) tree, a hierarchical data structure for </a:t>
            </a:r>
            <a:r>
              <a:rPr lang="en-US" dirty="0">
                <a:solidFill>
                  <a:srgbClr val="C00000"/>
                </a:solidFill>
              </a:rPr>
              <a:t>multiphase clustering</a:t>
            </a:r>
          </a:p>
          <a:p>
            <a:pPr lvl="1"/>
            <a:r>
              <a:rPr lang="en-US" dirty="0"/>
              <a:t>Phase 1: </a:t>
            </a:r>
            <a:r>
              <a:rPr lang="en-US" dirty="0">
                <a:solidFill>
                  <a:srgbClr val="C00000"/>
                </a:solidFill>
              </a:rPr>
              <a:t>scan DB </a:t>
            </a:r>
            <a:r>
              <a:rPr lang="en-US" dirty="0"/>
              <a:t>to build an </a:t>
            </a:r>
            <a:r>
              <a:rPr lang="en-US" dirty="0">
                <a:solidFill>
                  <a:srgbClr val="C00000"/>
                </a:solidFill>
              </a:rPr>
              <a:t>initial in-memory CF tree </a:t>
            </a:r>
            <a:r>
              <a:rPr lang="en-US" dirty="0"/>
              <a:t>(a </a:t>
            </a:r>
            <a:r>
              <a:rPr lang="en-US" dirty="0">
                <a:solidFill>
                  <a:srgbClr val="C00000"/>
                </a:solidFill>
              </a:rPr>
              <a:t>multi-level compression of the data </a:t>
            </a:r>
            <a:r>
              <a:rPr lang="en-US" dirty="0"/>
              <a:t>that tries to preserve the </a:t>
            </a:r>
            <a:r>
              <a:rPr lang="en-US" dirty="0">
                <a:solidFill>
                  <a:srgbClr val="C00000"/>
                </a:solidFill>
              </a:rPr>
              <a:t>inherent clustering structure of the data</a:t>
            </a:r>
            <a:r>
              <a:rPr lang="en-US" dirty="0"/>
              <a:t>)  </a:t>
            </a:r>
          </a:p>
          <a:p>
            <a:pPr lvl="1"/>
            <a:r>
              <a:rPr lang="en-US" dirty="0"/>
              <a:t>Phase 2: use an arbitrary </a:t>
            </a:r>
            <a:r>
              <a:rPr lang="en-US" dirty="0">
                <a:solidFill>
                  <a:srgbClr val="C00000"/>
                </a:solidFill>
              </a:rPr>
              <a:t>clustering algorithm </a:t>
            </a:r>
            <a:r>
              <a:rPr lang="en-US" dirty="0"/>
              <a:t>to cluster the </a:t>
            </a:r>
            <a:r>
              <a:rPr lang="en-US" dirty="0">
                <a:solidFill>
                  <a:srgbClr val="C00000"/>
                </a:solidFill>
              </a:rPr>
              <a:t>leaf nodes of the CF-tree. </a:t>
            </a:r>
          </a:p>
          <a:p>
            <a:r>
              <a:rPr lang="en-US" dirty="0">
                <a:solidFill>
                  <a:srgbClr val="C00000"/>
                </a:solidFill>
              </a:rPr>
              <a:t>Scales linearly</a:t>
            </a:r>
            <a:r>
              <a:rPr lang="en-US" dirty="0"/>
              <a:t>: finds a </a:t>
            </a:r>
            <a:r>
              <a:rPr lang="en-US" dirty="0">
                <a:solidFill>
                  <a:srgbClr val="C00000"/>
                </a:solidFill>
              </a:rPr>
              <a:t>good clustering </a:t>
            </a:r>
            <a:r>
              <a:rPr lang="en-US" dirty="0"/>
              <a:t>with a </a:t>
            </a:r>
            <a:r>
              <a:rPr lang="en-US" dirty="0">
                <a:solidFill>
                  <a:srgbClr val="C00000"/>
                </a:solidFill>
              </a:rPr>
              <a:t>single scan </a:t>
            </a:r>
            <a:r>
              <a:rPr lang="en-US" dirty="0"/>
              <a:t>and </a:t>
            </a:r>
            <a:r>
              <a:rPr lang="en-US" dirty="0">
                <a:solidFill>
                  <a:srgbClr val="C00000"/>
                </a:solidFill>
              </a:rPr>
              <a:t>improves the quality with a few additional scans</a:t>
            </a:r>
          </a:p>
          <a:p>
            <a:r>
              <a:rPr lang="en-US" dirty="0">
                <a:solidFill>
                  <a:srgbClr val="C00000"/>
                </a:solidFill>
              </a:rPr>
              <a:t>Weakness</a:t>
            </a:r>
            <a:r>
              <a:rPr lang="en-US" dirty="0"/>
              <a:t>: handles only </a:t>
            </a:r>
            <a:r>
              <a:rPr lang="en-US" dirty="0">
                <a:solidFill>
                  <a:srgbClr val="C00000"/>
                </a:solidFill>
              </a:rPr>
              <a:t>numeric data, and sensitive </a:t>
            </a:r>
            <a:r>
              <a:rPr lang="en-US" dirty="0"/>
              <a:t>to the order of the data record</a:t>
            </a:r>
          </a:p>
          <a:p>
            <a:endParaRPr lang="en-US" dirty="0"/>
          </a:p>
        </p:txBody>
      </p:sp>
    </p:spTree>
    <p:extLst>
      <p:ext uri="{BB962C8B-B14F-4D97-AF65-F5344CB8AC3E}">
        <p14:creationId xmlns:p14="http://schemas.microsoft.com/office/powerpoint/2010/main" val="166247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BAAED-4B1A-27A0-8FF9-19F0DC09B7D1}"/>
              </a:ext>
            </a:extLst>
          </p:cNvPr>
          <p:cNvSpPr>
            <a:spLocks noGrp="1"/>
          </p:cNvSpPr>
          <p:nvPr>
            <p:ph type="title"/>
          </p:nvPr>
        </p:nvSpPr>
        <p:spPr/>
        <p:txBody>
          <a:bodyPr>
            <a:normAutofit/>
          </a:bodyPr>
          <a:lstStyle/>
          <a:p>
            <a:r>
              <a:rPr lang="en-US" dirty="0"/>
              <a:t>Clustering Feature Vector in BIRCH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6F3533-5DC0-FF60-0DC9-3069D4B7C0F6}"/>
                  </a:ext>
                </a:extLst>
              </p:cNvPr>
              <p:cNvSpPr>
                <a:spLocks noGrp="1"/>
              </p:cNvSpPr>
              <p:nvPr>
                <p:ph idx="1"/>
              </p:nvPr>
            </p:nvSpPr>
            <p:spPr/>
            <p:txBody>
              <a:bodyPr/>
              <a:lstStyle/>
              <a:p>
                <a:r>
                  <a:rPr lang="en-US" dirty="0"/>
                  <a:t>Clustering Feature (CF):  </a:t>
                </a:r>
                <a:r>
                  <a:rPr lang="en-US" dirty="0">
                    <a:solidFill>
                      <a:srgbClr val="C00000"/>
                    </a:solidFill>
                  </a:rPr>
                  <a:t>CF = (N, LS, SS)</a:t>
                </a:r>
              </a:p>
              <a:p>
                <a:r>
                  <a:rPr lang="en-US" sz="1800" i="1" dirty="0"/>
                  <a:t>Where,</a:t>
                </a:r>
              </a:p>
              <a:p>
                <a:r>
                  <a:rPr lang="en-US" b="1" dirty="0"/>
                  <a:t>N: </a:t>
                </a:r>
                <a:r>
                  <a:rPr lang="en-US" dirty="0"/>
                  <a:t>Number of data points</a:t>
                </a:r>
              </a:p>
              <a:p>
                <a:r>
                  <a:rPr lang="en-US" b="1" dirty="0"/>
                  <a:t>LS:</a:t>
                </a:r>
                <a:r>
                  <a:rPr lang="en-US" dirty="0"/>
                  <a:t> linear sum of N points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b="0" i="1" smtClean="0">
                            <a:latin typeface="Cambria Math" panose="02040503050406030204" pitchFamily="18" charset="0"/>
                          </a:rPr>
                          <m:t>𝑋</m:t>
                        </m:r>
                        <m:r>
                          <a:rPr lang="en-US" b="0" i="1" baseline="-25000" smtClean="0">
                            <a:latin typeface="Cambria Math" panose="02040503050406030204" pitchFamily="18" charset="0"/>
                          </a:rPr>
                          <m:t>𝑖</m:t>
                        </m:r>
                      </m:e>
                    </m:nary>
                  </m:oMath>
                </a14:m>
                <a:endParaRPr lang="en-US" dirty="0"/>
              </a:p>
              <a:p>
                <a:r>
                  <a:rPr lang="en-US" b="1" dirty="0"/>
                  <a:t>SS:</a:t>
                </a:r>
                <a:r>
                  <a:rPr lang="en-US" dirty="0"/>
                  <a:t> square sum of N points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b="0" i="1" smtClean="0">
                            <a:latin typeface="Cambria Math" panose="02040503050406030204" pitchFamily="18" charset="0"/>
                          </a:rPr>
                          <m:t>𝑋</m:t>
                        </m:r>
                        <m:r>
                          <a:rPr lang="en-US" b="0" i="1" baseline="30000" smtClean="0">
                            <a:latin typeface="Cambria Math" panose="02040503050406030204" pitchFamily="18" charset="0"/>
                          </a:rPr>
                          <m:t>2</m:t>
                        </m:r>
                        <m:r>
                          <a:rPr lang="en-US" b="0" i="1" baseline="-25000" smtClean="0">
                            <a:latin typeface="Cambria Math" panose="02040503050406030204" pitchFamily="18" charset="0"/>
                          </a:rPr>
                          <m:t>𝑖</m:t>
                        </m:r>
                      </m:e>
                    </m:nary>
                  </m:oMath>
                </a14:m>
                <a:endParaRPr lang="en-US" baseline="30000" dirty="0"/>
              </a:p>
              <a:p>
                <a:endParaRPr lang="en-US" dirty="0"/>
              </a:p>
            </p:txBody>
          </p:sp>
        </mc:Choice>
        <mc:Fallback xmlns="">
          <p:sp>
            <p:nvSpPr>
              <p:cNvPr id="3" name="Content Placeholder 2">
                <a:extLst>
                  <a:ext uri="{FF2B5EF4-FFF2-40B4-BE49-F238E27FC236}">
                    <a16:creationId xmlns:a16="http://schemas.microsoft.com/office/drawing/2014/main" id="{B16F3533-5DC0-FF60-0DC9-3069D4B7C0F6}"/>
                  </a:ext>
                </a:extLst>
              </p:cNvPr>
              <p:cNvSpPr>
                <a:spLocks noGrp="1" noRot="1" noChangeAspect="1" noMove="1" noResize="1" noEditPoints="1" noAdjustHandles="1" noChangeArrowheads="1" noChangeShapeType="1" noTextEdit="1"/>
              </p:cNvSpPr>
              <p:nvPr>
                <p:ph idx="1"/>
              </p:nvPr>
            </p:nvSpPr>
            <p:spPr>
              <a:blipFill>
                <a:blip r:embed="rId2"/>
                <a:stretch>
                  <a:fillRect l="-532" t="-1818"/>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6CB33D23-5A88-032E-59A7-FCAA1C6383BB}"/>
              </a:ext>
            </a:extLst>
          </p:cNvPr>
          <p:cNvSpPr/>
          <p:nvPr/>
        </p:nvSpPr>
        <p:spPr>
          <a:xfrm>
            <a:off x="575310" y="3575685"/>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Oval 4">
            <a:extLst>
              <a:ext uri="{FF2B5EF4-FFF2-40B4-BE49-F238E27FC236}">
                <a16:creationId xmlns:a16="http://schemas.microsoft.com/office/drawing/2014/main" id="{1CEF6501-70DE-58C4-9966-13A3AED26929}"/>
              </a:ext>
            </a:extLst>
          </p:cNvPr>
          <p:cNvSpPr/>
          <p:nvPr/>
        </p:nvSpPr>
        <p:spPr>
          <a:xfrm>
            <a:off x="845820" y="392572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365D8F2-7707-B05F-EB0F-DCD7F87EB4EE}"/>
              </a:ext>
            </a:extLst>
          </p:cNvPr>
          <p:cNvSpPr/>
          <p:nvPr/>
        </p:nvSpPr>
        <p:spPr>
          <a:xfrm>
            <a:off x="1501140" y="420385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4463F61-3922-6CAE-30F3-C7BBDD2D0628}"/>
              </a:ext>
            </a:extLst>
          </p:cNvPr>
          <p:cNvSpPr/>
          <p:nvPr/>
        </p:nvSpPr>
        <p:spPr>
          <a:xfrm>
            <a:off x="1242060" y="4607717"/>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356CB24-9A68-C493-1008-9D292E7C8AD5}"/>
              </a:ext>
            </a:extLst>
          </p:cNvPr>
          <p:cNvSpPr txBox="1"/>
          <p:nvPr/>
        </p:nvSpPr>
        <p:spPr>
          <a:xfrm>
            <a:off x="2251710" y="3931442"/>
            <a:ext cx="630290" cy="884088"/>
          </a:xfrm>
          <a:prstGeom prst="rect">
            <a:avLst/>
          </a:prstGeom>
          <a:noFill/>
        </p:spPr>
        <p:txBody>
          <a:bodyPr wrap="square">
            <a:spAutoFit/>
          </a:bodyPr>
          <a:lstStyle/>
          <a:p>
            <a:pPr>
              <a:lnSpc>
                <a:spcPct val="60000"/>
              </a:lnSpc>
              <a:spcBef>
                <a:spcPct val="50000"/>
              </a:spcBef>
              <a:buClrTx/>
              <a:buSzTx/>
              <a:buFontTx/>
              <a:buNone/>
            </a:pPr>
            <a:r>
              <a:rPr lang="zh-CN" altLang="en-US" sz="1800" dirty="0">
                <a:latin typeface="+mj-lt"/>
                <a:ea typeface="SimSun" panose="02010600030101010101" pitchFamily="2" charset="-122"/>
              </a:rPr>
              <a:t>(3,4)</a:t>
            </a:r>
          </a:p>
          <a:p>
            <a:pPr>
              <a:lnSpc>
                <a:spcPct val="60000"/>
              </a:lnSpc>
              <a:spcBef>
                <a:spcPct val="50000"/>
              </a:spcBef>
              <a:buClrTx/>
              <a:buSzTx/>
              <a:buFontTx/>
              <a:buNone/>
            </a:pPr>
            <a:r>
              <a:rPr lang="zh-CN" altLang="en-US" sz="1800" dirty="0">
                <a:latin typeface="+mj-lt"/>
                <a:ea typeface="SimSun" panose="02010600030101010101" pitchFamily="2" charset="-122"/>
              </a:rPr>
              <a:t>(2,6)</a:t>
            </a:r>
          </a:p>
          <a:p>
            <a:pPr>
              <a:lnSpc>
                <a:spcPct val="60000"/>
              </a:lnSpc>
              <a:spcBef>
                <a:spcPct val="50000"/>
              </a:spcBef>
              <a:buClrTx/>
              <a:buSzTx/>
              <a:buFontTx/>
              <a:buNone/>
            </a:pPr>
            <a:r>
              <a:rPr lang="zh-CN" altLang="en-US" sz="1800" dirty="0">
                <a:latin typeface="+mj-lt"/>
                <a:ea typeface="SimSun" panose="02010600030101010101" pitchFamily="2" charset="-122"/>
              </a:rPr>
              <a:t>(4,5)</a:t>
            </a:r>
          </a:p>
        </p:txBody>
      </p:sp>
      <p:sp>
        <p:nvSpPr>
          <p:cNvPr id="11" name="TextBox 10">
            <a:extLst>
              <a:ext uri="{FF2B5EF4-FFF2-40B4-BE49-F238E27FC236}">
                <a16:creationId xmlns:a16="http://schemas.microsoft.com/office/drawing/2014/main" id="{621496D8-556B-DE75-2EA3-C5C61C84CAFD}"/>
              </a:ext>
            </a:extLst>
          </p:cNvPr>
          <p:cNvSpPr txBox="1"/>
          <p:nvPr/>
        </p:nvSpPr>
        <p:spPr>
          <a:xfrm>
            <a:off x="3175900" y="3925727"/>
            <a:ext cx="6126480" cy="369332"/>
          </a:xfrm>
          <a:prstGeom prst="rect">
            <a:avLst/>
          </a:prstGeom>
          <a:noFill/>
        </p:spPr>
        <p:txBody>
          <a:bodyPr wrap="square">
            <a:spAutoFit/>
          </a:bodyPr>
          <a:lstStyle/>
          <a:p>
            <a:pPr>
              <a:spcBef>
                <a:spcPct val="50000"/>
              </a:spcBef>
              <a:buClrTx/>
              <a:buSzTx/>
              <a:buFontTx/>
              <a:buNone/>
            </a:pPr>
            <a:r>
              <a:rPr lang="en-US" altLang="zh-CN" sz="1800" dirty="0">
                <a:latin typeface="+mj-lt"/>
                <a:ea typeface="SimSun" panose="02010600030101010101" pitchFamily="2" charset="-122"/>
              </a:rPr>
              <a:t>CF = (3, (</a:t>
            </a:r>
            <a:r>
              <a:rPr lang="en-US" altLang="zh-CN" dirty="0">
                <a:latin typeface="+mj-lt"/>
                <a:ea typeface="SimSun" panose="02010600030101010101" pitchFamily="2" charset="-122"/>
              </a:rPr>
              <a:t>9</a:t>
            </a:r>
            <a:r>
              <a:rPr lang="en-US" altLang="zh-CN" sz="1800" dirty="0">
                <a:latin typeface="+mj-lt"/>
                <a:ea typeface="SimSun" panose="02010600030101010101" pitchFamily="2" charset="-122"/>
              </a:rPr>
              <a:t>,15),(</a:t>
            </a:r>
            <a:r>
              <a:rPr lang="en-US" altLang="zh-CN" dirty="0">
                <a:latin typeface="+mj-lt"/>
                <a:ea typeface="SimSun" panose="02010600030101010101" pitchFamily="2" charset="-122"/>
              </a:rPr>
              <a:t>29</a:t>
            </a:r>
            <a:r>
              <a:rPr lang="en-US" altLang="zh-CN" sz="1800" dirty="0">
                <a:latin typeface="+mj-lt"/>
                <a:ea typeface="SimSun" panose="02010600030101010101" pitchFamily="2" charset="-122"/>
              </a:rPr>
              <a:t>,77))</a:t>
            </a:r>
          </a:p>
        </p:txBody>
      </p:sp>
    </p:spTree>
    <p:extLst>
      <p:ext uri="{BB962C8B-B14F-4D97-AF65-F5344CB8AC3E}">
        <p14:creationId xmlns:p14="http://schemas.microsoft.com/office/powerpoint/2010/main" val="52576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C5F9-7D2E-FF7F-1ADE-E2DC019D4273}"/>
              </a:ext>
            </a:extLst>
          </p:cNvPr>
          <p:cNvSpPr>
            <a:spLocks noGrp="1"/>
          </p:cNvSpPr>
          <p:nvPr>
            <p:ph type="title"/>
          </p:nvPr>
        </p:nvSpPr>
        <p:spPr/>
        <p:txBody>
          <a:bodyPr/>
          <a:lstStyle/>
          <a:p>
            <a:r>
              <a:rPr lang="en-US" dirty="0"/>
              <a:t>CF Tree structure</a:t>
            </a:r>
          </a:p>
        </p:txBody>
      </p:sp>
      <p:sp>
        <p:nvSpPr>
          <p:cNvPr id="3" name="Content Placeholder 2">
            <a:extLst>
              <a:ext uri="{FF2B5EF4-FFF2-40B4-BE49-F238E27FC236}">
                <a16:creationId xmlns:a16="http://schemas.microsoft.com/office/drawing/2014/main" id="{07B8E424-FE53-955B-B65C-03E66D64BDCA}"/>
              </a:ext>
            </a:extLst>
          </p:cNvPr>
          <p:cNvSpPr>
            <a:spLocks noGrp="1"/>
          </p:cNvSpPr>
          <p:nvPr>
            <p:ph idx="1"/>
          </p:nvPr>
        </p:nvSpPr>
        <p:spPr/>
        <p:txBody>
          <a:bodyPr/>
          <a:lstStyle/>
          <a:p>
            <a:r>
              <a:rPr lang="en-US" dirty="0"/>
              <a:t>A CF tree is a </a:t>
            </a:r>
            <a:r>
              <a:rPr lang="en-US" dirty="0">
                <a:solidFill>
                  <a:srgbClr val="C00000"/>
                </a:solidFill>
              </a:rPr>
              <a:t>height-balanced</a:t>
            </a:r>
            <a:r>
              <a:rPr lang="en-US" dirty="0"/>
              <a:t> tree that stores the clustering features for a </a:t>
            </a:r>
            <a:r>
              <a:rPr lang="en-US" dirty="0">
                <a:solidFill>
                  <a:srgbClr val="C00000"/>
                </a:solidFill>
              </a:rPr>
              <a:t>hierarchical clustering.</a:t>
            </a:r>
          </a:p>
          <a:p>
            <a:r>
              <a:rPr lang="en-US" dirty="0"/>
              <a:t>By definition, </a:t>
            </a:r>
            <a:r>
              <a:rPr lang="en-US" dirty="0">
                <a:solidFill>
                  <a:srgbClr val="C00000"/>
                </a:solidFill>
              </a:rPr>
              <a:t>a </a:t>
            </a:r>
            <a:r>
              <a:rPr lang="en-US" dirty="0" err="1">
                <a:solidFill>
                  <a:srgbClr val="C00000"/>
                </a:solidFill>
              </a:rPr>
              <a:t>nonleaf</a:t>
            </a:r>
            <a:r>
              <a:rPr lang="en-US" dirty="0">
                <a:solidFill>
                  <a:srgbClr val="C00000"/>
                </a:solidFill>
              </a:rPr>
              <a:t> node in a tree has descendants or "children.”</a:t>
            </a:r>
          </a:p>
          <a:p>
            <a:r>
              <a:rPr lang="en-US" dirty="0"/>
              <a:t>The </a:t>
            </a:r>
            <a:r>
              <a:rPr lang="en-US" dirty="0" err="1"/>
              <a:t>nonleaf</a:t>
            </a:r>
            <a:r>
              <a:rPr lang="en-US" dirty="0"/>
              <a:t> nodes </a:t>
            </a:r>
            <a:r>
              <a:rPr lang="en-US" dirty="0">
                <a:solidFill>
                  <a:srgbClr val="C00000"/>
                </a:solidFill>
              </a:rPr>
              <a:t>store sums of the CFs of their children</a:t>
            </a:r>
            <a:r>
              <a:rPr lang="en-US" dirty="0"/>
              <a:t>, and thus summarize clustering </a:t>
            </a:r>
            <a:r>
              <a:rPr lang="en-US" dirty="0">
                <a:solidFill>
                  <a:srgbClr val="C00000"/>
                </a:solidFill>
              </a:rPr>
              <a:t>information about their children</a:t>
            </a:r>
            <a:r>
              <a:rPr lang="en-US" dirty="0"/>
              <a:t>.</a:t>
            </a:r>
          </a:p>
          <a:p>
            <a:r>
              <a:rPr lang="en-US" dirty="0"/>
              <a:t>A CF tree has two parameters: </a:t>
            </a:r>
            <a:r>
              <a:rPr lang="en-US" dirty="0">
                <a:solidFill>
                  <a:srgbClr val="C00000"/>
                </a:solidFill>
              </a:rPr>
              <a:t>branching factor, B, and threshold, T.</a:t>
            </a:r>
          </a:p>
          <a:p>
            <a:r>
              <a:rPr lang="en-US" dirty="0"/>
              <a:t>The </a:t>
            </a:r>
            <a:r>
              <a:rPr lang="en-US" dirty="0">
                <a:solidFill>
                  <a:srgbClr val="C00000"/>
                </a:solidFill>
              </a:rPr>
              <a:t>branching factor specifies</a:t>
            </a:r>
            <a:r>
              <a:rPr lang="en-US" dirty="0"/>
              <a:t> the maximum </a:t>
            </a:r>
            <a:r>
              <a:rPr lang="en-US" dirty="0">
                <a:solidFill>
                  <a:srgbClr val="C00000"/>
                </a:solidFill>
              </a:rPr>
              <a:t>number of children per non leaf node</a:t>
            </a:r>
            <a:r>
              <a:rPr lang="en-US" dirty="0"/>
              <a:t>.</a:t>
            </a:r>
          </a:p>
          <a:p>
            <a:r>
              <a:rPr lang="en-US" dirty="0"/>
              <a:t>The threshold parameter specifies the maximum diameter of </a:t>
            </a:r>
            <a:r>
              <a:rPr lang="en-US" dirty="0">
                <a:solidFill>
                  <a:srgbClr val="C00000"/>
                </a:solidFill>
              </a:rPr>
              <a:t>subclusters stored at the leaf nodes of the tree</a:t>
            </a:r>
            <a:r>
              <a:rPr lang="en-US" dirty="0"/>
              <a:t>.</a:t>
            </a:r>
          </a:p>
          <a:p>
            <a:r>
              <a:rPr lang="en-US" dirty="0"/>
              <a:t>These two parameters </a:t>
            </a:r>
            <a:r>
              <a:rPr lang="en-US" dirty="0">
                <a:solidFill>
                  <a:srgbClr val="C00000"/>
                </a:solidFill>
              </a:rPr>
              <a:t>influence the size of the resulting tree.</a:t>
            </a:r>
          </a:p>
          <a:p>
            <a:endParaRPr lang="en-US" dirty="0"/>
          </a:p>
        </p:txBody>
      </p:sp>
    </p:spTree>
    <p:extLst>
      <p:ext uri="{BB962C8B-B14F-4D97-AF65-F5344CB8AC3E}">
        <p14:creationId xmlns:p14="http://schemas.microsoft.com/office/powerpoint/2010/main" val="81561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10658-D75C-0FFC-647F-D0163CC0CB50}"/>
              </a:ext>
            </a:extLst>
          </p:cNvPr>
          <p:cNvSpPr>
            <a:spLocks noGrp="1"/>
          </p:cNvSpPr>
          <p:nvPr>
            <p:ph type="title"/>
          </p:nvPr>
        </p:nvSpPr>
        <p:spPr/>
        <p:txBody>
          <a:bodyPr/>
          <a:lstStyle/>
          <a:p>
            <a:r>
              <a:rPr lang="en-US" altLang="zh-CN" sz="3600" dirty="0">
                <a:ea typeface="SimSun" panose="02010600030101010101" pitchFamily="2" charset="-122"/>
              </a:rPr>
              <a:t>The CF Tree Structure</a:t>
            </a:r>
            <a:endParaRPr lang="en-US" dirty="0"/>
          </a:p>
        </p:txBody>
      </p:sp>
      <p:sp>
        <p:nvSpPr>
          <p:cNvPr id="167" name="Rectangle 166">
            <a:extLst>
              <a:ext uri="{FF2B5EF4-FFF2-40B4-BE49-F238E27FC236}">
                <a16:creationId xmlns:a16="http://schemas.microsoft.com/office/drawing/2014/main" id="{0774382B-A1A5-EE08-64AE-EF804FF1D10E}"/>
              </a:ext>
            </a:extLst>
          </p:cNvPr>
          <p:cNvSpPr/>
          <p:nvPr/>
        </p:nvSpPr>
        <p:spPr>
          <a:xfrm>
            <a:off x="3851910" y="960120"/>
            <a:ext cx="3749040" cy="6858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baseline="-25000" dirty="0"/>
          </a:p>
        </p:txBody>
      </p:sp>
      <p:sp>
        <p:nvSpPr>
          <p:cNvPr id="168" name="TextBox 167">
            <a:extLst>
              <a:ext uri="{FF2B5EF4-FFF2-40B4-BE49-F238E27FC236}">
                <a16:creationId xmlns:a16="http://schemas.microsoft.com/office/drawing/2014/main" id="{57B0B5E1-DA0C-A5A6-B315-7F0671A51D8C}"/>
              </a:ext>
            </a:extLst>
          </p:cNvPr>
          <p:cNvSpPr txBox="1"/>
          <p:nvPr/>
        </p:nvSpPr>
        <p:spPr>
          <a:xfrm>
            <a:off x="3989070" y="1118354"/>
            <a:ext cx="654346" cy="369332"/>
          </a:xfrm>
          <a:prstGeom prst="rect">
            <a:avLst/>
          </a:prstGeom>
          <a:noFill/>
        </p:spPr>
        <p:txBody>
          <a:bodyPr wrap="none" rtlCol="0">
            <a:spAutoFit/>
          </a:bodyPr>
          <a:lstStyle/>
          <a:p>
            <a:r>
              <a:rPr lang="en-US" dirty="0"/>
              <a:t>CF12</a:t>
            </a:r>
          </a:p>
        </p:txBody>
      </p:sp>
      <p:sp>
        <p:nvSpPr>
          <p:cNvPr id="169" name="TextBox 168">
            <a:extLst>
              <a:ext uri="{FF2B5EF4-FFF2-40B4-BE49-F238E27FC236}">
                <a16:creationId xmlns:a16="http://schemas.microsoft.com/office/drawing/2014/main" id="{D8821478-5A95-DA74-53F5-84C38D2A1A84}"/>
              </a:ext>
            </a:extLst>
          </p:cNvPr>
          <p:cNvSpPr txBox="1"/>
          <p:nvPr/>
        </p:nvSpPr>
        <p:spPr>
          <a:xfrm>
            <a:off x="4780576" y="1118354"/>
            <a:ext cx="540533" cy="369332"/>
          </a:xfrm>
          <a:prstGeom prst="rect">
            <a:avLst/>
          </a:prstGeom>
          <a:noFill/>
        </p:spPr>
        <p:txBody>
          <a:bodyPr wrap="none" rtlCol="0">
            <a:spAutoFit/>
          </a:bodyPr>
          <a:lstStyle/>
          <a:p>
            <a:r>
              <a:rPr lang="en-US" dirty="0"/>
              <a:t>CF3</a:t>
            </a:r>
          </a:p>
        </p:txBody>
      </p:sp>
      <p:sp>
        <p:nvSpPr>
          <p:cNvPr id="171" name="Rectangle 170">
            <a:extLst>
              <a:ext uri="{FF2B5EF4-FFF2-40B4-BE49-F238E27FC236}">
                <a16:creationId xmlns:a16="http://schemas.microsoft.com/office/drawing/2014/main" id="{98E90A44-F34E-7F8C-0F4D-17A24A74F178}"/>
              </a:ext>
            </a:extLst>
          </p:cNvPr>
          <p:cNvSpPr/>
          <p:nvPr/>
        </p:nvSpPr>
        <p:spPr>
          <a:xfrm>
            <a:off x="2323126" y="2655570"/>
            <a:ext cx="1665944" cy="6858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baseline="-25000" dirty="0"/>
          </a:p>
        </p:txBody>
      </p:sp>
      <p:sp>
        <p:nvSpPr>
          <p:cNvPr id="172" name="TextBox 171">
            <a:extLst>
              <a:ext uri="{FF2B5EF4-FFF2-40B4-BE49-F238E27FC236}">
                <a16:creationId xmlns:a16="http://schemas.microsoft.com/office/drawing/2014/main" id="{6B6AB42E-715D-8BB6-8C38-FC35CAD76779}"/>
              </a:ext>
            </a:extLst>
          </p:cNvPr>
          <p:cNvSpPr txBox="1"/>
          <p:nvPr/>
        </p:nvSpPr>
        <p:spPr>
          <a:xfrm>
            <a:off x="2460286" y="2813804"/>
            <a:ext cx="540533" cy="369332"/>
          </a:xfrm>
          <a:prstGeom prst="rect">
            <a:avLst/>
          </a:prstGeom>
          <a:noFill/>
        </p:spPr>
        <p:txBody>
          <a:bodyPr wrap="none" rtlCol="0">
            <a:spAutoFit/>
          </a:bodyPr>
          <a:lstStyle/>
          <a:p>
            <a:r>
              <a:rPr lang="en-US" dirty="0"/>
              <a:t>CF1</a:t>
            </a:r>
          </a:p>
        </p:txBody>
      </p:sp>
      <p:sp>
        <p:nvSpPr>
          <p:cNvPr id="173" name="TextBox 172">
            <a:extLst>
              <a:ext uri="{FF2B5EF4-FFF2-40B4-BE49-F238E27FC236}">
                <a16:creationId xmlns:a16="http://schemas.microsoft.com/office/drawing/2014/main" id="{C4DC52BD-A2F4-31D5-7A21-167D44FDB7E1}"/>
              </a:ext>
            </a:extLst>
          </p:cNvPr>
          <p:cNvSpPr txBox="1"/>
          <p:nvPr/>
        </p:nvSpPr>
        <p:spPr>
          <a:xfrm>
            <a:off x="3251792" y="2813804"/>
            <a:ext cx="540533" cy="369332"/>
          </a:xfrm>
          <a:prstGeom prst="rect">
            <a:avLst/>
          </a:prstGeom>
          <a:noFill/>
        </p:spPr>
        <p:txBody>
          <a:bodyPr wrap="none" rtlCol="0">
            <a:spAutoFit/>
          </a:bodyPr>
          <a:lstStyle/>
          <a:p>
            <a:r>
              <a:rPr lang="en-US" dirty="0"/>
              <a:t>CF2</a:t>
            </a:r>
          </a:p>
        </p:txBody>
      </p:sp>
      <p:sp>
        <p:nvSpPr>
          <p:cNvPr id="174" name="TextBox 173">
            <a:extLst>
              <a:ext uri="{FF2B5EF4-FFF2-40B4-BE49-F238E27FC236}">
                <a16:creationId xmlns:a16="http://schemas.microsoft.com/office/drawing/2014/main" id="{6A9F5935-0BEE-9DB7-65E4-FE5D11765610}"/>
              </a:ext>
            </a:extLst>
          </p:cNvPr>
          <p:cNvSpPr txBox="1"/>
          <p:nvPr/>
        </p:nvSpPr>
        <p:spPr>
          <a:xfrm>
            <a:off x="5513070" y="1118354"/>
            <a:ext cx="569387" cy="369332"/>
          </a:xfrm>
          <a:prstGeom prst="rect">
            <a:avLst/>
          </a:prstGeom>
          <a:noFill/>
        </p:spPr>
        <p:txBody>
          <a:bodyPr wrap="none" rtlCol="0">
            <a:spAutoFit/>
          </a:bodyPr>
          <a:lstStyle/>
          <a:p>
            <a:r>
              <a:rPr lang="en-US" dirty="0"/>
              <a:t>CFN</a:t>
            </a:r>
          </a:p>
        </p:txBody>
      </p:sp>
      <p:sp>
        <p:nvSpPr>
          <p:cNvPr id="176" name="Rectangle 175">
            <a:extLst>
              <a:ext uri="{FF2B5EF4-FFF2-40B4-BE49-F238E27FC236}">
                <a16:creationId xmlns:a16="http://schemas.microsoft.com/office/drawing/2014/main" id="{F16174CF-7AC1-D3F7-3FA3-9EFBC31C761C}"/>
              </a:ext>
            </a:extLst>
          </p:cNvPr>
          <p:cNvSpPr/>
          <p:nvPr/>
        </p:nvSpPr>
        <p:spPr>
          <a:xfrm>
            <a:off x="4944406" y="2655570"/>
            <a:ext cx="1665944" cy="6858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baseline="-25000" dirty="0"/>
          </a:p>
        </p:txBody>
      </p:sp>
      <p:sp>
        <p:nvSpPr>
          <p:cNvPr id="178" name="TextBox 177">
            <a:extLst>
              <a:ext uri="{FF2B5EF4-FFF2-40B4-BE49-F238E27FC236}">
                <a16:creationId xmlns:a16="http://schemas.microsoft.com/office/drawing/2014/main" id="{48018617-3E66-B500-EBD5-3E041F2DDD94}"/>
              </a:ext>
            </a:extLst>
          </p:cNvPr>
          <p:cNvSpPr txBox="1"/>
          <p:nvPr/>
        </p:nvSpPr>
        <p:spPr>
          <a:xfrm>
            <a:off x="5456163" y="2838688"/>
            <a:ext cx="540533" cy="369332"/>
          </a:xfrm>
          <a:prstGeom prst="rect">
            <a:avLst/>
          </a:prstGeom>
          <a:noFill/>
        </p:spPr>
        <p:txBody>
          <a:bodyPr wrap="square" rtlCol="0">
            <a:spAutoFit/>
          </a:bodyPr>
          <a:lstStyle/>
          <a:p>
            <a:r>
              <a:rPr lang="en-US" dirty="0"/>
              <a:t>CF3</a:t>
            </a:r>
          </a:p>
        </p:txBody>
      </p:sp>
      <p:cxnSp>
        <p:nvCxnSpPr>
          <p:cNvPr id="180" name="Straight Arrow Connector 179">
            <a:extLst>
              <a:ext uri="{FF2B5EF4-FFF2-40B4-BE49-F238E27FC236}">
                <a16:creationId xmlns:a16="http://schemas.microsoft.com/office/drawing/2014/main" id="{33EC72E6-2F72-D6D5-07E7-E15A5EC24355}"/>
              </a:ext>
            </a:extLst>
          </p:cNvPr>
          <p:cNvCxnSpPr>
            <a:endCxn id="171" idx="0"/>
          </p:cNvCxnSpPr>
          <p:nvPr/>
        </p:nvCxnSpPr>
        <p:spPr>
          <a:xfrm flipH="1">
            <a:off x="3156098" y="1487686"/>
            <a:ext cx="1160145" cy="1167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23F63C0A-21E4-37E6-924C-2CA082365084}"/>
              </a:ext>
            </a:extLst>
          </p:cNvPr>
          <p:cNvCxnSpPr>
            <a:cxnSpLocks/>
            <a:endCxn id="176" idx="0"/>
          </p:cNvCxnSpPr>
          <p:nvPr/>
        </p:nvCxnSpPr>
        <p:spPr>
          <a:xfrm>
            <a:off x="5050842" y="1487686"/>
            <a:ext cx="726536" cy="1167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02863600-92E8-9F10-4451-F17994561F41}"/>
              </a:ext>
            </a:extLst>
          </p:cNvPr>
          <p:cNvCxnSpPr/>
          <p:nvPr/>
        </p:nvCxnSpPr>
        <p:spPr>
          <a:xfrm>
            <a:off x="5797763" y="1487686"/>
            <a:ext cx="3277657" cy="1351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A7A74D03-D3F7-1902-4561-DC9188D8F5AB}"/>
              </a:ext>
            </a:extLst>
          </p:cNvPr>
          <p:cNvCxnSpPr>
            <a:cxnSpLocks/>
            <a:endCxn id="193" idx="0"/>
          </p:cNvCxnSpPr>
          <p:nvPr/>
        </p:nvCxnSpPr>
        <p:spPr>
          <a:xfrm flipH="1">
            <a:off x="1899285" y="3231911"/>
            <a:ext cx="831267" cy="1751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3" name="Oval 192">
            <a:extLst>
              <a:ext uri="{FF2B5EF4-FFF2-40B4-BE49-F238E27FC236}">
                <a16:creationId xmlns:a16="http://schemas.microsoft.com/office/drawing/2014/main" id="{0575800C-2879-30E5-B386-C702F3C88766}"/>
              </a:ext>
            </a:extLst>
          </p:cNvPr>
          <p:cNvSpPr/>
          <p:nvPr/>
        </p:nvSpPr>
        <p:spPr>
          <a:xfrm>
            <a:off x="1181100" y="4983756"/>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Oval 193">
            <a:extLst>
              <a:ext uri="{FF2B5EF4-FFF2-40B4-BE49-F238E27FC236}">
                <a16:creationId xmlns:a16="http://schemas.microsoft.com/office/drawing/2014/main" id="{DC944774-2B01-CA41-108F-67DF712B37C9}"/>
              </a:ext>
            </a:extLst>
          </p:cNvPr>
          <p:cNvSpPr/>
          <p:nvPr/>
        </p:nvSpPr>
        <p:spPr>
          <a:xfrm>
            <a:off x="1451610" y="5333798"/>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593E19EB-AFBB-254F-0DF2-5154246175CD}"/>
              </a:ext>
            </a:extLst>
          </p:cNvPr>
          <p:cNvSpPr/>
          <p:nvPr/>
        </p:nvSpPr>
        <p:spPr>
          <a:xfrm>
            <a:off x="2106930" y="5611928"/>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a:extLst>
              <a:ext uri="{FF2B5EF4-FFF2-40B4-BE49-F238E27FC236}">
                <a16:creationId xmlns:a16="http://schemas.microsoft.com/office/drawing/2014/main" id="{FD6B9953-4B79-1558-E1D2-DEB472BC23FB}"/>
              </a:ext>
            </a:extLst>
          </p:cNvPr>
          <p:cNvSpPr/>
          <p:nvPr/>
        </p:nvSpPr>
        <p:spPr>
          <a:xfrm>
            <a:off x="1847850" y="6015788"/>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7" name="Straight Arrow Connector 196">
            <a:extLst>
              <a:ext uri="{FF2B5EF4-FFF2-40B4-BE49-F238E27FC236}">
                <a16:creationId xmlns:a16="http://schemas.microsoft.com/office/drawing/2014/main" id="{730E563F-CB07-7289-3CCF-C63B6D9F27E9}"/>
              </a:ext>
            </a:extLst>
          </p:cNvPr>
          <p:cNvCxnSpPr>
            <a:cxnSpLocks/>
            <a:endCxn id="198" idx="0"/>
          </p:cNvCxnSpPr>
          <p:nvPr/>
        </p:nvCxnSpPr>
        <p:spPr>
          <a:xfrm>
            <a:off x="3521171" y="3231911"/>
            <a:ext cx="300703" cy="1710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8" name="Oval 197">
            <a:extLst>
              <a:ext uri="{FF2B5EF4-FFF2-40B4-BE49-F238E27FC236}">
                <a16:creationId xmlns:a16="http://schemas.microsoft.com/office/drawing/2014/main" id="{0DAF07BD-4DE8-E48F-74E5-80B58FA9ACC9}"/>
              </a:ext>
            </a:extLst>
          </p:cNvPr>
          <p:cNvSpPr/>
          <p:nvPr/>
        </p:nvSpPr>
        <p:spPr>
          <a:xfrm>
            <a:off x="3103689" y="4942399"/>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Oval 198">
            <a:extLst>
              <a:ext uri="{FF2B5EF4-FFF2-40B4-BE49-F238E27FC236}">
                <a16:creationId xmlns:a16="http://schemas.microsoft.com/office/drawing/2014/main" id="{64049D62-3273-4A04-F89E-87C74D8401BD}"/>
              </a:ext>
            </a:extLst>
          </p:cNvPr>
          <p:cNvSpPr/>
          <p:nvPr/>
        </p:nvSpPr>
        <p:spPr>
          <a:xfrm>
            <a:off x="3374199" y="529244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75AA6686-10A0-FBFE-05FC-7D783B68ADEA}"/>
              </a:ext>
            </a:extLst>
          </p:cNvPr>
          <p:cNvSpPr/>
          <p:nvPr/>
        </p:nvSpPr>
        <p:spPr>
          <a:xfrm>
            <a:off x="4029519" y="557057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0A99F194-3EB0-FEFC-FC1E-FE1EA03119AF}"/>
              </a:ext>
            </a:extLst>
          </p:cNvPr>
          <p:cNvSpPr/>
          <p:nvPr/>
        </p:nvSpPr>
        <p:spPr>
          <a:xfrm>
            <a:off x="3770439" y="5974431"/>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3" name="Straight Arrow Connector 202">
            <a:extLst>
              <a:ext uri="{FF2B5EF4-FFF2-40B4-BE49-F238E27FC236}">
                <a16:creationId xmlns:a16="http://schemas.microsoft.com/office/drawing/2014/main" id="{0CA8EE50-4084-E0AE-34D9-D8F9798CBE74}"/>
              </a:ext>
            </a:extLst>
          </p:cNvPr>
          <p:cNvCxnSpPr>
            <a:cxnSpLocks/>
            <a:stCxn id="176" idx="2"/>
            <a:endCxn id="204" idx="0"/>
          </p:cNvCxnSpPr>
          <p:nvPr/>
        </p:nvCxnSpPr>
        <p:spPr>
          <a:xfrm>
            <a:off x="5777378" y="3341370"/>
            <a:ext cx="232533" cy="1588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4" name="Oval 203">
            <a:extLst>
              <a:ext uri="{FF2B5EF4-FFF2-40B4-BE49-F238E27FC236}">
                <a16:creationId xmlns:a16="http://schemas.microsoft.com/office/drawing/2014/main" id="{AE04F1DF-5CBB-C55A-567B-6446393F0C31}"/>
              </a:ext>
            </a:extLst>
          </p:cNvPr>
          <p:cNvSpPr/>
          <p:nvPr/>
        </p:nvSpPr>
        <p:spPr>
          <a:xfrm>
            <a:off x="5291726" y="4929663"/>
            <a:ext cx="1436370" cy="14401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5" name="Oval 204">
            <a:extLst>
              <a:ext uri="{FF2B5EF4-FFF2-40B4-BE49-F238E27FC236}">
                <a16:creationId xmlns:a16="http://schemas.microsoft.com/office/drawing/2014/main" id="{D573BD86-536A-6B69-3B61-A4827E1B50BD}"/>
              </a:ext>
            </a:extLst>
          </p:cNvPr>
          <p:cNvSpPr/>
          <p:nvPr/>
        </p:nvSpPr>
        <p:spPr>
          <a:xfrm>
            <a:off x="5562236" y="5279705"/>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92EE280B-9FC8-28A1-B39E-6184CBEC9FA2}"/>
              </a:ext>
            </a:extLst>
          </p:cNvPr>
          <p:cNvSpPr/>
          <p:nvPr/>
        </p:nvSpPr>
        <p:spPr>
          <a:xfrm>
            <a:off x="6217556" y="5557835"/>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a:extLst>
              <a:ext uri="{FF2B5EF4-FFF2-40B4-BE49-F238E27FC236}">
                <a16:creationId xmlns:a16="http://schemas.microsoft.com/office/drawing/2014/main" id="{CA880726-19A1-343E-B62D-6342F2C73B43}"/>
              </a:ext>
            </a:extLst>
          </p:cNvPr>
          <p:cNvSpPr/>
          <p:nvPr/>
        </p:nvSpPr>
        <p:spPr>
          <a:xfrm>
            <a:off x="5958476" y="5961695"/>
            <a:ext cx="148590" cy="1485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Cloud 214">
            <a:extLst>
              <a:ext uri="{FF2B5EF4-FFF2-40B4-BE49-F238E27FC236}">
                <a16:creationId xmlns:a16="http://schemas.microsoft.com/office/drawing/2014/main" id="{07B9F9EE-E9D5-C2AE-7F88-6C47B9D224CA}"/>
              </a:ext>
            </a:extLst>
          </p:cNvPr>
          <p:cNvSpPr/>
          <p:nvPr/>
        </p:nvSpPr>
        <p:spPr>
          <a:xfrm>
            <a:off x="8194379" y="2775068"/>
            <a:ext cx="3074670" cy="1680210"/>
          </a:xfrm>
          <a:prstGeom prst="cloud">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16" name="Rectangle 67">
            <a:extLst>
              <a:ext uri="{FF2B5EF4-FFF2-40B4-BE49-F238E27FC236}">
                <a16:creationId xmlns:a16="http://schemas.microsoft.com/office/drawing/2014/main" id="{D9A654D9-BFA2-2BEE-68B9-AD9B10192A2F}"/>
              </a:ext>
            </a:extLst>
          </p:cNvPr>
          <p:cNvSpPr>
            <a:spLocks noChangeArrowheads="1"/>
          </p:cNvSpPr>
          <p:nvPr/>
        </p:nvSpPr>
        <p:spPr bwMode="auto">
          <a:xfrm>
            <a:off x="236219" y="998160"/>
            <a:ext cx="1401385" cy="1016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dirty="0">
                <a:latin typeface="+mj-ea"/>
                <a:ea typeface="+mj-ea"/>
              </a:rPr>
              <a:t>B = 3</a:t>
            </a:r>
          </a:p>
          <a:p>
            <a:pPr>
              <a:spcBef>
                <a:spcPct val="50000"/>
              </a:spcBef>
              <a:buClrTx/>
              <a:buSzTx/>
              <a:buFontTx/>
              <a:buNone/>
            </a:pPr>
            <a:r>
              <a:rPr lang="en-US" altLang="zh-CN" sz="2400" dirty="0">
                <a:latin typeface="+mj-ea"/>
                <a:ea typeface="+mj-ea"/>
              </a:rPr>
              <a:t>T = 1.5</a:t>
            </a:r>
          </a:p>
        </p:txBody>
      </p:sp>
    </p:spTree>
    <p:extLst>
      <p:ext uri="{BB962C8B-B14F-4D97-AF65-F5344CB8AC3E}">
        <p14:creationId xmlns:p14="http://schemas.microsoft.com/office/powerpoint/2010/main" val="43454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0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7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8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8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6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6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8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animBg="1"/>
      <p:bldP spid="168" grpId="0"/>
      <p:bldP spid="169" grpId="0"/>
      <p:bldP spid="171" grpId="0" animBg="1"/>
      <p:bldP spid="172" grpId="0"/>
      <p:bldP spid="173" grpId="0"/>
      <p:bldP spid="174" grpId="0"/>
      <p:bldP spid="176" grpId="0" animBg="1"/>
      <p:bldP spid="178" grpId="0"/>
      <p:bldP spid="193" grpId="0" animBg="1"/>
      <p:bldP spid="194" grpId="0" animBg="1"/>
      <p:bldP spid="195" grpId="0" animBg="1"/>
      <p:bldP spid="196" grpId="0" animBg="1"/>
      <p:bldP spid="198" grpId="0" animBg="1"/>
      <p:bldP spid="199" grpId="0" animBg="1"/>
      <p:bldP spid="200" grpId="0" animBg="1"/>
      <p:bldP spid="201" grpId="0" animBg="1"/>
      <p:bldP spid="204" grpId="0" animBg="1"/>
      <p:bldP spid="205" grpId="0" animBg="1"/>
      <p:bldP spid="206" grpId="0" animBg="1"/>
      <p:bldP spid="207" grpId="0" animBg="1"/>
      <p:bldP spid="21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8824-4E80-B59F-FE5F-5B1B2A3CE22F}"/>
              </a:ext>
            </a:extLst>
          </p:cNvPr>
          <p:cNvSpPr>
            <a:spLocks noGrp="1"/>
          </p:cNvSpPr>
          <p:nvPr>
            <p:ph type="title"/>
          </p:nvPr>
        </p:nvSpPr>
        <p:spPr/>
        <p:txBody>
          <a:bodyPr/>
          <a:lstStyle/>
          <a:p>
            <a:r>
              <a:rPr lang="en-US" altLang="en-US" sz="3600" dirty="0">
                <a:cs typeface="Tahoma" panose="020B0604030504040204" pitchFamily="34" charset="0"/>
                <a:sym typeface="Symbol" pitchFamily="2" charset="2"/>
              </a:rPr>
              <a:t>Centroid, Radius and Diameter of a </a:t>
            </a:r>
            <a:r>
              <a:rPr lang="en-US" altLang="en-US" sz="3600" dirty="0"/>
              <a:t>Cluster</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A4851BF-F610-FC5C-6D4E-FF54987CC500}"/>
                  </a:ext>
                </a:extLst>
              </p:cNvPr>
              <p:cNvSpPr txBox="1"/>
              <p:nvPr/>
            </p:nvSpPr>
            <p:spPr>
              <a:xfrm>
                <a:off x="7840980" y="1022536"/>
                <a:ext cx="3086100" cy="9687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𝐶𝑚</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=1</m:t>
                              </m:r>
                            </m:sub>
                            <m:sup>
                              <m:r>
                                <a:rPr lang="en-US" sz="2800" b="0" i="1" smtClean="0">
                                  <a:latin typeface="Cambria Math" panose="02040503050406030204" pitchFamily="18" charset="0"/>
                                </a:rPr>
                                <m:t>𝑁</m:t>
                              </m:r>
                            </m:sup>
                            <m:e>
                              <m:r>
                                <a:rPr lang="en-US" sz="2800" b="0" i="1" smtClean="0">
                                  <a:latin typeface="Cambria Math" panose="02040503050406030204" pitchFamily="18" charset="0"/>
                                </a:rPr>
                                <m:t>𝑡</m:t>
                              </m:r>
                              <m:r>
                                <a:rPr lang="en-US" sz="2800" b="0" i="1" baseline="-25000" smtClean="0">
                                  <a:latin typeface="Cambria Math" panose="02040503050406030204" pitchFamily="18" charset="0"/>
                                </a:rPr>
                                <m:t>𝑖𝑝</m:t>
                              </m:r>
                            </m:e>
                          </m:nary>
                        </m:num>
                        <m:den>
                          <m:r>
                            <a:rPr lang="en-US" sz="2800" b="0" i="1" smtClean="0">
                              <a:latin typeface="Cambria Math" panose="02040503050406030204" pitchFamily="18" charset="0"/>
                            </a:rPr>
                            <m:t>𝑁</m:t>
                          </m:r>
                        </m:den>
                      </m:f>
                    </m:oMath>
                  </m:oMathPara>
                </a14:m>
                <a:endParaRPr lang="en-US" sz="2800" dirty="0"/>
              </a:p>
            </p:txBody>
          </p:sp>
        </mc:Choice>
        <mc:Fallback xmlns="">
          <p:sp>
            <p:nvSpPr>
              <p:cNvPr id="4" name="TextBox 3">
                <a:extLst>
                  <a:ext uri="{FF2B5EF4-FFF2-40B4-BE49-F238E27FC236}">
                    <a16:creationId xmlns:a16="http://schemas.microsoft.com/office/drawing/2014/main" id="{BA4851BF-F610-FC5C-6D4E-FF54987CC500}"/>
                  </a:ext>
                </a:extLst>
              </p:cNvPr>
              <p:cNvSpPr txBox="1">
                <a:spLocks noRot="1" noChangeAspect="1" noMove="1" noResize="1" noEditPoints="1" noAdjustHandles="1" noChangeArrowheads="1" noChangeShapeType="1" noTextEdit="1"/>
              </p:cNvSpPr>
              <p:nvPr/>
            </p:nvSpPr>
            <p:spPr>
              <a:xfrm>
                <a:off x="7840980" y="1022536"/>
                <a:ext cx="3086100" cy="968727"/>
              </a:xfrm>
              <a:prstGeom prst="rect">
                <a:avLst/>
              </a:prstGeom>
              <a:blipFill>
                <a:blip r:embed="rId2"/>
                <a:stretch>
                  <a:fillRect t="-66234" b="-623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B85AEF-9D1A-07E3-D9B4-9DAD6036BC41}"/>
                  </a:ext>
                </a:extLst>
              </p:cNvPr>
              <p:cNvSpPr txBox="1"/>
              <p:nvPr/>
            </p:nvSpPr>
            <p:spPr>
              <a:xfrm>
                <a:off x="7840980" y="2334534"/>
                <a:ext cx="3760470" cy="969176"/>
              </a:xfrm>
              <a:prstGeom prst="rect">
                <a:avLst/>
              </a:prstGeom>
              <a:noFill/>
            </p:spPr>
            <p:txBody>
              <a:bodyPr wrap="square" rtlCol="0">
                <a:spAutoFit/>
              </a:bodyPr>
              <a:lstStyle/>
              <a:p>
                <a:r>
                  <a:rPr lang="en-US" sz="2800" dirty="0"/>
                  <a:t>R</a:t>
                </a:r>
                <a14:m>
                  <m:oMath xmlns:m="http://schemas.openxmlformats.org/officeDocument/2006/math">
                    <m:r>
                      <a:rPr lang="en-US" sz="2800" b="0" i="1" smtClean="0">
                        <a:latin typeface="Cambria Math" panose="02040503050406030204" pitchFamily="18" charset="0"/>
                      </a:rPr>
                      <m:t>𝑚</m:t>
                    </m:r>
                    <m:r>
                      <a:rPr lang="en-US" sz="2800" b="0" i="1" smtClean="0">
                        <a:latin typeface="Cambria Math" panose="02040503050406030204" pitchFamily="18" charset="0"/>
                      </a:rPr>
                      <m:t>= </m:t>
                    </m:r>
                    <m:rad>
                      <m:radPr>
                        <m:degHide m:val="on"/>
                        <m:ctrlPr>
                          <a:rPr lang="en-US" sz="2800" b="0" i="1" smtClean="0">
                            <a:latin typeface="Cambria Math" panose="02040503050406030204" pitchFamily="18" charset="0"/>
                          </a:rPr>
                        </m:ctrlPr>
                      </m:radPr>
                      <m:deg/>
                      <m:e>
                        <m:f>
                          <m:fPr>
                            <m:ctrlPr>
                              <a:rPr lang="en-US" sz="2800" i="1">
                                <a:latin typeface="Cambria Math" panose="02040503050406030204" pitchFamily="18" charset="0"/>
                              </a:rPr>
                            </m:ctrlPr>
                          </m:fPr>
                          <m:num>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𝑖</m:t>
                                </m:r>
                                <m:r>
                                  <a:rPr lang="en-US" sz="2800" i="1">
                                    <a:latin typeface="Cambria Math" panose="02040503050406030204" pitchFamily="18" charset="0"/>
                                  </a:rPr>
                                  <m:t>=1</m:t>
                                </m:r>
                              </m:sub>
                              <m:sup>
                                <m:r>
                                  <a:rPr lang="en-US" sz="2800" i="1">
                                    <a:latin typeface="Cambria Math" panose="02040503050406030204" pitchFamily="18" charset="0"/>
                                  </a:rPr>
                                  <m:t>𝑁</m:t>
                                </m:r>
                              </m:sup>
                              <m:e>
                                <m:r>
                                  <a:rPr lang="en-US" sz="2800" b="0" i="1" smtClean="0">
                                    <a:latin typeface="Cambria Math" panose="02040503050406030204" pitchFamily="18" charset="0"/>
                                  </a:rPr>
                                  <m:t>(</m:t>
                                </m:r>
                                <m:r>
                                  <a:rPr lang="en-US" sz="2800" i="1">
                                    <a:latin typeface="Cambria Math" panose="02040503050406030204" pitchFamily="18" charset="0"/>
                                  </a:rPr>
                                  <m:t>𝑡</m:t>
                                </m:r>
                                <m:r>
                                  <a:rPr lang="en-US" sz="2800" i="1" baseline="-25000">
                                    <a:latin typeface="Cambria Math" panose="02040503050406030204" pitchFamily="18" charset="0"/>
                                  </a:rPr>
                                  <m:t>𝑖𝑝</m:t>
                                </m:r>
                              </m:e>
                            </m:nary>
                            <m:r>
                              <a:rPr lang="en-US" sz="2800" b="0" i="1" smtClean="0">
                                <a:latin typeface="Cambria Math" panose="02040503050406030204" pitchFamily="18" charset="0"/>
                              </a:rPr>
                              <m:t>−</m:t>
                            </m:r>
                            <m:r>
                              <a:rPr lang="en-US" sz="2800" b="0" i="1" smtClean="0">
                                <a:latin typeface="Cambria Math" panose="02040503050406030204" pitchFamily="18" charset="0"/>
                              </a:rPr>
                              <m:t>𝐶𝑚</m:t>
                            </m:r>
                            <m:r>
                              <a:rPr lang="en-US" sz="2800" b="0" i="1" smtClean="0">
                                <a:latin typeface="Cambria Math" panose="02040503050406030204" pitchFamily="18" charset="0"/>
                              </a:rPr>
                              <m:t>)2</m:t>
                            </m:r>
                          </m:num>
                          <m:den>
                            <m:r>
                              <a:rPr lang="en-US" sz="2800" i="1">
                                <a:latin typeface="Cambria Math" panose="02040503050406030204" pitchFamily="18" charset="0"/>
                              </a:rPr>
                              <m:t>𝑁</m:t>
                            </m:r>
                          </m:den>
                        </m:f>
                      </m:e>
                    </m:rad>
                  </m:oMath>
                </a14:m>
                <a:endParaRPr lang="en-US" sz="2800" dirty="0"/>
              </a:p>
            </p:txBody>
          </p:sp>
        </mc:Choice>
        <mc:Fallback xmlns="">
          <p:sp>
            <p:nvSpPr>
              <p:cNvPr id="5" name="TextBox 4">
                <a:extLst>
                  <a:ext uri="{FF2B5EF4-FFF2-40B4-BE49-F238E27FC236}">
                    <a16:creationId xmlns:a16="http://schemas.microsoft.com/office/drawing/2014/main" id="{25B85AEF-9D1A-07E3-D9B4-9DAD6036BC41}"/>
                  </a:ext>
                </a:extLst>
              </p:cNvPr>
              <p:cNvSpPr txBox="1">
                <a:spLocks noRot="1" noChangeAspect="1" noMove="1" noResize="1" noEditPoints="1" noAdjustHandles="1" noChangeArrowheads="1" noChangeShapeType="1" noTextEdit="1"/>
              </p:cNvSpPr>
              <p:nvPr/>
            </p:nvSpPr>
            <p:spPr>
              <a:xfrm>
                <a:off x="7840980" y="2334534"/>
                <a:ext cx="3760470" cy="969176"/>
              </a:xfrm>
              <a:prstGeom prst="rect">
                <a:avLst/>
              </a:prstGeom>
              <a:blipFill>
                <a:blip r:embed="rId3"/>
                <a:stretch>
                  <a:fillRect l="-3367" t="-30769"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23B0B6-23D8-D9A8-6B90-504D41A5EF4D}"/>
                  </a:ext>
                </a:extLst>
              </p:cNvPr>
              <p:cNvSpPr txBox="1"/>
              <p:nvPr/>
            </p:nvSpPr>
            <p:spPr>
              <a:xfrm>
                <a:off x="7840980" y="4155714"/>
                <a:ext cx="4640580" cy="969176"/>
              </a:xfrm>
              <a:prstGeom prst="rect">
                <a:avLst/>
              </a:prstGeom>
              <a:noFill/>
            </p:spPr>
            <p:txBody>
              <a:bodyPr wrap="square" rtlCol="0">
                <a:spAutoFit/>
              </a:bodyPr>
              <a:lstStyle/>
              <a:p>
                <a:r>
                  <a:rPr lang="en-US" sz="2800" dirty="0"/>
                  <a:t>D</a:t>
                </a:r>
                <a14:m>
                  <m:oMath xmlns:m="http://schemas.openxmlformats.org/officeDocument/2006/math">
                    <m:r>
                      <a:rPr lang="en-US" sz="2800" b="0" i="1" smtClean="0">
                        <a:latin typeface="Cambria Math" panose="02040503050406030204" pitchFamily="18" charset="0"/>
                      </a:rPr>
                      <m:t>𝑚</m:t>
                    </m:r>
                    <m:r>
                      <a:rPr lang="en-US" sz="2800" b="0" i="1" smtClean="0">
                        <a:latin typeface="Cambria Math" panose="02040503050406030204" pitchFamily="18" charset="0"/>
                      </a:rPr>
                      <m:t>= </m:t>
                    </m:r>
                    <m:rad>
                      <m:radPr>
                        <m:degHide m:val="on"/>
                        <m:ctrlPr>
                          <a:rPr lang="en-US" sz="2800" b="0" i="1" smtClean="0">
                            <a:latin typeface="Cambria Math" panose="02040503050406030204" pitchFamily="18" charset="0"/>
                          </a:rPr>
                        </m:ctrlPr>
                      </m:radPr>
                      <m:deg/>
                      <m:e>
                        <m:f>
                          <m:fPr>
                            <m:ctrlPr>
                              <a:rPr lang="en-US" sz="2800" i="1">
                                <a:latin typeface="Cambria Math" panose="02040503050406030204" pitchFamily="18" charset="0"/>
                              </a:rPr>
                            </m:ctrlPr>
                          </m:fPr>
                          <m:num>
                            <m:nary>
                              <m:naryPr>
                                <m:chr m:val="∑"/>
                                <m:ctrlPr>
                                  <a:rPr lang="en-US" sz="2800" i="1" smtClean="0">
                                    <a:latin typeface="Cambria Math" panose="02040503050406030204" pitchFamily="18" charset="0"/>
                                  </a:rPr>
                                </m:ctrlPr>
                              </m:naryPr>
                              <m:sub>
                                <m:r>
                                  <m:rPr>
                                    <m:brk m:alnAt="23"/>
                                  </m:rPr>
                                  <a:rPr lang="en-US" sz="2800" i="1">
                                    <a:latin typeface="Cambria Math" panose="02040503050406030204" pitchFamily="18" charset="0"/>
                                  </a:rPr>
                                  <m:t>𝑖</m:t>
                                </m:r>
                                <m:r>
                                  <a:rPr lang="en-US" sz="2800" i="1">
                                    <a:latin typeface="Cambria Math" panose="02040503050406030204" pitchFamily="18" charset="0"/>
                                  </a:rPr>
                                  <m:t>=1</m:t>
                                </m:r>
                              </m:sub>
                              <m:sup>
                                <m:r>
                                  <a:rPr lang="en-US" sz="2800" i="1">
                                    <a:latin typeface="Cambria Math" panose="02040503050406030204" pitchFamily="18" charset="0"/>
                                  </a:rPr>
                                  <m:t>𝑁</m:t>
                                </m:r>
                              </m:sup>
                              <m:e>
                                <m:nary>
                                  <m:naryPr>
                                    <m:chr m:val="∑"/>
                                    <m:ctrlPr>
                                      <a:rPr lang="en-US" sz="2800" i="1" smtClean="0">
                                        <a:latin typeface="Cambria Math" panose="02040503050406030204" pitchFamily="18" charset="0"/>
                                      </a:rPr>
                                    </m:ctrlPr>
                                  </m:naryPr>
                                  <m:sub>
                                    <m:r>
                                      <m:rPr>
                                        <m:brk m:alnAt="23"/>
                                      </m:rPr>
                                      <a:rPr lang="en-US" sz="2800" i="1">
                                        <a:latin typeface="Cambria Math" panose="02040503050406030204" pitchFamily="18" charset="0"/>
                                      </a:rPr>
                                      <m:t>𝑖</m:t>
                                    </m:r>
                                    <m:r>
                                      <a:rPr lang="en-US" sz="2800" i="1">
                                        <a:latin typeface="Cambria Math" panose="02040503050406030204" pitchFamily="18" charset="0"/>
                                      </a:rPr>
                                      <m:t>=1</m:t>
                                    </m:r>
                                  </m:sub>
                                  <m:sup>
                                    <m:r>
                                      <a:rPr lang="en-US" sz="2800" i="1">
                                        <a:latin typeface="Cambria Math" panose="02040503050406030204" pitchFamily="18" charset="0"/>
                                      </a:rPr>
                                      <m:t>𝑁</m:t>
                                    </m:r>
                                  </m:sup>
                                  <m:e/>
                                </m:nary>
                                <m:r>
                                  <a:rPr lang="en-US" sz="2800" b="0" i="1" smtClean="0">
                                    <a:latin typeface="Cambria Math" panose="02040503050406030204" pitchFamily="18" charset="0"/>
                                  </a:rPr>
                                  <m:t>(</m:t>
                                </m:r>
                                <m:r>
                                  <a:rPr lang="en-US" sz="2800" i="1">
                                    <a:latin typeface="Cambria Math" panose="02040503050406030204" pitchFamily="18" charset="0"/>
                                  </a:rPr>
                                  <m:t>𝑡</m:t>
                                </m:r>
                                <m:r>
                                  <a:rPr lang="en-US" sz="2800" i="1" baseline="-25000">
                                    <a:latin typeface="Cambria Math" panose="02040503050406030204" pitchFamily="18" charset="0"/>
                                  </a:rPr>
                                  <m:t>𝑖𝑝</m:t>
                                </m:r>
                              </m:e>
                            </m:nary>
                            <m:r>
                              <a:rPr lang="en-US" sz="2800" b="0" i="1" smtClean="0">
                                <a:latin typeface="Cambria Math" panose="02040503050406030204" pitchFamily="18" charset="0"/>
                              </a:rPr>
                              <m:t>−</m:t>
                            </m:r>
                            <m:r>
                              <a:rPr lang="en-US" sz="2800" b="0" i="1" smtClean="0">
                                <a:latin typeface="Cambria Math" panose="02040503050406030204" pitchFamily="18" charset="0"/>
                              </a:rPr>
                              <m:t>𝑡𝑖𝑞</m:t>
                            </m:r>
                            <m:r>
                              <a:rPr lang="en-US" sz="2800" b="0" i="1" smtClean="0">
                                <a:latin typeface="Cambria Math" panose="02040503050406030204" pitchFamily="18" charset="0"/>
                              </a:rPr>
                              <m:t>)2</m:t>
                            </m:r>
                          </m:num>
                          <m:den>
                            <m:r>
                              <a:rPr lang="en-US" sz="2800" i="1">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−1)</m:t>
                            </m:r>
                          </m:den>
                        </m:f>
                      </m:e>
                    </m:rad>
                  </m:oMath>
                </a14:m>
                <a:endParaRPr lang="en-US" sz="2800" dirty="0"/>
              </a:p>
            </p:txBody>
          </p:sp>
        </mc:Choice>
        <mc:Fallback xmlns="">
          <p:sp>
            <p:nvSpPr>
              <p:cNvPr id="6" name="TextBox 5">
                <a:extLst>
                  <a:ext uri="{FF2B5EF4-FFF2-40B4-BE49-F238E27FC236}">
                    <a16:creationId xmlns:a16="http://schemas.microsoft.com/office/drawing/2014/main" id="{9E23B0B6-23D8-D9A8-6B90-504D41A5EF4D}"/>
                  </a:ext>
                </a:extLst>
              </p:cNvPr>
              <p:cNvSpPr txBox="1">
                <a:spLocks noRot="1" noChangeAspect="1" noMove="1" noResize="1" noEditPoints="1" noAdjustHandles="1" noChangeArrowheads="1" noChangeShapeType="1" noTextEdit="1"/>
              </p:cNvSpPr>
              <p:nvPr/>
            </p:nvSpPr>
            <p:spPr>
              <a:xfrm>
                <a:off x="7840980" y="4155714"/>
                <a:ext cx="4640580" cy="969176"/>
              </a:xfrm>
              <a:prstGeom prst="rect">
                <a:avLst/>
              </a:prstGeom>
              <a:blipFill>
                <a:blip r:embed="rId4"/>
                <a:stretch>
                  <a:fillRect l="-2725" t="-33766" b="-31169"/>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DD2EF742-2EBA-093B-78A0-9C5BC0800723}"/>
              </a:ext>
            </a:extLst>
          </p:cNvPr>
          <p:cNvSpPr>
            <a:spLocks noGrp="1"/>
          </p:cNvSpPr>
          <p:nvPr>
            <p:ph idx="1"/>
          </p:nvPr>
        </p:nvSpPr>
        <p:spPr>
          <a:xfrm>
            <a:off x="131181" y="863444"/>
            <a:ext cx="5332360" cy="5578501"/>
          </a:xfrm>
        </p:spPr>
        <p:txBody>
          <a:bodyPr/>
          <a:lstStyle/>
          <a:p>
            <a:r>
              <a:rPr lang="en-US" b="1" dirty="0"/>
              <a:t>Centroid:  </a:t>
            </a:r>
            <a:r>
              <a:rPr lang="en-US" dirty="0">
                <a:solidFill>
                  <a:srgbClr val="C00000"/>
                </a:solidFill>
              </a:rPr>
              <a:t>the “middle” of a cluster</a:t>
            </a:r>
          </a:p>
          <a:p>
            <a:r>
              <a:rPr lang="en-US" b="1" dirty="0"/>
              <a:t>Radius: </a:t>
            </a:r>
            <a:r>
              <a:rPr lang="en-US" dirty="0">
                <a:solidFill>
                  <a:srgbClr val="C00000"/>
                </a:solidFill>
              </a:rPr>
              <a:t>square root of average distance from any point of the cluster to its centroid</a:t>
            </a:r>
          </a:p>
          <a:p>
            <a:r>
              <a:rPr lang="en-US" b="1" dirty="0"/>
              <a:t>Diameter: </a:t>
            </a:r>
            <a:r>
              <a:rPr lang="en-US" dirty="0">
                <a:solidFill>
                  <a:srgbClr val="C00000"/>
                </a:solidFill>
              </a:rPr>
              <a:t>square root of average mean squared distance between all pairs of points in the cluster</a:t>
            </a:r>
          </a:p>
          <a:p>
            <a:endParaRPr lang="en-US" dirty="0"/>
          </a:p>
          <a:p>
            <a:endParaRPr lang="en-US" dirty="0"/>
          </a:p>
        </p:txBody>
      </p:sp>
    </p:spTree>
    <p:extLst>
      <p:ext uri="{BB962C8B-B14F-4D97-AF65-F5344CB8AC3E}">
        <p14:creationId xmlns:p14="http://schemas.microsoft.com/office/powerpoint/2010/main" val="335808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77DEA-42B1-6831-D08B-D4CA66B0AD7A}"/>
              </a:ext>
            </a:extLst>
          </p:cNvPr>
          <p:cNvSpPr>
            <a:spLocks noGrp="1"/>
          </p:cNvSpPr>
          <p:nvPr>
            <p:ph type="title"/>
          </p:nvPr>
        </p:nvSpPr>
        <p:spPr/>
        <p:txBody>
          <a:bodyPr/>
          <a:lstStyle/>
          <a:p>
            <a:r>
              <a:rPr lang="en-US" altLang="zh-CN" dirty="0">
                <a:ea typeface="SimSun" panose="02010600030101010101" pitchFamily="2" charset="-122"/>
              </a:rPr>
              <a:t>BIRCH</a:t>
            </a:r>
            <a:endParaRPr lang="en-US" dirty="0"/>
          </a:p>
        </p:txBody>
      </p:sp>
      <p:sp>
        <p:nvSpPr>
          <p:cNvPr id="3" name="Content Placeholder 2">
            <a:extLst>
              <a:ext uri="{FF2B5EF4-FFF2-40B4-BE49-F238E27FC236}">
                <a16:creationId xmlns:a16="http://schemas.microsoft.com/office/drawing/2014/main" id="{BD829AF7-3C50-F480-5CCD-F8839BBF5206}"/>
              </a:ext>
            </a:extLst>
          </p:cNvPr>
          <p:cNvSpPr>
            <a:spLocks noGrp="1"/>
          </p:cNvSpPr>
          <p:nvPr>
            <p:ph idx="1"/>
          </p:nvPr>
        </p:nvSpPr>
        <p:spPr/>
        <p:txBody>
          <a:bodyPr/>
          <a:lstStyle/>
          <a:p>
            <a:r>
              <a:rPr lang="en-US" b="1" dirty="0"/>
              <a:t>For each point in the input</a:t>
            </a:r>
          </a:p>
          <a:p>
            <a:pPr lvl="1"/>
            <a:r>
              <a:rPr lang="en-US" dirty="0"/>
              <a:t>Find </a:t>
            </a:r>
            <a:r>
              <a:rPr lang="en-US" dirty="0">
                <a:solidFill>
                  <a:srgbClr val="C00000"/>
                </a:solidFill>
              </a:rPr>
              <a:t>closest leaf entry</a:t>
            </a:r>
          </a:p>
          <a:p>
            <a:pPr lvl="1"/>
            <a:r>
              <a:rPr lang="en-US" dirty="0"/>
              <a:t>Add </a:t>
            </a:r>
            <a:r>
              <a:rPr lang="en-US" dirty="0">
                <a:solidFill>
                  <a:srgbClr val="C00000"/>
                </a:solidFill>
              </a:rPr>
              <a:t>point to leaf entry and update CF </a:t>
            </a:r>
          </a:p>
          <a:p>
            <a:pPr lvl="1"/>
            <a:r>
              <a:rPr lang="en-US" dirty="0">
                <a:solidFill>
                  <a:srgbClr val="C00000"/>
                </a:solidFill>
              </a:rPr>
              <a:t>If entry diameter &gt; </a:t>
            </a:r>
            <a:r>
              <a:rPr lang="en-US" dirty="0" err="1">
                <a:solidFill>
                  <a:srgbClr val="C00000"/>
                </a:solidFill>
              </a:rPr>
              <a:t>max_diameter</a:t>
            </a:r>
            <a:r>
              <a:rPr lang="en-US" dirty="0">
                <a:solidFill>
                  <a:srgbClr val="C00000"/>
                </a:solidFill>
              </a:rPr>
              <a:t>, then split lea</a:t>
            </a:r>
            <a:r>
              <a:rPr lang="en-US" dirty="0"/>
              <a:t>f, and </a:t>
            </a:r>
            <a:r>
              <a:rPr lang="en-US" dirty="0">
                <a:solidFill>
                  <a:srgbClr val="C00000"/>
                </a:solidFill>
              </a:rPr>
              <a:t>possibly parents</a:t>
            </a:r>
          </a:p>
          <a:p>
            <a:r>
              <a:rPr lang="en-US" altLang="en-US" sz="2400" dirty="0">
                <a:solidFill>
                  <a:srgbClr val="C00000"/>
                </a:solidFill>
              </a:rPr>
              <a:t>Algorithm is O(n)</a:t>
            </a:r>
          </a:p>
          <a:p>
            <a:r>
              <a:rPr lang="en-US" dirty="0"/>
              <a:t>Sensitive to </a:t>
            </a:r>
            <a:r>
              <a:rPr lang="en-US" dirty="0">
                <a:solidFill>
                  <a:srgbClr val="C00000"/>
                </a:solidFill>
              </a:rPr>
              <a:t>insertion order of data points</a:t>
            </a:r>
          </a:p>
          <a:p>
            <a:r>
              <a:rPr lang="en-US" dirty="0"/>
              <a:t>Since we fix the size of leaf nodes, so </a:t>
            </a:r>
            <a:r>
              <a:rPr lang="en-US" dirty="0">
                <a:solidFill>
                  <a:srgbClr val="C00000"/>
                </a:solidFill>
              </a:rPr>
              <a:t>clusters may not be so natural</a:t>
            </a:r>
          </a:p>
          <a:p>
            <a:r>
              <a:rPr lang="en-US" dirty="0">
                <a:solidFill>
                  <a:srgbClr val="C00000"/>
                </a:solidFill>
              </a:rPr>
              <a:t>Clusters tend to be spherical given the radius and diameter measures</a:t>
            </a:r>
          </a:p>
          <a:p>
            <a:endParaRPr lang="en-US" dirty="0"/>
          </a:p>
        </p:txBody>
      </p:sp>
    </p:spTree>
    <p:extLst>
      <p:ext uri="{BB962C8B-B14F-4D97-AF65-F5344CB8AC3E}">
        <p14:creationId xmlns:p14="http://schemas.microsoft.com/office/powerpoint/2010/main" val="220493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2C5B-D620-57A5-0898-04B57F113EC8}"/>
              </a:ext>
            </a:extLst>
          </p:cNvPr>
          <p:cNvSpPr>
            <a:spLocks noGrp="1"/>
          </p:cNvSpPr>
          <p:nvPr>
            <p:ph type="title"/>
          </p:nvPr>
        </p:nvSpPr>
        <p:spPr/>
        <p:txBody>
          <a:bodyPr/>
          <a:lstStyle/>
          <a:p>
            <a:r>
              <a:rPr lang="en-US" dirty="0"/>
              <a:t>CHAMELEON: Hierarchical Clustering Using Dynamic Modeling</a:t>
            </a:r>
          </a:p>
        </p:txBody>
      </p:sp>
      <p:sp>
        <p:nvSpPr>
          <p:cNvPr id="3" name="Content Placeholder 2">
            <a:extLst>
              <a:ext uri="{FF2B5EF4-FFF2-40B4-BE49-F238E27FC236}">
                <a16:creationId xmlns:a16="http://schemas.microsoft.com/office/drawing/2014/main" id="{839BFEBC-A426-65FB-19AF-EE8ED68E159B}"/>
              </a:ext>
            </a:extLst>
          </p:cNvPr>
          <p:cNvSpPr>
            <a:spLocks noGrp="1"/>
          </p:cNvSpPr>
          <p:nvPr>
            <p:ph idx="1"/>
          </p:nvPr>
        </p:nvSpPr>
        <p:spPr/>
        <p:txBody>
          <a:bodyPr/>
          <a:lstStyle/>
          <a:p>
            <a:r>
              <a:rPr lang="en-US" dirty="0"/>
              <a:t>Chameleon is a hierarchical clustering algorithm that uses </a:t>
            </a:r>
            <a:r>
              <a:rPr lang="en-US" dirty="0">
                <a:solidFill>
                  <a:srgbClr val="C00000"/>
                </a:solidFill>
              </a:rPr>
              <a:t>dynamic modeling </a:t>
            </a:r>
            <a:r>
              <a:rPr lang="en-US" dirty="0"/>
              <a:t>to determine the </a:t>
            </a:r>
            <a:r>
              <a:rPr lang="en-US" dirty="0">
                <a:solidFill>
                  <a:srgbClr val="C00000"/>
                </a:solidFill>
              </a:rPr>
              <a:t>similarity between pairs of clusters</a:t>
            </a:r>
            <a:r>
              <a:rPr lang="en-US" dirty="0"/>
              <a:t>.</a:t>
            </a:r>
          </a:p>
          <a:p>
            <a:r>
              <a:rPr lang="en-US" dirty="0"/>
              <a:t>In Chameleon, cluster similarity is assessed based on </a:t>
            </a:r>
          </a:p>
          <a:p>
            <a:pPr lvl="1"/>
            <a:r>
              <a:rPr lang="en-US" dirty="0"/>
              <a:t>Interconnectivity: How well </a:t>
            </a:r>
            <a:r>
              <a:rPr lang="en-US" dirty="0">
                <a:solidFill>
                  <a:srgbClr val="C00000"/>
                </a:solidFill>
              </a:rPr>
              <a:t>connected objects are within a cluster</a:t>
            </a:r>
            <a:r>
              <a:rPr lang="en-US" dirty="0"/>
              <a:t>. </a:t>
            </a:r>
          </a:p>
          <a:p>
            <a:pPr lvl="1"/>
            <a:r>
              <a:rPr lang="en-US" dirty="0"/>
              <a:t>Proximity: How they </a:t>
            </a:r>
            <a:r>
              <a:rPr lang="en-US" dirty="0">
                <a:solidFill>
                  <a:srgbClr val="C00000"/>
                </a:solidFill>
              </a:rPr>
              <a:t>are close together</a:t>
            </a:r>
            <a:r>
              <a:rPr lang="en-US" dirty="0"/>
              <a:t>. </a:t>
            </a:r>
          </a:p>
          <a:p>
            <a:r>
              <a:rPr lang="en-US" b="1" dirty="0"/>
              <a:t>Algorithm:</a:t>
            </a:r>
          </a:p>
          <a:p>
            <a:r>
              <a:rPr lang="en-US" dirty="0"/>
              <a:t>Chameleon uses a </a:t>
            </a:r>
            <a:r>
              <a:rPr lang="en-US" dirty="0">
                <a:solidFill>
                  <a:srgbClr val="C00000"/>
                </a:solidFill>
              </a:rPr>
              <a:t>k-nearest-neighbor graph approach to construct a sparse graph</a:t>
            </a:r>
            <a:r>
              <a:rPr lang="en-US" dirty="0"/>
              <a:t> </a:t>
            </a:r>
          </a:p>
          <a:p>
            <a:pPr lvl="1"/>
            <a:r>
              <a:rPr lang="en-US" dirty="0"/>
              <a:t>where each vertex of the graph represents a data object, and there exists an edge between two vertices (objects) if one object is among the k-most similar objects to the other. </a:t>
            </a:r>
          </a:p>
          <a:p>
            <a:r>
              <a:rPr lang="en-US" dirty="0"/>
              <a:t>Chameleon uses a </a:t>
            </a:r>
            <a:r>
              <a:rPr lang="en-US" dirty="0">
                <a:solidFill>
                  <a:srgbClr val="C00000"/>
                </a:solidFill>
              </a:rPr>
              <a:t>graph partitioning algorithm to partition the k-nearest-neighbor graph</a:t>
            </a:r>
            <a:r>
              <a:rPr lang="en-US" dirty="0"/>
              <a:t> into a large number of </a:t>
            </a:r>
            <a:r>
              <a:rPr lang="en-US" dirty="0">
                <a:solidFill>
                  <a:srgbClr val="C00000"/>
                </a:solidFill>
              </a:rPr>
              <a:t>relatively small subclusters</a:t>
            </a:r>
          </a:p>
          <a:p>
            <a:r>
              <a:rPr lang="en-US" dirty="0"/>
              <a:t>Chameleon then uses an </a:t>
            </a:r>
            <a:r>
              <a:rPr lang="en-US" dirty="0">
                <a:solidFill>
                  <a:srgbClr val="C00000"/>
                </a:solidFill>
              </a:rPr>
              <a:t>agglomerative hierarchical clustering </a:t>
            </a:r>
            <a:r>
              <a:rPr lang="en-US" dirty="0"/>
              <a:t>algorithm that </a:t>
            </a:r>
            <a:r>
              <a:rPr lang="en-US" dirty="0">
                <a:solidFill>
                  <a:srgbClr val="C00000"/>
                </a:solidFill>
              </a:rPr>
              <a:t>iteratively merges subclusters</a:t>
            </a:r>
            <a:r>
              <a:rPr lang="en-US" dirty="0"/>
              <a:t> based on their similarity. </a:t>
            </a:r>
          </a:p>
          <a:p>
            <a:pPr marL="0" indent="0">
              <a:buNone/>
            </a:pPr>
            <a:endParaRPr lang="en-US" dirty="0"/>
          </a:p>
          <a:p>
            <a:endParaRPr lang="en-US" dirty="0"/>
          </a:p>
        </p:txBody>
      </p:sp>
    </p:spTree>
    <p:extLst>
      <p:ext uri="{BB962C8B-B14F-4D97-AF65-F5344CB8AC3E}">
        <p14:creationId xmlns:p14="http://schemas.microsoft.com/office/powerpoint/2010/main" val="37167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0B5BD-428C-B624-B297-8AE69DC473C5}"/>
              </a:ext>
            </a:extLst>
          </p:cNvPr>
          <p:cNvSpPr>
            <a:spLocks noGrp="1"/>
          </p:cNvSpPr>
          <p:nvPr>
            <p:ph type="title"/>
          </p:nvPr>
        </p:nvSpPr>
        <p:spPr/>
        <p:txBody>
          <a:bodyPr/>
          <a:lstStyle/>
          <a:p>
            <a:r>
              <a:rPr lang="en-US" dirty="0"/>
              <a:t>CHAMELEON: Hierarchical Clustering Using Dynamic Modeling</a:t>
            </a:r>
          </a:p>
        </p:txBody>
      </p:sp>
      <p:sp>
        <p:nvSpPr>
          <p:cNvPr id="4" name="Rectangle 2">
            <a:extLst>
              <a:ext uri="{FF2B5EF4-FFF2-40B4-BE49-F238E27FC236}">
                <a16:creationId xmlns:a16="http://schemas.microsoft.com/office/drawing/2014/main" id="{F79BB40F-3559-29C3-2BBE-B933E8F383DA}"/>
              </a:ext>
            </a:extLst>
          </p:cNvPr>
          <p:cNvSpPr txBox="1">
            <a:spLocks noChangeArrowheads="1"/>
          </p:cNvSpPr>
          <p:nvPr/>
        </p:nvSpPr>
        <p:spPr>
          <a:xfrm>
            <a:off x="0" y="6172200"/>
            <a:ext cx="8382000" cy="30480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endParaRPr lang="zh-CN" altLang="en-US">
              <a:ea typeface="SimSun" panose="02010600030101010101" pitchFamily="2" charset="-122"/>
            </a:endParaRPr>
          </a:p>
          <a:p>
            <a:pPr>
              <a:buFont typeface="Wingdings" pitchFamily="2" charset="2"/>
              <a:buNone/>
            </a:pPr>
            <a:endParaRPr lang="zh-CN" altLang="en-US">
              <a:ea typeface="SimSun" panose="02010600030101010101" pitchFamily="2" charset="-122"/>
            </a:endParaRPr>
          </a:p>
          <a:p>
            <a:pPr>
              <a:buFont typeface="Wingdings" pitchFamily="2" charset="2"/>
              <a:buNone/>
            </a:pPr>
            <a:endParaRPr lang="zh-CN" altLang="en-US">
              <a:ea typeface="SimSun" panose="02010600030101010101" pitchFamily="2" charset="-122"/>
            </a:endParaRPr>
          </a:p>
        </p:txBody>
      </p:sp>
      <p:sp>
        <p:nvSpPr>
          <p:cNvPr id="2094" name="TextBox 2093">
            <a:extLst>
              <a:ext uri="{FF2B5EF4-FFF2-40B4-BE49-F238E27FC236}">
                <a16:creationId xmlns:a16="http://schemas.microsoft.com/office/drawing/2014/main" id="{C521D715-EB6F-2FD0-4E3B-765542129276}"/>
              </a:ext>
            </a:extLst>
          </p:cNvPr>
          <p:cNvSpPr txBox="1"/>
          <p:nvPr/>
        </p:nvSpPr>
        <p:spPr>
          <a:xfrm>
            <a:off x="144780" y="1521698"/>
            <a:ext cx="1152880"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b="1" dirty="0"/>
              <a:t>Step - 1</a:t>
            </a:r>
          </a:p>
        </p:txBody>
      </p:sp>
      <p:sp>
        <p:nvSpPr>
          <p:cNvPr id="2095" name="AutoShape 211">
            <a:extLst>
              <a:ext uri="{FF2B5EF4-FFF2-40B4-BE49-F238E27FC236}">
                <a16:creationId xmlns:a16="http://schemas.microsoft.com/office/drawing/2014/main" id="{76BF5162-F292-83DB-DAB6-B27472A255CE}"/>
              </a:ext>
            </a:extLst>
          </p:cNvPr>
          <p:cNvSpPr>
            <a:spLocks noChangeArrowheads="1"/>
          </p:cNvSpPr>
          <p:nvPr/>
        </p:nvSpPr>
        <p:spPr bwMode="auto">
          <a:xfrm>
            <a:off x="1813560" y="1031240"/>
            <a:ext cx="685800" cy="1066800"/>
          </a:xfrm>
          <a:prstGeom prst="flowChartMagneticDisk">
            <a:avLst/>
          </a:prstGeom>
          <a:solidFill>
            <a:srgbClr val="FFFFFF"/>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096" name="Line 212">
            <a:extLst>
              <a:ext uri="{FF2B5EF4-FFF2-40B4-BE49-F238E27FC236}">
                <a16:creationId xmlns:a16="http://schemas.microsoft.com/office/drawing/2014/main" id="{0475F0F3-0286-AD36-799B-879DA38EB20D}"/>
              </a:ext>
            </a:extLst>
          </p:cNvPr>
          <p:cNvSpPr>
            <a:spLocks noChangeShapeType="1"/>
          </p:cNvSpPr>
          <p:nvPr/>
        </p:nvSpPr>
        <p:spPr bwMode="auto">
          <a:xfrm>
            <a:off x="2575560" y="1564640"/>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97" name="Text Box 213">
            <a:extLst>
              <a:ext uri="{FF2B5EF4-FFF2-40B4-BE49-F238E27FC236}">
                <a16:creationId xmlns:a16="http://schemas.microsoft.com/office/drawing/2014/main" id="{8AE24996-99C5-A533-2F96-E1521529D48A}"/>
              </a:ext>
            </a:extLst>
          </p:cNvPr>
          <p:cNvSpPr txBox="1">
            <a:spLocks noChangeArrowheads="1"/>
          </p:cNvSpPr>
          <p:nvPr/>
        </p:nvSpPr>
        <p:spPr bwMode="auto">
          <a:xfrm>
            <a:off x="2499360" y="726440"/>
            <a:ext cx="1752600"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400" b="1" dirty="0">
                <a:latin typeface="Times New Roman" panose="02020603050405020304" pitchFamily="18" charset="0"/>
                <a:ea typeface="SimSun" panose="02010600030101010101" pitchFamily="2" charset="-122"/>
              </a:rPr>
              <a:t>Construct (K-NN)</a:t>
            </a:r>
          </a:p>
          <a:p>
            <a:pPr>
              <a:spcBef>
                <a:spcPct val="50000"/>
              </a:spcBef>
              <a:buClrTx/>
              <a:buSzTx/>
              <a:buFontTx/>
              <a:buNone/>
            </a:pPr>
            <a:r>
              <a:rPr lang="en-US" altLang="zh-CN" sz="1400" b="1" dirty="0">
                <a:latin typeface="Times New Roman" panose="02020603050405020304" pitchFamily="18" charset="0"/>
                <a:ea typeface="SimSun" panose="02010600030101010101" pitchFamily="2" charset="-122"/>
              </a:rPr>
              <a:t>Sparse Graph</a:t>
            </a:r>
          </a:p>
        </p:txBody>
      </p:sp>
      <p:sp>
        <p:nvSpPr>
          <p:cNvPr id="2098" name="Text Box 224">
            <a:extLst>
              <a:ext uri="{FF2B5EF4-FFF2-40B4-BE49-F238E27FC236}">
                <a16:creationId xmlns:a16="http://schemas.microsoft.com/office/drawing/2014/main" id="{50F32135-9BB2-7787-CA16-347301BD5608}"/>
              </a:ext>
            </a:extLst>
          </p:cNvPr>
          <p:cNvSpPr txBox="1">
            <a:spLocks noChangeArrowheads="1"/>
          </p:cNvSpPr>
          <p:nvPr/>
        </p:nvSpPr>
        <p:spPr bwMode="auto">
          <a:xfrm>
            <a:off x="1813560" y="2250440"/>
            <a:ext cx="1752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400" b="1">
                <a:latin typeface="Times New Roman" panose="02020603050405020304" pitchFamily="18" charset="0"/>
                <a:ea typeface="SimSun" panose="02010600030101010101" pitchFamily="2" charset="-122"/>
              </a:rPr>
              <a:t>Data Set</a:t>
            </a:r>
          </a:p>
        </p:txBody>
      </p:sp>
      <p:sp>
        <p:nvSpPr>
          <p:cNvPr id="2146" name="Oval 49">
            <a:extLst>
              <a:ext uri="{FF2B5EF4-FFF2-40B4-BE49-F238E27FC236}">
                <a16:creationId xmlns:a16="http://schemas.microsoft.com/office/drawing/2014/main" id="{60E7B3A0-48F0-DD49-6B0C-F3C766F78B3D}"/>
              </a:ext>
            </a:extLst>
          </p:cNvPr>
          <p:cNvSpPr>
            <a:spLocks noChangeArrowheads="1"/>
          </p:cNvSpPr>
          <p:nvPr/>
        </p:nvSpPr>
        <p:spPr bwMode="auto">
          <a:xfrm>
            <a:off x="5628640" y="29705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grpSp>
        <p:nvGrpSpPr>
          <p:cNvPr id="2353" name="Group 2352">
            <a:extLst>
              <a:ext uri="{FF2B5EF4-FFF2-40B4-BE49-F238E27FC236}">
                <a16:creationId xmlns:a16="http://schemas.microsoft.com/office/drawing/2014/main" id="{E38331A6-5D45-C5FD-7AC5-50DC768F9DB5}"/>
              </a:ext>
            </a:extLst>
          </p:cNvPr>
          <p:cNvGrpSpPr/>
          <p:nvPr/>
        </p:nvGrpSpPr>
        <p:grpSpPr>
          <a:xfrm>
            <a:off x="4168140" y="760730"/>
            <a:ext cx="1968500" cy="2209800"/>
            <a:chOff x="4168140" y="760730"/>
            <a:chExt cx="1968500" cy="2209800"/>
          </a:xfrm>
        </p:grpSpPr>
        <p:sp>
          <p:nvSpPr>
            <p:cNvPr id="2100" name="Oval 3">
              <a:extLst>
                <a:ext uri="{FF2B5EF4-FFF2-40B4-BE49-F238E27FC236}">
                  <a16:creationId xmlns:a16="http://schemas.microsoft.com/office/drawing/2014/main" id="{E422D72B-D0C9-DBC4-8D0C-EF09C6952539}"/>
                </a:ext>
              </a:extLst>
            </p:cNvPr>
            <p:cNvSpPr>
              <a:spLocks noChangeArrowheads="1"/>
            </p:cNvSpPr>
            <p:nvPr/>
          </p:nvSpPr>
          <p:spPr bwMode="auto">
            <a:xfrm>
              <a:off x="4866640" y="7607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01" name="Oval 4">
              <a:extLst>
                <a:ext uri="{FF2B5EF4-FFF2-40B4-BE49-F238E27FC236}">
                  <a16:creationId xmlns:a16="http://schemas.microsoft.com/office/drawing/2014/main" id="{CEE9ACE6-28CF-9F08-1F3F-E591BFA2BCD4}"/>
                </a:ext>
              </a:extLst>
            </p:cNvPr>
            <p:cNvSpPr>
              <a:spLocks noChangeArrowheads="1"/>
            </p:cNvSpPr>
            <p:nvPr/>
          </p:nvSpPr>
          <p:spPr bwMode="auto">
            <a:xfrm>
              <a:off x="4701540" y="9258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02" name="Oval 5">
              <a:extLst>
                <a:ext uri="{FF2B5EF4-FFF2-40B4-BE49-F238E27FC236}">
                  <a16:creationId xmlns:a16="http://schemas.microsoft.com/office/drawing/2014/main" id="{002C5285-F170-1105-A1AA-7A4986BD0FD6}"/>
                </a:ext>
              </a:extLst>
            </p:cNvPr>
            <p:cNvSpPr>
              <a:spLocks noChangeArrowheads="1"/>
            </p:cNvSpPr>
            <p:nvPr/>
          </p:nvSpPr>
          <p:spPr bwMode="auto">
            <a:xfrm>
              <a:off x="4930140" y="10782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03" name="Line 6">
              <a:extLst>
                <a:ext uri="{FF2B5EF4-FFF2-40B4-BE49-F238E27FC236}">
                  <a16:creationId xmlns:a16="http://schemas.microsoft.com/office/drawing/2014/main" id="{71AD3290-3378-BE55-D6BD-6525C1CD4800}"/>
                </a:ext>
              </a:extLst>
            </p:cNvPr>
            <p:cNvSpPr>
              <a:spLocks noChangeShapeType="1"/>
            </p:cNvSpPr>
            <p:nvPr/>
          </p:nvSpPr>
          <p:spPr bwMode="auto">
            <a:xfrm flipV="1">
              <a:off x="4701540" y="760730"/>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4" name="Oval 7">
              <a:extLst>
                <a:ext uri="{FF2B5EF4-FFF2-40B4-BE49-F238E27FC236}">
                  <a16:creationId xmlns:a16="http://schemas.microsoft.com/office/drawing/2014/main" id="{A7F65650-C78F-D0B7-F554-FEDAFD4DAB17}"/>
                </a:ext>
              </a:extLst>
            </p:cNvPr>
            <p:cNvSpPr>
              <a:spLocks noChangeArrowheads="1"/>
            </p:cNvSpPr>
            <p:nvPr/>
          </p:nvSpPr>
          <p:spPr bwMode="auto">
            <a:xfrm>
              <a:off x="4714240" y="12306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05" name="Oval 8">
              <a:extLst>
                <a:ext uri="{FF2B5EF4-FFF2-40B4-BE49-F238E27FC236}">
                  <a16:creationId xmlns:a16="http://schemas.microsoft.com/office/drawing/2014/main" id="{33444099-4513-E08D-AD0B-487BC1A4CC9E}"/>
                </a:ext>
              </a:extLst>
            </p:cNvPr>
            <p:cNvSpPr>
              <a:spLocks noChangeArrowheads="1"/>
            </p:cNvSpPr>
            <p:nvPr/>
          </p:nvSpPr>
          <p:spPr bwMode="auto">
            <a:xfrm>
              <a:off x="4396740" y="12941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06" name="Line 9">
              <a:extLst>
                <a:ext uri="{FF2B5EF4-FFF2-40B4-BE49-F238E27FC236}">
                  <a16:creationId xmlns:a16="http://schemas.microsoft.com/office/drawing/2014/main" id="{276F6C19-7BF1-F75D-C4C6-CA955C6306F6}"/>
                </a:ext>
              </a:extLst>
            </p:cNvPr>
            <p:cNvSpPr>
              <a:spLocks noChangeShapeType="1"/>
            </p:cNvSpPr>
            <p:nvPr/>
          </p:nvSpPr>
          <p:spPr bwMode="auto">
            <a:xfrm flipH="1">
              <a:off x="4396740" y="989330"/>
              <a:ext cx="304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7" name="Line 10">
              <a:extLst>
                <a:ext uri="{FF2B5EF4-FFF2-40B4-BE49-F238E27FC236}">
                  <a16:creationId xmlns:a16="http://schemas.microsoft.com/office/drawing/2014/main" id="{70F2C9D2-BFFD-1578-151B-758CEA5CA1D8}"/>
                </a:ext>
              </a:extLst>
            </p:cNvPr>
            <p:cNvSpPr>
              <a:spLocks noChangeShapeType="1"/>
            </p:cNvSpPr>
            <p:nvPr/>
          </p:nvSpPr>
          <p:spPr bwMode="auto">
            <a:xfrm>
              <a:off x="4701540" y="98933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8" name="Line 11">
              <a:extLst>
                <a:ext uri="{FF2B5EF4-FFF2-40B4-BE49-F238E27FC236}">
                  <a16:creationId xmlns:a16="http://schemas.microsoft.com/office/drawing/2014/main" id="{A38CF009-7DAF-7B0F-0BB6-77949651528C}"/>
                </a:ext>
              </a:extLst>
            </p:cNvPr>
            <p:cNvSpPr>
              <a:spLocks noChangeShapeType="1"/>
            </p:cNvSpPr>
            <p:nvPr/>
          </p:nvSpPr>
          <p:spPr bwMode="auto">
            <a:xfrm flipH="1">
              <a:off x="4777740" y="1141730"/>
              <a:ext cx="1524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9" name="Oval 12">
              <a:extLst>
                <a:ext uri="{FF2B5EF4-FFF2-40B4-BE49-F238E27FC236}">
                  <a16:creationId xmlns:a16="http://schemas.microsoft.com/office/drawing/2014/main" id="{AA9B2050-594A-1DD8-A6B5-A21B23838D41}"/>
                </a:ext>
              </a:extLst>
            </p:cNvPr>
            <p:cNvSpPr>
              <a:spLocks noChangeArrowheads="1"/>
            </p:cNvSpPr>
            <p:nvPr/>
          </p:nvSpPr>
          <p:spPr bwMode="auto">
            <a:xfrm>
              <a:off x="4485640" y="15354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10" name="Oval 13">
              <a:extLst>
                <a:ext uri="{FF2B5EF4-FFF2-40B4-BE49-F238E27FC236}">
                  <a16:creationId xmlns:a16="http://schemas.microsoft.com/office/drawing/2014/main" id="{15673005-7919-D10D-CF94-A94D39DB47DD}"/>
                </a:ext>
              </a:extLst>
            </p:cNvPr>
            <p:cNvSpPr>
              <a:spLocks noChangeArrowheads="1"/>
            </p:cNvSpPr>
            <p:nvPr/>
          </p:nvSpPr>
          <p:spPr bwMode="auto">
            <a:xfrm>
              <a:off x="4168140" y="15227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11" name="Oval 14">
              <a:extLst>
                <a:ext uri="{FF2B5EF4-FFF2-40B4-BE49-F238E27FC236}">
                  <a16:creationId xmlns:a16="http://schemas.microsoft.com/office/drawing/2014/main" id="{B88D7F97-855D-1226-E749-0073DEAFC2A9}"/>
                </a:ext>
              </a:extLst>
            </p:cNvPr>
            <p:cNvSpPr>
              <a:spLocks noChangeArrowheads="1"/>
            </p:cNvSpPr>
            <p:nvPr/>
          </p:nvSpPr>
          <p:spPr bwMode="auto">
            <a:xfrm>
              <a:off x="4853940" y="15354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12" name="Oval 15">
              <a:extLst>
                <a:ext uri="{FF2B5EF4-FFF2-40B4-BE49-F238E27FC236}">
                  <a16:creationId xmlns:a16="http://schemas.microsoft.com/office/drawing/2014/main" id="{FF1FC2B7-4CA2-302B-536F-90FEB63CE44B}"/>
                </a:ext>
              </a:extLst>
            </p:cNvPr>
            <p:cNvSpPr>
              <a:spLocks noChangeArrowheads="1"/>
            </p:cNvSpPr>
            <p:nvPr/>
          </p:nvSpPr>
          <p:spPr bwMode="auto">
            <a:xfrm>
              <a:off x="4638040" y="18275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13" name="Oval 16">
              <a:extLst>
                <a:ext uri="{FF2B5EF4-FFF2-40B4-BE49-F238E27FC236}">
                  <a16:creationId xmlns:a16="http://schemas.microsoft.com/office/drawing/2014/main" id="{9EB5B0D7-890A-7CA1-DB40-1C794201B6E5}"/>
                </a:ext>
              </a:extLst>
            </p:cNvPr>
            <p:cNvSpPr>
              <a:spLocks noChangeArrowheads="1"/>
            </p:cNvSpPr>
            <p:nvPr/>
          </p:nvSpPr>
          <p:spPr bwMode="auto">
            <a:xfrm>
              <a:off x="4701540" y="21450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14" name="Oval 17">
              <a:extLst>
                <a:ext uri="{FF2B5EF4-FFF2-40B4-BE49-F238E27FC236}">
                  <a16:creationId xmlns:a16="http://schemas.microsoft.com/office/drawing/2014/main" id="{C2B187A5-E44F-ED40-CEDC-3D4DE4AE1662}"/>
                </a:ext>
              </a:extLst>
            </p:cNvPr>
            <p:cNvSpPr>
              <a:spLocks noChangeArrowheads="1"/>
            </p:cNvSpPr>
            <p:nvPr/>
          </p:nvSpPr>
          <p:spPr bwMode="auto">
            <a:xfrm>
              <a:off x="5019040" y="19799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15" name="Line 18">
              <a:extLst>
                <a:ext uri="{FF2B5EF4-FFF2-40B4-BE49-F238E27FC236}">
                  <a16:creationId xmlns:a16="http://schemas.microsoft.com/office/drawing/2014/main" id="{0581260C-D0DE-825A-D77F-B5A9159E4FC0}"/>
                </a:ext>
              </a:extLst>
            </p:cNvPr>
            <p:cNvSpPr>
              <a:spLocks noChangeShapeType="1"/>
            </p:cNvSpPr>
            <p:nvPr/>
          </p:nvSpPr>
          <p:spPr bwMode="auto">
            <a:xfrm>
              <a:off x="4396740" y="129413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6" name="Line 19">
              <a:extLst>
                <a:ext uri="{FF2B5EF4-FFF2-40B4-BE49-F238E27FC236}">
                  <a16:creationId xmlns:a16="http://schemas.microsoft.com/office/drawing/2014/main" id="{232A9374-B393-0939-8CB3-DA8DA0C4D771}"/>
                </a:ext>
              </a:extLst>
            </p:cNvPr>
            <p:cNvSpPr>
              <a:spLocks noChangeShapeType="1"/>
            </p:cNvSpPr>
            <p:nvPr/>
          </p:nvSpPr>
          <p:spPr bwMode="auto">
            <a:xfrm flipH="1">
              <a:off x="4168140" y="1294130"/>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7" name="Line 20">
              <a:extLst>
                <a:ext uri="{FF2B5EF4-FFF2-40B4-BE49-F238E27FC236}">
                  <a16:creationId xmlns:a16="http://schemas.microsoft.com/office/drawing/2014/main" id="{F3BC283D-DD7A-3895-C556-63597308B90E}"/>
                </a:ext>
              </a:extLst>
            </p:cNvPr>
            <p:cNvSpPr>
              <a:spLocks noChangeShapeType="1"/>
            </p:cNvSpPr>
            <p:nvPr/>
          </p:nvSpPr>
          <p:spPr bwMode="auto">
            <a:xfrm>
              <a:off x="4168140" y="1522730"/>
              <a:ext cx="3810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8" name="Line 21">
              <a:extLst>
                <a:ext uri="{FF2B5EF4-FFF2-40B4-BE49-F238E27FC236}">
                  <a16:creationId xmlns:a16="http://schemas.microsoft.com/office/drawing/2014/main" id="{0670645D-9D6D-5051-91B6-317038BD1AC6}"/>
                </a:ext>
              </a:extLst>
            </p:cNvPr>
            <p:cNvSpPr>
              <a:spLocks noChangeShapeType="1"/>
            </p:cNvSpPr>
            <p:nvPr/>
          </p:nvSpPr>
          <p:spPr bwMode="auto">
            <a:xfrm flipV="1">
              <a:off x="4549140" y="1217930"/>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9" name="Oval 22">
              <a:extLst>
                <a:ext uri="{FF2B5EF4-FFF2-40B4-BE49-F238E27FC236}">
                  <a16:creationId xmlns:a16="http://schemas.microsoft.com/office/drawing/2014/main" id="{3A18C4C3-04DD-EA2F-DEB2-7D38EA1492BD}"/>
                </a:ext>
              </a:extLst>
            </p:cNvPr>
            <p:cNvSpPr>
              <a:spLocks noChangeArrowheads="1"/>
            </p:cNvSpPr>
            <p:nvPr/>
          </p:nvSpPr>
          <p:spPr bwMode="auto">
            <a:xfrm>
              <a:off x="5234940" y="18275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20" name="Oval 23">
              <a:extLst>
                <a:ext uri="{FF2B5EF4-FFF2-40B4-BE49-F238E27FC236}">
                  <a16:creationId xmlns:a16="http://schemas.microsoft.com/office/drawing/2014/main" id="{0F8927DE-B660-2D08-8D19-B1593167EDCE}"/>
                </a:ext>
              </a:extLst>
            </p:cNvPr>
            <p:cNvSpPr>
              <a:spLocks noChangeArrowheads="1"/>
            </p:cNvSpPr>
            <p:nvPr/>
          </p:nvSpPr>
          <p:spPr bwMode="auto">
            <a:xfrm>
              <a:off x="5311140" y="21450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39" name="Oval 42">
              <a:extLst>
                <a:ext uri="{FF2B5EF4-FFF2-40B4-BE49-F238E27FC236}">
                  <a16:creationId xmlns:a16="http://schemas.microsoft.com/office/drawing/2014/main" id="{6076D7E8-553A-7C4B-405D-A723B6FB4519}"/>
                </a:ext>
              </a:extLst>
            </p:cNvPr>
            <p:cNvSpPr>
              <a:spLocks noChangeArrowheads="1"/>
            </p:cNvSpPr>
            <p:nvPr/>
          </p:nvSpPr>
          <p:spPr bwMode="auto">
            <a:xfrm>
              <a:off x="5933440" y="22847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40" name="Oval 43">
              <a:extLst>
                <a:ext uri="{FF2B5EF4-FFF2-40B4-BE49-F238E27FC236}">
                  <a16:creationId xmlns:a16="http://schemas.microsoft.com/office/drawing/2014/main" id="{B04EFC05-251E-ECBA-2D02-16B9EECC5FCA}"/>
                </a:ext>
              </a:extLst>
            </p:cNvPr>
            <p:cNvSpPr>
              <a:spLocks noChangeArrowheads="1"/>
            </p:cNvSpPr>
            <p:nvPr/>
          </p:nvSpPr>
          <p:spPr bwMode="auto">
            <a:xfrm>
              <a:off x="5844540" y="24371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41" name="Oval 44">
              <a:extLst>
                <a:ext uri="{FF2B5EF4-FFF2-40B4-BE49-F238E27FC236}">
                  <a16:creationId xmlns:a16="http://schemas.microsoft.com/office/drawing/2014/main" id="{05C181BF-A351-5931-7960-E02498B6DD5F}"/>
                </a:ext>
              </a:extLst>
            </p:cNvPr>
            <p:cNvSpPr>
              <a:spLocks noChangeArrowheads="1"/>
            </p:cNvSpPr>
            <p:nvPr/>
          </p:nvSpPr>
          <p:spPr bwMode="auto">
            <a:xfrm>
              <a:off x="6073140" y="25133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42" name="Oval 45">
              <a:extLst>
                <a:ext uri="{FF2B5EF4-FFF2-40B4-BE49-F238E27FC236}">
                  <a16:creationId xmlns:a16="http://schemas.microsoft.com/office/drawing/2014/main" id="{16F1A679-E48A-4468-FBE5-188C51F762C6}"/>
                </a:ext>
              </a:extLst>
            </p:cNvPr>
            <p:cNvSpPr>
              <a:spLocks noChangeArrowheads="1"/>
            </p:cNvSpPr>
            <p:nvPr/>
          </p:nvSpPr>
          <p:spPr bwMode="auto">
            <a:xfrm>
              <a:off x="5920740" y="27419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44" name="Oval 47">
              <a:extLst>
                <a:ext uri="{FF2B5EF4-FFF2-40B4-BE49-F238E27FC236}">
                  <a16:creationId xmlns:a16="http://schemas.microsoft.com/office/drawing/2014/main" id="{F7A23E54-E37E-7752-16F3-68221B90183E}"/>
                </a:ext>
              </a:extLst>
            </p:cNvPr>
            <p:cNvSpPr>
              <a:spLocks noChangeArrowheads="1"/>
            </p:cNvSpPr>
            <p:nvPr/>
          </p:nvSpPr>
          <p:spPr bwMode="auto">
            <a:xfrm>
              <a:off x="5844540" y="29070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45" name="Oval 48">
              <a:extLst>
                <a:ext uri="{FF2B5EF4-FFF2-40B4-BE49-F238E27FC236}">
                  <a16:creationId xmlns:a16="http://schemas.microsoft.com/office/drawing/2014/main" id="{265C9F2E-FE71-245B-21D0-5613B05B93D3}"/>
                </a:ext>
              </a:extLst>
            </p:cNvPr>
            <p:cNvSpPr>
              <a:spLocks noChangeArrowheads="1"/>
            </p:cNvSpPr>
            <p:nvPr/>
          </p:nvSpPr>
          <p:spPr bwMode="auto">
            <a:xfrm>
              <a:off x="5704840" y="2818130"/>
              <a:ext cx="63500" cy="635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52" name="Line 55">
              <a:extLst>
                <a:ext uri="{FF2B5EF4-FFF2-40B4-BE49-F238E27FC236}">
                  <a16:creationId xmlns:a16="http://schemas.microsoft.com/office/drawing/2014/main" id="{F3827629-1683-7FD0-66A7-0784F0A6FDFC}"/>
                </a:ext>
              </a:extLst>
            </p:cNvPr>
            <p:cNvSpPr>
              <a:spLocks noChangeShapeType="1"/>
            </p:cNvSpPr>
            <p:nvPr/>
          </p:nvSpPr>
          <p:spPr bwMode="auto">
            <a:xfrm>
              <a:off x="5311140" y="2208530"/>
              <a:ext cx="533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 name="Line 56">
              <a:extLst>
                <a:ext uri="{FF2B5EF4-FFF2-40B4-BE49-F238E27FC236}">
                  <a16:creationId xmlns:a16="http://schemas.microsoft.com/office/drawing/2014/main" id="{75F1467D-F42C-3B2B-6CEB-52D143C807ED}"/>
                </a:ext>
              </a:extLst>
            </p:cNvPr>
            <p:cNvSpPr>
              <a:spLocks noChangeShapeType="1"/>
            </p:cNvSpPr>
            <p:nvPr/>
          </p:nvSpPr>
          <p:spPr bwMode="auto">
            <a:xfrm flipH="1">
              <a:off x="5768340" y="2437130"/>
              <a:ext cx="76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 name="Line 57">
              <a:extLst>
                <a:ext uri="{FF2B5EF4-FFF2-40B4-BE49-F238E27FC236}">
                  <a16:creationId xmlns:a16="http://schemas.microsoft.com/office/drawing/2014/main" id="{D84FF3C2-66C3-28AC-8120-6F163F9AC0FC}"/>
                </a:ext>
              </a:extLst>
            </p:cNvPr>
            <p:cNvSpPr>
              <a:spLocks noChangeShapeType="1"/>
            </p:cNvSpPr>
            <p:nvPr/>
          </p:nvSpPr>
          <p:spPr bwMode="auto">
            <a:xfrm>
              <a:off x="5844540" y="243713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 name="Line 58">
              <a:extLst>
                <a:ext uri="{FF2B5EF4-FFF2-40B4-BE49-F238E27FC236}">
                  <a16:creationId xmlns:a16="http://schemas.microsoft.com/office/drawing/2014/main" id="{8880B9B7-4C91-8AFF-FC31-AC5F682C3FB9}"/>
                </a:ext>
              </a:extLst>
            </p:cNvPr>
            <p:cNvSpPr>
              <a:spLocks noChangeShapeType="1"/>
            </p:cNvSpPr>
            <p:nvPr/>
          </p:nvSpPr>
          <p:spPr bwMode="auto">
            <a:xfrm flipH="1">
              <a:off x="5920740" y="251333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 name="Line 59">
              <a:extLst>
                <a:ext uri="{FF2B5EF4-FFF2-40B4-BE49-F238E27FC236}">
                  <a16:creationId xmlns:a16="http://schemas.microsoft.com/office/drawing/2014/main" id="{158084A6-5888-8FE8-59B3-E3E4B97BD59F}"/>
                </a:ext>
              </a:extLst>
            </p:cNvPr>
            <p:cNvSpPr>
              <a:spLocks noChangeShapeType="1"/>
            </p:cNvSpPr>
            <p:nvPr/>
          </p:nvSpPr>
          <p:spPr bwMode="auto">
            <a:xfrm>
              <a:off x="5768340" y="281813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7" name="Line 60">
              <a:extLst>
                <a:ext uri="{FF2B5EF4-FFF2-40B4-BE49-F238E27FC236}">
                  <a16:creationId xmlns:a16="http://schemas.microsoft.com/office/drawing/2014/main" id="{89520B24-6989-E9E1-5D4E-EAFF1CF0FD82}"/>
                </a:ext>
              </a:extLst>
            </p:cNvPr>
            <p:cNvSpPr>
              <a:spLocks noChangeShapeType="1"/>
            </p:cNvSpPr>
            <p:nvPr/>
          </p:nvSpPr>
          <p:spPr bwMode="auto">
            <a:xfrm flipH="1">
              <a:off x="5692140" y="2818130"/>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 name="Line 61">
              <a:extLst>
                <a:ext uri="{FF2B5EF4-FFF2-40B4-BE49-F238E27FC236}">
                  <a16:creationId xmlns:a16="http://schemas.microsoft.com/office/drawing/2014/main" id="{4645B279-41E7-6767-7A4F-F7C3F8103E00}"/>
                </a:ext>
              </a:extLst>
            </p:cNvPr>
            <p:cNvSpPr>
              <a:spLocks noChangeShapeType="1"/>
            </p:cNvSpPr>
            <p:nvPr/>
          </p:nvSpPr>
          <p:spPr bwMode="auto">
            <a:xfrm>
              <a:off x="4777740" y="121793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 name="Line 62">
              <a:extLst>
                <a:ext uri="{FF2B5EF4-FFF2-40B4-BE49-F238E27FC236}">
                  <a16:creationId xmlns:a16="http://schemas.microsoft.com/office/drawing/2014/main" id="{2E06D3E4-3825-3881-3677-B9D281FB6AA4}"/>
                </a:ext>
              </a:extLst>
            </p:cNvPr>
            <p:cNvSpPr>
              <a:spLocks noChangeShapeType="1"/>
            </p:cNvSpPr>
            <p:nvPr/>
          </p:nvSpPr>
          <p:spPr bwMode="auto">
            <a:xfrm>
              <a:off x="4930140" y="1598930"/>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 name="Line 63">
              <a:extLst>
                <a:ext uri="{FF2B5EF4-FFF2-40B4-BE49-F238E27FC236}">
                  <a16:creationId xmlns:a16="http://schemas.microsoft.com/office/drawing/2014/main" id="{12C3BBA7-9394-DC85-69B8-4C80F20BFCAD}"/>
                </a:ext>
              </a:extLst>
            </p:cNvPr>
            <p:cNvSpPr>
              <a:spLocks noChangeShapeType="1"/>
            </p:cNvSpPr>
            <p:nvPr/>
          </p:nvSpPr>
          <p:spPr bwMode="auto">
            <a:xfrm>
              <a:off x="4853940" y="1598930"/>
              <a:ext cx="152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1" name="Line 64">
              <a:extLst>
                <a:ext uri="{FF2B5EF4-FFF2-40B4-BE49-F238E27FC236}">
                  <a16:creationId xmlns:a16="http://schemas.microsoft.com/office/drawing/2014/main" id="{19977A0B-C3C3-EFD6-6BD7-15D50DAC0055}"/>
                </a:ext>
              </a:extLst>
            </p:cNvPr>
            <p:cNvSpPr>
              <a:spLocks noChangeShapeType="1"/>
            </p:cNvSpPr>
            <p:nvPr/>
          </p:nvSpPr>
          <p:spPr bwMode="auto">
            <a:xfrm>
              <a:off x="5006340" y="1979930"/>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2" name="Line 65">
              <a:extLst>
                <a:ext uri="{FF2B5EF4-FFF2-40B4-BE49-F238E27FC236}">
                  <a16:creationId xmlns:a16="http://schemas.microsoft.com/office/drawing/2014/main" id="{910948B7-E336-5E40-9FE8-4B2D97CAA950}"/>
                </a:ext>
              </a:extLst>
            </p:cNvPr>
            <p:cNvSpPr>
              <a:spLocks noChangeShapeType="1"/>
            </p:cNvSpPr>
            <p:nvPr/>
          </p:nvSpPr>
          <p:spPr bwMode="auto">
            <a:xfrm flipV="1">
              <a:off x="5006340" y="1903730"/>
              <a:ext cx="2286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3" name="Line 66">
              <a:extLst>
                <a:ext uri="{FF2B5EF4-FFF2-40B4-BE49-F238E27FC236}">
                  <a16:creationId xmlns:a16="http://schemas.microsoft.com/office/drawing/2014/main" id="{D9B2F04A-2AF6-BEE0-C0D6-814B1184B822}"/>
                </a:ext>
              </a:extLst>
            </p:cNvPr>
            <p:cNvSpPr>
              <a:spLocks noChangeShapeType="1"/>
            </p:cNvSpPr>
            <p:nvPr/>
          </p:nvSpPr>
          <p:spPr bwMode="auto">
            <a:xfrm>
              <a:off x="4549140" y="159893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4" name="Line 67">
              <a:extLst>
                <a:ext uri="{FF2B5EF4-FFF2-40B4-BE49-F238E27FC236}">
                  <a16:creationId xmlns:a16="http://schemas.microsoft.com/office/drawing/2014/main" id="{6994E163-709E-6125-D69A-CEED5CF94A6B}"/>
                </a:ext>
              </a:extLst>
            </p:cNvPr>
            <p:cNvSpPr>
              <a:spLocks noChangeShapeType="1"/>
            </p:cNvSpPr>
            <p:nvPr/>
          </p:nvSpPr>
          <p:spPr bwMode="auto">
            <a:xfrm flipH="1">
              <a:off x="4701540" y="159893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5" name="Line 68">
              <a:extLst>
                <a:ext uri="{FF2B5EF4-FFF2-40B4-BE49-F238E27FC236}">
                  <a16:creationId xmlns:a16="http://schemas.microsoft.com/office/drawing/2014/main" id="{92E5E70C-ACB6-D27A-9BC0-66D5D29AF7E3}"/>
                </a:ext>
              </a:extLst>
            </p:cNvPr>
            <p:cNvSpPr>
              <a:spLocks noChangeShapeType="1"/>
            </p:cNvSpPr>
            <p:nvPr/>
          </p:nvSpPr>
          <p:spPr bwMode="auto">
            <a:xfrm>
              <a:off x="4701540" y="190373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6" name="Line 69">
              <a:extLst>
                <a:ext uri="{FF2B5EF4-FFF2-40B4-BE49-F238E27FC236}">
                  <a16:creationId xmlns:a16="http://schemas.microsoft.com/office/drawing/2014/main" id="{C4F72C99-B9B9-9F82-F213-90B3071E8B46}"/>
                </a:ext>
              </a:extLst>
            </p:cNvPr>
            <p:cNvSpPr>
              <a:spLocks noChangeShapeType="1"/>
            </p:cNvSpPr>
            <p:nvPr/>
          </p:nvSpPr>
          <p:spPr bwMode="auto">
            <a:xfrm>
              <a:off x="4701540" y="220853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7" name="Line 70">
              <a:extLst>
                <a:ext uri="{FF2B5EF4-FFF2-40B4-BE49-F238E27FC236}">
                  <a16:creationId xmlns:a16="http://schemas.microsoft.com/office/drawing/2014/main" id="{614868B7-74D5-96FF-3966-A11156A5D620}"/>
                </a:ext>
              </a:extLst>
            </p:cNvPr>
            <p:cNvSpPr>
              <a:spLocks noChangeShapeType="1"/>
            </p:cNvSpPr>
            <p:nvPr/>
          </p:nvSpPr>
          <p:spPr bwMode="auto">
            <a:xfrm flipV="1">
              <a:off x="4701540" y="2056130"/>
              <a:ext cx="3048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9" name="Line 72">
              <a:extLst>
                <a:ext uri="{FF2B5EF4-FFF2-40B4-BE49-F238E27FC236}">
                  <a16:creationId xmlns:a16="http://schemas.microsoft.com/office/drawing/2014/main" id="{C1048B21-747A-E4C9-292B-047428022ABE}"/>
                </a:ext>
              </a:extLst>
            </p:cNvPr>
            <p:cNvSpPr>
              <a:spLocks noChangeShapeType="1"/>
            </p:cNvSpPr>
            <p:nvPr/>
          </p:nvSpPr>
          <p:spPr bwMode="auto">
            <a:xfrm>
              <a:off x="4701540" y="1827530"/>
              <a:ext cx="3810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1" name="Line 223">
              <a:extLst>
                <a:ext uri="{FF2B5EF4-FFF2-40B4-BE49-F238E27FC236}">
                  <a16:creationId xmlns:a16="http://schemas.microsoft.com/office/drawing/2014/main" id="{46EB484E-1D68-7EBF-F67A-3B7E86B95DA1}"/>
                </a:ext>
              </a:extLst>
            </p:cNvPr>
            <p:cNvSpPr>
              <a:spLocks noChangeShapeType="1"/>
            </p:cNvSpPr>
            <p:nvPr/>
          </p:nvSpPr>
          <p:spPr bwMode="auto">
            <a:xfrm>
              <a:off x="4930140" y="76073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2" name="Line 225">
              <a:extLst>
                <a:ext uri="{FF2B5EF4-FFF2-40B4-BE49-F238E27FC236}">
                  <a16:creationId xmlns:a16="http://schemas.microsoft.com/office/drawing/2014/main" id="{302F40B7-74E2-3D3F-D9DA-6F0B5A58A09A}"/>
                </a:ext>
              </a:extLst>
            </p:cNvPr>
            <p:cNvSpPr>
              <a:spLocks noChangeShapeType="1"/>
            </p:cNvSpPr>
            <p:nvPr/>
          </p:nvSpPr>
          <p:spPr bwMode="auto">
            <a:xfrm>
              <a:off x="4777740" y="989330"/>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3" name="Line 226">
              <a:extLst>
                <a:ext uri="{FF2B5EF4-FFF2-40B4-BE49-F238E27FC236}">
                  <a16:creationId xmlns:a16="http://schemas.microsoft.com/office/drawing/2014/main" id="{EC84BE3F-E7C4-671A-C351-C9A38AA49BF8}"/>
                </a:ext>
              </a:extLst>
            </p:cNvPr>
            <p:cNvSpPr>
              <a:spLocks noChangeShapeType="1"/>
            </p:cNvSpPr>
            <p:nvPr/>
          </p:nvSpPr>
          <p:spPr bwMode="auto">
            <a:xfrm flipH="1">
              <a:off x="4853940" y="1141730"/>
              <a:ext cx="76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4" name="Line 227">
              <a:extLst>
                <a:ext uri="{FF2B5EF4-FFF2-40B4-BE49-F238E27FC236}">
                  <a16:creationId xmlns:a16="http://schemas.microsoft.com/office/drawing/2014/main" id="{CE497CC2-7A7E-015F-784E-CA21D0E25A8A}"/>
                </a:ext>
              </a:extLst>
            </p:cNvPr>
            <p:cNvSpPr>
              <a:spLocks noChangeShapeType="1"/>
            </p:cNvSpPr>
            <p:nvPr/>
          </p:nvSpPr>
          <p:spPr bwMode="auto">
            <a:xfrm>
              <a:off x="4930140" y="1065530"/>
              <a:ext cx="304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5" name="Line 228">
              <a:extLst>
                <a:ext uri="{FF2B5EF4-FFF2-40B4-BE49-F238E27FC236}">
                  <a16:creationId xmlns:a16="http://schemas.microsoft.com/office/drawing/2014/main" id="{B2092590-CEDC-D1B2-23C4-97DC57C39586}"/>
                </a:ext>
              </a:extLst>
            </p:cNvPr>
            <p:cNvSpPr>
              <a:spLocks noChangeShapeType="1"/>
            </p:cNvSpPr>
            <p:nvPr/>
          </p:nvSpPr>
          <p:spPr bwMode="auto">
            <a:xfrm>
              <a:off x="5234940" y="182753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2" name="Line 235">
              <a:extLst>
                <a:ext uri="{FF2B5EF4-FFF2-40B4-BE49-F238E27FC236}">
                  <a16:creationId xmlns:a16="http://schemas.microsoft.com/office/drawing/2014/main" id="{9A2B566E-0E9C-5CC8-D2DA-978A32D03811}"/>
                </a:ext>
              </a:extLst>
            </p:cNvPr>
            <p:cNvSpPr>
              <a:spLocks noChangeShapeType="1"/>
            </p:cNvSpPr>
            <p:nvPr/>
          </p:nvSpPr>
          <p:spPr bwMode="auto">
            <a:xfrm flipH="1">
              <a:off x="5844540" y="2284730"/>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3" name="Line 236">
              <a:extLst>
                <a:ext uri="{FF2B5EF4-FFF2-40B4-BE49-F238E27FC236}">
                  <a16:creationId xmlns:a16="http://schemas.microsoft.com/office/drawing/2014/main" id="{3E4B7B45-441F-C4F7-7CBD-7D413813E79D}"/>
                </a:ext>
              </a:extLst>
            </p:cNvPr>
            <p:cNvSpPr>
              <a:spLocks noChangeShapeType="1"/>
            </p:cNvSpPr>
            <p:nvPr/>
          </p:nvSpPr>
          <p:spPr bwMode="auto">
            <a:xfrm>
              <a:off x="5996940" y="2284730"/>
              <a:ext cx="76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4" name="Line 237">
              <a:extLst>
                <a:ext uri="{FF2B5EF4-FFF2-40B4-BE49-F238E27FC236}">
                  <a16:creationId xmlns:a16="http://schemas.microsoft.com/office/drawing/2014/main" id="{201B2ADF-2EB4-D6E4-897C-4425D240140A}"/>
                </a:ext>
              </a:extLst>
            </p:cNvPr>
            <p:cNvSpPr>
              <a:spLocks noChangeShapeType="1"/>
            </p:cNvSpPr>
            <p:nvPr/>
          </p:nvSpPr>
          <p:spPr bwMode="auto">
            <a:xfrm flipH="1">
              <a:off x="5844540" y="2818130"/>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5" name="Line 238">
              <a:extLst>
                <a:ext uri="{FF2B5EF4-FFF2-40B4-BE49-F238E27FC236}">
                  <a16:creationId xmlns:a16="http://schemas.microsoft.com/office/drawing/2014/main" id="{CC97BB83-74CB-DBF9-CA1A-16E9ECEF0D48}"/>
                </a:ext>
              </a:extLst>
            </p:cNvPr>
            <p:cNvSpPr>
              <a:spLocks noChangeShapeType="1"/>
            </p:cNvSpPr>
            <p:nvPr/>
          </p:nvSpPr>
          <p:spPr bwMode="auto">
            <a:xfrm>
              <a:off x="5768340" y="2818130"/>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8" name="Line 262">
              <a:extLst>
                <a:ext uri="{FF2B5EF4-FFF2-40B4-BE49-F238E27FC236}">
                  <a16:creationId xmlns:a16="http://schemas.microsoft.com/office/drawing/2014/main" id="{2AC3C750-1FAB-BD34-816C-5F8747052F5B}"/>
                </a:ext>
              </a:extLst>
            </p:cNvPr>
            <p:cNvSpPr>
              <a:spLocks noChangeShapeType="1"/>
            </p:cNvSpPr>
            <p:nvPr/>
          </p:nvSpPr>
          <p:spPr bwMode="auto">
            <a:xfrm>
              <a:off x="5844540" y="2437130"/>
              <a:ext cx="2286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9" name="Line 263">
              <a:extLst>
                <a:ext uri="{FF2B5EF4-FFF2-40B4-BE49-F238E27FC236}">
                  <a16:creationId xmlns:a16="http://schemas.microsoft.com/office/drawing/2014/main" id="{68382E1C-47BA-3074-854B-C496A15A025F}"/>
                </a:ext>
              </a:extLst>
            </p:cNvPr>
            <p:cNvSpPr>
              <a:spLocks noChangeShapeType="1"/>
            </p:cNvSpPr>
            <p:nvPr/>
          </p:nvSpPr>
          <p:spPr bwMode="auto">
            <a:xfrm>
              <a:off x="5692140" y="297053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354" name="Group 2353">
            <a:extLst>
              <a:ext uri="{FF2B5EF4-FFF2-40B4-BE49-F238E27FC236}">
                <a16:creationId xmlns:a16="http://schemas.microsoft.com/office/drawing/2014/main" id="{AC2A8D5C-BDDD-8416-D49D-57161E014407}"/>
              </a:ext>
            </a:extLst>
          </p:cNvPr>
          <p:cNvGrpSpPr/>
          <p:nvPr/>
        </p:nvGrpSpPr>
        <p:grpSpPr>
          <a:xfrm>
            <a:off x="9336759" y="873759"/>
            <a:ext cx="1892300" cy="1816100"/>
            <a:chOff x="4314190" y="3561080"/>
            <a:chExt cx="1892300" cy="1816100"/>
          </a:xfrm>
        </p:grpSpPr>
        <p:sp>
          <p:nvSpPr>
            <p:cNvPr id="2193" name="Oval 74">
              <a:extLst>
                <a:ext uri="{FF2B5EF4-FFF2-40B4-BE49-F238E27FC236}">
                  <a16:creationId xmlns:a16="http://schemas.microsoft.com/office/drawing/2014/main" id="{119F36A3-9A54-6EA1-0F5F-EA8E64A52100}"/>
                </a:ext>
              </a:extLst>
            </p:cNvPr>
            <p:cNvSpPr>
              <a:spLocks noChangeArrowheads="1"/>
            </p:cNvSpPr>
            <p:nvPr/>
          </p:nvSpPr>
          <p:spPr bwMode="auto">
            <a:xfrm>
              <a:off x="4542790" y="4094480"/>
              <a:ext cx="63500" cy="635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grpSp>
          <p:nvGrpSpPr>
            <p:cNvPr id="2194" name="Group 75">
              <a:extLst>
                <a:ext uri="{FF2B5EF4-FFF2-40B4-BE49-F238E27FC236}">
                  <a16:creationId xmlns:a16="http://schemas.microsoft.com/office/drawing/2014/main" id="{0ED6982D-C778-D876-9F26-5562742ED80E}"/>
                </a:ext>
              </a:extLst>
            </p:cNvPr>
            <p:cNvGrpSpPr>
              <a:grpSpLocks/>
            </p:cNvGrpSpPr>
            <p:nvPr/>
          </p:nvGrpSpPr>
          <p:grpSpPr bwMode="auto">
            <a:xfrm>
              <a:off x="4847590" y="3561080"/>
              <a:ext cx="292100" cy="533400"/>
              <a:chOff x="4128" y="1200"/>
              <a:chExt cx="184" cy="336"/>
            </a:xfrm>
          </p:grpSpPr>
          <p:sp>
            <p:nvSpPr>
              <p:cNvPr id="2258" name="Oval 76">
                <a:extLst>
                  <a:ext uri="{FF2B5EF4-FFF2-40B4-BE49-F238E27FC236}">
                    <a16:creationId xmlns:a16="http://schemas.microsoft.com/office/drawing/2014/main" id="{12FAF716-BBD4-34D8-ADEE-F8D74D34AC9F}"/>
                  </a:ext>
                </a:extLst>
              </p:cNvPr>
              <p:cNvSpPr>
                <a:spLocks noChangeArrowheads="1"/>
              </p:cNvSpPr>
              <p:nvPr/>
            </p:nvSpPr>
            <p:spPr bwMode="auto">
              <a:xfrm>
                <a:off x="4224" y="1200"/>
                <a:ext cx="40" cy="40"/>
              </a:xfrm>
              <a:prstGeom prst="ellipse">
                <a:avLst/>
              </a:prstGeom>
              <a:solidFill>
                <a:srgbClr val="00FF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59" name="Oval 77">
                <a:extLst>
                  <a:ext uri="{FF2B5EF4-FFF2-40B4-BE49-F238E27FC236}">
                    <a16:creationId xmlns:a16="http://schemas.microsoft.com/office/drawing/2014/main" id="{8F1D492B-2766-ECBD-50FA-3674088915D6}"/>
                  </a:ext>
                </a:extLst>
              </p:cNvPr>
              <p:cNvSpPr>
                <a:spLocks noChangeArrowheads="1"/>
              </p:cNvSpPr>
              <p:nvPr/>
            </p:nvSpPr>
            <p:spPr bwMode="auto">
              <a:xfrm>
                <a:off x="4128" y="1296"/>
                <a:ext cx="40" cy="40"/>
              </a:xfrm>
              <a:prstGeom prst="ellipse">
                <a:avLst/>
              </a:prstGeom>
              <a:solidFill>
                <a:srgbClr val="00FF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60" name="Oval 78">
                <a:extLst>
                  <a:ext uri="{FF2B5EF4-FFF2-40B4-BE49-F238E27FC236}">
                    <a16:creationId xmlns:a16="http://schemas.microsoft.com/office/drawing/2014/main" id="{2D4D9481-DFCA-EB57-7D71-BC52C18CE51C}"/>
                  </a:ext>
                </a:extLst>
              </p:cNvPr>
              <p:cNvSpPr>
                <a:spLocks noChangeArrowheads="1"/>
              </p:cNvSpPr>
              <p:nvPr/>
            </p:nvSpPr>
            <p:spPr bwMode="auto">
              <a:xfrm>
                <a:off x="4272" y="1400"/>
                <a:ext cx="40" cy="40"/>
              </a:xfrm>
              <a:prstGeom prst="ellipse">
                <a:avLst/>
              </a:prstGeom>
              <a:solidFill>
                <a:srgbClr val="00FF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61" name="Line 79">
                <a:extLst>
                  <a:ext uri="{FF2B5EF4-FFF2-40B4-BE49-F238E27FC236}">
                    <a16:creationId xmlns:a16="http://schemas.microsoft.com/office/drawing/2014/main" id="{6379885C-4468-F3A3-EF44-DAC647CD8888}"/>
                  </a:ext>
                </a:extLst>
              </p:cNvPr>
              <p:cNvSpPr>
                <a:spLocks noChangeShapeType="1"/>
              </p:cNvSpPr>
              <p:nvPr/>
            </p:nvSpPr>
            <p:spPr bwMode="auto">
              <a:xfrm flipV="1">
                <a:off x="4176" y="1200"/>
                <a:ext cx="96" cy="96"/>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2" name="Line 80">
                <a:extLst>
                  <a:ext uri="{FF2B5EF4-FFF2-40B4-BE49-F238E27FC236}">
                    <a16:creationId xmlns:a16="http://schemas.microsoft.com/office/drawing/2014/main" id="{C799D5C0-4914-6C84-0610-5ED5F26BC0DD}"/>
                  </a:ext>
                </a:extLst>
              </p:cNvPr>
              <p:cNvSpPr>
                <a:spLocks noChangeShapeType="1"/>
              </p:cNvSpPr>
              <p:nvPr/>
            </p:nvSpPr>
            <p:spPr bwMode="auto">
              <a:xfrm>
                <a:off x="4128" y="1344"/>
                <a:ext cx="144" cy="48"/>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3" name="Line 81">
                <a:extLst>
                  <a:ext uri="{FF2B5EF4-FFF2-40B4-BE49-F238E27FC236}">
                    <a16:creationId xmlns:a16="http://schemas.microsoft.com/office/drawing/2014/main" id="{4E0D5E07-F00D-3C35-318D-8C44D85E8095}"/>
                  </a:ext>
                </a:extLst>
              </p:cNvPr>
              <p:cNvSpPr>
                <a:spLocks noChangeShapeType="1"/>
              </p:cNvSpPr>
              <p:nvPr/>
            </p:nvSpPr>
            <p:spPr bwMode="auto">
              <a:xfrm>
                <a:off x="4272" y="1248"/>
                <a:ext cx="0" cy="192"/>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4" name="Oval 82">
                <a:extLst>
                  <a:ext uri="{FF2B5EF4-FFF2-40B4-BE49-F238E27FC236}">
                    <a16:creationId xmlns:a16="http://schemas.microsoft.com/office/drawing/2014/main" id="{5289983E-2844-D31D-B453-ED4BA3F3B7A4}"/>
                  </a:ext>
                </a:extLst>
              </p:cNvPr>
              <p:cNvSpPr>
                <a:spLocks noChangeArrowheads="1"/>
              </p:cNvSpPr>
              <p:nvPr/>
            </p:nvSpPr>
            <p:spPr bwMode="auto">
              <a:xfrm>
                <a:off x="4136" y="1496"/>
                <a:ext cx="40" cy="40"/>
              </a:xfrm>
              <a:prstGeom prst="ellipse">
                <a:avLst/>
              </a:prstGeom>
              <a:solidFill>
                <a:srgbClr val="00FF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65" name="Line 83">
                <a:extLst>
                  <a:ext uri="{FF2B5EF4-FFF2-40B4-BE49-F238E27FC236}">
                    <a16:creationId xmlns:a16="http://schemas.microsoft.com/office/drawing/2014/main" id="{887BE2A9-BD76-B413-0E24-B449EB95C29E}"/>
                  </a:ext>
                </a:extLst>
              </p:cNvPr>
              <p:cNvSpPr>
                <a:spLocks noChangeShapeType="1"/>
              </p:cNvSpPr>
              <p:nvPr/>
            </p:nvSpPr>
            <p:spPr bwMode="auto">
              <a:xfrm>
                <a:off x="4128" y="1344"/>
                <a:ext cx="48" cy="192"/>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6" name="Line 84">
                <a:extLst>
                  <a:ext uri="{FF2B5EF4-FFF2-40B4-BE49-F238E27FC236}">
                    <a16:creationId xmlns:a16="http://schemas.microsoft.com/office/drawing/2014/main" id="{318386E4-ACD0-9B45-A282-3AE6F3F52442}"/>
                  </a:ext>
                </a:extLst>
              </p:cNvPr>
              <p:cNvSpPr>
                <a:spLocks noChangeShapeType="1"/>
              </p:cNvSpPr>
              <p:nvPr/>
            </p:nvSpPr>
            <p:spPr bwMode="auto">
              <a:xfrm flipH="1">
                <a:off x="4176" y="1440"/>
                <a:ext cx="96" cy="48"/>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95" name="Oval 85">
              <a:extLst>
                <a:ext uri="{FF2B5EF4-FFF2-40B4-BE49-F238E27FC236}">
                  <a16:creationId xmlns:a16="http://schemas.microsoft.com/office/drawing/2014/main" id="{BD2F2510-BE43-271F-C116-B10A2CE28A91}"/>
                </a:ext>
              </a:extLst>
            </p:cNvPr>
            <p:cNvSpPr>
              <a:spLocks noChangeArrowheads="1"/>
            </p:cNvSpPr>
            <p:nvPr/>
          </p:nvSpPr>
          <p:spPr bwMode="auto">
            <a:xfrm>
              <a:off x="4631690" y="4335780"/>
              <a:ext cx="63500" cy="635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96" name="Oval 86">
              <a:extLst>
                <a:ext uri="{FF2B5EF4-FFF2-40B4-BE49-F238E27FC236}">
                  <a16:creationId xmlns:a16="http://schemas.microsoft.com/office/drawing/2014/main" id="{8629DD9B-DB0F-3567-5118-660A25C09ECC}"/>
                </a:ext>
              </a:extLst>
            </p:cNvPr>
            <p:cNvSpPr>
              <a:spLocks noChangeArrowheads="1"/>
            </p:cNvSpPr>
            <p:nvPr/>
          </p:nvSpPr>
          <p:spPr bwMode="auto">
            <a:xfrm>
              <a:off x="4314190" y="4323080"/>
              <a:ext cx="63500" cy="635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97" name="Oval 87">
              <a:extLst>
                <a:ext uri="{FF2B5EF4-FFF2-40B4-BE49-F238E27FC236}">
                  <a16:creationId xmlns:a16="http://schemas.microsoft.com/office/drawing/2014/main" id="{365D1405-3913-6DA4-4005-2D9782062C6E}"/>
                </a:ext>
              </a:extLst>
            </p:cNvPr>
            <p:cNvSpPr>
              <a:spLocks noChangeArrowheads="1"/>
            </p:cNvSpPr>
            <p:nvPr/>
          </p:nvSpPr>
          <p:spPr bwMode="auto">
            <a:xfrm>
              <a:off x="4999990" y="4335780"/>
              <a:ext cx="63500" cy="63500"/>
            </a:xfrm>
            <a:prstGeom prst="ellipse">
              <a:avLst/>
            </a:prstGeom>
            <a:solidFill>
              <a:schemeClr val="tx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98" name="Oval 88">
              <a:extLst>
                <a:ext uri="{FF2B5EF4-FFF2-40B4-BE49-F238E27FC236}">
                  <a16:creationId xmlns:a16="http://schemas.microsoft.com/office/drawing/2014/main" id="{F5647064-3DA8-7C1D-C617-BA4994C7A25C}"/>
                </a:ext>
              </a:extLst>
            </p:cNvPr>
            <p:cNvSpPr>
              <a:spLocks noChangeArrowheads="1"/>
            </p:cNvSpPr>
            <p:nvPr/>
          </p:nvSpPr>
          <p:spPr bwMode="auto">
            <a:xfrm>
              <a:off x="4784090" y="4627880"/>
              <a:ext cx="63500" cy="63500"/>
            </a:xfrm>
            <a:prstGeom prst="ellipse">
              <a:avLst/>
            </a:prstGeom>
            <a:solidFill>
              <a:schemeClr val="tx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99" name="Oval 89">
              <a:extLst>
                <a:ext uri="{FF2B5EF4-FFF2-40B4-BE49-F238E27FC236}">
                  <a16:creationId xmlns:a16="http://schemas.microsoft.com/office/drawing/2014/main" id="{2054BE1A-BF05-436B-5ABD-504B458C0046}"/>
                </a:ext>
              </a:extLst>
            </p:cNvPr>
            <p:cNvSpPr>
              <a:spLocks noChangeArrowheads="1"/>
            </p:cNvSpPr>
            <p:nvPr/>
          </p:nvSpPr>
          <p:spPr bwMode="auto">
            <a:xfrm>
              <a:off x="4847590" y="4945380"/>
              <a:ext cx="63500" cy="63500"/>
            </a:xfrm>
            <a:prstGeom prst="ellipse">
              <a:avLst/>
            </a:prstGeom>
            <a:solidFill>
              <a:schemeClr val="tx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00" name="Oval 90">
              <a:extLst>
                <a:ext uri="{FF2B5EF4-FFF2-40B4-BE49-F238E27FC236}">
                  <a16:creationId xmlns:a16="http://schemas.microsoft.com/office/drawing/2014/main" id="{9366ECB5-6367-6FAD-500D-894EC6B1E1F4}"/>
                </a:ext>
              </a:extLst>
            </p:cNvPr>
            <p:cNvSpPr>
              <a:spLocks noChangeArrowheads="1"/>
            </p:cNvSpPr>
            <p:nvPr/>
          </p:nvSpPr>
          <p:spPr bwMode="auto">
            <a:xfrm>
              <a:off x="5165090" y="4780280"/>
              <a:ext cx="63500" cy="63500"/>
            </a:xfrm>
            <a:prstGeom prst="ellipse">
              <a:avLst/>
            </a:prstGeom>
            <a:solidFill>
              <a:schemeClr val="tx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01" name="Line 91">
              <a:extLst>
                <a:ext uri="{FF2B5EF4-FFF2-40B4-BE49-F238E27FC236}">
                  <a16:creationId xmlns:a16="http://schemas.microsoft.com/office/drawing/2014/main" id="{9F4DA4AD-A3F0-2419-B3E7-B3366129D591}"/>
                </a:ext>
              </a:extLst>
            </p:cNvPr>
            <p:cNvSpPr>
              <a:spLocks noChangeShapeType="1"/>
            </p:cNvSpPr>
            <p:nvPr/>
          </p:nvSpPr>
          <p:spPr bwMode="auto">
            <a:xfrm>
              <a:off x="4542790" y="4094480"/>
              <a:ext cx="152400" cy="30480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2" name="Line 92">
              <a:extLst>
                <a:ext uri="{FF2B5EF4-FFF2-40B4-BE49-F238E27FC236}">
                  <a16:creationId xmlns:a16="http://schemas.microsoft.com/office/drawing/2014/main" id="{F1B8F2B6-AB83-03C7-427C-ADF9B53066FF}"/>
                </a:ext>
              </a:extLst>
            </p:cNvPr>
            <p:cNvSpPr>
              <a:spLocks noChangeShapeType="1"/>
            </p:cNvSpPr>
            <p:nvPr/>
          </p:nvSpPr>
          <p:spPr bwMode="auto">
            <a:xfrm flipH="1">
              <a:off x="4314190" y="4094480"/>
              <a:ext cx="228600" cy="22860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3" name="Line 93">
              <a:extLst>
                <a:ext uri="{FF2B5EF4-FFF2-40B4-BE49-F238E27FC236}">
                  <a16:creationId xmlns:a16="http://schemas.microsoft.com/office/drawing/2014/main" id="{82DCBE1B-3E0C-1DB4-4F76-F27852811D9C}"/>
                </a:ext>
              </a:extLst>
            </p:cNvPr>
            <p:cNvSpPr>
              <a:spLocks noChangeShapeType="1"/>
            </p:cNvSpPr>
            <p:nvPr/>
          </p:nvSpPr>
          <p:spPr bwMode="auto">
            <a:xfrm>
              <a:off x="4314190" y="4323080"/>
              <a:ext cx="381000" cy="7620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4" name="Oval 94">
              <a:extLst>
                <a:ext uri="{FF2B5EF4-FFF2-40B4-BE49-F238E27FC236}">
                  <a16:creationId xmlns:a16="http://schemas.microsoft.com/office/drawing/2014/main" id="{A158B907-8570-1A37-E7AA-6F92DD3DA74E}"/>
                </a:ext>
              </a:extLst>
            </p:cNvPr>
            <p:cNvSpPr>
              <a:spLocks noChangeArrowheads="1"/>
            </p:cNvSpPr>
            <p:nvPr/>
          </p:nvSpPr>
          <p:spPr bwMode="auto">
            <a:xfrm>
              <a:off x="5380990" y="4627880"/>
              <a:ext cx="63500" cy="63500"/>
            </a:xfrm>
            <a:prstGeom prst="ellipse">
              <a:avLst/>
            </a:prstGeom>
            <a:solidFill>
              <a:schemeClr val="tx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05" name="Oval 95">
              <a:extLst>
                <a:ext uri="{FF2B5EF4-FFF2-40B4-BE49-F238E27FC236}">
                  <a16:creationId xmlns:a16="http://schemas.microsoft.com/office/drawing/2014/main" id="{2E98C4BB-0AC3-7D42-7D95-D11E9DC124B0}"/>
                </a:ext>
              </a:extLst>
            </p:cNvPr>
            <p:cNvSpPr>
              <a:spLocks noChangeArrowheads="1"/>
            </p:cNvSpPr>
            <p:nvPr/>
          </p:nvSpPr>
          <p:spPr bwMode="auto">
            <a:xfrm>
              <a:off x="5393690" y="4945380"/>
              <a:ext cx="63500" cy="63500"/>
            </a:xfrm>
            <a:prstGeom prst="ellipse">
              <a:avLst/>
            </a:prstGeom>
            <a:solidFill>
              <a:schemeClr val="tx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24" name="Oval 114">
              <a:extLst>
                <a:ext uri="{FF2B5EF4-FFF2-40B4-BE49-F238E27FC236}">
                  <a16:creationId xmlns:a16="http://schemas.microsoft.com/office/drawing/2014/main" id="{E02E558D-114F-6141-E48B-A40274F4776E}"/>
                </a:ext>
              </a:extLst>
            </p:cNvPr>
            <p:cNvSpPr>
              <a:spLocks noChangeArrowheads="1"/>
            </p:cNvSpPr>
            <p:nvPr/>
          </p:nvSpPr>
          <p:spPr bwMode="auto">
            <a:xfrm>
              <a:off x="5990590" y="4627880"/>
              <a:ext cx="63500" cy="63500"/>
            </a:xfrm>
            <a:prstGeom prst="ellipse">
              <a:avLst/>
            </a:prstGeom>
            <a:solidFill>
              <a:srgbClr val="99CC00"/>
            </a:solidFill>
            <a:ln w="12700">
              <a:solidFill>
                <a:srgbClr val="99CC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25" name="Oval 115">
              <a:extLst>
                <a:ext uri="{FF2B5EF4-FFF2-40B4-BE49-F238E27FC236}">
                  <a16:creationId xmlns:a16="http://schemas.microsoft.com/office/drawing/2014/main" id="{1C5E768C-3956-F90F-EB5E-0E2FD1C977ED}"/>
                </a:ext>
              </a:extLst>
            </p:cNvPr>
            <p:cNvSpPr>
              <a:spLocks noChangeArrowheads="1"/>
            </p:cNvSpPr>
            <p:nvPr/>
          </p:nvSpPr>
          <p:spPr bwMode="auto">
            <a:xfrm>
              <a:off x="5850890" y="4856480"/>
              <a:ext cx="63500" cy="63500"/>
            </a:xfrm>
            <a:prstGeom prst="ellipse">
              <a:avLst/>
            </a:prstGeom>
            <a:solidFill>
              <a:srgbClr val="99CC00"/>
            </a:solidFill>
            <a:ln w="12700">
              <a:solidFill>
                <a:srgbClr val="99CC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26" name="Oval 116">
              <a:extLst>
                <a:ext uri="{FF2B5EF4-FFF2-40B4-BE49-F238E27FC236}">
                  <a16:creationId xmlns:a16="http://schemas.microsoft.com/office/drawing/2014/main" id="{6C2D4748-DBEF-5DAE-C0A5-8914BB321D65}"/>
                </a:ext>
              </a:extLst>
            </p:cNvPr>
            <p:cNvSpPr>
              <a:spLocks noChangeArrowheads="1"/>
            </p:cNvSpPr>
            <p:nvPr/>
          </p:nvSpPr>
          <p:spPr bwMode="auto">
            <a:xfrm>
              <a:off x="6142990" y="4856480"/>
              <a:ext cx="63500" cy="63500"/>
            </a:xfrm>
            <a:prstGeom prst="ellipse">
              <a:avLst/>
            </a:prstGeom>
            <a:solidFill>
              <a:srgbClr val="99CC00"/>
            </a:solidFill>
            <a:ln w="12700">
              <a:solidFill>
                <a:srgbClr val="99CC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27" name="Oval 117">
              <a:extLst>
                <a:ext uri="{FF2B5EF4-FFF2-40B4-BE49-F238E27FC236}">
                  <a16:creationId xmlns:a16="http://schemas.microsoft.com/office/drawing/2014/main" id="{042A204C-85DC-4B25-80BE-8040AA3D8B7A}"/>
                </a:ext>
              </a:extLst>
            </p:cNvPr>
            <p:cNvSpPr>
              <a:spLocks noChangeArrowheads="1"/>
            </p:cNvSpPr>
            <p:nvPr/>
          </p:nvSpPr>
          <p:spPr bwMode="auto">
            <a:xfrm>
              <a:off x="5990590" y="5097780"/>
              <a:ext cx="63500" cy="63500"/>
            </a:xfrm>
            <a:prstGeom prst="ellipse">
              <a:avLst/>
            </a:prstGeom>
            <a:solidFill>
              <a:srgbClr val="FF9900"/>
            </a:solidFill>
            <a:ln w="12700">
              <a:solidFill>
                <a:srgbClr val="FF99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29" name="Oval 119">
              <a:extLst>
                <a:ext uri="{FF2B5EF4-FFF2-40B4-BE49-F238E27FC236}">
                  <a16:creationId xmlns:a16="http://schemas.microsoft.com/office/drawing/2014/main" id="{604C4EBF-6409-D605-2C8B-61CFE661C628}"/>
                </a:ext>
              </a:extLst>
            </p:cNvPr>
            <p:cNvSpPr>
              <a:spLocks noChangeArrowheads="1"/>
            </p:cNvSpPr>
            <p:nvPr/>
          </p:nvSpPr>
          <p:spPr bwMode="auto">
            <a:xfrm>
              <a:off x="5914390" y="5250180"/>
              <a:ext cx="63500" cy="63500"/>
            </a:xfrm>
            <a:prstGeom prst="ellipse">
              <a:avLst/>
            </a:prstGeom>
            <a:solidFill>
              <a:srgbClr val="FF9900"/>
            </a:solidFill>
            <a:ln w="12700">
              <a:solidFill>
                <a:srgbClr val="FF99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30" name="Oval 120">
              <a:extLst>
                <a:ext uri="{FF2B5EF4-FFF2-40B4-BE49-F238E27FC236}">
                  <a16:creationId xmlns:a16="http://schemas.microsoft.com/office/drawing/2014/main" id="{84EE8399-F67A-BD98-853C-2672020A0DF5}"/>
                </a:ext>
              </a:extLst>
            </p:cNvPr>
            <p:cNvSpPr>
              <a:spLocks noChangeArrowheads="1"/>
            </p:cNvSpPr>
            <p:nvPr/>
          </p:nvSpPr>
          <p:spPr bwMode="auto">
            <a:xfrm>
              <a:off x="5774690" y="5161280"/>
              <a:ext cx="63500" cy="63500"/>
            </a:xfrm>
            <a:prstGeom prst="ellipse">
              <a:avLst/>
            </a:prstGeom>
            <a:solidFill>
              <a:srgbClr val="FF9900"/>
            </a:solidFill>
            <a:ln w="12700">
              <a:solidFill>
                <a:srgbClr val="FF99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31" name="Oval 121">
              <a:extLst>
                <a:ext uri="{FF2B5EF4-FFF2-40B4-BE49-F238E27FC236}">
                  <a16:creationId xmlns:a16="http://schemas.microsoft.com/office/drawing/2014/main" id="{7C540333-4A5E-4293-E636-14B7754A65B8}"/>
                </a:ext>
              </a:extLst>
            </p:cNvPr>
            <p:cNvSpPr>
              <a:spLocks noChangeArrowheads="1"/>
            </p:cNvSpPr>
            <p:nvPr/>
          </p:nvSpPr>
          <p:spPr bwMode="auto">
            <a:xfrm>
              <a:off x="5698490" y="5313680"/>
              <a:ext cx="63500" cy="63500"/>
            </a:xfrm>
            <a:prstGeom prst="ellipse">
              <a:avLst/>
            </a:prstGeom>
            <a:solidFill>
              <a:srgbClr val="FF9900"/>
            </a:solidFill>
            <a:ln w="12700">
              <a:solidFill>
                <a:srgbClr val="FF99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34" name="Line 124">
              <a:extLst>
                <a:ext uri="{FF2B5EF4-FFF2-40B4-BE49-F238E27FC236}">
                  <a16:creationId xmlns:a16="http://schemas.microsoft.com/office/drawing/2014/main" id="{217B664E-F5BB-6606-CB92-3A657F02EE9B}"/>
                </a:ext>
              </a:extLst>
            </p:cNvPr>
            <p:cNvSpPr>
              <a:spLocks noChangeShapeType="1"/>
            </p:cNvSpPr>
            <p:nvPr/>
          </p:nvSpPr>
          <p:spPr bwMode="auto">
            <a:xfrm flipH="1">
              <a:off x="5761990" y="5161280"/>
              <a:ext cx="76200" cy="1524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35" name="Line 125">
              <a:extLst>
                <a:ext uri="{FF2B5EF4-FFF2-40B4-BE49-F238E27FC236}">
                  <a16:creationId xmlns:a16="http://schemas.microsoft.com/office/drawing/2014/main" id="{47F8910C-12EC-D916-F0A6-6C4EDE17A276}"/>
                </a:ext>
              </a:extLst>
            </p:cNvPr>
            <p:cNvSpPr>
              <a:spLocks noChangeShapeType="1"/>
            </p:cNvSpPr>
            <p:nvPr/>
          </p:nvSpPr>
          <p:spPr bwMode="auto">
            <a:xfrm>
              <a:off x="5076190" y="4399280"/>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36" name="Line 126">
              <a:extLst>
                <a:ext uri="{FF2B5EF4-FFF2-40B4-BE49-F238E27FC236}">
                  <a16:creationId xmlns:a16="http://schemas.microsoft.com/office/drawing/2014/main" id="{0E26B0BC-75B0-4A75-FC74-886AE4903F6D}"/>
                </a:ext>
              </a:extLst>
            </p:cNvPr>
            <p:cNvSpPr>
              <a:spLocks noChangeShapeType="1"/>
            </p:cNvSpPr>
            <p:nvPr/>
          </p:nvSpPr>
          <p:spPr bwMode="auto">
            <a:xfrm>
              <a:off x="4999990" y="4399280"/>
              <a:ext cx="152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37" name="Line 127">
              <a:extLst>
                <a:ext uri="{FF2B5EF4-FFF2-40B4-BE49-F238E27FC236}">
                  <a16:creationId xmlns:a16="http://schemas.microsoft.com/office/drawing/2014/main" id="{26CAC302-0492-DAE6-186F-6220457EFCBD}"/>
                </a:ext>
              </a:extLst>
            </p:cNvPr>
            <p:cNvSpPr>
              <a:spLocks noChangeShapeType="1"/>
            </p:cNvSpPr>
            <p:nvPr/>
          </p:nvSpPr>
          <p:spPr bwMode="auto">
            <a:xfrm>
              <a:off x="5152390" y="4780280"/>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38" name="Line 128">
              <a:extLst>
                <a:ext uri="{FF2B5EF4-FFF2-40B4-BE49-F238E27FC236}">
                  <a16:creationId xmlns:a16="http://schemas.microsoft.com/office/drawing/2014/main" id="{F07E9B78-D202-E687-C196-11E336D32101}"/>
                </a:ext>
              </a:extLst>
            </p:cNvPr>
            <p:cNvSpPr>
              <a:spLocks noChangeShapeType="1"/>
            </p:cNvSpPr>
            <p:nvPr/>
          </p:nvSpPr>
          <p:spPr bwMode="auto">
            <a:xfrm flipV="1">
              <a:off x="5152390" y="4704080"/>
              <a:ext cx="2286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39" name="Line 129">
              <a:extLst>
                <a:ext uri="{FF2B5EF4-FFF2-40B4-BE49-F238E27FC236}">
                  <a16:creationId xmlns:a16="http://schemas.microsoft.com/office/drawing/2014/main" id="{19D60510-5112-E879-A0C3-F65B5BD6F7B4}"/>
                </a:ext>
              </a:extLst>
            </p:cNvPr>
            <p:cNvSpPr>
              <a:spLocks noChangeShapeType="1"/>
            </p:cNvSpPr>
            <p:nvPr/>
          </p:nvSpPr>
          <p:spPr bwMode="auto">
            <a:xfrm flipH="1">
              <a:off x="4847590" y="439928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40" name="Line 130">
              <a:extLst>
                <a:ext uri="{FF2B5EF4-FFF2-40B4-BE49-F238E27FC236}">
                  <a16:creationId xmlns:a16="http://schemas.microsoft.com/office/drawing/2014/main" id="{81B13E16-9CEC-9C64-BD7D-0B8252CF63B4}"/>
                </a:ext>
              </a:extLst>
            </p:cNvPr>
            <p:cNvSpPr>
              <a:spLocks noChangeShapeType="1"/>
            </p:cNvSpPr>
            <p:nvPr/>
          </p:nvSpPr>
          <p:spPr bwMode="auto">
            <a:xfrm>
              <a:off x="4847590" y="470408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41" name="Line 131">
              <a:extLst>
                <a:ext uri="{FF2B5EF4-FFF2-40B4-BE49-F238E27FC236}">
                  <a16:creationId xmlns:a16="http://schemas.microsoft.com/office/drawing/2014/main" id="{6C9A5E71-1572-F18E-6C16-13465202EC64}"/>
                </a:ext>
              </a:extLst>
            </p:cNvPr>
            <p:cNvSpPr>
              <a:spLocks noChangeShapeType="1"/>
            </p:cNvSpPr>
            <p:nvPr/>
          </p:nvSpPr>
          <p:spPr bwMode="auto">
            <a:xfrm>
              <a:off x="4847590" y="500888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42" name="Line 132">
              <a:extLst>
                <a:ext uri="{FF2B5EF4-FFF2-40B4-BE49-F238E27FC236}">
                  <a16:creationId xmlns:a16="http://schemas.microsoft.com/office/drawing/2014/main" id="{335C3413-52F1-5D58-7CB4-0472A2E48196}"/>
                </a:ext>
              </a:extLst>
            </p:cNvPr>
            <p:cNvSpPr>
              <a:spLocks noChangeShapeType="1"/>
            </p:cNvSpPr>
            <p:nvPr/>
          </p:nvSpPr>
          <p:spPr bwMode="auto">
            <a:xfrm flipV="1">
              <a:off x="4847590" y="4856480"/>
              <a:ext cx="3048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43" name="Line 133">
              <a:extLst>
                <a:ext uri="{FF2B5EF4-FFF2-40B4-BE49-F238E27FC236}">
                  <a16:creationId xmlns:a16="http://schemas.microsoft.com/office/drawing/2014/main" id="{0C45A12B-8F96-8AC2-EEAB-DDFDC04B9176}"/>
                </a:ext>
              </a:extLst>
            </p:cNvPr>
            <p:cNvSpPr>
              <a:spLocks noChangeShapeType="1"/>
            </p:cNvSpPr>
            <p:nvPr/>
          </p:nvSpPr>
          <p:spPr bwMode="auto">
            <a:xfrm>
              <a:off x="4847590" y="4627880"/>
              <a:ext cx="3810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0" name="Line 243">
              <a:extLst>
                <a:ext uri="{FF2B5EF4-FFF2-40B4-BE49-F238E27FC236}">
                  <a16:creationId xmlns:a16="http://schemas.microsoft.com/office/drawing/2014/main" id="{581F2830-64DC-F2AC-C4D9-97583DF0F794}"/>
                </a:ext>
              </a:extLst>
            </p:cNvPr>
            <p:cNvSpPr>
              <a:spLocks noChangeShapeType="1"/>
            </p:cNvSpPr>
            <p:nvPr/>
          </p:nvSpPr>
          <p:spPr bwMode="auto">
            <a:xfrm>
              <a:off x="5380990" y="4627880"/>
              <a:ext cx="76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1" name="Line 244">
              <a:extLst>
                <a:ext uri="{FF2B5EF4-FFF2-40B4-BE49-F238E27FC236}">
                  <a16:creationId xmlns:a16="http://schemas.microsoft.com/office/drawing/2014/main" id="{17627744-331B-720F-B96E-BE250820E18E}"/>
                </a:ext>
              </a:extLst>
            </p:cNvPr>
            <p:cNvSpPr>
              <a:spLocks noChangeShapeType="1"/>
            </p:cNvSpPr>
            <p:nvPr/>
          </p:nvSpPr>
          <p:spPr bwMode="auto">
            <a:xfrm flipH="1">
              <a:off x="5914390" y="4627880"/>
              <a:ext cx="76200" cy="228600"/>
            </a:xfrm>
            <a:prstGeom prst="line">
              <a:avLst/>
            </a:prstGeom>
            <a:noFill/>
            <a:ln w="9525">
              <a:solidFill>
                <a:srgbClr val="99CC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2" name="Line 245">
              <a:extLst>
                <a:ext uri="{FF2B5EF4-FFF2-40B4-BE49-F238E27FC236}">
                  <a16:creationId xmlns:a16="http://schemas.microsoft.com/office/drawing/2014/main" id="{7EF96ADF-CB6F-864D-5266-10D6740F106F}"/>
                </a:ext>
              </a:extLst>
            </p:cNvPr>
            <p:cNvSpPr>
              <a:spLocks noChangeShapeType="1"/>
            </p:cNvSpPr>
            <p:nvPr/>
          </p:nvSpPr>
          <p:spPr bwMode="auto">
            <a:xfrm>
              <a:off x="5914390" y="4856480"/>
              <a:ext cx="228600" cy="0"/>
            </a:xfrm>
            <a:prstGeom prst="line">
              <a:avLst/>
            </a:prstGeom>
            <a:noFill/>
            <a:ln w="9525">
              <a:solidFill>
                <a:srgbClr val="99CC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 name="Line 246">
              <a:extLst>
                <a:ext uri="{FF2B5EF4-FFF2-40B4-BE49-F238E27FC236}">
                  <a16:creationId xmlns:a16="http://schemas.microsoft.com/office/drawing/2014/main" id="{DE9D6F84-82E4-A6FE-AFFD-0680B7BE21D1}"/>
                </a:ext>
              </a:extLst>
            </p:cNvPr>
            <p:cNvSpPr>
              <a:spLocks noChangeShapeType="1"/>
            </p:cNvSpPr>
            <p:nvPr/>
          </p:nvSpPr>
          <p:spPr bwMode="auto">
            <a:xfrm>
              <a:off x="5990590" y="4627880"/>
              <a:ext cx="152400" cy="228600"/>
            </a:xfrm>
            <a:prstGeom prst="line">
              <a:avLst/>
            </a:prstGeom>
            <a:noFill/>
            <a:ln w="9525">
              <a:solidFill>
                <a:srgbClr val="99CC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 name="Line 247">
              <a:extLst>
                <a:ext uri="{FF2B5EF4-FFF2-40B4-BE49-F238E27FC236}">
                  <a16:creationId xmlns:a16="http://schemas.microsoft.com/office/drawing/2014/main" id="{ADF22772-4D4C-3275-5442-4436099A8A97}"/>
                </a:ext>
              </a:extLst>
            </p:cNvPr>
            <p:cNvSpPr>
              <a:spLocks noChangeShapeType="1"/>
            </p:cNvSpPr>
            <p:nvPr/>
          </p:nvSpPr>
          <p:spPr bwMode="auto">
            <a:xfrm>
              <a:off x="5838190" y="5161280"/>
              <a:ext cx="152400"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 name="Line 248">
              <a:extLst>
                <a:ext uri="{FF2B5EF4-FFF2-40B4-BE49-F238E27FC236}">
                  <a16:creationId xmlns:a16="http://schemas.microsoft.com/office/drawing/2014/main" id="{D19F71C1-83D5-7096-44C2-E50C8CACCA03}"/>
                </a:ext>
              </a:extLst>
            </p:cNvPr>
            <p:cNvSpPr>
              <a:spLocks noChangeShapeType="1"/>
            </p:cNvSpPr>
            <p:nvPr/>
          </p:nvSpPr>
          <p:spPr bwMode="auto">
            <a:xfrm>
              <a:off x="5761990" y="5313680"/>
              <a:ext cx="152400"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 name="Line 249">
              <a:extLst>
                <a:ext uri="{FF2B5EF4-FFF2-40B4-BE49-F238E27FC236}">
                  <a16:creationId xmlns:a16="http://schemas.microsoft.com/office/drawing/2014/main" id="{E3D31530-2325-16C9-9CD9-223EFF93B7AA}"/>
                </a:ext>
              </a:extLst>
            </p:cNvPr>
            <p:cNvSpPr>
              <a:spLocks noChangeShapeType="1"/>
            </p:cNvSpPr>
            <p:nvPr/>
          </p:nvSpPr>
          <p:spPr bwMode="auto">
            <a:xfrm flipV="1">
              <a:off x="5914390" y="5161280"/>
              <a:ext cx="76200" cy="1524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7" name="Line 256">
              <a:extLst>
                <a:ext uri="{FF2B5EF4-FFF2-40B4-BE49-F238E27FC236}">
                  <a16:creationId xmlns:a16="http://schemas.microsoft.com/office/drawing/2014/main" id="{D6D08B9F-CB75-03EA-3DE8-D91928748C04}"/>
                </a:ext>
              </a:extLst>
            </p:cNvPr>
            <p:cNvSpPr>
              <a:spLocks noChangeShapeType="1"/>
            </p:cNvSpPr>
            <p:nvPr/>
          </p:nvSpPr>
          <p:spPr bwMode="auto">
            <a:xfrm flipH="1" flipV="1">
              <a:off x="5838190" y="5161280"/>
              <a:ext cx="76200" cy="1524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55" name="Line 212">
            <a:extLst>
              <a:ext uri="{FF2B5EF4-FFF2-40B4-BE49-F238E27FC236}">
                <a16:creationId xmlns:a16="http://schemas.microsoft.com/office/drawing/2014/main" id="{4C141007-9EA9-30FF-C68D-12CFCCC33DA4}"/>
              </a:ext>
            </a:extLst>
          </p:cNvPr>
          <p:cNvSpPr>
            <a:spLocks noChangeShapeType="1"/>
          </p:cNvSpPr>
          <p:nvPr/>
        </p:nvSpPr>
        <p:spPr bwMode="auto">
          <a:xfrm flipV="1">
            <a:off x="6557009" y="1688466"/>
            <a:ext cx="2246350" cy="158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6" name="TextBox 2355">
            <a:extLst>
              <a:ext uri="{FF2B5EF4-FFF2-40B4-BE49-F238E27FC236}">
                <a16:creationId xmlns:a16="http://schemas.microsoft.com/office/drawing/2014/main" id="{EE1F8DAF-D113-DFD1-B07B-78D3C927C6DB}"/>
              </a:ext>
            </a:extLst>
          </p:cNvPr>
          <p:cNvSpPr txBox="1"/>
          <p:nvPr/>
        </p:nvSpPr>
        <p:spPr>
          <a:xfrm>
            <a:off x="6513969" y="998200"/>
            <a:ext cx="1152880"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b="1" dirty="0"/>
              <a:t>Step - 2</a:t>
            </a:r>
          </a:p>
        </p:txBody>
      </p:sp>
      <p:sp>
        <p:nvSpPr>
          <p:cNvPr id="2359" name="TextBox 2358">
            <a:extLst>
              <a:ext uri="{FF2B5EF4-FFF2-40B4-BE49-F238E27FC236}">
                <a16:creationId xmlns:a16="http://schemas.microsoft.com/office/drawing/2014/main" id="{CC386A60-80EE-53D1-9791-9B7FC5E808C1}"/>
              </a:ext>
            </a:extLst>
          </p:cNvPr>
          <p:cNvSpPr txBox="1"/>
          <p:nvPr/>
        </p:nvSpPr>
        <p:spPr>
          <a:xfrm>
            <a:off x="236220" y="4915823"/>
            <a:ext cx="1152880"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b="1" dirty="0"/>
              <a:t>Step - 3</a:t>
            </a:r>
          </a:p>
        </p:txBody>
      </p:sp>
      <p:cxnSp>
        <p:nvCxnSpPr>
          <p:cNvPr id="2363" name="Elbow Connector 2362">
            <a:extLst>
              <a:ext uri="{FF2B5EF4-FFF2-40B4-BE49-F238E27FC236}">
                <a16:creationId xmlns:a16="http://schemas.microsoft.com/office/drawing/2014/main" id="{3E467704-4492-3289-EA95-50079E3D2721}"/>
              </a:ext>
            </a:extLst>
          </p:cNvPr>
          <p:cNvCxnSpPr>
            <a:cxnSpLocks/>
          </p:cNvCxnSpPr>
          <p:nvPr/>
        </p:nvCxnSpPr>
        <p:spPr>
          <a:xfrm rot="10800000" flipV="1">
            <a:off x="6136641" y="3234689"/>
            <a:ext cx="4584421" cy="1987551"/>
          </a:xfrm>
          <a:prstGeom prst="bentConnector3">
            <a:avLst>
              <a:gd name="adj1" fmla="val -862"/>
            </a:avLst>
          </a:prstGeom>
          <a:ln>
            <a:tailEnd type="triangle"/>
          </a:ln>
        </p:spPr>
        <p:style>
          <a:lnRef idx="1">
            <a:schemeClr val="dk1"/>
          </a:lnRef>
          <a:fillRef idx="0">
            <a:schemeClr val="dk1"/>
          </a:fillRef>
          <a:effectRef idx="0">
            <a:schemeClr val="dk1"/>
          </a:effectRef>
          <a:fontRef idx="minor">
            <a:schemeClr val="tx1"/>
          </a:fontRef>
        </p:style>
      </p:cxnSp>
      <p:grpSp>
        <p:nvGrpSpPr>
          <p:cNvPr id="2450" name="Group 2449">
            <a:extLst>
              <a:ext uri="{FF2B5EF4-FFF2-40B4-BE49-F238E27FC236}">
                <a16:creationId xmlns:a16="http://schemas.microsoft.com/office/drawing/2014/main" id="{13DABC0B-2315-59A8-A90A-F7F6D5FF6DDC}"/>
              </a:ext>
            </a:extLst>
          </p:cNvPr>
          <p:cNvGrpSpPr/>
          <p:nvPr/>
        </p:nvGrpSpPr>
        <p:grpSpPr>
          <a:xfrm>
            <a:off x="3581400" y="3886200"/>
            <a:ext cx="2032000" cy="2273300"/>
            <a:chOff x="3581400" y="3886200"/>
            <a:chExt cx="2032000" cy="2273300"/>
          </a:xfrm>
        </p:grpSpPr>
        <p:sp>
          <p:nvSpPr>
            <p:cNvPr id="2366" name="Oval 134">
              <a:extLst>
                <a:ext uri="{FF2B5EF4-FFF2-40B4-BE49-F238E27FC236}">
                  <a16:creationId xmlns:a16="http://schemas.microsoft.com/office/drawing/2014/main" id="{E9F67CD3-2DB1-78B4-7B92-8CB8F1D7780E}"/>
                </a:ext>
              </a:extLst>
            </p:cNvPr>
            <p:cNvSpPr>
              <a:spLocks noChangeArrowheads="1"/>
            </p:cNvSpPr>
            <p:nvPr/>
          </p:nvSpPr>
          <p:spPr bwMode="auto">
            <a:xfrm>
              <a:off x="4279900" y="38862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67" name="Oval 135">
              <a:extLst>
                <a:ext uri="{FF2B5EF4-FFF2-40B4-BE49-F238E27FC236}">
                  <a16:creationId xmlns:a16="http://schemas.microsoft.com/office/drawing/2014/main" id="{E51EA331-0F61-4743-DB38-D1665D83A057}"/>
                </a:ext>
              </a:extLst>
            </p:cNvPr>
            <p:cNvSpPr>
              <a:spLocks noChangeArrowheads="1"/>
            </p:cNvSpPr>
            <p:nvPr/>
          </p:nvSpPr>
          <p:spPr bwMode="auto">
            <a:xfrm>
              <a:off x="4114800" y="40513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68" name="Oval 136">
              <a:extLst>
                <a:ext uri="{FF2B5EF4-FFF2-40B4-BE49-F238E27FC236}">
                  <a16:creationId xmlns:a16="http://schemas.microsoft.com/office/drawing/2014/main" id="{ED4E264B-3BEA-2E29-9BFA-2D890326E428}"/>
                </a:ext>
              </a:extLst>
            </p:cNvPr>
            <p:cNvSpPr>
              <a:spLocks noChangeArrowheads="1"/>
            </p:cNvSpPr>
            <p:nvPr/>
          </p:nvSpPr>
          <p:spPr bwMode="auto">
            <a:xfrm>
              <a:off x="4343400" y="42037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69" name="Line 137">
              <a:extLst>
                <a:ext uri="{FF2B5EF4-FFF2-40B4-BE49-F238E27FC236}">
                  <a16:creationId xmlns:a16="http://schemas.microsoft.com/office/drawing/2014/main" id="{60139576-76CC-E13B-3A9A-F6DF4D64CB72}"/>
                </a:ext>
              </a:extLst>
            </p:cNvPr>
            <p:cNvSpPr>
              <a:spLocks noChangeShapeType="1"/>
            </p:cNvSpPr>
            <p:nvPr/>
          </p:nvSpPr>
          <p:spPr bwMode="auto">
            <a:xfrm flipV="1">
              <a:off x="4114800" y="3886200"/>
              <a:ext cx="2286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0" name="Line 138">
              <a:extLst>
                <a:ext uri="{FF2B5EF4-FFF2-40B4-BE49-F238E27FC236}">
                  <a16:creationId xmlns:a16="http://schemas.microsoft.com/office/drawing/2014/main" id="{FA0BFB8A-6AAB-78D9-1D47-A1DAAD5BF866}"/>
                </a:ext>
              </a:extLst>
            </p:cNvPr>
            <p:cNvSpPr>
              <a:spLocks noChangeShapeType="1"/>
            </p:cNvSpPr>
            <p:nvPr/>
          </p:nvSpPr>
          <p:spPr bwMode="auto">
            <a:xfrm>
              <a:off x="4114800" y="4114800"/>
              <a:ext cx="228600" cy="76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1" name="Line 139">
              <a:extLst>
                <a:ext uri="{FF2B5EF4-FFF2-40B4-BE49-F238E27FC236}">
                  <a16:creationId xmlns:a16="http://schemas.microsoft.com/office/drawing/2014/main" id="{EEC51A00-9C34-3F42-339F-8E1C3DA2C5CE}"/>
                </a:ext>
              </a:extLst>
            </p:cNvPr>
            <p:cNvSpPr>
              <a:spLocks noChangeShapeType="1"/>
            </p:cNvSpPr>
            <p:nvPr/>
          </p:nvSpPr>
          <p:spPr bwMode="auto">
            <a:xfrm>
              <a:off x="4343400" y="3886200"/>
              <a:ext cx="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2" name="Oval 140">
              <a:extLst>
                <a:ext uri="{FF2B5EF4-FFF2-40B4-BE49-F238E27FC236}">
                  <a16:creationId xmlns:a16="http://schemas.microsoft.com/office/drawing/2014/main" id="{70C3D17C-44F1-798C-7FF5-1FF0440F25F4}"/>
                </a:ext>
              </a:extLst>
            </p:cNvPr>
            <p:cNvSpPr>
              <a:spLocks noChangeArrowheads="1"/>
            </p:cNvSpPr>
            <p:nvPr/>
          </p:nvSpPr>
          <p:spPr bwMode="auto">
            <a:xfrm>
              <a:off x="4127500" y="43561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73" name="Oval 141">
              <a:extLst>
                <a:ext uri="{FF2B5EF4-FFF2-40B4-BE49-F238E27FC236}">
                  <a16:creationId xmlns:a16="http://schemas.microsoft.com/office/drawing/2014/main" id="{F52FD1B0-24B3-4207-958D-05C87F5207F7}"/>
                </a:ext>
              </a:extLst>
            </p:cNvPr>
            <p:cNvSpPr>
              <a:spLocks noChangeArrowheads="1"/>
            </p:cNvSpPr>
            <p:nvPr/>
          </p:nvSpPr>
          <p:spPr bwMode="auto">
            <a:xfrm>
              <a:off x="3810000" y="44196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74" name="Line 142">
              <a:extLst>
                <a:ext uri="{FF2B5EF4-FFF2-40B4-BE49-F238E27FC236}">
                  <a16:creationId xmlns:a16="http://schemas.microsoft.com/office/drawing/2014/main" id="{78C0AA76-166D-C132-CD83-B519CD75670E}"/>
                </a:ext>
              </a:extLst>
            </p:cNvPr>
            <p:cNvSpPr>
              <a:spLocks noChangeShapeType="1"/>
            </p:cNvSpPr>
            <p:nvPr/>
          </p:nvSpPr>
          <p:spPr bwMode="auto">
            <a:xfrm flipH="1">
              <a:off x="3810000" y="4114800"/>
              <a:ext cx="3048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5" name="Line 143">
              <a:extLst>
                <a:ext uri="{FF2B5EF4-FFF2-40B4-BE49-F238E27FC236}">
                  <a16:creationId xmlns:a16="http://schemas.microsoft.com/office/drawing/2014/main" id="{5296C04C-C6EF-6F90-73B1-7FE3D5747199}"/>
                </a:ext>
              </a:extLst>
            </p:cNvPr>
            <p:cNvSpPr>
              <a:spLocks noChangeShapeType="1"/>
            </p:cNvSpPr>
            <p:nvPr/>
          </p:nvSpPr>
          <p:spPr bwMode="auto">
            <a:xfrm>
              <a:off x="4114800" y="4114800"/>
              <a:ext cx="762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 name="Line 144">
              <a:extLst>
                <a:ext uri="{FF2B5EF4-FFF2-40B4-BE49-F238E27FC236}">
                  <a16:creationId xmlns:a16="http://schemas.microsoft.com/office/drawing/2014/main" id="{BF950FF5-5626-F633-7D73-D67CCF4CE7B4}"/>
                </a:ext>
              </a:extLst>
            </p:cNvPr>
            <p:cNvSpPr>
              <a:spLocks noChangeShapeType="1"/>
            </p:cNvSpPr>
            <p:nvPr/>
          </p:nvSpPr>
          <p:spPr bwMode="auto">
            <a:xfrm flipH="1">
              <a:off x="4191000" y="4267200"/>
              <a:ext cx="152400" cy="76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 name="Oval 145">
              <a:extLst>
                <a:ext uri="{FF2B5EF4-FFF2-40B4-BE49-F238E27FC236}">
                  <a16:creationId xmlns:a16="http://schemas.microsoft.com/office/drawing/2014/main" id="{7C45E1ED-A15C-91AC-93F4-74F6F57F365B}"/>
                </a:ext>
              </a:extLst>
            </p:cNvPr>
            <p:cNvSpPr>
              <a:spLocks noChangeArrowheads="1"/>
            </p:cNvSpPr>
            <p:nvPr/>
          </p:nvSpPr>
          <p:spPr bwMode="auto">
            <a:xfrm>
              <a:off x="3898900" y="46609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78" name="Oval 146">
              <a:extLst>
                <a:ext uri="{FF2B5EF4-FFF2-40B4-BE49-F238E27FC236}">
                  <a16:creationId xmlns:a16="http://schemas.microsoft.com/office/drawing/2014/main" id="{FE8F8746-7A99-9623-9F19-E95A0383D3B7}"/>
                </a:ext>
              </a:extLst>
            </p:cNvPr>
            <p:cNvSpPr>
              <a:spLocks noChangeArrowheads="1"/>
            </p:cNvSpPr>
            <p:nvPr/>
          </p:nvSpPr>
          <p:spPr bwMode="auto">
            <a:xfrm>
              <a:off x="3581400" y="46482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79" name="Oval 147">
              <a:extLst>
                <a:ext uri="{FF2B5EF4-FFF2-40B4-BE49-F238E27FC236}">
                  <a16:creationId xmlns:a16="http://schemas.microsoft.com/office/drawing/2014/main" id="{C4CCCC8D-5031-20F0-04EF-77FADAC4EB39}"/>
                </a:ext>
              </a:extLst>
            </p:cNvPr>
            <p:cNvSpPr>
              <a:spLocks noChangeArrowheads="1"/>
            </p:cNvSpPr>
            <p:nvPr/>
          </p:nvSpPr>
          <p:spPr bwMode="auto">
            <a:xfrm>
              <a:off x="4267200" y="46609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80" name="Oval 148">
              <a:extLst>
                <a:ext uri="{FF2B5EF4-FFF2-40B4-BE49-F238E27FC236}">
                  <a16:creationId xmlns:a16="http://schemas.microsoft.com/office/drawing/2014/main" id="{BE95AE53-4D37-A4A7-6E4F-C06ECDB0965F}"/>
                </a:ext>
              </a:extLst>
            </p:cNvPr>
            <p:cNvSpPr>
              <a:spLocks noChangeArrowheads="1"/>
            </p:cNvSpPr>
            <p:nvPr/>
          </p:nvSpPr>
          <p:spPr bwMode="auto">
            <a:xfrm>
              <a:off x="4051300" y="49530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81" name="Oval 149">
              <a:extLst>
                <a:ext uri="{FF2B5EF4-FFF2-40B4-BE49-F238E27FC236}">
                  <a16:creationId xmlns:a16="http://schemas.microsoft.com/office/drawing/2014/main" id="{4F065453-48D3-1983-5735-47861790ED10}"/>
                </a:ext>
              </a:extLst>
            </p:cNvPr>
            <p:cNvSpPr>
              <a:spLocks noChangeArrowheads="1"/>
            </p:cNvSpPr>
            <p:nvPr/>
          </p:nvSpPr>
          <p:spPr bwMode="auto">
            <a:xfrm>
              <a:off x="4114800" y="52705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82" name="Oval 150">
              <a:extLst>
                <a:ext uri="{FF2B5EF4-FFF2-40B4-BE49-F238E27FC236}">
                  <a16:creationId xmlns:a16="http://schemas.microsoft.com/office/drawing/2014/main" id="{BD0D6A0D-D67A-C7EC-085E-D4346C6AF349}"/>
                </a:ext>
              </a:extLst>
            </p:cNvPr>
            <p:cNvSpPr>
              <a:spLocks noChangeArrowheads="1"/>
            </p:cNvSpPr>
            <p:nvPr/>
          </p:nvSpPr>
          <p:spPr bwMode="auto">
            <a:xfrm>
              <a:off x="4432300" y="51054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83" name="Line 151">
              <a:extLst>
                <a:ext uri="{FF2B5EF4-FFF2-40B4-BE49-F238E27FC236}">
                  <a16:creationId xmlns:a16="http://schemas.microsoft.com/office/drawing/2014/main" id="{3B518E77-7193-51FA-83A8-9785CB60B192}"/>
                </a:ext>
              </a:extLst>
            </p:cNvPr>
            <p:cNvSpPr>
              <a:spLocks noChangeShapeType="1"/>
            </p:cNvSpPr>
            <p:nvPr/>
          </p:nvSpPr>
          <p:spPr bwMode="auto">
            <a:xfrm>
              <a:off x="3810000" y="4419600"/>
              <a:ext cx="1524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4" name="Line 152">
              <a:extLst>
                <a:ext uri="{FF2B5EF4-FFF2-40B4-BE49-F238E27FC236}">
                  <a16:creationId xmlns:a16="http://schemas.microsoft.com/office/drawing/2014/main" id="{9C2EF1E2-2AC8-E859-622E-CA753036DCDB}"/>
                </a:ext>
              </a:extLst>
            </p:cNvPr>
            <p:cNvSpPr>
              <a:spLocks noChangeShapeType="1"/>
            </p:cNvSpPr>
            <p:nvPr/>
          </p:nvSpPr>
          <p:spPr bwMode="auto">
            <a:xfrm flipH="1">
              <a:off x="3581400" y="4419600"/>
              <a:ext cx="2286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5" name="Line 153">
              <a:extLst>
                <a:ext uri="{FF2B5EF4-FFF2-40B4-BE49-F238E27FC236}">
                  <a16:creationId xmlns:a16="http://schemas.microsoft.com/office/drawing/2014/main" id="{372C9E53-D402-1407-F312-1A02C6ED7F56}"/>
                </a:ext>
              </a:extLst>
            </p:cNvPr>
            <p:cNvSpPr>
              <a:spLocks noChangeShapeType="1"/>
            </p:cNvSpPr>
            <p:nvPr/>
          </p:nvSpPr>
          <p:spPr bwMode="auto">
            <a:xfrm>
              <a:off x="3581400" y="4648200"/>
              <a:ext cx="381000" cy="76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6" name="Line 154">
              <a:extLst>
                <a:ext uri="{FF2B5EF4-FFF2-40B4-BE49-F238E27FC236}">
                  <a16:creationId xmlns:a16="http://schemas.microsoft.com/office/drawing/2014/main" id="{6C5D39AB-DDAB-080F-CEB6-008B5576D986}"/>
                </a:ext>
              </a:extLst>
            </p:cNvPr>
            <p:cNvSpPr>
              <a:spLocks noChangeShapeType="1"/>
            </p:cNvSpPr>
            <p:nvPr/>
          </p:nvSpPr>
          <p:spPr bwMode="auto">
            <a:xfrm flipV="1">
              <a:off x="3962400" y="4343400"/>
              <a:ext cx="228600" cy="3810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7" name="Oval 155">
              <a:extLst>
                <a:ext uri="{FF2B5EF4-FFF2-40B4-BE49-F238E27FC236}">
                  <a16:creationId xmlns:a16="http://schemas.microsoft.com/office/drawing/2014/main" id="{AA434F1D-0CD9-98C1-56BE-EE90E7DE3EA0}"/>
                </a:ext>
              </a:extLst>
            </p:cNvPr>
            <p:cNvSpPr>
              <a:spLocks noChangeArrowheads="1"/>
            </p:cNvSpPr>
            <p:nvPr/>
          </p:nvSpPr>
          <p:spPr bwMode="auto">
            <a:xfrm>
              <a:off x="4648200" y="49530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88" name="Oval 156">
              <a:extLst>
                <a:ext uri="{FF2B5EF4-FFF2-40B4-BE49-F238E27FC236}">
                  <a16:creationId xmlns:a16="http://schemas.microsoft.com/office/drawing/2014/main" id="{3B836B4F-B9D9-1291-2456-346D0960BE47}"/>
                </a:ext>
              </a:extLst>
            </p:cNvPr>
            <p:cNvSpPr>
              <a:spLocks noChangeArrowheads="1"/>
            </p:cNvSpPr>
            <p:nvPr/>
          </p:nvSpPr>
          <p:spPr bwMode="auto">
            <a:xfrm>
              <a:off x="4711700" y="5257800"/>
              <a:ext cx="63500" cy="63500"/>
            </a:xfrm>
            <a:prstGeom prst="ellipse">
              <a:avLst/>
            </a:prstGeom>
            <a:solidFill>
              <a:srgbClr val="FF0000"/>
            </a:solidFill>
            <a:ln w="12700">
              <a:solidFill>
                <a:srgbClr val="FF00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407" name="Oval 176">
              <a:extLst>
                <a:ext uri="{FF2B5EF4-FFF2-40B4-BE49-F238E27FC236}">
                  <a16:creationId xmlns:a16="http://schemas.microsoft.com/office/drawing/2014/main" id="{794A4041-7EB3-598A-4427-20AB7A208B88}"/>
                </a:ext>
              </a:extLst>
            </p:cNvPr>
            <p:cNvSpPr>
              <a:spLocks noChangeArrowheads="1"/>
            </p:cNvSpPr>
            <p:nvPr/>
          </p:nvSpPr>
          <p:spPr bwMode="auto">
            <a:xfrm>
              <a:off x="5397500" y="5410200"/>
              <a:ext cx="63500" cy="63500"/>
            </a:xfrm>
            <a:prstGeom prst="ellipse">
              <a:avLst/>
            </a:prstGeom>
            <a:solidFill>
              <a:srgbClr val="00FF00"/>
            </a:solidFill>
            <a:ln w="12700">
              <a:solidFill>
                <a:srgbClr val="00FF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408" name="Oval 177">
              <a:extLst>
                <a:ext uri="{FF2B5EF4-FFF2-40B4-BE49-F238E27FC236}">
                  <a16:creationId xmlns:a16="http://schemas.microsoft.com/office/drawing/2014/main" id="{EA26FE11-1225-45F4-3E8C-656EEB605F1E}"/>
                </a:ext>
              </a:extLst>
            </p:cNvPr>
            <p:cNvSpPr>
              <a:spLocks noChangeArrowheads="1"/>
            </p:cNvSpPr>
            <p:nvPr/>
          </p:nvSpPr>
          <p:spPr bwMode="auto">
            <a:xfrm>
              <a:off x="5321300" y="5562600"/>
              <a:ext cx="63500" cy="63500"/>
            </a:xfrm>
            <a:prstGeom prst="ellipse">
              <a:avLst/>
            </a:prstGeom>
            <a:solidFill>
              <a:srgbClr val="00FF00"/>
            </a:solidFill>
            <a:ln w="12700">
              <a:solidFill>
                <a:srgbClr val="00FF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409" name="Oval 178">
              <a:extLst>
                <a:ext uri="{FF2B5EF4-FFF2-40B4-BE49-F238E27FC236}">
                  <a16:creationId xmlns:a16="http://schemas.microsoft.com/office/drawing/2014/main" id="{3A03C42F-8770-DA45-250D-46D4BD406321}"/>
                </a:ext>
              </a:extLst>
            </p:cNvPr>
            <p:cNvSpPr>
              <a:spLocks noChangeArrowheads="1"/>
            </p:cNvSpPr>
            <p:nvPr/>
          </p:nvSpPr>
          <p:spPr bwMode="auto">
            <a:xfrm>
              <a:off x="5549900" y="5638800"/>
              <a:ext cx="63500" cy="63500"/>
            </a:xfrm>
            <a:prstGeom prst="ellipse">
              <a:avLst/>
            </a:prstGeom>
            <a:solidFill>
              <a:srgbClr val="00FF00"/>
            </a:solidFill>
            <a:ln w="12700">
              <a:solidFill>
                <a:srgbClr val="00FF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410" name="Oval 179">
              <a:extLst>
                <a:ext uri="{FF2B5EF4-FFF2-40B4-BE49-F238E27FC236}">
                  <a16:creationId xmlns:a16="http://schemas.microsoft.com/office/drawing/2014/main" id="{8D61F5B0-1CE1-A5FD-978B-C9F20D2F7D2B}"/>
                </a:ext>
              </a:extLst>
            </p:cNvPr>
            <p:cNvSpPr>
              <a:spLocks noChangeArrowheads="1"/>
            </p:cNvSpPr>
            <p:nvPr/>
          </p:nvSpPr>
          <p:spPr bwMode="auto">
            <a:xfrm>
              <a:off x="5397500" y="5867400"/>
              <a:ext cx="63500" cy="63500"/>
            </a:xfrm>
            <a:prstGeom prst="ellipse">
              <a:avLst/>
            </a:prstGeom>
            <a:solidFill>
              <a:srgbClr val="00FF00"/>
            </a:solidFill>
            <a:ln w="12700">
              <a:solidFill>
                <a:srgbClr val="00FF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412" name="Oval 181">
              <a:extLst>
                <a:ext uri="{FF2B5EF4-FFF2-40B4-BE49-F238E27FC236}">
                  <a16:creationId xmlns:a16="http://schemas.microsoft.com/office/drawing/2014/main" id="{FA4E1343-3136-C17D-4314-8519F62189CA}"/>
                </a:ext>
              </a:extLst>
            </p:cNvPr>
            <p:cNvSpPr>
              <a:spLocks noChangeArrowheads="1"/>
            </p:cNvSpPr>
            <p:nvPr/>
          </p:nvSpPr>
          <p:spPr bwMode="auto">
            <a:xfrm>
              <a:off x="5321300" y="6032500"/>
              <a:ext cx="63500" cy="63500"/>
            </a:xfrm>
            <a:prstGeom prst="ellipse">
              <a:avLst/>
            </a:prstGeom>
            <a:solidFill>
              <a:srgbClr val="00FF00"/>
            </a:solidFill>
            <a:ln w="12700">
              <a:solidFill>
                <a:srgbClr val="00FF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413" name="Oval 182">
              <a:extLst>
                <a:ext uri="{FF2B5EF4-FFF2-40B4-BE49-F238E27FC236}">
                  <a16:creationId xmlns:a16="http://schemas.microsoft.com/office/drawing/2014/main" id="{40DB2FD3-51FF-6446-D97E-8210FA15A33D}"/>
                </a:ext>
              </a:extLst>
            </p:cNvPr>
            <p:cNvSpPr>
              <a:spLocks noChangeArrowheads="1"/>
            </p:cNvSpPr>
            <p:nvPr/>
          </p:nvSpPr>
          <p:spPr bwMode="auto">
            <a:xfrm>
              <a:off x="5181600" y="5943600"/>
              <a:ext cx="63500" cy="63500"/>
            </a:xfrm>
            <a:prstGeom prst="ellipse">
              <a:avLst/>
            </a:prstGeom>
            <a:solidFill>
              <a:srgbClr val="00FF00"/>
            </a:solidFill>
            <a:ln w="12700">
              <a:solidFill>
                <a:srgbClr val="00FF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414" name="Oval 183">
              <a:extLst>
                <a:ext uri="{FF2B5EF4-FFF2-40B4-BE49-F238E27FC236}">
                  <a16:creationId xmlns:a16="http://schemas.microsoft.com/office/drawing/2014/main" id="{454C49BD-683D-964E-7603-3649B9639D3B}"/>
                </a:ext>
              </a:extLst>
            </p:cNvPr>
            <p:cNvSpPr>
              <a:spLocks noChangeArrowheads="1"/>
            </p:cNvSpPr>
            <p:nvPr/>
          </p:nvSpPr>
          <p:spPr bwMode="auto">
            <a:xfrm>
              <a:off x="5168900" y="6096000"/>
              <a:ext cx="63500" cy="63500"/>
            </a:xfrm>
            <a:prstGeom prst="ellipse">
              <a:avLst/>
            </a:prstGeom>
            <a:solidFill>
              <a:srgbClr val="00FF00"/>
            </a:solidFill>
            <a:ln w="12700">
              <a:solidFill>
                <a:srgbClr val="00FF00"/>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419" name="Line 188">
              <a:extLst>
                <a:ext uri="{FF2B5EF4-FFF2-40B4-BE49-F238E27FC236}">
                  <a16:creationId xmlns:a16="http://schemas.microsoft.com/office/drawing/2014/main" id="{06B09888-CBAC-4AAB-7BA5-9AFA61B82493}"/>
                </a:ext>
              </a:extLst>
            </p:cNvPr>
            <p:cNvSpPr>
              <a:spLocks noChangeShapeType="1"/>
            </p:cNvSpPr>
            <p:nvPr/>
          </p:nvSpPr>
          <p:spPr bwMode="auto">
            <a:xfrm>
              <a:off x="5321300" y="5638800"/>
              <a:ext cx="228600" cy="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0" name="Line 189">
              <a:extLst>
                <a:ext uri="{FF2B5EF4-FFF2-40B4-BE49-F238E27FC236}">
                  <a16:creationId xmlns:a16="http://schemas.microsoft.com/office/drawing/2014/main" id="{193AA1E7-59AC-7E42-0B69-0E146F67DC11}"/>
                </a:ext>
              </a:extLst>
            </p:cNvPr>
            <p:cNvSpPr>
              <a:spLocks noChangeShapeType="1"/>
            </p:cNvSpPr>
            <p:nvPr/>
          </p:nvSpPr>
          <p:spPr bwMode="auto">
            <a:xfrm flipH="1">
              <a:off x="5245100" y="5562600"/>
              <a:ext cx="76200" cy="3810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1" name="Line 190">
              <a:extLst>
                <a:ext uri="{FF2B5EF4-FFF2-40B4-BE49-F238E27FC236}">
                  <a16:creationId xmlns:a16="http://schemas.microsoft.com/office/drawing/2014/main" id="{CE66F1D7-A5BE-09FC-845E-E1F1336FC881}"/>
                </a:ext>
              </a:extLst>
            </p:cNvPr>
            <p:cNvSpPr>
              <a:spLocks noChangeShapeType="1"/>
            </p:cNvSpPr>
            <p:nvPr/>
          </p:nvSpPr>
          <p:spPr bwMode="auto">
            <a:xfrm>
              <a:off x="5321300" y="5562600"/>
              <a:ext cx="76200" cy="3048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2" name="Line 191">
              <a:extLst>
                <a:ext uri="{FF2B5EF4-FFF2-40B4-BE49-F238E27FC236}">
                  <a16:creationId xmlns:a16="http://schemas.microsoft.com/office/drawing/2014/main" id="{727F5ABD-E48B-8411-031E-686974455E40}"/>
                </a:ext>
              </a:extLst>
            </p:cNvPr>
            <p:cNvSpPr>
              <a:spLocks noChangeShapeType="1"/>
            </p:cNvSpPr>
            <p:nvPr/>
          </p:nvSpPr>
          <p:spPr bwMode="auto">
            <a:xfrm flipH="1">
              <a:off x="5397500" y="5638800"/>
              <a:ext cx="152400" cy="3048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3" name="Line 192">
              <a:extLst>
                <a:ext uri="{FF2B5EF4-FFF2-40B4-BE49-F238E27FC236}">
                  <a16:creationId xmlns:a16="http://schemas.microsoft.com/office/drawing/2014/main" id="{9C81671C-1A11-F447-8210-126E216A6DEC}"/>
                </a:ext>
              </a:extLst>
            </p:cNvPr>
            <p:cNvSpPr>
              <a:spLocks noChangeShapeType="1"/>
            </p:cNvSpPr>
            <p:nvPr/>
          </p:nvSpPr>
          <p:spPr bwMode="auto">
            <a:xfrm>
              <a:off x="5245100" y="5943600"/>
              <a:ext cx="152400" cy="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4" name="Line 193">
              <a:extLst>
                <a:ext uri="{FF2B5EF4-FFF2-40B4-BE49-F238E27FC236}">
                  <a16:creationId xmlns:a16="http://schemas.microsoft.com/office/drawing/2014/main" id="{CB1B28DC-EBE4-38CD-3CB4-BD201A3AB22C}"/>
                </a:ext>
              </a:extLst>
            </p:cNvPr>
            <p:cNvSpPr>
              <a:spLocks noChangeShapeType="1"/>
            </p:cNvSpPr>
            <p:nvPr/>
          </p:nvSpPr>
          <p:spPr bwMode="auto">
            <a:xfrm flipH="1">
              <a:off x="5168900" y="5943600"/>
              <a:ext cx="76200" cy="1524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5" name="Line 194">
              <a:extLst>
                <a:ext uri="{FF2B5EF4-FFF2-40B4-BE49-F238E27FC236}">
                  <a16:creationId xmlns:a16="http://schemas.microsoft.com/office/drawing/2014/main" id="{6D0D981C-B2C7-FBB4-CCB4-30A33F78D040}"/>
                </a:ext>
              </a:extLst>
            </p:cNvPr>
            <p:cNvSpPr>
              <a:spLocks noChangeShapeType="1"/>
            </p:cNvSpPr>
            <p:nvPr/>
          </p:nvSpPr>
          <p:spPr bwMode="auto">
            <a:xfrm flipH="1">
              <a:off x="5321300" y="5867400"/>
              <a:ext cx="152400" cy="2286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6" name="Line 195">
              <a:extLst>
                <a:ext uri="{FF2B5EF4-FFF2-40B4-BE49-F238E27FC236}">
                  <a16:creationId xmlns:a16="http://schemas.microsoft.com/office/drawing/2014/main" id="{C7BA46EC-2613-F16E-1F13-77DA5DF4194F}"/>
                </a:ext>
              </a:extLst>
            </p:cNvPr>
            <p:cNvSpPr>
              <a:spLocks noChangeShapeType="1"/>
            </p:cNvSpPr>
            <p:nvPr/>
          </p:nvSpPr>
          <p:spPr bwMode="auto">
            <a:xfrm>
              <a:off x="5168900" y="6096000"/>
              <a:ext cx="228600" cy="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7" name="Line 196">
              <a:extLst>
                <a:ext uri="{FF2B5EF4-FFF2-40B4-BE49-F238E27FC236}">
                  <a16:creationId xmlns:a16="http://schemas.microsoft.com/office/drawing/2014/main" id="{AF6803FF-B825-B212-C9BF-A9C81202D7BC}"/>
                </a:ext>
              </a:extLst>
            </p:cNvPr>
            <p:cNvSpPr>
              <a:spLocks noChangeShapeType="1"/>
            </p:cNvSpPr>
            <p:nvPr/>
          </p:nvSpPr>
          <p:spPr bwMode="auto">
            <a:xfrm>
              <a:off x="4191000" y="4343400"/>
              <a:ext cx="762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8" name="Line 197">
              <a:extLst>
                <a:ext uri="{FF2B5EF4-FFF2-40B4-BE49-F238E27FC236}">
                  <a16:creationId xmlns:a16="http://schemas.microsoft.com/office/drawing/2014/main" id="{3DCA1772-A067-003D-D133-B084B418EC69}"/>
                </a:ext>
              </a:extLst>
            </p:cNvPr>
            <p:cNvSpPr>
              <a:spLocks noChangeShapeType="1"/>
            </p:cNvSpPr>
            <p:nvPr/>
          </p:nvSpPr>
          <p:spPr bwMode="auto">
            <a:xfrm>
              <a:off x="4343400" y="4724400"/>
              <a:ext cx="3048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9" name="Line 198">
              <a:extLst>
                <a:ext uri="{FF2B5EF4-FFF2-40B4-BE49-F238E27FC236}">
                  <a16:creationId xmlns:a16="http://schemas.microsoft.com/office/drawing/2014/main" id="{06F7BF98-6229-19F5-A262-6EF989C2A3BA}"/>
                </a:ext>
              </a:extLst>
            </p:cNvPr>
            <p:cNvSpPr>
              <a:spLocks noChangeShapeType="1"/>
            </p:cNvSpPr>
            <p:nvPr/>
          </p:nvSpPr>
          <p:spPr bwMode="auto">
            <a:xfrm>
              <a:off x="4267200" y="4724400"/>
              <a:ext cx="152400" cy="3810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0" name="Line 199">
              <a:extLst>
                <a:ext uri="{FF2B5EF4-FFF2-40B4-BE49-F238E27FC236}">
                  <a16:creationId xmlns:a16="http://schemas.microsoft.com/office/drawing/2014/main" id="{B4F05EE3-06B0-4665-93BD-9ABD9E4A18C1}"/>
                </a:ext>
              </a:extLst>
            </p:cNvPr>
            <p:cNvSpPr>
              <a:spLocks noChangeShapeType="1"/>
            </p:cNvSpPr>
            <p:nvPr/>
          </p:nvSpPr>
          <p:spPr bwMode="auto">
            <a:xfrm>
              <a:off x="4419600" y="5105400"/>
              <a:ext cx="3048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1" name="Line 200">
              <a:extLst>
                <a:ext uri="{FF2B5EF4-FFF2-40B4-BE49-F238E27FC236}">
                  <a16:creationId xmlns:a16="http://schemas.microsoft.com/office/drawing/2014/main" id="{5B4B8860-6661-4679-BFC4-87F39B33859A}"/>
                </a:ext>
              </a:extLst>
            </p:cNvPr>
            <p:cNvSpPr>
              <a:spLocks noChangeShapeType="1"/>
            </p:cNvSpPr>
            <p:nvPr/>
          </p:nvSpPr>
          <p:spPr bwMode="auto">
            <a:xfrm flipV="1">
              <a:off x="4419600" y="5029200"/>
              <a:ext cx="228600" cy="1524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2" name="Line 201">
              <a:extLst>
                <a:ext uri="{FF2B5EF4-FFF2-40B4-BE49-F238E27FC236}">
                  <a16:creationId xmlns:a16="http://schemas.microsoft.com/office/drawing/2014/main" id="{F0C17172-C197-241C-7813-0CD1358F226A}"/>
                </a:ext>
              </a:extLst>
            </p:cNvPr>
            <p:cNvSpPr>
              <a:spLocks noChangeShapeType="1"/>
            </p:cNvSpPr>
            <p:nvPr/>
          </p:nvSpPr>
          <p:spPr bwMode="auto">
            <a:xfrm>
              <a:off x="3962400" y="4724400"/>
              <a:ext cx="1524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3" name="Line 202">
              <a:extLst>
                <a:ext uri="{FF2B5EF4-FFF2-40B4-BE49-F238E27FC236}">
                  <a16:creationId xmlns:a16="http://schemas.microsoft.com/office/drawing/2014/main" id="{3E7CBE49-5F99-681C-13CA-CE639535A56E}"/>
                </a:ext>
              </a:extLst>
            </p:cNvPr>
            <p:cNvSpPr>
              <a:spLocks noChangeShapeType="1"/>
            </p:cNvSpPr>
            <p:nvPr/>
          </p:nvSpPr>
          <p:spPr bwMode="auto">
            <a:xfrm flipH="1">
              <a:off x="4114800" y="4724400"/>
              <a:ext cx="1524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4" name="Line 203">
              <a:extLst>
                <a:ext uri="{FF2B5EF4-FFF2-40B4-BE49-F238E27FC236}">
                  <a16:creationId xmlns:a16="http://schemas.microsoft.com/office/drawing/2014/main" id="{32E7A59A-F8D0-71C5-1FC2-ED6CCA76713E}"/>
                </a:ext>
              </a:extLst>
            </p:cNvPr>
            <p:cNvSpPr>
              <a:spLocks noChangeShapeType="1"/>
            </p:cNvSpPr>
            <p:nvPr/>
          </p:nvSpPr>
          <p:spPr bwMode="auto">
            <a:xfrm>
              <a:off x="4114800" y="5029200"/>
              <a:ext cx="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5" name="Line 204">
              <a:extLst>
                <a:ext uri="{FF2B5EF4-FFF2-40B4-BE49-F238E27FC236}">
                  <a16:creationId xmlns:a16="http://schemas.microsoft.com/office/drawing/2014/main" id="{227968AD-87E6-5CB5-84D2-16A95C2D56F8}"/>
                </a:ext>
              </a:extLst>
            </p:cNvPr>
            <p:cNvSpPr>
              <a:spLocks noChangeShapeType="1"/>
            </p:cNvSpPr>
            <p:nvPr/>
          </p:nvSpPr>
          <p:spPr bwMode="auto">
            <a:xfrm>
              <a:off x="4114800" y="5334000"/>
              <a:ext cx="6096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6" name="Line 205">
              <a:extLst>
                <a:ext uri="{FF2B5EF4-FFF2-40B4-BE49-F238E27FC236}">
                  <a16:creationId xmlns:a16="http://schemas.microsoft.com/office/drawing/2014/main" id="{16475F39-C9FC-147E-7D2C-B4CE91735D70}"/>
                </a:ext>
              </a:extLst>
            </p:cNvPr>
            <p:cNvSpPr>
              <a:spLocks noChangeShapeType="1"/>
            </p:cNvSpPr>
            <p:nvPr/>
          </p:nvSpPr>
          <p:spPr bwMode="auto">
            <a:xfrm flipV="1">
              <a:off x="4114800" y="5181600"/>
              <a:ext cx="304800" cy="1524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7" name="Line 206">
              <a:extLst>
                <a:ext uri="{FF2B5EF4-FFF2-40B4-BE49-F238E27FC236}">
                  <a16:creationId xmlns:a16="http://schemas.microsoft.com/office/drawing/2014/main" id="{8E73996C-8833-433C-A4A8-AD7827AE1118}"/>
                </a:ext>
              </a:extLst>
            </p:cNvPr>
            <p:cNvSpPr>
              <a:spLocks noChangeShapeType="1"/>
            </p:cNvSpPr>
            <p:nvPr/>
          </p:nvSpPr>
          <p:spPr bwMode="auto">
            <a:xfrm>
              <a:off x="5245100" y="5943600"/>
              <a:ext cx="152400" cy="1524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9" name="Line 208">
              <a:extLst>
                <a:ext uri="{FF2B5EF4-FFF2-40B4-BE49-F238E27FC236}">
                  <a16:creationId xmlns:a16="http://schemas.microsoft.com/office/drawing/2014/main" id="{102FADFA-94CE-E939-FA9C-5F56C7126940}"/>
                </a:ext>
              </a:extLst>
            </p:cNvPr>
            <p:cNvSpPr>
              <a:spLocks noChangeShapeType="1"/>
            </p:cNvSpPr>
            <p:nvPr/>
          </p:nvSpPr>
          <p:spPr bwMode="auto">
            <a:xfrm>
              <a:off x="4114800" y="4953000"/>
              <a:ext cx="3810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46" name="Line 255">
              <a:extLst>
                <a:ext uri="{FF2B5EF4-FFF2-40B4-BE49-F238E27FC236}">
                  <a16:creationId xmlns:a16="http://schemas.microsoft.com/office/drawing/2014/main" id="{C71D250E-D3CB-79D6-288D-1A617763A007}"/>
                </a:ext>
              </a:extLst>
            </p:cNvPr>
            <p:cNvSpPr>
              <a:spLocks noChangeShapeType="1"/>
            </p:cNvSpPr>
            <p:nvPr/>
          </p:nvSpPr>
          <p:spPr bwMode="auto">
            <a:xfrm flipV="1">
              <a:off x="4711700" y="5029200"/>
              <a:ext cx="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48" name="Line 258">
              <a:extLst>
                <a:ext uri="{FF2B5EF4-FFF2-40B4-BE49-F238E27FC236}">
                  <a16:creationId xmlns:a16="http://schemas.microsoft.com/office/drawing/2014/main" id="{E8E54BD8-BD68-DC5E-F7CA-90C17B55BC75}"/>
                </a:ext>
              </a:extLst>
            </p:cNvPr>
            <p:cNvSpPr>
              <a:spLocks noChangeShapeType="1"/>
            </p:cNvSpPr>
            <p:nvPr/>
          </p:nvSpPr>
          <p:spPr bwMode="auto">
            <a:xfrm flipH="1">
              <a:off x="5321300" y="5410200"/>
              <a:ext cx="76200" cy="2286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49" name="Line 259">
              <a:extLst>
                <a:ext uri="{FF2B5EF4-FFF2-40B4-BE49-F238E27FC236}">
                  <a16:creationId xmlns:a16="http://schemas.microsoft.com/office/drawing/2014/main" id="{DB482821-5F38-F7CF-4ECA-EE01C1EA3368}"/>
                </a:ext>
              </a:extLst>
            </p:cNvPr>
            <p:cNvSpPr>
              <a:spLocks noChangeShapeType="1"/>
            </p:cNvSpPr>
            <p:nvPr/>
          </p:nvSpPr>
          <p:spPr bwMode="auto">
            <a:xfrm>
              <a:off x="5397500" y="5410200"/>
              <a:ext cx="152400" cy="2286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453" name="Text Box 265">
            <a:extLst>
              <a:ext uri="{FF2B5EF4-FFF2-40B4-BE49-F238E27FC236}">
                <a16:creationId xmlns:a16="http://schemas.microsoft.com/office/drawing/2014/main" id="{BFC052BB-216A-3E61-1F45-DFC43E7550B8}"/>
              </a:ext>
            </a:extLst>
          </p:cNvPr>
          <p:cNvSpPr txBox="1">
            <a:spLocks noChangeArrowheads="1"/>
          </p:cNvSpPr>
          <p:nvPr/>
        </p:nvSpPr>
        <p:spPr bwMode="auto">
          <a:xfrm>
            <a:off x="917221" y="2519809"/>
            <a:ext cx="2743200" cy="1338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1714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800" b="1" dirty="0">
                <a:latin typeface="Calibri" panose="020F0502020204030204" pitchFamily="34" charset="0"/>
                <a:ea typeface="SimSun" panose="02010600030101010101" pitchFamily="2" charset="-122"/>
              </a:rPr>
              <a:t>K-NN Graph</a:t>
            </a:r>
          </a:p>
          <a:p>
            <a:pPr lvl="1">
              <a:spcBef>
                <a:spcPct val="50000"/>
              </a:spcBef>
              <a:buClrTx/>
              <a:buSzTx/>
              <a:buFontTx/>
              <a:buNone/>
            </a:pPr>
            <a:r>
              <a:rPr lang="en-US" altLang="zh-CN" sz="1800" dirty="0">
                <a:latin typeface="Calibri" panose="020F0502020204030204" pitchFamily="34" charset="0"/>
                <a:ea typeface="SimSun" panose="02010600030101010101" pitchFamily="2" charset="-122"/>
              </a:rPr>
              <a:t>P and q are connected if q is among the top k closest neighbors of p</a:t>
            </a:r>
          </a:p>
        </p:txBody>
      </p:sp>
      <p:sp>
        <p:nvSpPr>
          <p:cNvPr id="2454" name="Text Box 215">
            <a:extLst>
              <a:ext uri="{FF2B5EF4-FFF2-40B4-BE49-F238E27FC236}">
                <a16:creationId xmlns:a16="http://schemas.microsoft.com/office/drawing/2014/main" id="{E105A77A-4254-67C1-28A8-53237370799C}"/>
              </a:ext>
            </a:extLst>
          </p:cNvPr>
          <p:cNvSpPr txBox="1">
            <a:spLocks noChangeArrowheads="1"/>
          </p:cNvSpPr>
          <p:nvPr/>
        </p:nvSpPr>
        <p:spPr bwMode="auto">
          <a:xfrm>
            <a:off x="6714350" y="1851659"/>
            <a:ext cx="1752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400" b="1" dirty="0">
                <a:latin typeface="+mn-lt"/>
                <a:ea typeface="SimSun" panose="02010600030101010101" pitchFamily="2" charset="-122"/>
              </a:rPr>
              <a:t>Partition the Graph</a:t>
            </a:r>
          </a:p>
        </p:txBody>
      </p:sp>
      <p:sp>
        <p:nvSpPr>
          <p:cNvPr id="2455" name="Text Box 218">
            <a:extLst>
              <a:ext uri="{FF2B5EF4-FFF2-40B4-BE49-F238E27FC236}">
                <a16:creationId xmlns:a16="http://schemas.microsoft.com/office/drawing/2014/main" id="{4AE3CC0B-6AFF-BCB3-92C7-78AAD4C05BBF}"/>
              </a:ext>
            </a:extLst>
          </p:cNvPr>
          <p:cNvSpPr txBox="1">
            <a:spLocks noChangeArrowheads="1"/>
          </p:cNvSpPr>
          <p:nvPr/>
        </p:nvSpPr>
        <p:spPr bwMode="auto">
          <a:xfrm>
            <a:off x="8663659" y="4838700"/>
            <a:ext cx="1752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1400" b="1" dirty="0">
                <a:latin typeface="+mn-lt"/>
                <a:ea typeface="SimSun" panose="02010600030101010101" pitchFamily="2" charset="-122"/>
              </a:rPr>
              <a:t>Merge Partition</a:t>
            </a:r>
          </a:p>
        </p:txBody>
      </p:sp>
    </p:spTree>
    <p:extLst>
      <p:ext uri="{BB962C8B-B14F-4D97-AF65-F5344CB8AC3E}">
        <p14:creationId xmlns:p14="http://schemas.microsoft.com/office/powerpoint/2010/main" val="266558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5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6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5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5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4" grpId="0" animBg="1"/>
      <p:bldP spid="2095" grpId="0" animBg="1"/>
      <p:bldP spid="2096" grpId="0" animBg="1"/>
      <p:bldP spid="2097" grpId="0"/>
      <p:bldP spid="2098" grpId="0"/>
      <p:bldP spid="2355" grpId="0" animBg="1"/>
      <p:bldP spid="2356" grpId="0" animBg="1"/>
      <p:bldP spid="2359" grpId="0" animBg="1"/>
      <p:bldP spid="2453" grpId="0" animBg="1"/>
      <p:bldP spid="2454" grpId="0"/>
      <p:bldP spid="245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6839C-4974-7817-7AA5-C91EC39C5A95}"/>
              </a:ext>
            </a:extLst>
          </p:cNvPr>
          <p:cNvSpPr>
            <a:spLocks noGrp="1"/>
          </p:cNvSpPr>
          <p:nvPr>
            <p:ph type="title"/>
          </p:nvPr>
        </p:nvSpPr>
        <p:spPr/>
        <p:txBody>
          <a:bodyPr/>
          <a:lstStyle/>
          <a:p>
            <a:r>
              <a:rPr lang="en-US" dirty="0"/>
              <a:t>Density-Based Clustering Methods</a:t>
            </a:r>
          </a:p>
        </p:txBody>
      </p:sp>
      <p:sp>
        <p:nvSpPr>
          <p:cNvPr id="3" name="Content Placeholder 2">
            <a:extLst>
              <a:ext uri="{FF2B5EF4-FFF2-40B4-BE49-F238E27FC236}">
                <a16:creationId xmlns:a16="http://schemas.microsoft.com/office/drawing/2014/main" id="{2CCFFD8B-B680-10A4-DD15-D5C095268DB5}"/>
              </a:ext>
            </a:extLst>
          </p:cNvPr>
          <p:cNvSpPr>
            <a:spLocks noGrp="1"/>
          </p:cNvSpPr>
          <p:nvPr>
            <p:ph idx="1"/>
          </p:nvPr>
        </p:nvSpPr>
        <p:spPr/>
        <p:txBody>
          <a:bodyPr/>
          <a:lstStyle/>
          <a:p>
            <a:r>
              <a:rPr lang="en-US" dirty="0"/>
              <a:t>Clusters are </a:t>
            </a:r>
            <a:r>
              <a:rPr lang="en-US" dirty="0">
                <a:solidFill>
                  <a:srgbClr val="C00000"/>
                </a:solidFill>
              </a:rPr>
              <a:t>dense regions of objects</a:t>
            </a:r>
            <a:r>
              <a:rPr lang="en-US" dirty="0"/>
              <a:t> in </a:t>
            </a:r>
            <a:r>
              <a:rPr lang="en-US" dirty="0">
                <a:solidFill>
                  <a:srgbClr val="C00000"/>
                </a:solidFill>
              </a:rPr>
              <a:t>space</a:t>
            </a:r>
            <a:r>
              <a:rPr lang="en-US" dirty="0"/>
              <a:t> that are separated by </a:t>
            </a:r>
            <a:r>
              <a:rPr lang="en-US" dirty="0">
                <a:solidFill>
                  <a:srgbClr val="C00000"/>
                </a:solidFill>
              </a:rPr>
              <a:t>low-density regions</a:t>
            </a:r>
            <a:r>
              <a:rPr lang="en-US" dirty="0"/>
              <a:t>.</a:t>
            </a:r>
          </a:p>
          <a:p>
            <a:r>
              <a:rPr lang="en-US" dirty="0"/>
              <a:t>It can discover clusters of arbitrary shape</a:t>
            </a:r>
          </a:p>
          <a:p>
            <a:r>
              <a:rPr lang="en-US" dirty="0"/>
              <a:t>It can handle noise in dataset.</a:t>
            </a:r>
          </a:p>
          <a:p>
            <a:r>
              <a:rPr lang="en-US" dirty="0"/>
              <a:t>It required one scan.</a:t>
            </a:r>
          </a:p>
          <a:p>
            <a:r>
              <a:rPr lang="en-US" dirty="0"/>
              <a:t>Need density parameters as termination condition</a:t>
            </a:r>
          </a:p>
          <a:p>
            <a:r>
              <a:rPr lang="en-US" dirty="0"/>
              <a:t>Several density based algorithm.</a:t>
            </a:r>
          </a:p>
          <a:p>
            <a:pPr lvl="1"/>
            <a:r>
              <a:rPr lang="en-US" dirty="0"/>
              <a:t>DBSCAN</a:t>
            </a:r>
            <a:r>
              <a:rPr lang="en-US" dirty="0">
                <a:sym typeface="Wingdings" pitchFamily="2" charset="2"/>
              </a:rPr>
              <a:t>:(Density-Based Clustering Based on Connected Regions with High Density )</a:t>
            </a:r>
            <a:endParaRPr lang="en-US" dirty="0"/>
          </a:p>
          <a:p>
            <a:pPr lvl="1"/>
            <a:r>
              <a:rPr lang="en-US" dirty="0"/>
              <a:t>OPTICS:(Ordering Points to Identify the Clustering Structure)</a:t>
            </a:r>
          </a:p>
          <a:p>
            <a:pPr lvl="1"/>
            <a:r>
              <a:rPr lang="en-US" dirty="0"/>
              <a:t>DENCLUE: (Clustering Based on Density Distribution Functions )</a:t>
            </a:r>
          </a:p>
          <a:p>
            <a:endParaRPr lang="en-US" dirty="0"/>
          </a:p>
        </p:txBody>
      </p:sp>
    </p:spTree>
    <p:extLst>
      <p:ext uri="{BB962C8B-B14F-4D97-AF65-F5344CB8AC3E}">
        <p14:creationId xmlns:p14="http://schemas.microsoft.com/office/powerpoint/2010/main" val="118317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D50CF-BDEC-8D5D-9EC0-00192F7114E1}"/>
              </a:ext>
            </a:extLst>
          </p:cNvPr>
          <p:cNvSpPr>
            <a:spLocks noGrp="1"/>
          </p:cNvSpPr>
          <p:nvPr>
            <p:ph type="title"/>
          </p:nvPr>
        </p:nvSpPr>
        <p:spPr/>
        <p:txBody>
          <a:bodyPr/>
          <a:lstStyle/>
          <a:p>
            <a:r>
              <a:rPr lang="en-US" dirty="0"/>
              <a:t>DBSCAN</a:t>
            </a:r>
          </a:p>
        </p:txBody>
      </p:sp>
      <p:sp>
        <p:nvSpPr>
          <p:cNvPr id="3" name="Content Placeholder 2">
            <a:extLst>
              <a:ext uri="{FF2B5EF4-FFF2-40B4-BE49-F238E27FC236}">
                <a16:creationId xmlns:a16="http://schemas.microsoft.com/office/drawing/2014/main" id="{C531E912-326A-EF3F-4EF7-13CB110F045C}"/>
              </a:ext>
            </a:extLst>
          </p:cNvPr>
          <p:cNvSpPr>
            <a:spLocks noGrp="1"/>
          </p:cNvSpPr>
          <p:nvPr>
            <p:ph idx="1"/>
          </p:nvPr>
        </p:nvSpPr>
        <p:spPr/>
        <p:txBody>
          <a:bodyPr/>
          <a:lstStyle/>
          <a:p>
            <a:r>
              <a:rPr lang="en-US" dirty="0"/>
              <a:t>The density of an </a:t>
            </a:r>
            <a:r>
              <a:rPr lang="en-US" dirty="0">
                <a:solidFill>
                  <a:srgbClr val="C00000"/>
                </a:solidFill>
              </a:rPr>
              <a:t>object O can be measured </a:t>
            </a:r>
            <a:r>
              <a:rPr lang="en-US" dirty="0"/>
              <a:t>by the number of objects </a:t>
            </a:r>
            <a:r>
              <a:rPr lang="en-US" dirty="0">
                <a:solidFill>
                  <a:srgbClr val="C00000"/>
                </a:solidFill>
              </a:rPr>
              <a:t>close to O</a:t>
            </a:r>
            <a:r>
              <a:rPr lang="en-US" dirty="0"/>
              <a:t>. </a:t>
            </a:r>
          </a:p>
          <a:p>
            <a:r>
              <a:rPr lang="en-US" dirty="0"/>
              <a:t>DBSCAN </a:t>
            </a:r>
            <a:r>
              <a:rPr lang="en-US" dirty="0">
                <a:solidFill>
                  <a:srgbClr val="C00000"/>
                </a:solidFill>
              </a:rPr>
              <a:t>(Density-Based Spatial Clustering of Applications with Noise</a:t>
            </a:r>
            <a:r>
              <a:rPr lang="en-US" dirty="0"/>
              <a:t>) finds core objects, that is, objects </a:t>
            </a:r>
            <a:r>
              <a:rPr lang="en-US" dirty="0">
                <a:solidFill>
                  <a:srgbClr val="C00000"/>
                </a:solidFill>
              </a:rPr>
              <a:t>that have dense neighborhoods</a:t>
            </a:r>
            <a:r>
              <a:rPr lang="en-US" dirty="0"/>
              <a:t>. </a:t>
            </a:r>
          </a:p>
          <a:p>
            <a:r>
              <a:rPr lang="en-US" dirty="0"/>
              <a:t>It connects </a:t>
            </a:r>
            <a:r>
              <a:rPr lang="en-US" dirty="0">
                <a:solidFill>
                  <a:srgbClr val="C00000"/>
                </a:solidFill>
              </a:rPr>
              <a:t>core objects and their neighborhoods </a:t>
            </a:r>
            <a:r>
              <a:rPr lang="en-US" dirty="0"/>
              <a:t>to </a:t>
            </a:r>
            <a:r>
              <a:rPr lang="en-US" dirty="0">
                <a:solidFill>
                  <a:srgbClr val="C00000"/>
                </a:solidFill>
              </a:rPr>
              <a:t>form dense regions as clusters</a:t>
            </a:r>
            <a:r>
              <a:rPr lang="en-US" dirty="0"/>
              <a:t>. </a:t>
            </a:r>
          </a:p>
          <a:p>
            <a:r>
              <a:rPr lang="en-US" dirty="0"/>
              <a:t>A </a:t>
            </a:r>
            <a:r>
              <a:rPr lang="en-US" dirty="0">
                <a:solidFill>
                  <a:srgbClr val="C00000"/>
                </a:solidFill>
              </a:rPr>
              <a:t>user-specified parameter Eps</a:t>
            </a:r>
            <a:r>
              <a:rPr lang="el-GR" dirty="0">
                <a:solidFill>
                  <a:srgbClr val="C00000"/>
                </a:solidFill>
              </a:rPr>
              <a:t> &gt; 0 </a:t>
            </a:r>
            <a:r>
              <a:rPr lang="en-US" dirty="0"/>
              <a:t>is used to specify the </a:t>
            </a:r>
            <a:r>
              <a:rPr lang="en-US" dirty="0">
                <a:solidFill>
                  <a:srgbClr val="C00000"/>
                </a:solidFill>
              </a:rPr>
              <a:t>radius of a neighborhood</a:t>
            </a:r>
            <a:r>
              <a:rPr lang="en-US" dirty="0"/>
              <a:t>. </a:t>
            </a:r>
          </a:p>
          <a:p>
            <a:r>
              <a:rPr lang="en-US" dirty="0"/>
              <a:t>the density of a </a:t>
            </a:r>
            <a:r>
              <a:rPr lang="en-US" dirty="0">
                <a:solidFill>
                  <a:srgbClr val="C00000"/>
                </a:solidFill>
              </a:rPr>
              <a:t>neighborhood</a:t>
            </a:r>
            <a:r>
              <a:rPr lang="en-US" dirty="0"/>
              <a:t> can be measured simply by the number of </a:t>
            </a:r>
            <a:r>
              <a:rPr lang="en-US" dirty="0">
                <a:solidFill>
                  <a:srgbClr val="C00000"/>
                </a:solidFill>
              </a:rPr>
              <a:t>objects in the neighborhood </a:t>
            </a:r>
          </a:p>
          <a:p>
            <a:r>
              <a:rPr lang="en-US" dirty="0"/>
              <a:t>DBSCAN uses another </a:t>
            </a:r>
            <a:r>
              <a:rPr lang="en-US" dirty="0">
                <a:solidFill>
                  <a:srgbClr val="C00000"/>
                </a:solidFill>
              </a:rPr>
              <a:t>user-specified parameter</a:t>
            </a:r>
            <a:r>
              <a:rPr lang="en-US" dirty="0"/>
              <a:t>, </a:t>
            </a:r>
            <a:r>
              <a:rPr lang="en-US" dirty="0" err="1">
                <a:solidFill>
                  <a:srgbClr val="C00000"/>
                </a:solidFill>
              </a:rPr>
              <a:t>MinPts</a:t>
            </a:r>
            <a:r>
              <a:rPr lang="en-US" dirty="0">
                <a:solidFill>
                  <a:srgbClr val="C00000"/>
                </a:solidFill>
              </a:rPr>
              <a:t>, which specifies the density threshold of dense regions. </a:t>
            </a:r>
          </a:p>
          <a:p>
            <a:r>
              <a:rPr lang="en-US" dirty="0"/>
              <a:t>Two parameters:</a:t>
            </a:r>
          </a:p>
          <a:p>
            <a:pPr lvl="1"/>
            <a:r>
              <a:rPr lang="en-US" dirty="0">
                <a:solidFill>
                  <a:srgbClr val="C00000"/>
                </a:solidFill>
              </a:rPr>
              <a:t>Eps: </a:t>
            </a:r>
            <a:r>
              <a:rPr lang="en-US" dirty="0"/>
              <a:t>Maximum radius of the </a:t>
            </a:r>
            <a:r>
              <a:rPr lang="en-US" dirty="0" err="1">
                <a:solidFill>
                  <a:srgbClr val="C00000"/>
                </a:solidFill>
              </a:rPr>
              <a:t>neighbourhood</a:t>
            </a:r>
            <a:endParaRPr lang="en-US" dirty="0">
              <a:solidFill>
                <a:srgbClr val="C00000"/>
              </a:solidFill>
            </a:endParaRPr>
          </a:p>
          <a:p>
            <a:pPr lvl="1"/>
            <a:r>
              <a:rPr lang="en-US" dirty="0" err="1">
                <a:solidFill>
                  <a:srgbClr val="C00000"/>
                </a:solidFill>
              </a:rPr>
              <a:t>MinPts</a:t>
            </a:r>
            <a:r>
              <a:rPr lang="en-US" dirty="0"/>
              <a:t>: Minimum number of </a:t>
            </a:r>
            <a:r>
              <a:rPr lang="en-US" dirty="0">
                <a:solidFill>
                  <a:srgbClr val="C00000"/>
                </a:solidFill>
              </a:rPr>
              <a:t>points</a:t>
            </a:r>
            <a:r>
              <a:rPr lang="en-US" dirty="0"/>
              <a:t> in an </a:t>
            </a:r>
            <a:r>
              <a:rPr lang="en-US" dirty="0">
                <a:solidFill>
                  <a:srgbClr val="C00000"/>
                </a:solidFill>
              </a:rPr>
              <a:t>Eps-</a:t>
            </a:r>
            <a:r>
              <a:rPr lang="en-US" dirty="0" err="1">
                <a:solidFill>
                  <a:srgbClr val="C00000"/>
                </a:solidFill>
              </a:rPr>
              <a:t>neighbourhood</a:t>
            </a:r>
            <a:r>
              <a:rPr lang="en-US" dirty="0">
                <a:solidFill>
                  <a:srgbClr val="C00000"/>
                </a:solidFill>
              </a:rPr>
              <a:t> of that point</a:t>
            </a:r>
          </a:p>
          <a:p>
            <a:endParaRPr lang="en-US" dirty="0"/>
          </a:p>
          <a:p>
            <a:endParaRPr lang="en-US" dirty="0"/>
          </a:p>
          <a:p>
            <a:r>
              <a:rPr lang="en-US" dirty="0"/>
              <a:t> </a:t>
            </a:r>
          </a:p>
          <a:p>
            <a:endParaRPr lang="en-US" dirty="0"/>
          </a:p>
          <a:p>
            <a:endParaRPr lang="en-US" dirty="0"/>
          </a:p>
        </p:txBody>
      </p:sp>
    </p:spTree>
    <p:extLst>
      <p:ext uri="{BB962C8B-B14F-4D97-AF65-F5344CB8AC3E}">
        <p14:creationId xmlns:p14="http://schemas.microsoft.com/office/powerpoint/2010/main" val="235207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C2203-5F30-2FFA-643B-352490EFF610}"/>
              </a:ext>
            </a:extLst>
          </p:cNvPr>
          <p:cNvSpPr>
            <a:spLocks noGrp="1"/>
          </p:cNvSpPr>
          <p:nvPr>
            <p:ph type="title"/>
          </p:nvPr>
        </p:nvSpPr>
        <p:spPr/>
        <p:txBody>
          <a:bodyPr/>
          <a:lstStyle/>
          <a:p>
            <a:r>
              <a:rPr lang="en-US" dirty="0"/>
              <a:t>DBSCAN</a:t>
            </a:r>
          </a:p>
        </p:txBody>
      </p:sp>
      <p:sp>
        <p:nvSpPr>
          <p:cNvPr id="3" name="Content Placeholder 2">
            <a:extLst>
              <a:ext uri="{FF2B5EF4-FFF2-40B4-BE49-F238E27FC236}">
                <a16:creationId xmlns:a16="http://schemas.microsoft.com/office/drawing/2014/main" id="{1F6F4804-1BDA-7CD6-CF7B-3EB27004336F}"/>
              </a:ext>
            </a:extLst>
          </p:cNvPr>
          <p:cNvSpPr>
            <a:spLocks noGrp="1"/>
          </p:cNvSpPr>
          <p:nvPr>
            <p:ph idx="1"/>
          </p:nvPr>
        </p:nvSpPr>
        <p:spPr>
          <a:xfrm>
            <a:off x="131180" y="863445"/>
            <a:ext cx="11929641" cy="896776"/>
          </a:xfrm>
        </p:spPr>
        <p:txBody>
          <a:bodyPr/>
          <a:lstStyle/>
          <a:p>
            <a:r>
              <a:rPr lang="en-US" dirty="0"/>
              <a:t>An object is a </a:t>
            </a:r>
            <a:r>
              <a:rPr lang="en-US" dirty="0">
                <a:solidFill>
                  <a:srgbClr val="C00000"/>
                </a:solidFill>
              </a:rPr>
              <a:t>core object </a:t>
            </a:r>
            <a:r>
              <a:rPr lang="en-US" dirty="0"/>
              <a:t>if the </a:t>
            </a:r>
            <a:r>
              <a:rPr lang="en-US" dirty="0">
                <a:solidFill>
                  <a:srgbClr val="C00000"/>
                </a:solidFill>
              </a:rPr>
              <a:t>Eps</a:t>
            </a:r>
            <a:r>
              <a:rPr lang="el-GR" dirty="0">
                <a:solidFill>
                  <a:srgbClr val="C00000"/>
                </a:solidFill>
              </a:rPr>
              <a:t>-</a:t>
            </a:r>
            <a:r>
              <a:rPr lang="en-US" dirty="0">
                <a:solidFill>
                  <a:srgbClr val="C00000"/>
                </a:solidFill>
              </a:rPr>
              <a:t>neighborhood of the object </a:t>
            </a:r>
            <a:r>
              <a:rPr lang="en-US" dirty="0"/>
              <a:t>contains at </a:t>
            </a:r>
            <a:r>
              <a:rPr lang="en-US" dirty="0">
                <a:solidFill>
                  <a:srgbClr val="C00000"/>
                </a:solidFill>
              </a:rPr>
              <a:t>least </a:t>
            </a:r>
            <a:r>
              <a:rPr lang="en-US" dirty="0" err="1">
                <a:solidFill>
                  <a:srgbClr val="C00000"/>
                </a:solidFill>
              </a:rPr>
              <a:t>MinPts</a:t>
            </a:r>
            <a:r>
              <a:rPr lang="en-US" dirty="0">
                <a:solidFill>
                  <a:srgbClr val="C00000"/>
                </a:solidFill>
              </a:rPr>
              <a:t> objects. </a:t>
            </a:r>
          </a:p>
          <a:p>
            <a:pPr lvl="1"/>
            <a:endParaRPr lang="en-US" b="1" dirty="0"/>
          </a:p>
        </p:txBody>
      </p:sp>
      <p:sp>
        <p:nvSpPr>
          <p:cNvPr id="4" name="Content Placeholder 2">
            <a:extLst>
              <a:ext uri="{FF2B5EF4-FFF2-40B4-BE49-F238E27FC236}">
                <a16:creationId xmlns:a16="http://schemas.microsoft.com/office/drawing/2014/main" id="{B37A876B-763F-4E5C-AECE-AABC48221F5F}"/>
              </a:ext>
            </a:extLst>
          </p:cNvPr>
          <p:cNvSpPr txBox="1">
            <a:spLocks/>
          </p:cNvSpPr>
          <p:nvPr/>
        </p:nvSpPr>
        <p:spPr>
          <a:xfrm>
            <a:off x="131180" y="1933900"/>
            <a:ext cx="11824599" cy="167702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b="1" dirty="0">
                <a:ea typeface="SimSun" panose="02010600030101010101" pitchFamily="2" charset="-122"/>
              </a:rPr>
              <a:t>Directly density-reachable</a:t>
            </a:r>
            <a:r>
              <a:rPr lang="en-US" b="1" dirty="0"/>
              <a:t>.</a:t>
            </a:r>
          </a:p>
          <a:p>
            <a:r>
              <a:rPr lang="en-US" dirty="0"/>
              <a:t>For a core object </a:t>
            </a:r>
            <a:r>
              <a:rPr lang="en-US" dirty="0">
                <a:solidFill>
                  <a:srgbClr val="C00000"/>
                </a:solidFill>
              </a:rPr>
              <a:t>q</a:t>
            </a:r>
            <a:r>
              <a:rPr lang="en-US" dirty="0"/>
              <a:t> and an object </a:t>
            </a:r>
            <a:r>
              <a:rPr lang="en-US" dirty="0">
                <a:solidFill>
                  <a:srgbClr val="C00000"/>
                </a:solidFill>
              </a:rPr>
              <a:t>p.</a:t>
            </a:r>
            <a:endParaRPr lang="en-US" dirty="0"/>
          </a:p>
          <a:p>
            <a:r>
              <a:rPr lang="en-US" dirty="0"/>
              <a:t>we say that </a:t>
            </a:r>
            <a:r>
              <a:rPr lang="en-US" dirty="0">
                <a:solidFill>
                  <a:srgbClr val="C00000"/>
                </a:solidFill>
              </a:rPr>
              <a:t>p</a:t>
            </a:r>
            <a:r>
              <a:rPr lang="en-US" dirty="0"/>
              <a:t> is directly density-reachable from </a:t>
            </a:r>
            <a:r>
              <a:rPr lang="en-US" dirty="0">
                <a:solidFill>
                  <a:srgbClr val="C00000"/>
                </a:solidFill>
              </a:rPr>
              <a:t>q </a:t>
            </a:r>
            <a:r>
              <a:rPr lang="en-US" dirty="0"/>
              <a:t>(with respect to </a:t>
            </a:r>
            <a:r>
              <a:rPr lang="el-GR" dirty="0"/>
              <a:t>ε </a:t>
            </a:r>
            <a:r>
              <a:rPr lang="en-US" dirty="0"/>
              <a:t>and </a:t>
            </a:r>
            <a:r>
              <a:rPr lang="en-US" dirty="0" err="1"/>
              <a:t>MinPts</a:t>
            </a:r>
            <a:r>
              <a:rPr lang="en-US" dirty="0"/>
              <a:t>) if p is within the </a:t>
            </a:r>
            <a:r>
              <a:rPr lang="el-GR" dirty="0"/>
              <a:t>ε-</a:t>
            </a:r>
            <a:r>
              <a:rPr lang="en-US" dirty="0"/>
              <a:t>neighborhood of </a:t>
            </a:r>
            <a:r>
              <a:rPr lang="en-US" dirty="0">
                <a:solidFill>
                  <a:srgbClr val="C00000"/>
                </a:solidFill>
              </a:rPr>
              <a:t>q </a:t>
            </a:r>
          </a:p>
          <a:p>
            <a:pPr lvl="1"/>
            <a:endParaRPr lang="en-US" b="1" dirty="0"/>
          </a:p>
        </p:txBody>
      </p:sp>
      <p:grpSp>
        <p:nvGrpSpPr>
          <p:cNvPr id="5" name="Group 50">
            <a:extLst>
              <a:ext uri="{FF2B5EF4-FFF2-40B4-BE49-F238E27FC236}">
                <a16:creationId xmlns:a16="http://schemas.microsoft.com/office/drawing/2014/main" id="{2F2CD750-7CD8-41BC-5FF4-2AB055D5C0E1}"/>
              </a:ext>
            </a:extLst>
          </p:cNvPr>
          <p:cNvGrpSpPr>
            <a:grpSpLocks/>
          </p:cNvGrpSpPr>
          <p:nvPr/>
        </p:nvGrpSpPr>
        <p:grpSpPr bwMode="auto">
          <a:xfrm>
            <a:off x="3477896" y="4165600"/>
            <a:ext cx="3879850" cy="1663700"/>
            <a:chOff x="5264150" y="4648200"/>
            <a:chExt cx="3879850" cy="1663700"/>
          </a:xfrm>
        </p:grpSpPr>
        <p:sp>
          <p:nvSpPr>
            <p:cNvPr id="6" name="Rectangle 2072">
              <a:extLst>
                <a:ext uri="{FF2B5EF4-FFF2-40B4-BE49-F238E27FC236}">
                  <a16:creationId xmlns:a16="http://schemas.microsoft.com/office/drawing/2014/main" id="{72DB9B8D-44B5-0D84-8A23-145E71733901}"/>
                </a:ext>
              </a:extLst>
            </p:cNvPr>
            <p:cNvSpPr>
              <a:spLocks noChangeArrowheads="1"/>
            </p:cNvSpPr>
            <p:nvPr/>
          </p:nvSpPr>
          <p:spPr bwMode="auto">
            <a:xfrm>
              <a:off x="7315200" y="4946650"/>
              <a:ext cx="1828800" cy="1016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dirty="0" err="1">
                  <a:latin typeface="+mn-lt"/>
                  <a:ea typeface="SimSun" panose="02010600030101010101" pitchFamily="2" charset="-122"/>
                </a:rPr>
                <a:t>MinPts</a:t>
              </a:r>
              <a:r>
                <a:rPr lang="en-US" altLang="zh-CN" sz="2400" dirty="0">
                  <a:latin typeface="+mn-lt"/>
                  <a:ea typeface="SimSun" panose="02010600030101010101" pitchFamily="2" charset="-122"/>
                </a:rPr>
                <a:t> = 5</a:t>
              </a:r>
            </a:p>
            <a:p>
              <a:pPr>
                <a:spcBef>
                  <a:spcPct val="50000"/>
                </a:spcBef>
                <a:buClrTx/>
                <a:buSzTx/>
                <a:buFontTx/>
                <a:buNone/>
              </a:pPr>
              <a:r>
                <a:rPr lang="en-US" altLang="zh-CN" sz="2400" dirty="0">
                  <a:latin typeface="+mn-lt"/>
                  <a:ea typeface="SimSun" panose="02010600030101010101" pitchFamily="2" charset="-122"/>
                </a:rPr>
                <a:t>Eps = 1 cm</a:t>
              </a:r>
            </a:p>
          </p:txBody>
        </p:sp>
        <p:grpSp>
          <p:nvGrpSpPr>
            <p:cNvPr id="7" name="Group 49">
              <a:extLst>
                <a:ext uri="{FF2B5EF4-FFF2-40B4-BE49-F238E27FC236}">
                  <a16:creationId xmlns:a16="http://schemas.microsoft.com/office/drawing/2014/main" id="{71FE3101-2BED-625C-8854-701BD2026835}"/>
                </a:ext>
              </a:extLst>
            </p:cNvPr>
            <p:cNvGrpSpPr>
              <a:grpSpLocks/>
            </p:cNvGrpSpPr>
            <p:nvPr/>
          </p:nvGrpSpPr>
          <p:grpSpPr bwMode="auto">
            <a:xfrm>
              <a:off x="5264150" y="4648200"/>
              <a:ext cx="1663700" cy="1663700"/>
              <a:chOff x="5264150" y="4648200"/>
              <a:chExt cx="1663700" cy="1663700"/>
            </a:xfrm>
          </p:grpSpPr>
          <p:sp>
            <p:nvSpPr>
              <p:cNvPr id="8" name="Oval 2054">
                <a:extLst>
                  <a:ext uri="{FF2B5EF4-FFF2-40B4-BE49-F238E27FC236}">
                    <a16:creationId xmlns:a16="http://schemas.microsoft.com/office/drawing/2014/main" id="{8A207257-9FF7-46C8-B01C-4DAB663E9590}"/>
                  </a:ext>
                </a:extLst>
              </p:cNvPr>
              <p:cNvSpPr>
                <a:spLocks noChangeArrowheads="1"/>
              </p:cNvSpPr>
              <p:nvPr/>
            </p:nvSpPr>
            <p:spPr bwMode="auto">
              <a:xfrm>
                <a:off x="5375275" y="5430838"/>
                <a:ext cx="100013"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9" name="Oval 2055">
                <a:extLst>
                  <a:ext uri="{FF2B5EF4-FFF2-40B4-BE49-F238E27FC236}">
                    <a16:creationId xmlns:a16="http://schemas.microsoft.com/office/drawing/2014/main" id="{A8304B83-67A8-B41A-EC06-7DF5A8D9BBA8}"/>
                  </a:ext>
                </a:extLst>
              </p:cNvPr>
              <p:cNvSpPr>
                <a:spLocks noChangeArrowheads="1"/>
              </p:cNvSpPr>
              <p:nvPr/>
            </p:nvSpPr>
            <p:spPr bwMode="auto">
              <a:xfrm>
                <a:off x="5711825" y="5541963"/>
                <a:ext cx="98425"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0" name="Oval 2056">
                <a:extLst>
                  <a:ext uri="{FF2B5EF4-FFF2-40B4-BE49-F238E27FC236}">
                    <a16:creationId xmlns:a16="http://schemas.microsoft.com/office/drawing/2014/main" id="{D1FEC158-EF61-6C39-AC96-DAECD915BCCD}"/>
                  </a:ext>
                </a:extLst>
              </p:cNvPr>
              <p:cNvSpPr>
                <a:spLocks noChangeArrowheads="1"/>
              </p:cNvSpPr>
              <p:nvPr/>
            </p:nvSpPr>
            <p:spPr bwMode="auto">
              <a:xfrm>
                <a:off x="5867400" y="5181600"/>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1" name="Oval 2057">
                <a:extLst>
                  <a:ext uri="{FF2B5EF4-FFF2-40B4-BE49-F238E27FC236}">
                    <a16:creationId xmlns:a16="http://schemas.microsoft.com/office/drawing/2014/main" id="{1EE5FD29-7599-B982-E106-20B66511759D}"/>
                  </a:ext>
                </a:extLst>
              </p:cNvPr>
              <p:cNvSpPr>
                <a:spLocks noChangeArrowheads="1"/>
              </p:cNvSpPr>
              <p:nvPr/>
            </p:nvSpPr>
            <p:spPr bwMode="auto">
              <a:xfrm>
                <a:off x="5264150" y="5876925"/>
                <a:ext cx="98425"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2" name="Oval 2058">
                <a:extLst>
                  <a:ext uri="{FF2B5EF4-FFF2-40B4-BE49-F238E27FC236}">
                    <a16:creationId xmlns:a16="http://schemas.microsoft.com/office/drawing/2014/main" id="{65EE83A3-42DA-85A4-4ADC-0141D2F35616}"/>
                  </a:ext>
                </a:extLst>
              </p:cNvPr>
              <p:cNvSpPr>
                <a:spLocks noChangeArrowheads="1"/>
              </p:cNvSpPr>
              <p:nvPr/>
            </p:nvSpPr>
            <p:spPr bwMode="auto">
              <a:xfrm>
                <a:off x="5487988" y="5654675"/>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3" name="Oval 2059">
                <a:extLst>
                  <a:ext uri="{FF2B5EF4-FFF2-40B4-BE49-F238E27FC236}">
                    <a16:creationId xmlns:a16="http://schemas.microsoft.com/office/drawing/2014/main" id="{3B3B3DE2-9794-DD0B-B600-F5E79CEF01E2}"/>
                  </a:ext>
                </a:extLst>
              </p:cNvPr>
              <p:cNvSpPr>
                <a:spLocks noChangeArrowheads="1"/>
              </p:cNvSpPr>
              <p:nvPr/>
            </p:nvSpPr>
            <p:spPr bwMode="auto">
              <a:xfrm>
                <a:off x="5487988" y="5876925"/>
                <a:ext cx="98425"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4" name="Oval 2060">
                <a:extLst>
                  <a:ext uri="{FF2B5EF4-FFF2-40B4-BE49-F238E27FC236}">
                    <a16:creationId xmlns:a16="http://schemas.microsoft.com/office/drawing/2014/main" id="{50D93599-D684-64C9-BF6D-35849FBFB3A1}"/>
                  </a:ext>
                </a:extLst>
              </p:cNvPr>
              <p:cNvSpPr>
                <a:spLocks noChangeArrowheads="1"/>
              </p:cNvSpPr>
              <p:nvPr/>
            </p:nvSpPr>
            <p:spPr bwMode="auto">
              <a:xfrm>
                <a:off x="5822950" y="5989638"/>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5" name="Oval 2061">
                <a:extLst>
                  <a:ext uri="{FF2B5EF4-FFF2-40B4-BE49-F238E27FC236}">
                    <a16:creationId xmlns:a16="http://schemas.microsoft.com/office/drawing/2014/main" id="{D88403F7-5982-25DC-6FA9-E016127E777E}"/>
                  </a:ext>
                </a:extLst>
              </p:cNvPr>
              <p:cNvSpPr>
                <a:spLocks noChangeArrowheads="1"/>
              </p:cNvSpPr>
              <p:nvPr/>
            </p:nvSpPr>
            <p:spPr bwMode="auto">
              <a:xfrm>
                <a:off x="5822950" y="46482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6" name="Oval 2062">
                <a:extLst>
                  <a:ext uri="{FF2B5EF4-FFF2-40B4-BE49-F238E27FC236}">
                    <a16:creationId xmlns:a16="http://schemas.microsoft.com/office/drawing/2014/main" id="{2378EF66-3053-3313-1E04-0A7F2B6392AC}"/>
                  </a:ext>
                </a:extLst>
              </p:cNvPr>
              <p:cNvSpPr>
                <a:spLocks noChangeArrowheads="1"/>
              </p:cNvSpPr>
              <p:nvPr/>
            </p:nvSpPr>
            <p:spPr bwMode="auto">
              <a:xfrm>
                <a:off x="5822950" y="4983163"/>
                <a:ext cx="98425"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7" name="Oval 2063">
                <a:extLst>
                  <a:ext uri="{FF2B5EF4-FFF2-40B4-BE49-F238E27FC236}">
                    <a16:creationId xmlns:a16="http://schemas.microsoft.com/office/drawing/2014/main" id="{691C05EF-860A-23CB-8DE9-01D4CFCB6936}"/>
                  </a:ext>
                </a:extLst>
              </p:cNvPr>
              <p:cNvSpPr>
                <a:spLocks noChangeArrowheads="1"/>
              </p:cNvSpPr>
              <p:nvPr/>
            </p:nvSpPr>
            <p:spPr bwMode="auto">
              <a:xfrm>
                <a:off x="6492875" y="5654675"/>
                <a:ext cx="100013"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8" name="Oval 2064">
                <a:extLst>
                  <a:ext uri="{FF2B5EF4-FFF2-40B4-BE49-F238E27FC236}">
                    <a16:creationId xmlns:a16="http://schemas.microsoft.com/office/drawing/2014/main" id="{0D4A5128-C192-8E10-C645-2EFA36E5692A}"/>
                  </a:ext>
                </a:extLst>
              </p:cNvPr>
              <p:cNvSpPr>
                <a:spLocks noChangeArrowheads="1"/>
              </p:cNvSpPr>
              <p:nvPr/>
            </p:nvSpPr>
            <p:spPr bwMode="auto">
              <a:xfrm>
                <a:off x="6270625" y="5207000"/>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9" name="Oval 2065">
                <a:extLst>
                  <a:ext uri="{FF2B5EF4-FFF2-40B4-BE49-F238E27FC236}">
                    <a16:creationId xmlns:a16="http://schemas.microsoft.com/office/drawing/2014/main" id="{71E66BF1-F5E6-45E6-CE45-35E998ABF0A2}"/>
                  </a:ext>
                </a:extLst>
              </p:cNvPr>
              <p:cNvSpPr>
                <a:spLocks noChangeArrowheads="1"/>
              </p:cNvSpPr>
              <p:nvPr/>
            </p:nvSpPr>
            <p:spPr bwMode="auto">
              <a:xfrm>
                <a:off x="5711825" y="5765800"/>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0" name="Oval 2066">
                <a:extLst>
                  <a:ext uri="{FF2B5EF4-FFF2-40B4-BE49-F238E27FC236}">
                    <a16:creationId xmlns:a16="http://schemas.microsoft.com/office/drawing/2014/main" id="{78853C13-683D-A6BF-5CE3-DD5124232941}"/>
                  </a:ext>
                </a:extLst>
              </p:cNvPr>
              <p:cNvSpPr>
                <a:spLocks noChangeArrowheads="1"/>
              </p:cNvSpPr>
              <p:nvPr/>
            </p:nvSpPr>
            <p:spPr bwMode="auto">
              <a:xfrm>
                <a:off x="5934075" y="5541963"/>
                <a:ext cx="100013"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 name="Oval 2067">
                <a:extLst>
                  <a:ext uri="{FF2B5EF4-FFF2-40B4-BE49-F238E27FC236}">
                    <a16:creationId xmlns:a16="http://schemas.microsoft.com/office/drawing/2014/main" id="{AE2DCE04-8DCA-D9F9-EACB-6F9B0C82E269}"/>
                  </a:ext>
                </a:extLst>
              </p:cNvPr>
              <p:cNvSpPr>
                <a:spLocks noChangeArrowheads="1"/>
              </p:cNvSpPr>
              <p:nvPr/>
            </p:nvSpPr>
            <p:spPr bwMode="auto">
              <a:xfrm>
                <a:off x="6157913" y="5876925"/>
                <a:ext cx="100013"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 name="Oval 2068">
                <a:extLst>
                  <a:ext uri="{FF2B5EF4-FFF2-40B4-BE49-F238E27FC236}">
                    <a16:creationId xmlns:a16="http://schemas.microsoft.com/office/drawing/2014/main" id="{160BF2A1-1977-1BA5-B2C8-1A07CBB233C9}"/>
                  </a:ext>
                </a:extLst>
              </p:cNvPr>
              <p:cNvSpPr>
                <a:spLocks noChangeArrowheads="1"/>
              </p:cNvSpPr>
              <p:nvPr/>
            </p:nvSpPr>
            <p:spPr bwMode="auto">
              <a:xfrm>
                <a:off x="6716713" y="5989638"/>
                <a:ext cx="100013"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3" name="Oval 2069">
                <a:extLst>
                  <a:ext uri="{FF2B5EF4-FFF2-40B4-BE49-F238E27FC236}">
                    <a16:creationId xmlns:a16="http://schemas.microsoft.com/office/drawing/2014/main" id="{39CDC18E-9EF0-5A68-2F36-D7538E882734}"/>
                  </a:ext>
                </a:extLst>
              </p:cNvPr>
              <p:cNvSpPr>
                <a:spLocks noChangeArrowheads="1"/>
              </p:cNvSpPr>
              <p:nvPr/>
            </p:nvSpPr>
            <p:spPr bwMode="auto">
              <a:xfrm>
                <a:off x="5487988" y="52070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dirty="0">
                  <a:latin typeface="Tahoma" panose="020B0604030504040204" pitchFamily="34" charset="0"/>
                </a:endParaRPr>
              </a:p>
            </p:txBody>
          </p:sp>
          <p:sp>
            <p:nvSpPr>
              <p:cNvPr id="24" name="Rectangle 2070">
                <a:extLst>
                  <a:ext uri="{FF2B5EF4-FFF2-40B4-BE49-F238E27FC236}">
                    <a16:creationId xmlns:a16="http://schemas.microsoft.com/office/drawing/2014/main" id="{1033220F-FB46-D272-8505-D28E7855AF26}"/>
                  </a:ext>
                </a:extLst>
              </p:cNvPr>
              <p:cNvSpPr>
                <a:spLocks noChangeArrowheads="1"/>
              </p:cNvSpPr>
              <p:nvPr/>
            </p:nvSpPr>
            <p:spPr bwMode="auto">
              <a:xfrm>
                <a:off x="6324600" y="494665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a:latin typeface="Times New Roman" panose="02020603050405020304" pitchFamily="18" charset="0"/>
                    <a:ea typeface="SimSun" panose="02010600030101010101" pitchFamily="2" charset="-122"/>
                  </a:rPr>
                  <a:t>p</a:t>
                </a:r>
              </a:p>
            </p:txBody>
          </p:sp>
          <p:sp>
            <p:nvSpPr>
              <p:cNvPr id="25" name="Rectangle 2071">
                <a:extLst>
                  <a:ext uri="{FF2B5EF4-FFF2-40B4-BE49-F238E27FC236}">
                    <a16:creationId xmlns:a16="http://schemas.microsoft.com/office/drawing/2014/main" id="{16184992-3C34-1B8B-DD66-5B42AD2EF2BD}"/>
                  </a:ext>
                </a:extLst>
              </p:cNvPr>
              <p:cNvSpPr>
                <a:spLocks noChangeArrowheads="1"/>
              </p:cNvSpPr>
              <p:nvPr/>
            </p:nvSpPr>
            <p:spPr bwMode="auto">
              <a:xfrm>
                <a:off x="5867400" y="5715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a:latin typeface="Times New Roman" panose="02020603050405020304" pitchFamily="18" charset="0"/>
                    <a:ea typeface="SimSun" panose="02010600030101010101" pitchFamily="2" charset="-122"/>
                  </a:rPr>
                  <a:t>q</a:t>
                </a:r>
              </a:p>
            </p:txBody>
          </p:sp>
          <p:sp>
            <p:nvSpPr>
              <p:cNvPr id="26" name="Oval 2065">
                <a:extLst>
                  <a:ext uri="{FF2B5EF4-FFF2-40B4-BE49-F238E27FC236}">
                    <a16:creationId xmlns:a16="http://schemas.microsoft.com/office/drawing/2014/main" id="{48B3B843-FA83-D93B-3550-5019F319F738}"/>
                  </a:ext>
                </a:extLst>
              </p:cNvPr>
              <p:cNvSpPr>
                <a:spLocks noChangeArrowheads="1"/>
              </p:cNvSpPr>
              <p:nvPr/>
            </p:nvSpPr>
            <p:spPr bwMode="auto">
              <a:xfrm>
                <a:off x="5997575" y="5768975"/>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grpSp>
      </p:grpSp>
    </p:spTree>
    <p:extLst>
      <p:ext uri="{BB962C8B-B14F-4D97-AF65-F5344CB8AC3E}">
        <p14:creationId xmlns:p14="http://schemas.microsoft.com/office/powerpoint/2010/main" val="83157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C9C9-D106-544B-5B61-D86F70C4FA7C}"/>
              </a:ext>
            </a:extLst>
          </p:cNvPr>
          <p:cNvSpPr>
            <a:spLocks noGrp="1"/>
          </p:cNvSpPr>
          <p:nvPr>
            <p:ph type="title"/>
          </p:nvPr>
        </p:nvSpPr>
        <p:spPr/>
        <p:txBody>
          <a:bodyPr/>
          <a:lstStyle/>
          <a:p>
            <a:r>
              <a:rPr lang="en-US" dirty="0"/>
              <a:t>DBSCAN</a:t>
            </a:r>
          </a:p>
        </p:txBody>
      </p:sp>
      <p:sp>
        <p:nvSpPr>
          <p:cNvPr id="3" name="Content Placeholder 2">
            <a:extLst>
              <a:ext uri="{FF2B5EF4-FFF2-40B4-BE49-F238E27FC236}">
                <a16:creationId xmlns:a16="http://schemas.microsoft.com/office/drawing/2014/main" id="{6C37DC41-61F3-57F8-B231-A333BB338898}"/>
              </a:ext>
            </a:extLst>
          </p:cNvPr>
          <p:cNvSpPr>
            <a:spLocks noGrp="1"/>
          </p:cNvSpPr>
          <p:nvPr>
            <p:ph idx="1"/>
          </p:nvPr>
        </p:nvSpPr>
        <p:spPr>
          <a:xfrm>
            <a:off x="131181" y="863444"/>
            <a:ext cx="8151442" cy="5578501"/>
          </a:xfrm>
        </p:spPr>
        <p:txBody>
          <a:bodyPr/>
          <a:lstStyle/>
          <a:p>
            <a:r>
              <a:rPr lang="en-US" b="1" dirty="0"/>
              <a:t>Density-reachable</a:t>
            </a:r>
          </a:p>
          <a:p>
            <a:r>
              <a:rPr lang="en-US" altLang="zh-CN" sz="2400" dirty="0">
                <a:ea typeface="SimSun" panose="02010600030101010101" pitchFamily="2" charset="-122"/>
              </a:rPr>
              <a:t>A point </a:t>
            </a:r>
            <a:r>
              <a:rPr lang="en-US" altLang="zh-CN" sz="2400" i="1" dirty="0">
                <a:ea typeface="SimSun" panose="02010600030101010101" pitchFamily="2" charset="-122"/>
              </a:rPr>
              <a:t>p</a:t>
            </a:r>
            <a:r>
              <a:rPr lang="en-US" altLang="zh-CN" sz="2400" dirty="0">
                <a:ea typeface="SimSun" panose="02010600030101010101" pitchFamily="2" charset="-122"/>
              </a:rPr>
              <a:t> is density-reachable from a point </a:t>
            </a:r>
            <a:r>
              <a:rPr lang="en-US" altLang="zh-CN" sz="2400" i="1" dirty="0">
                <a:ea typeface="SimSun" panose="02010600030101010101" pitchFamily="2" charset="-122"/>
              </a:rPr>
              <a:t>q</a:t>
            </a:r>
            <a:r>
              <a:rPr lang="en-US" altLang="zh-CN" sz="2400" dirty="0">
                <a:ea typeface="SimSun" panose="02010600030101010101" pitchFamily="2" charset="-122"/>
              </a:rPr>
              <a:t> </a:t>
            </a:r>
            <a:r>
              <a:rPr lang="en-US" altLang="zh-CN" sz="2400" dirty="0" err="1">
                <a:ea typeface="SimSun" panose="02010600030101010101" pitchFamily="2" charset="-122"/>
              </a:rPr>
              <a:t>w.r.t.</a:t>
            </a:r>
            <a:r>
              <a:rPr lang="en-US" altLang="zh-CN" sz="2400" dirty="0">
                <a:ea typeface="SimSun" panose="02010600030101010101" pitchFamily="2" charset="-122"/>
              </a:rPr>
              <a:t> </a:t>
            </a:r>
            <a:r>
              <a:rPr lang="en-US" altLang="zh-CN" sz="2400" i="1" dirty="0">
                <a:ea typeface="SimSun" panose="02010600030101010101" pitchFamily="2" charset="-122"/>
              </a:rPr>
              <a:t>Eps</a:t>
            </a:r>
            <a:r>
              <a:rPr lang="en-US" altLang="zh-CN" sz="2400" dirty="0">
                <a:ea typeface="SimSun" panose="02010600030101010101" pitchFamily="2" charset="-122"/>
              </a:rPr>
              <a:t>, </a:t>
            </a:r>
            <a:r>
              <a:rPr lang="en-US" altLang="zh-CN" sz="2400" i="1" dirty="0" err="1">
                <a:ea typeface="SimSun" panose="02010600030101010101" pitchFamily="2" charset="-122"/>
              </a:rPr>
              <a:t>MinPts</a:t>
            </a:r>
            <a:r>
              <a:rPr lang="en-US" altLang="zh-CN" sz="2400" dirty="0">
                <a:ea typeface="SimSun" panose="02010600030101010101" pitchFamily="2" charset="-122"/>
              </a:rPr>
              <a:t> if there is a chain of points </a:t>
            </a:r>
            <a:r>
              <a:rPr lang="en-US" altLang="zh-CN" sz="2400" i="1" dirty="0">
                <a:ea typeface="SimSun" panose="02010600030101010101" pitchFamily="2" charset="-122"/>
              </a:rPr>
              <a:t>p</a:t>
            </a:r>
            <a:r>
              <a:rPr lang="en-US" altLang="zh-CN" sz="2400" i="1" baseline="-25000" dirty="0">
                <a:ea typeface="SimSun" panose="02010600030101010101" pitchFamily="2" charset="-122"/>
              </a:rPr>
              <a:t>1</a:t>
            </a:r>
            <a:r>
              <a:rPr lang="en-US" altLang="zh-CN" sz="2400" dirty="0">
                <a:ea typeface="SimSun" panose="02010600030101010101" pitchFamily="2" charset="-122"/>
              </a:rPr>
              <a:t>, …, </a:t>
            </a:r>
            <a:r>
              <a:rPr lang="en-US" altLang="zh-CN" sz="2400" i="1" dirty="0" err="1">
                <a:ea typeface="SimSun" panose="02010600030101010101" pitchFamily="2" charset="-122"/>
              </a:rPr>
              <a:t>p</a:t>
            </a:r>
            <a:r>
              <a:rPr lang="en-US" altLang="zh-CN" sz="2400" i="1" baseline="-25000" dirty="0" err="1">
                <a:ea typeface="SimSun" panose="02010600030101010101" pitchFamily="2" charset="-122"/>
              </a:rPr>
              <a:t>n</a:t>
            </a:r>
            <a:r>
              <a:rPr lang="en-US" altLang="zh-CN" sz="2400" dirty="0">
                <a:ea typeface="SimSun" panose="02010600030101010101" pitchFamily="2" charset="-122"/>
              </a:rPr>
              <a:t>, </a:t>
            </a:r>
            <a:r>
              <a:rPr lang="en-US" altLang="zh-CN" sz="2400" i="1" dirty="0">
                <a:ea typeface="SimSun" panose="02010600030101010101" pitchFamily="2" charset="-122"/>
              </a:rPr>
              <a:t>p</a:t>
            </a:r>
            <a:r>
              <a:rPr lang="en-US" altLang="zh-CN" sz="2400" i="1" baseline="-25000" dirty="0">
                <a:ea typeface="SimSun" panose="02010600030101010101" pitchFamily="2" charset="-122"/>
              </a:rPr>
              <a:t>1</a:t>
            </a:r>
            <a:r>
              <a:rPr lang="en-US" altLang="zh-CN" sz="2400" dirty="0">
                <a:ea typeface="SimSun" panose="02010600030101010101" pitchFamily="2" charset="-122"/>
              </a:rPr>
              <a:t> = </a:t>
            </a:r>
            <a:r>
              <a:rPr lang="en-US" altLang="zh-CN" sz="2400" i="1" dirty="0">
                <a:ea typeface="SimSun" panose="02010600030101010101" pitchFamily="2" charset="-122"/>
              </a:rPr>
              <a:t>q</a:t>
            </a:r>
            <a:r>
              <a:rPr lang="en-US" altLang="zh-CN" sz="2400" dirty="0">
                <a:ea typeface="SimSun" panose="02010600030101010101" pitchFamily="2" charset="-122"/>
              </a:rPr>
              <a:t>, </a:t>
            </a:r>
            <a:r>
              <a:rPr lang="en-US" altLang="zh-CN" sz="2400" i="1" dirty="0" err="1">
                <a:ea typeface="SimSun" panose="02010600030101010101" pitchFamily="2" charset="-122"/>
              </a:rPr>
              <a:t>p</a:t>
            </a:r>
            <a:r>
              <a:rPr lang="en-US" altLang="zh-CN" sz="2400" i="1" baseline="-25000" dirty="0" err="1">
                <a:ea typeface="SimSun" panose="02010600030101010101" pitchFamily="2" charset="-122"/>
              </a:rPr>
              <a:t>n</a:t>
            </a:r>
            <a:r>
              <a:rPr lang="en-US" altLang="zh-CN" sz="2400" dirty="0">
                <a:ea typeface="SimSun" panose="02010600030101010101" pitchFamily="2" charset="-122"/>
              </a:rPr>
              <a:t> = </a:t>
            </a:r>
            <a:r>
              <a:rPr lang="en-US" altLang="zh-CN" sz="2400" i="1" dirty="0">
                <a:ea typeface="SimSun" panose="02010600030101010101" pitchFamily="2" charset="-122"/>
              </a:rPr>
              <a:t>p</a:t>
            </a:r>
            <a:r>
              <a:rPr lang="en-US" altLang="zh-CN" sz="2400" dirty="0">
                <a:ea typeface="SimSun" panose="02010600030101010101" pitchFamily="2" charset="-122"/>
              </a:rPr>
              <a:t> such that </a:t>
            </a:r>
            <a:r>
              <a:rPr lang="en-US" altLang="zh-CN" sz="2400" i="1" dirty="0">
                <a:ea typeface="SimSun" panose="02010600030101010101" pitchFamily="2" charset="-122"/>
              </a:rPr>
              <a:t>p</a:t>
            </a:r>
            <a:r>
              <a:rPr lang="en-US" altLang="zh-CN" sz="2400" i="1" baseline="-25000" dirty="0">
                <a:ea typeface="SimSun" panose="02010600030101010101" pitchFamily="2" charset="-122"/>
              </a:rPr>
              <a:t>i+1</a:t>
            </a:r>
            <a:r>
              <a:rPr lang="en-US" altLang="zh-CN" sz="2400" dirty="0">
                <a:ea typeface="SimSun" panose="02010600030101010101" pitchFamily="2" charset="-122"/>
              </a:rPr>
              <a:t> is directly density-reachable from </a:t>
            </a:r>
            <a:r>
              <a:rPr lang="en-US" altLang="zh-CN" sz="2400" i="1" dirty="0">
                <a:ea typeface="SimSun" panose="02010600030101010101" pitchFamily="2" charset="-122"/>
              </a:rPr>
              <a:t>p</a:t>
            </a:r>
            <a:r>
              <a:rPr lang="en-US" altLang="zh-CN" sz="2400" i="1" baseline="-25000" dirty="0">
                <a:ea typeface="SimSun" panose="02010600030101010101" pitchFamily="2" charset="-122"/>
              </a:rPr>
              <a:t>i</a:t>
            </a:r>
          </a:p>
          <a:p>
            <a:endParaRPr lang="en-US" i="1" baseline="-25000" dirty="0">
              <a:ea typeface="SimSun" panose="02010600030101010101" pitchFamily="2" charset="-122"/>
            </a:endParaRPr>
          </a:p>
          <a:p>
            <a:endParaRPr lang="en-US" i="1" baseline="-25000" dirty="0">
              <a:ea typeface="SimSun" panose="02010600030101010101" pitchFamily="2" charset="-122"/>
            </a:endParaRPr>
          </a:p>
          <a:p>
            <a:endParaRPr lang="en-US" i="1" baseline="-25000" dirty="0">
              <a:ea typeface="SimSun" panose="02010600030101010101" pitchFamily="2" charset="-122"/>
            </a:endParaRPr>
          </a:p>
          <a:p>
            <a:endParaRPr lang="en-US" i="1" baseline="-25000" dirty="0">
              <a:ea typeface="SimSun" panose="02010600030101010101" pitchFamily="2" charset="-122"/>
            </a:endParaRPr>
          </a:p>
          <a:p>
            <a:endParaRPr lang="en-US" i="1" baseline="-25000" dirty="0">
              <a:ea typeface="SimSun" panose="02010600030101010101" pitchFamily="2" charset="-122"/>
            </a:endParaRPr>
          </a:p>
          <a:p>
            <a:r>
              <a:rPr lang="en-US" altLang="zh-CN" sz="2400" b="1" dirty="0">
                <a:ea typeface="SimSun" panose="02010600030101010101" pitchFamily="2" charset="-122"/>
              </a:rPr>
              <a:t>Density-connected:</a:t>
            </a:r>
          </a:p>
          <a:p>
            <a:r>
              <a:rPr lang="en-US" altLang="zh-CN" sz="2400" dirty="0">
                <a:ea typeface="SimSun" panose="02010600030101010101" pitchFamily="2" charset="-122"/>
              </a:rPr>
              <a:t>A point </a:t>
            </a:r>
            <a:r>
              <a:rPr lang="en-US" altLang="zh-CN" sz="2400" i="1" dirty="0">
                <a:ea typeface="SimSun" panose="02010600030101010101" pitchFamily="2" charset="-122"/>
              </a:rPr>
              <a:t>p</a:t>
            </a:r>
            <a:r>
              <a:rPr lang="en-US" altLang="zh-CN" sz="2400" dirty="0">
                <a:ea typeface="SimSun" panose="02010600030101010101" pitchFamily="2" charset="-122"/>
              </a:rPr>
              <a:t> is density-connected to a point </a:t>
            </a:r>
            <a:r>
              <a:rPr lang="en-US" altLang="zh-CN" sz="2400" i="1" dirty="0">
                <a:ea typeface="SimSun" panose="02010600030101010101" pitchFamily="2" charset="-122"/>
              </a:rPr>
              <a:t>q</a:t>
            </a:r>
            <a:r>
              <a:rPr lang="en-US" altLang="zh-CN" sz="2400" dirty="0">
                <a:ea typeface="SimSun" panose="02010600030101010101" pitchFamily="2" charset="-122"/>
              </a:rPr>
              <a:t> </a:t>
            </a:r>
            <a:r>
              <a:rPr lang="en-US" altLang="zh-CN" sz="2400" dirty="0" err="1">
                <a:ea typeface="SimSun" panose="02010600030101010101" pitchFamily="2" charset="-122"/>
              </a:rPr>
              <a:t>w.r.t.</a:t>
            </a:r>
            <a:r>
              <a:rPr lang="en-US" altLang="zh-CN" sz="2400" dirty="0">
                <a:ea typeface="SimSun" panose="02010600030101010101" pitchFamily="2" charset="-122"/>
              </a:rPr>
              <a:t> </a:t>
            </a:r>
            <a:r>
              <a:rPr lang="en-US" altLang="zh-CN" sz="2400" i="1" dirty="0">
                <a:ea typeface="SimSun" panose="02010600030101010101" pitchFamily="2" charset="-122"/>
              </a:rPr>
              <a:t>Eps</a:t>
            </a:r>
            <a:r>
              <a:rPr lang="en-US" altLang="zh-CN" sz="2400" dirty="0">
                <a:ea typeface="SimSun" panose="02010600030101010101" pitchFamily="2" charset="-122"/>
              </a:rPr>
              <a:t>, </a:t>
            </a:r>
            <a:r>
              <a:rPr lang="en-US" altLang="zh-CN" sz="2400" i="1" dirty="0" err="1">
                <a:ea typeface="SimSun" panose="02010600030101010101" pitchFamily="2" charset="-122"/>
              </a:rPr>
              <a:t>MinPts</a:t>
            </a:r>
            <a:r>
              <a:rPr lang="en-US" altLang="zh-CN" sz="2400" dirty="0">
                <a:ea typeface="SimSun" panose="02010600030101010101" pitchFamily="2" charset="-122"/>
              </a:rPr>
              <a:t> if there is a point </a:t>
            </a:r>
            <a:r>
              <a:rPr lang="en-US" altLang="zh-CN" sz="2400" i="1" dirty="0">
                <a:ea typeface="SimSun" panose="02010600030101010101" pitchFamily="2" charset="-122"/>
              </a:rPr>
              <a:t>o </a:t>
            </a:r>
            <a:r>
              <a:rPr lang="en-US" altLang="zh-CN" sz="2400" dirty="0">
                <a:ea typeface="SimSun" panose="02010600030101010101" pitchFamily="2" charset="-122"/>
              </a:rPr>
              <a:t>such that both, </a:t>
            </a:r>
            <a:r>
              <a:rPr lang="en-US" altLang="zh-CN" sz="2400" i="1" dirty="0">
                <a:ea typeface="SimSun" panose="02010600030101010101" pitchFamily="2" charset="-122"/>
              </a:rPr>
              <a:t>p</a:t>
            </a:r>
            <a:r>
              <a:rPr lang="en-US" altLang="zh-CN" sz="2400" dirty="0">
                <a:ea typeface="SimSun" panose="02010600030101010101" pitchFamily="2" charset="-122"/>
              </a:rPr>
              <a:t> and </a:t>
            </a:r>
            <a:r>
              <a:rPr lang="en-US" altLang="zh-CN" sz="2400" i="1" dirty="0">
                <a:ea typeface="SimSun" panose="02010600030101010101" pitchFamily="2" charset="-122"/>
              </a:rPr>
              <a:t>q</a:t>
            </a:r>
            <a:r>
              <a:rPr lang="en-US" altLang="zh-CN" sz="2400" dirty="0">
                <a:ea typeface="SimSun" panose="02010600030101010101" pitchFamily="2" charset="-122"/>
              </a:rPr>
              <a:t> are density-reachable from </a:t>
            </a:r>
            <a:r>
              <a:rPr lang="en-US" altLang="zh-CN" sz="2400" i="1" dirty="0">
                <a:ea typeface="SimSun" panose="02010600030101010101" pitchFamily="2" charset="-122"/>
              </a:rPr>
              <a:t>o</a:t>
            </a:r>
            <a:r>
              <a:rPr lang="en-US" altLang="zh-CN" sz="2400" dirty="0">
                <a:ea typeface="SimSun" panose="02010600030101010101" pitchFamily="2" charset="-122"/>
              </a:rPr>
              <a:t> </a:t>
            </a:r>
            <a:r>
              <a:rPr lang="en-US" altLang="zh-CN" sz="2400" dirty="0" err="1">
                <a:ea typeface="SimSun" panose="02010600030101010101" pitchFamily="2" charset="-122"/>
              </a:rPr>
              <a:t>w.r.t.</a:t>
            </a:r>
            <a:r>
              <a:rPr lang="en-US" altLang="zh-CN" sz="2400" dirty="0">
                <a:ea typeface="SimSun" panose="02010600030101010101" pitchFamily="2" charset="-122"/>
              </a:rPr>
              <a:t> </a:t>
            </a:r>
            <a:r>
              <a:rPr lang="en-US" altLang="zh-CN" sz="2400" i="1" dirty="0">
                <a:ea typeface="SimSun" panose="02010600030101010101" pitchFamily="2" charset="-122"/>
              </a:rPr>
              <a:t>Eps</a:t>
            </a:r>
            <a:r>
              <a:rPr lang="en-US" altLang="zh-CN" sz="2400" dirty="0">
                <a:ea typeface="SimSun" panose="02010600030101010101" pitchFamily="2" charset="-122"/>
              </a:rPr>
              <a:t> and </a:t>
            </a:r>
            <a:r>
              <a:rPr lang="en-US" altLang="zh-CN" sz="2400" i="1" dirty="0" err="1">
                <a:ea typeface="SimSun" panose="02010600030101010101" pitchFamily="2" charset="-122"/>
              </a:rPr>
              <a:t>MinPts</a:t>
            </a:r>
            <a:endParaRPr lang="en-US" altLang="zh-CN" sz="2400" dirty="0">
              <a:ea typeface="SimSun" panose="02010600030101010101" pitchFamily="2" charset="-122"/>
            </a:endParaRPr>
          </a:p>
          <a:p>
            <a:endParaRPr lang="en-US" altLang="zh-CN" sz="2400" b="1" dirty="0">
              <a:ea typeface="SimSun" panose="02010600030101010101" pitchFamily="2" charset="-122"/>
            </a:endParaRPr>
          </a:p>
          <a:p>
            <a:endParaRPr lang="en-US" i="1" baseline="-25000" dirty="0">
              <a:ea typeface="SimSun" panose="02010600030101010101" pitchFamily="2" charset="-122"/>
            </a:endParaRPr>
          </a:p>
          <a:p>
            <a:endParaRPr lang="en-US" i="1" baseline="-25000" dirty="0">
              <a:ea typeface="SimSun" panose="02010600030101010101" pitchFamily="2" charset="-122"/>
            </a:endParaRPr>
          </a:p>
          <a:p>
            <a:endParaRPr lang="en-US" dirty="0"/>
          </a:p>
        </p:txBody>
      </p:sp>
      <p:grpSp>
        <p:nvGrpSpPr>
          <p:cNvPr id="5" name="Group 4">
            <a:extLst>
              <a:ext uri="{FF2B5EF4-FFF2-40B4-BE49-F238E27FC236}">
                <a16:creationId xmlns:a16="http://schemas.microsoft.com/office/drawing/2014/main" id="{3F3B7662-AFD8-1B93-32C4-1A6714930742}"/>
              </a:ext>
            </a:extLst>
          </p:cNvPr>
          <p:cNvGrpSpPr/>
          <p:nvPr/>
        </p:nvGrpSpPr>
        <p:grpSpPr>
          <a:xfrm>
            <a:off x="9136698" y="1112520"/>
            <a:ext cx="2090737" cy="1790700"/>
            <a:chOff x="6370638" y="1752600"/>
            <a:chExt cx="2090737" cy="1790700"/>
          </a:xfrm>
        </p:grpSpPr>
        <p:sp>
          <p:nvSpPr>
            <p:cNvPr id="6" name="Oval 1028">
              <a:extLst>
                <a:ext uri="{FF2B5EF4-FFF2-40B4-BE49-F238E27FC236}">
                  <a16:creationId xmlns:a16="http://schemas.microsoft.com/office/drawing/2014/main" id="{1787E80A-BF1E-DC06-EBE5-646F14881F10}"/>
                </a:ext>
              </a:extLst>
            </p:cNvPr>
            <p:cNvSpPr>
              <a:spLocks noChangeArrowheads="1"/>
            </p:cNvSpPr>
            <p:nvPr/>
          </p:nvSpPr>
          <p:spPr bwMode="auto">
            <a:xfrm>
              <a:off x="7019925" y="2459038"/>
              <a:ext cx="100013"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7" name="Oval 1029">
              <a:extLst>
                <a:ext uri="{FF2B5EF4-FFF2-40B4-BE49-F238E27FC236}">
                  <a16:creationId xmlns:a16="http://schemas.microsoft.com/office/drawing/2014/main" id="{2899EC65-2A81-9A51-E2F0-FC35E6D3CB3E}"/>
                </a:ext>
              </a:extLst>
            </p:cNvPr>
            <p:cNvSpPr>
              <a:spLocks noChangeArrowheads="1"/>
            </p:cNvSpPr>
            <p:nvPr/>
          </p:nvSpPr>
          <p:spPr bwMode="auto">
            <a:xfrm>
              <a:off x="7356475" y="2570163"/>
              <a:ext cx="98425" cy="10001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8" name="Oval 1030">
              <a:extLst>
                <a:ext uri="{FF2B5EF4-FFF2-40B4-BE49-F238E27FC236}">
                  <a16:creationId xmlns:a16="http://schemas.microsoft.com/office/drawing/2014/main" id="{70CE2211-F2C4-10D0-7FAC-E7930691753D}"/>
                </a:ext>
              </a:extLst>
            </p:cNvPr>
            <p:cNvSpPr>
              <a:spLocks noChangeArrowheads="1"/>
            </p:cNvSpPr>
            <p:nvPr/>
          </p:nvSpPr>
          <p:spPr bwMode="auto">
            <a:xfrm>
              <a:off x="7356475" y="2235200"/>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9" name="Oval 1031">
              <a:extLst>
                <a:ext uri="{FF2B5EF4-FFF2-40B4-BE49-F238E27FC236}">
                  <a16:creationId xmlns:a16="http://schemas.microsoft.com/office/drawing/2014/main" id="{F6BA027E-5F6E-BB0A-B1B3-5EC33FC60672}"/>
                </a:ext>
              </a:extLst>
            </p:cNvPr>
            <p:cNvSpPr>
              <a:spLocks noChangeArrowheads="1"/>
            </p:cNvSpPr>
            <p:nvPr/>
          </p:nvSpPr>
          <p:spPr bwMode="auto">
            <a:xfrm>
              <a:off x="6908800" y="2905125"/>
              <a:ext cx="98425"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0" name="Oval 1032">
              <a:extLst>
                <a:ext uri="{FF2B5EF4-FFF2-40B4-BE49-F238E27FC236}">
                  <a16:creationId xmlns:a16="http://schemas.microsoft.com/office/drawing/2014/main" id="{FA5CCA4B-4E85-E1CE-6440-0F205530EED9}"/>
                </a:ext>
              </a:extLst>
            </p:cNvPr>
            <p:cNvSpPr>
              <a:spLocks noChangeArrowheads="1"/>
            </p:cNvSpPr>
            <p:nvPr/>
          </p:nvSpPr>
          <p:spPr bwMode="auto">
            <a:xfrm>
              <a:off x="7132638" y="2682875"/>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1" name="Oval 1033">
              <a:extLst>
                <a:ext uri="{FF2B5EF4-FFF2-40B4-BE49-F238E27FC236}">
                  <a16:creationId xmlns:a16="http://schemas.microsoft.com/office/drawing/2014/main" id="{7C32735F-3BBB-6493-63EB-CB6AD5EAA029}"/>
                </a:ext>
              </a:extLst>
            </p:cNvPr>
            <p:cNvSpPr>
              <a:spLocks noChangeArrowheads="1"/>
            </p:cNvSpPr>
            <p:nvPr/>
          </p:nvSpPr>
          <p:spPr bwMode="auto">
            <a:xfrm>
              <a:off x="7132638" y="2905125"/>
              <a:ext cx="98425"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2" name="Oval 1034">
              <a:extLst>
                <a:ext uri="{FF2B5EF4-FFF2-40B4-BE49-F238E27FC236}">
                  <a16:creationId xmlns:a16="http://schemas.microsoft.com/office/drawing/2014/main" id="{B6302857-0098-102A-A7D7-621BA00EB267}"/>
                </a:ext>
              </a:extLst>
            </p:cNvPr>
            <p:cNvSpPr>
              <a:spLocks noChangeArrowheads="1"/>
            </p:cNvSpPr>
            <p:nvPr/>
          </p:nvSpPr>
          <p:spPr bwMode="auto">
            <a:xfrm>
              <a:off x="7467600" y="3017838"/>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3" name="Oval 1035">
              <a:extLst>
                <a:ext uri="{FF2B5EF4-FFF2-40B4-BE49-F238E27FC236}">
                  <a16:creationId xmlns:a16="http://schemas.microsoft.com/office/drawing/2014/main" id="{D19B0BC8-2739-A73A-43EA-98C9B30932B6}"/>
                </a:ext>
              </a:extLst>
            </p:cNvPr>
            <p:cNvSpPr>
              <a:spLocks noChangeArrowheads="1"/>
            </p:cNvSpPr>
            <p:nvPr/>
          </p:nvSpPr>
          <p:spPr bwMode="auto">
            <a:xfrm>
              <a:off x="7467600" y="2011363"/>
              <a:ext cx="98425" cy="10001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4" name="Oval 1036">
              <a:extLst>
                <a:ext uri="{FF2B5EF4-FFF2-40B4-BE49-F238E27FC236}">
                  <a16:creationId xmlns:a16="http://schemas.microsoft.com/office/drawing/2014/main" id="{8AD2F4AC-AFC4-3B87-49B9-CAA7ACB6A81A}"/>
                </a:ext>
              </a:extLst>
            </p:cNvPr>
            <p:cNvSpPr>
              <a:spLocks noChangeArrowheads="1"/>
            </p:cNvSpPr>
            <p:nvPr/>
          </p:nvSpPr>
          <p:spPr bwMode="auto">
            <a:xfrm>
              <a:off x="8137525" y="2682875"/>
              <a:ext cx="100013"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5" name="Oval 1037">
              <a:extLst>
                <a:ext uri="{FF2B5EF4-FFF2-40B4-BE49-F238E27FC236}">
                  <a16:creationId xmlns:a16="http://schemas.microsoft.com/office/drawing/2014/main" id="{D71E7B7B-2760-DE98-EE53-4FA710962621}"/>
                </a:ext>
              </a:extLst>
            </p:cNvPr>
            <p:cNvSpPr>
              <a:spLocks noChangeArrowheads="1"/>
            </p:cNvSpPr>
            <p:nvPr/>
          </p:nvSpPr>
          <p:spPr bwMode="auto">
            <a:xfrm>
              <a:off x="7915275" y="2235200"/>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6" name="Oval 1038">
              <a:extLst>
                <a:ext uri="{FF2B5EF4-FFF2-40B4-BE49-F238E27FC236}">
                  <a16:creationId xmlns:a16="http://schemas.microsoft.com/office/drawing/2014/main" id="{FE028F82-7D38-486D-84AE-65D87C6F1F7A}"/>
                </a:ext>
              </a:extLst>
            </p:cNvPr>
            <p:cNvSpPr>
              <a:spLocks noChangeArrowheads="1"/>
            </p:cNvSpPr>
            <p:nvPr/>
          </p:nvSpPr>
          <p:spPr bwMode="auto">
            <a:xfrm>
              <a:off x="7356475" y="2794000"/>
              <a:ext cx="98425"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7" name="Oval 1039">
              <a:extLst>
                <a:ext uri="{FF2B5EF4-FFF2-40B4-BE49-F238E27FC236}">
                  <a16:creationId xmlns:a16="http://schemas.microsoft.com/office/drawing/2014/main" id="{CBC7D4BC-BF4A-476E-60EA-D60020F0D00F}"/>
                </a:ext>
              </a:extLst>
            </p:cNvPr>
            <p:cNvSpPr>
              <a:spLocks noChangeArrowheads="1"/>
            </p:cNvSpPr>
            <p:nvPr/>
          </p:nvSpPr>
          <p:spPr bwMode="auto">
            <a:xfrm>
              <a:off x="7578725" y="2570163"/>
              <a:ext cx="100013" cy="10001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8" name="Oval 1040">
              <a:extLst>
                <a:ext uri="{FF2B5EF4-FFF2-40B4-BE49-F238E27FC236}">
                  <a16:creationId xmlns:a16="http://schemas.microsoft.com/office/drawing/2014/main" id="{CBF3D8E6-1BD2-A1A9-D0E3-E255C747813F}"/>
                </a:ext>
              </a:extLst>
            </p:cNvPr>
            <p:cNvSpPr>
              <a:spLocks noChangeArrowheads="1"/>
            </p:cNvSpPr>
            <p:nvPr/>
          </p:nvSpPr>
          <p:spPr bwMode="auto">
            <a:xfrm>
              <a:off x="7802563" y="2905125"/>
              <a:ext cx="100012" cy="10001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9" name="Oval 1041">
              <a:extLst>
                <a:ext uri="{FF2B5EF4-FFF2-40B4-BE49-F238E27FC236}">
                  <a16:creationId xmlns:a16="http://schemas.microsoft.com/office/drawing/2014/main" id="{B8006EB5-8D2F-F0B4-80EE-CE08CCAF3770}"/>
                </a:ext>
              </a:extLst>
            </p:cNvPr>
            <p:cNvSpPr>
              <a:spLocks noChangeArrowheads="1"/>
            </p:cNvSpPr>
            <p:nvPr/>
          </p:nvSpPr>
          <p:spPr bwMode="auto">
            <a:xfrm>
              <a:off x="8361363" y="3017838"/>
              <a:ext cx="100012" cy="98425"/>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0" name="Oval 1042">
              <a:extLst>
                <a:ext uri="{FF2B5EF4-FFF2-40B4-BE49-F238E27FC236}">
                  <a16:creationId xmlns:a16="http://schemas.microsoft.com/office/drawing/2014/main" id="{10535971-B8F8-8063-60CC-3D581FA920DA}"/>
                </a:ext>
              </a:extLst>
            </p:cNvPr>
            <p:cNvSpPr>
              <a:spLocks noChangeArrowheads="1"/>
            </p:cNvSpPr>
            <p:nvPr/>
          </p:nvSpPr>
          <p:spPr bwMode="auto">
            <a:xfrm>
              <a:off x="7086600" y="24384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1" name="Oval 1043">
              <a:extLst>
                <a:ext uri="{FF2B5EF4-FFF2-40B4-BE49-F238E27FC236}">
                  <a16:creationId xmlns:a16="http://schemas.microsoft.com/office/drawing/2014/main" id="{B8646722-2D6F-5DA5-AA68-1C270A4CCEE3}"/>
                </a:ext>
              </a:extLst>
            </p:cNvPr>
            <p:cNvSpPr>
              <a:spLocks noChangeArrowheads="1"/>
            </p:cNvSpPr>
            <p:nvPr/>
          </p:nvSpPr>
          <p:spPr bwMode="auto">
            <a:xfrm>
              <a:off x="6370638" y="23114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2" name="Rectangle 1044">
              <a:extLst>
                <a:ext uri="{FF2B5EF4-FFF2-40B4-BE49-F238E27FC236}">
                  <a16:creationId xmlns:a16="http://schemas.microsoft.com/office/drawing/2014/main" id="{0D1C6B7E-4771-4131-91BF-586CED623EF2}"/>
                </a:ext>
              </a:extLst>
            </p:cNvPr>
            <p:cNvSpPr>
              <a:spLocks noChangeArrowheads="1"/>
            </p:cNvSpPr>
            <p:nvPr/>
          </p:nvSpPr>
          <p:spPr bwMode="auto">
            <a:xfrm>
              <a:off x="7969250" y="205105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b="1" i="1">
                  <a:latin typeface="Times New Roman" panose="02020603050405020304" pitchFamily="18" charset="0"/>
                  <a:ea typeface="SimSun" panose="02010600030101010101" pitchFamily="2" charset="-122"/>
                </a:rPr>
                <a:t>p</a:t>
              </a:r>
            </a:p>
          </p:txBody>
        </p:sp>
        <p:sp>
          <p:nvSpPr>
            <p:cNvPr id="23" name="Rectangle 1045">
              <a:extLst>
                <a:ext uri="{FF2B5EF4-FFF2-40B4-BE49-F238E27FC236}">
                  <a16:creationId xmlns:a16="http://schemas.microsoft.com/office/drawing/2014/main" id="{C7ECFA06-124B-CC11-FBAE-A683C0F1FC46}"/>
                </a:ext>
              </a:extLst>
            </p:cNvPr>
            <p:cNvSpPr>
              <a:spLocks noChangeArrowheads="1"/>
            </p:cNvSpPr>
            <p:nvPr/>
          </p:nvSpPr>
          <p:spPr bwMode="auto">
            <a:xfrm>
              <a:off x="6597650" y="273685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b="1" i="1">
                  <a:latin typeface="Times New Roman" panose="02020603050405020304" pitchFamily="18" charset="0"/>
                  <a:ea typeface="SimSun" panose="02010600030101010101" pitchFamily="2" charset="-122"/>
                </a:rPr>
                <a:t>q</a:t>
              </a:r>
            </a:p>
          </p:txBody>
        </p:sp>
        <p:sp>
          <p:nvSpPr>
            <p:cNvPr id="24" name="Oval 1046">
              <a:extLst>
                <a:ext uri="{FF2B5EF4-FFF2-40B4-BE49-F238E27FC236}">
                  <a16:creationId xmlns:a16="http://schemas.microsoft.com/office/drawing/2014/main" id="{099363CE-562D-44AF-712D-E3887B9BD871}"/>
                </a:ext>
              </a:extLst>
            </p:cNvPr>
            <p:cNvSpPr>
              <a:spLocks noChangeArrowheads="1"/>
            </p:cNvSpPr>
            <p:nvPr/>
          </p:nvSpPr>
          <p:spPr bwMode="auto">
            <a:xfrm>
              <a:off x="7315200" y="17526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25" name="Rectangle 1047">
              <a:extLst>
                <a:ext uri="{FF2B5EF4-FFF2-40B4-BE49-F238E27FC236}">
                  <a16:creationId xmlns:a16="http://schemas.microsoft.com/office/drawing/2014/main" id="{8E3B70B2-6843-CB46-ABA6-9A775EFF1E12}"/>
                </a:ext>
              </a:extLst>
            </p:cNvPr>
            <p:cNvSpPr>
              <a:spLocks noChangeArrowheads="1"/>
            </p:cNvSpPr>
            <p:nvPr/>
          </p:nvSpPr>
          <p:spPr bwMode="auto">
            <a:xfrm>
              <a:off x="7359650" y="25082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b="1" i="1" dirty="0">
                  <a:latin typeface="Times New Roman" panose="02020603050405020304" pitchFamily="18" charset="0"/>
                  <a:ea typeface="SimSun" panose="02010600030101010101" pitchFamily="2" charset="-122"/>
                </a:rPr>
                <a:t>p</a:t>
              </a:r>
              <a:r>
                <a:rPr lang="en-US" altLang="zh-CN" sz="2400" b="1" i="1" baseline="-25000" dirty="0">
                  <a:latin typeface="Times New Roman" panose="02020603050405020304" pitchFamily="18" charset="0"/>
                  <a:ea typeface="SimSun" panose="02010600030101010101" pitchFamily="2" charset="-122"/>
                </a:rPr>
                <a:t>1</a:t>
              </a:r>
            </a:p>
          </p:txBody>
        </p:sp>
        <p:sp>
          <p:nvSpPr>
            <p:cNvPr id="26" name="Line 1048">
              <a:extLst>
                <a:ext uri="{FF2B5EF4-FFF2-40B4-BE49-F238E27FC236}">
                  <a16:creationId xmlns:a16="http://schemas.microsoft.com/office/drawing/2014/main" id="{098D187F-9C05-9566-009D-9FC36CFDEC25}"/>
                </a:ext>
              </a:extLst>
            </p:cNvPr>
            <p:cNvSpPr>
              <a:spLocks noChangeShapeType="1"/>
            </p:cNvSpPr>
            <p:nvPr/>
          </p:nvSpPr>
          <p:spPr bwMode="auto">
            <a:xfrm flipH="1">
              <a:off x="7435850" y="2355850"/>
              <a:ext cx="457200" cy="228600"/>
            </a:xfrm>
            <a:prstGeom prst="line">
              <a:avLst/>
            </a:prstGeom>
            <a:noFill/>
            <a:ln w="25400">
              <a:solidFill>
                <a:schemeClr val="tx1"/>
              </a:solidFill>
              <a:round/>
              <a:headEnd type="stealth" w="lg"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 name="Line 1085">
              <a:extLst>
                <a:ext uri="{FF2B5EF4-FFF2-40B4-BE49-F238E27FC236}">
                  <a16:creationId xmlns:a16="http://schemas.microsoft.com/office/drawing/2014/main" id="{1D932EE1-520B-0CCD-0E27-54D8BF3065F3}"/>
                </a:ext>
              </a:extLst>
            </p:cNvPr>
            <p:cNvSpPr>
              <a:spLocks noChangeShapeType="1"/>
            </p:cNvSpPr>
            <p:nvPr/>
          </p:nvSpPr>
          <p:spPr bwMode="auto">
            <a:xfrm flipV="1">
              <a:off x="6934200" y="2667000"/>
              <a:ext cx="457200" cy="30480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 name="Group 1049">
            <a:extLst>
              <a:ext uri="{FF2B5EF4-FFF2-40B4-BE49-F238E27FC236}">
                <a16:creationId xmlns:a16="http://schemas.microsoft.com/office/drawing/2014/main" id="{58E94099-3661-A6A9-85F1-B53FAFD8DE04}"/>
              </a:ext>
            </a:extLst>
          </p:cNvPr>
          <p:cNvGrpSpPr>
            <a:grpSpLocks/>
          </p:cNvGrpSpPr>
          <p:nvPr/>
        </p:nvGrpSpPr>
        <p:grpSpPr bwMode="auto">
          <a:xfrm>
            <a:off x="8725535" y="4031615"/>
            <a:ext cx="2863850" cy="1638300"/>
            <a:chOff x="3428" y="2740"/>
            <a:chExt cx="1804" cy="1032"/>
          </a:xfrm>
        </p:grpSpPr>
        <p:sp>
          <p:nvSpPr>
            <p:cNvPr id="29" name="Oval 1050">
              <a:extLst>
                <a:ext uri="{FF2B5EF4-FFF2-40B4-BE49-F238E27FC236}">
                  <a16:creationId xmlns:a16="http://schemas.microsoft.com/office/drawing/2014/main" id="{C668D0B6-5CEE-7719-731F-5BA5156F6D6F}"/>
                </a:ext>
              </a:extLst>
            </p:cNvPr>
            <p:cNvSpPr>
              <a:spLocks noChangeArrowheads="1"/>
            </p:cNvSpPr>
            <p:nvPr/>
          </p:nvSpPr>
          <p:spPr bwMode="auto">
            <a:xfrm>
              <a:off x="3914" y="3089"/>
              <a:ext cx="63"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0" name="Oval 1051">
              <a:extLst>
                <a:ext uri="{FF2B5EF4-FFF2-40B4-BE49-F238E27FC236}">
                  <a16:creationId xmlns:a16="http://schemas.microsoft.com/office/drawing/2014/main" id="{8D4C5DCB-955A-9415-54AB-5FA883CB4506}"/>
                </a:ext>
              </a:extLst>
            </p:cNvPr>
            <p:cNvSpPr>
              <a:spLocks noChangeArrowheads="1"/>
            </p:cNvSpPr>
            <p:nvPr/>
          </p:nvSpPr>
          <p:spPr bwMode="auto">
            <a:xfrm>
              <a:off x="4126" y="3159"/>
              <a:ext cx="62"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1" name="Oval 1052">
              <a:extLst>
                <a:ext uri="{FF2B5EF4-FFF2-40B4-BE49-F238E27FC236}">
                  <a16:creationId xmlns:a16="http://schemas.microsoft.com/office/drawing/2014/main" id="{A7115D94-F461-A27C-C289-2EFC8E5D0327}"/>
                </a:ext>
              </a:extLst>
            </p:cNvPr>
            <p:cNvSpPr>
              <a:spLocks noChangeArrowheads="1"/>
            </p:cNvSpPr>
            <p:nvPr/>
          </p:nvSpPr>
          <p:spPr bwMode="auto">
            <a:xfrm>
              <a:off x="4126" y="2948"/>
              <a:ext cx="62"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2" name="Oval 1053">
              <a:extLst>
                <a:ext uri="{FF2B5EF4-FFF2-40B4-BE49-F238E27FC236}">
                  <a16:creationId xmlns:a16="http://schemas.microsoft.com/office/drawing/2014/main" id="{AB7724D9-C02D-5336-BA42-70A9134E2660}"/>
                </a:ext>
              </a:extLst>
            </p:cNvPr>
            <p:cNvSpPr>
              <a:spLocks noChangeArrowheads="1"/>
            </p:cNvSpPr>
            <p:nvPr/>
          </p:nvSpPr>
          <p:spPr bwMode="auto">
            <a:xfrm>
              <a:off x="3844" y="3370"/>
              <a:ext cx="62"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3" name="Oval 1054">
              <a:extLst>
                <a:ext uri="{FF2B5EF4-FFF2-40B4-BE49-F238E27FC236}">
                  <a16:creationId xmlns:a16="http://schemas.microsoft.com/office/drawing/2014/main" id="{1539F223-B322-7573-D70A-1728F881D3A9}"/>
                </a:ext>
              </a:extLst>
            </p:cNvPr>
            <p:cNvSpPr>
              <a:spLocks noChangeArrowheads="1"/>
            </p:cNvSpPr>
            <p:nvPr/>
          </p:nvSpPr>
          <p:spPr bwMode="auto">
            <a:xfrm>
              <a:off x="3985" y="3230"/>
              <a:ext cx="62"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4" name="Oval 1055">
              <a:extLst>
                <a:ext uri="{FF2B5EF4-FFF2-40B4-BE49-F238E27FC236}">
                  <a16:creationId xmlns:a16="http://schemas.microsoft.com/office/drawing/2014/main" id="{909C0BF8-E7D3-01CE-3241-C3132F8F93E4}"/>
                </a:ext>
              </a:extLst>
            </p:cNvPr>
            <p:cNvSpPr>
              <a:spLocks noChangeArrowheads="1"/>
            </p:cNvSpPr>
            <p:nvPr/>
          </p:nvSpPr>
          <p:spPr bwMode="auto">
            <a:xfrm>
              <a:off x="4129" y="3514"/>
              <a:ext cx="62"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5" name="Oval 1056">
              <a:extLst>
                <a:ext uri="{FF2B5EF4-FFF2-40B4-BE49-F238E27FC236}">
                  <a16:creationId xmlns:a16="http://schemas.microsoft.com/office/drawing/2014/main" id="{CD2EA1C8-022C-E7C6-D677-FB5EBB01A677}"/>
                </a:ext>
              </a:extLst>
            </p:cNvPr>
            <p:cNvSpPr>
              <a:spLocks noChangeArrowheads="1"/>
            </p:cNvSpPr>
            <p:nvPr/>
          </p:nvSpPr>
          <p:spPr bwMode="auto">
            <a:xfrm>
              <a:off x="4196" y="3297"/>
              <a:ext cx="62"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6" name="Oval 1057">
              <a:extLst>
                <a:ext uri="{FF2B5EF4-FFF2-40B4-BE49-F238E27FC236}">
                  <a16:creationId xmlns:a16="http://schemas.microsoft.com/office/drawing/2014/main" id="{BF0EA2C4-31CB-C15A-BA55-917FB12E92CC}"/>
                </a:ext>
              </a:extLst>
            </p:cNvPr>
            <p:cNvSpPr>
              <a:spLocks noChangeArrowheads="1"/>
            </p:cNvSpPr>
            <p:nvPr/>
          </p:nvSpPr>
          <p:spPr bwMode="auto">
            <a:xfrm>
              <a:off x="4196" y="2807"/>
              <a:ext cx="62"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7" name="Oval 1058">
              <a:extLst>
                <a:ext uri="{FF2B5EF4-FFF2-40B4-BE49-F238E27FC236}">
                  <a16:creationId xmlns:a16="http://schemas.microsoft.com/office/drawing/2014/main" id="{5E9AA545-4940-B6BB-F7C8-C5ACE044E9BF}"/>
                </a:ext>
              </a:extLst>
            </p:cNvPr>
            <p:cNvSpPr>
              <a:spLocks noChangeArrowheads="1"/>
            </p:cNvSpPr>
            <p:nvPr/>
          </p:nvSpPr>
          <p:spPr bwMode="auto">
            <a:xfrm>
              <a:off x="4618" y="3230"/>
              <a:ext cx="63"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8" name="Oval 1059">
              <a:extLst>
                <a:ext uri="{FF2B5EF4-FFF2-40B4-BE49-F238E27FC236}">
                  <a16:creationId xmlns:a16="http://schemas.microsoft.com/office/drawing/2014/main" id="{BDC8FE40-D356-AD9A-408C-8600EEBD4480}"/>
                </a:ext>
              </a:extLst>
            </p:cNvPr>
            <p:cNvSpPr>
              <a:spLocks noChangeArrowheads="1"/>
            </p:cNvSpPr>
            <p:nvPr/>
          </p:nvSpPr>
          <p:spPr bwMode="auto">
            <a:xfrm>
              <a:off x="4478" y="2948"/>
              <a:ext cx="62"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39" name="Oval 1060">
              <a:extLst>
                <a:ext uri="{FF2B5EF4-FFF2-40B4-BE49-F238E27FC236}">
                  <a16:creationId xmlns:a16="http://schemas.microsoft.com/office/drawing/2014/main" id="{C56D2222-B468-8C6B-D5DF-F08CF93F5D71}"/>
                </a:ext>
              </a:extLst>
            </p:cNvPr>
            <p:cNvSpPr>
              <a:spLocks noChangeArrowheads="1"/>
            </p:cNvSpPr>
            <p:nvPr/>
          </p:nvSpPr>
          <p:spPr bwMode="auto">
            <a:xfrm>
              <a:off x="3694" y="3252"/>
              <a:ext cx="62"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40" name="Oval 1061">
              <a:extLst>
                <a:ext uri="{FF2B5EF4-FFF2-40B4-BE49-F238E27FC236}">
                  <a16:creationId xmlns:a16="http://schemas.microsoft.com/office/drawing/2014/main" id="{E2EA16A3-1D3D-0EF7-A8AC-69B5F8222BCD}"/>
                </a:ext>
              </a:extLst>
            </p:cNvPr>
            <p:cNvSpPr>
              <a:spLocks noChangeArrowheads="1"/>
            </p:cNvSpPr>
            <p:nvPr/>
          </p:nvSpPr>
          <p:spPr bwMode="auto">
            <a:xfrm>
              <a:off x="4266" y="3159"/>
              <a:ext cx="63"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41" name="Oval 1062">
              <a:extLst>
                <a:ext uri="{FF2B5EF4-FFF2-40B4-BE49-F238E27FC236}">
                  <a16:creationId xmlns:a16="http://schemas.microsoft.com/office/drawing/2014/main" id="{5821F02D-7843-882D-B8C6-D1555595A2BE}"/>
                </a:ext>
              </a:extLst>
            </p:cNvPr>
            <p:cNvSpPr>
              <a:spLocks noChangeArrowheads="1"/>
            </p:cNvSpPr>
            <p:nvPr/>
          </p:nvSpPr>
          <p:spPr bwMode="auto">
            <a:xfrm>
              <a:off x="4407" y="3370"/>
              <a:ext cx="63"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42" name="Oval 1063">
              <a:extLst>
                <a:ext uri="{FF2B5EF4-FFF2-40B4-BE49-F238E27FC236}">
                  <a16:creationId xmlns:a16="http://schemas.microsoft.com/office/drawing/2014/main" id="{4CA096CE-C4F2-7671-F762-0C0869AC769E}"/>
                </a:ext>
              </a:extLst>
            </p:cNvPr>
            <p:cNvSpPr>
              <a:spLocks noChangeArrowheads="1"/>
            </p:cNvSpPr>
            <p:nvPr/>
          </p:nvSpPr>
          <p:spPr bwMode="auto">
            <a:xfrm>
              <a:off x="4759" y="3441"/>
              <a:ext cx="63"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43" name="Rectangle 1064">
              <a:extLst>
                <a:ext uri="{FF2B5EF4-FFF2-40B4-BE49-F238E27FC236}">
                  <a16:creationId xmlns:a16="http://schemas.microsoft.com/office/drawing/2014/main" id="{6FBAA9BA-7EA7-D4A4-CE6F-CF4DD349CD1D}"/>
                </a:ext>
              </a:extLst>
            </p:cNvPr>
            <p:cNvSpPr>
              <a:spLocks noChangeArrowheads="1"/>
            </p:cNvSpPr>
            <p:nvPr/>
          </p:nvSpPr>
          <p:spPr bwMode="auto">
            <a:xfrm>
              <a:off x="3504" y="283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b="1" i="1">
                  <a:latin typeface="Times New Roman" panose="02020603050405020304" pitchFamily="18" charset="0"/>
                  <a:ea typeface="SimSun" panose="02010600030101010101" pitchFamily="2" charset="-122"/>
                </a:rPr>
                <a:t>p</a:t>
              </a:r>
            </a:p>
          </p:txBody>
        </p:sp>
        <p:sp>
          <p:nvSpPr>
            <p:cNvPr id="44" name="Rectangle 1065">
              <a:extLst>
                <a:ext uri="{FF2B5EF4-FFF2-40B4-BE49-F238E27FC236}">
                  <a16:creationId xmlns:a16="http://schemas.microsoft.com/office/drawing/2014/main" id="{313E4785-E51F-B9A6-FF66-487F288CB6D3}"/>
                </a:ext>
              </a:extLst>
            </p:cNvPr>
            <p:cNvSpPr>
              <a:spLocks noChangeArrowheads="1"/>
            </p:cNvSpPr>
            <p:nvPr/>
          </p:nvSpPr>
          <p:spPr bwMode="auto">
            <a:xfrm>
              <a:off x="4992" y="283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b="1" i="1">
                  <a:latin typeface="Times New Roman" panose="02020603050405020304" pitchFamily="18" charset="0"/>
                  <a:ea typeface="SimSun" panose="02010600030101010101" pitchFamily="2" charset="-122"/>
                </a:rPr>
                <a:t>q</a:t>
              </a:r>
            </a:p>
          </p:txBody>
        </p:sp>
        <p:sp>
          <p:nvSpPr>
            <p:cNvPr id="45" name="Oval 1066">
              <a:extLst>
                <a:ext uri="{FF2B5EF4-FFF2-40B4-BE49-F238E27FC236}">
                  <a16:creationId xmlns:a16="http://schemas.microsoft.com/office/drawing/2014/main" id="{B7BC04CF-ECCF-6E5F-C074-7515BE10B7E1}"/>
                </a:ext>
              </a:extLst>
            </p:cNvPr>
            <p:cNvSpPr>
              <a:spLocks noChangeArrowheads="1"/>
            </p:cNvSpPr>
            <p:nvPr/>
          </p:nvSpPr>
          <p:spPr bwMode="auto">
            <a:xfrm>
              <a:off x="4858" y="3182"/>
              <a:ext cx="63"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46" name="Oval 1067">
              <a:extLst>
                <a:ext uri="{FF2B5EF4-FFF2-40B4-BE49-F238E27FC236}">
                  <a16:creationId xmlns:a16="http://schemas.microsoft.com/office/drawing/2014/main" id="{9DA408AF-2089-CF88-268D-A3C8B9288723}"/>
                </a:ext>
              </a:extLst>
            </p:cNvPr>
            <p:cNvSpPr>
              <a:spLocks noChangeArrowheads="1"/>
            </p:cNvSpPr>
            <p:nvPr/>
          </p:nvSpPr>
          <p:spPr bwMode="auto">
            <a:xfrm>
              <a:off x="4506" y="3207"/>
              <a:ext cx="63"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47" name="Oval 1068">
              <a:extLst>
                <a:ext uri="{FF2B5EF4-FFF2-40B4-BE49-F238E27FC236}">
                  <a16:creationId xmlns:a16="http://schemas.microsoft.com/office/drawing/2014/main" id="{33D1A3F5-A5F0-A6B8-869D-73B85BBE41CB}"/>
                </a:ext>
              </a:extLst>
            </p:cNvPr>
            <p:cNvSpPr>
              <a:spLocks noChangeArrowheads="1"/>
            </p:cNvSpPr>
            <p:nvPr/>
          </p:nvSpPr>
          <p:spPr bwMode="auto">
            <a:xfrm>
              <a:off x="4647" y="3322"/>
              <a:ext cx="63"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48" name="Oval 1069">
              <a:extLst>
                <a:ext uri="{FF2B5EF4-FFF2-40B4-BE49-F238E27FC236}">
                  <a16:creationId xmlns:a16="http://schemas.microsoft.com/office/drawing/2014/main" id="{8815F358-0486-04BA-CD51-D1071DE0DCC4}"/>
                </a:ext>
              </a:extLst>
            </p:cNvPr>
            <p:cNvSpPr>
              <a:spLocks noChangeArrowheads="1"/>
            </p:cNvSpPr>
            <p:nvPr/>
          </p:nvSpPr>
          <p:spPr bwMode="auto">
            <a:xfrm>
              <a:off x="4954" y="2942"/>
              <a:ext cx="63"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49" name="Oval 1070">
              <a:extLst>
                <a:ext uri="{FF2B5EF4-FFF2-40B4-BE49-F238E27FC236}">
                  <a16:creationId xmlns:a16="http://schemas.microsoft.com/office/drawing/2014/main" id="{FAA72CC5-CB0D-F441-C948-687BDA4A911C}"/>
                </a:ext>
              </a:extLst>
            </p:cNvPr>
            <p:cNvSpPr>
              <a:spLocks noChangeArrowheads="1"/>
            </p:cNvSpPr>
            <p:nvPr/>
          </p:nvSpPr>
          <p:spPr bwMode="auto">
            <a:xfrm>
              <a:off x="4602" y="2871"/>
              <a:ext cx="63"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0" name="Oval 1071">
              <a:extLst>
                <a:ext uri="{FF2B5EF4-FFF2-40B4-BE49-F238E27FC236}">
                  <a16:creationId xmlns:a16="http://schemas.microsoft.com/office/drawing/2014/main" id="{8AC15EC9-3D7A-15EC-67AE-2095E18B9EFD}"/>
                </a:ext>
              </a:extLst>
            </p:cNvPr>
            <p:cNvSpPr>
              <a:spLocks noChangeArrowheads="1"/>
            </p:cNvSpPr>
            <p:nvPr/>
          </p:nvSpPr>
          <p:spPr bwMode="auto">
            <a:xfrm>
              <a:off x="4791" y="3034"/>
              <a:ext cx="63"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1" name="Oval 1072">
              <a:extLst>
                <a:ext uri="{FF2B5EF4-FFF2-40B4-BE49-F238E27FC236}">
                  <a16:creationId xmlns:a16="http://schemas.microsoft.com/office/drawing/2014/main" id="{0B00C6EA-F1CD-1A41-A056-4E2EBFFFD7B2}"/>
                </a:ext>
              </a:extLst>
            </p:cNvPr>
            <p:cNvSpPr>
              <a:spLocks noChangeArrowheads="1"/>
            </p:cNvSpPr>
            <p:nvPr/>
          </p:nvSpPr>
          <p:spPr bwMode="auto">
            <a:xfrm>
              <a:off x="3524" y="298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2" name="Oval 1073">
              <a:extLst>
                <a:ext uri="{FF2B5EF4-FFF2-40B4-BE49-F238E27FC236}">
                  <a16:creationId xmlns:a16="http://schemas.microsoft.com/office/drawing/2014/main" id="{9146CDC1-8EBB-9C28-9626-02EA85DE77D7}"/>
                </a:ext>
              </a:extLst>
            </p:cNvPr>
            <p:cNvSpPr>
              <a:spLocks noChangeArrowheads="1"/>
            </p:cNvSpPr>
            <p:nvPr/>
          </p:nvSpPr>
          <p:spPr bwMode="auto">
            <a:xfrm>
              <a:off x="3860" y="3076"/>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3" name="Oval 1074">
              <a:extLst>
                <a:ext uri="{FF2B5EF4-FFF2-40B4-BE49-F238E27FC236}">
                  <a16:creationId xmlns:a16="http://schemas.microsoft.com/office/drawing/2014/main" id="{349791AD-5C45-0FC6-C97A-346284199392}"/>
                </a:ext>
              </a:extLst>
            </p:cNvPr>
            <p:cNvSpPr>
              <a:spLocks noChangeArrowheads="1"/>
            </p:cNvSpPr>
            <p:nvPr/>
          </p:nvSpPr>
          <p:spPr bwMode="auto">
            <a:xfrm>
              <a:off x="4244" y="298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4" name="Oval 1075">
              <a:extLst>
                <a:ext uri="{FF2B5EF4-FFF2-40B4-BE49-F238E27FC236}">
                  <a16:creationId xmlns:a16="http://schemas.microsoft.com/office/drawing/2014/main" id="{E554A195-4BB9-7BFB-8977-DF4EA3332EDA}"/>
                </a:ext>
              </a:extLst>
            </p:cNvPr>
            <p:cNvSpPr>
              <a:spLocks noChangeArrowheads="1"/>
            </p:cNvSpPr>
            <p:nvPr/>
          </p:nvSpPr>
          <p:spPr bwMode="auto">
            <a:xfrm>
              <a:off x="4484" y="274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5" name="Line 1076">
              <a:extLst>
                <a:ext uri="{FF2B5EF4-FFF2-40B4-BE49-F238E27FC236}">
                  <a16:creationId xmlns:a16="http://schemas.microsoft.com/office/drawing/2014/main" id="{EE415C86-C9BB-7382-8E3E-87867CACD64B}"/>
                </a:ext>
              </a:extLst>
            </p:cNvPr>
            <p:cNvSpPr>
              <a:spLocks noChangeShapeType="1"/>
            </p:cNvSpPr>
            <p:nvPr/>
          </p:nvSpPr>
          <p:spPr bwMode="auto">
            <a:xfrm flipV="1">
              <a:off x="3888" y="3312"/>
              <a:ext cx="288" cy="96"/>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 name="Line 1077">
              <a:extLst>
                <a:ext uri="{FF2B5EF4-FFF2-40B4-BE49-F238E27FC236}">
                  <a16:creationId xmlns:a16="http://schemas.microsoft.com/office/drawing/2014/main" id="{B0B6F33B-BAF7-B9AD-D369-15C2163ABA49}"/>
                </a:ext>
              </a:extLst>
            </p:cNvPr>
            <p:cNvSpPr>
              <a:spLocks noChangeShapeType="1"/>
            </p:cNvSpPr>
            <p:nvPr/>
          </p:nvSpPr>
          <p:spPr bwMode="auto">
            <a:xfrm flipH="1">
              <a:off x="4272" y="3264"/>
              <a:ext cx="240" cy="4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7" name="Oval 1078">
              <a:extLst>
                <a:ext uri="{FF2B5EF4-FFF2-40B4-BE49-F238E27FC236}">
                  <a16:creationId xmlns:a16="http://schemas.microsoft.com/office/drawing/2014/main" id="{32E3A046-F84B-D31E-8965-BC1A006ADB6B}"/>
                </a:ext>
              </a:extLst>
            </p:cNvPr>
            <p:cNvSpPr>
              <a:spLocks noChangeArrowheads="1"/>
            </p:cNvSpPr>
            <p:nvPr/>
          </p:nvSpPr>
          <p:spPr bwMode="auto">
            <a:xfrm>
              <a:off x="3818" y="2993"/>
              <a:ext cx="63"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8" name="Oval 1079">
              <a:extLst>
                <a:ext uri="{FF2B5EF4-FFF2-40B4-BE49-F238E27FC236}">
                  <a16:creationId xmlns:a16="http://schemas.microsoft.com/office/drawing/2014/main" id="{9FB2F1A8-5E2C-2B7D-EBB7-698509ECEF08}"/>
                </a:ext>
              </a:extLst>
            </p:cNvPr>
            <p:cNvSpPr>
              <a:spLocks noChangeArrowheads="1"/>
            </p:cNvSpPr>
            <p:nvPr/>
          </p:nvSpPr>
          <p:spPr bwMode="auto">
            <a:xfrm>
              <a:off x="3694" y="3044"/>
              <a:ext cx="62" cy="62"/>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59" name="Oval 1080">
              <a:extLst>
                <a:ext uri="{FF2B5EF4-FFF2-40B4-BE49-F238E27FC236}">
                  <a16:creationId xmlns:a16="http://schemas.microsoft.com/office/drawing/2014/main" id="{4EC73C1F-8FE1-96A9-1398-ADBDF37CE1F0}"/>
                </a:ext>
              </a:extLst>
            </p:cNvPr>
            <p:cNvSpPr>
              <a:spLocks noChangeArrowheads="1"/>
            </p:cNvSpPr>
            <p:nvPr/>
          </p:nvSpPr>
          <p:spPr bwMode="auto">
            <a:xfrm>
              <a:off x="3860" y="2807"/>
              <a:ext cx="62" cy="63"/>
            </a:xfrm>
            <a:prstGeom prst="ellipse">
              <a:avLst/>
            </a:prstGeom>
            <a:solidFill>
              <a:srgbClr val="CC330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60" name="Oval 1081">
              <a:extLst>
                <a:ext uri="{FF2B5EF4-FFF2-40B4-BE49-F238E27FC236}">
                  <a16:creationId xmlns:a16="http://schemas.microsoft.com/office/drawing/2014/main" id="{D8B9BBB7-76A2-5D08-7646-87232E560C5C}"/>
                </a:ext>
              </a:extLst>
            </p:cNvPr>
            <p:cNvSpPr>
              <a:spLocks noChangeArrowheads="1"/>
            </p:cNvSpPr>
            <p:nvPr/>
          </p:nvSpPr>
          <p:spPr bwMode="auto">
            <a:xfrm>
              <a:off x="3428" y="274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61" name="Line 1082">
              <a:extLst>
                <a:ext uri="{FF2B5EF4-FFF2-40B4-BE49-F238E27FC236}">
                  <a16:creationId xmlns:a16="http://schemas.microsoft.com/office/drawing/2014/main" id="{37F7BDD6-72FC-3CB6-2891-A1AF8C2A3B4E}"/>
                </a:ext>
              </a:extLst>
            </p:cNvPr>
            <p:cNvSpPr>
              <a:spLocks noChangeShapeType="1"/>
            </p:cNvSpPr>
            <p:nvPr/>
          </p:nvSpPr>
          <p:spPr bwMode="auto">
            <a:xfrm>
              <a:off x="3744" y="3072"/>
              <a:ext cx="96" cy="28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 name="Line 1083">
              <a:extLst>
                <a:ext uri="{FF2B5EF4-FFF2-40B4-BE49-F238E27FC236}">
                  <a16:creationId xmlns:a16="http://schemas.microsoft.com/office/drawing/2014/main" id="{50D295DB-146F-4019-96F1-64D44052A607}"/>
                </a:ext>
              </a:extLst>
            </p:cNvPr>
            <p:cNvSpPr>
              <a:spLocks noChangeShapeType="1"/>
            </p:cNvSpPr>
            <p:nvPr/>
          </p:nvSpPr>
          <p:spPr bwMode="auto">
            <a:xfrm flipH="1">
              <a:off x="4560" y="3072"/>
              <a:ext cx="240" cy="144"/>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3" name="Rectangle 1084">
              <a:extLst>
                <a:ext uri="{FF2B5EF4-FFF2-40B4-BE49-F238E27FC236}">
                  <a16:creationId xmlns:a16="http://schemas.microsoft.com/office/drawing/2014/main" id="{FC0AB6D8-BD52-E216-8DD2-47E2BF9A2248}"/>
                </a:ext>
              </a:extLst>
            </p:cNvPr>
            <p:cNvSpPr>
              <a:spLocks noChangeArrowheads="1"/>
            </p:cNvSpPr>
            <p:nvPr/>
          </p:nvSpPr>
          <p:spPr bwMode="auto">
            <a:xfrm>
              <a:off x="4176" y="331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folHlink"/>
                </a:buClr>
                <a:buSzPct val="60000"/>
                <a:buFont typeface="Wingdings" pitchFamily="2" charset="2"/>
                <a:buChar char="n"/>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en-US" altLang="zh-CN" sz="2400" b="1" i="1">
                  <a:latin typeface="Times New Roman" panose="02020603050405020304" pitchFamily="18" charset="0"/>
                  <a:ea typeface="SimSun" panose="02010600030101010101" pitchFamily="2" charset="-122"/>
                </a:rPr>
                <a:t>o</a:t>
              </a:r>
            </a:p>
          </p:txBody>
        </p:sp>
      </p:grpSp>
    </p:spTree>
    <p:extLst>
      <p:ext uri="{BB962C8B-B14F-4D97-AF65-F5344CB8AC3E}">
        <p14:creationId xmlns:p14="http://schemas.microsoft.com/office/powerpoint/2010/main" val="75308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4B457-90D8-1772-AB34-B42A41EF863B}"/>
              </a:ext>
            </a:extLst>
          </p:cNvPr>
          <p:cNvSpPr>
            <a:spLocks noGrp="1"/>
          </p:cNvSpPr>
          <p:nvPr>
            <p:ph type="title"/>
          </p:nvPr>
        </p:nvSpPr>
        <p:spPr/>
        <p:txBody>
          <a:bodyPr/>
          <a:lstStyle/>
          <a:p>
            <a:r>
              <a:rPr lang="en-US" dirty="0"/>
              <a:t>DBSCAN</a:t>
            </a:r>
          </a:p>
        </p:txBody>
      </p:sp>
      <p:sp>
        <p:nvSpPr>
          <p:cNvPr id="6" name="TextBox 5">
            <a:extLst>
              <a:ext uri="{FF2B5EF4-FFF2-40B4-BE49-F238E27FC236}">
                <a16:creationId xmlns:a16="http://schemas.microsoft.com/office/drawing/2014/main" id="{673B026A-FBCE-EEA6-BB56-74B33058C083}"/>
              </a:ext>
            </a:extLst>
          </p:cNvPr>
          <p:cNvSpPr txBox="1"/>
          <p:nvPr/>
        </p:nvSpPr>
        <p:spPr>
          <a:xfrm>
            <a:off x="186705" y="858799"/>
            <a:ext cx="11503724" cy="1200329"/>
          </a:xfrm>
          <a:prstGeom prst="rect">
            <a:avLst/>
          </a:prstGeom>
          <a:solidFill>
            <a:schemeClr val="bg2">
              <a:lumMod val="95000"/>
            </a:schemeClr>
          </a:solidFill>
          <a:ln w="12700">
            <a:solidFill>
              <a:schemeClr val="tx1"/>
            </a:solidFill>
          </a:ln>
        </p:spPr>
        <p:txBody>
          <a:bodyPr wrap="square">
            <a:spAutoFit/>
          </a:bodyPr>
          <a:lstStyle/>
          <a:p>
            <a:pPr marL="0" indent="0">
              <a:buNone/>
            </a:pPr>
            <a:r>
              <a:rPr lang="en-IN" b="1" dirty="0">
                <a:solidFill>
                  <a:srgbClr val="C00000"/>
                </a:solidFill>
                <a:latin typeface="Consolas" panose="020B0609020204030204" pitchFamily="49" charset="0"/>
                <a:cs typeface="Consolas" panose="020B0609020204030204" pitchFamily="49" charset="0"/>
              </a:rPr>
              <a:t>INPUT:</a:t>
            </a:r>
          </a:p>
          <a:p>
            <a:r>
              <a:rPr lang="en-IN" b="1" dirty="0">
                <a:solidFill>
                  <a:srgbClr val="C00000"/>
                </a:solidFill>
                <a:latin typeface="Consolas" panose="020B0609020204030204" pitchFamily="49" charset="0"/>
                <a:cs typeface="Consolas" panose="020B0609020204030204" pitchFamily="49" charset="0"/>
              </a:rPr>
              <a:t>D: </a:t>
            </a:r>
            <a:r>
              <a:rPr lang="en-IN" b="1" dirty="0">
                <a:latin typeface="Consolas" panose="020B0609020204030204" pitchFamily="49" charset="0"/>
                <a:cs typeface="Consolas" panose="020B0609020204030204" pitchFamily="49" charset="0"/>
              </a:rPr>
              <a:t>a data set containing n objects,</a:t>
            </a:r>
            <a:br>
              <a:rPr lang="en-IN" b="1" dirty="0">
                <a:latin typeface="Consolas" panose="020B0609020204030204" pitchFamily="49" charset="0"/>
                <a:cs typeface="Consolas" panose="020B0609020204030204" pitchFamily="49" charset="0"/>
              </a:rPr>
            </a:br>
            <a:r>
              <a:rPr lang="el-GR" b="1" dirty="0">
                <a:solidFill>
                  <a:srgbClr val="C00000"/>
                </a:solidFill>
                <a:latin typeface="Consolas" panose="020B0609020204030204" pitchFamily="49" charset="0"/>
                <a:cs typeface="Consolas" panose="020B0609020204030204" pitchFamily="49" charset="0"/>
              </a:rPr>
              <a:t>ε: </a:t>
            </a:r>
            <a:r>
              <a:rPr lang="en-IN" b="1" dirty="0">
                <a:latin typeface="Consolas" panose="020B0609020204030204" pitchFamily="49" charset="0"/>
                <a:cs typeface="Consolas" panose="020B0609020204030204" pitchFamily="49" charset="0"/>
              </a:rPr>
              <a:t>the radius parameter, and</a:t>
            </a:r>
          </a:p>
          <a:p>
            <a:r>
              <a:rPr lang="en-IN" b="1" dirty="0" err="1">
                <a:solidFill>
                  <a:srgbClr val="C00000"/>
                </a:solidFill>
                <a:latin typeface="Consolas" panose="020B0609020204030204" pitchFamily="49" charset="0"/>
                <a:cs typeface="Consolas" panose="020B0609020204030204" pitchFamily="49" charset="0"/>
              </a:rPr>
              <a:t>MinPts</a:t>
            </a:r>
            <a:r>
              <a:rPr lang="en-IN" b="1" dirty="0">
                <a:latin typeface="Consolas" panose="020B0609020204030204" pitchFamily="49" charset="0"/>
                <a:cs typeface="Consolas" panose="020B0609020204030204" pitchFamily="49" charset="0"/>
              </a:rPr>
              <a:t>: the </a:t>
            </a:r>
            <a:r>
              <a:rPr lang="en-IN" b="1" dirty="0" err="1">
                <a:latin typeface="Consolas" panose="020B0609020204030204" pitchFamily="49" charset="0"/>
                <a:cs typeface="Consolas" panose="020B0609020204030204" pitchFamily="49" charset="0"/>
              </a:rPr>
              <a:t>neighborhood</a:t>
            </a:r>
            <a:r>
              <a:rPr lang="en-IN" b="1" dirty="0">
                <a:latin typeface="Consolas" panose="020B0609020204030204" pitchFamily="49" charset="0"/>
                <a:cs typeface="Consolas" panose="020B0609020204030204" pitchFamily="49" charset="0"/>
              </a:rPr>
              <a:t> density threshold. </a:t>
            </a:r>
          </a:p>
        </p:txBody>
      </p:sp>
      <p:sp>
        <p:nvSpPr>
          <p:cNvPr id="7" name="TextBox 6">
            <a:extLst>
              <a:ext uri="{FF2B5EF4-FFF2-40B4-BE49-F238E27FC236}">
                <a16:creationId xmlns:a16="http://schemas.microsoft.com/office/drawing/2014/main" id="{08937F65-0AC8-9D12-086F-F07DC43F3284}"/>
              </a:ext>
            </a:extLst>
          </p:cNvPr>
          <p:cNvSpPr txBox="1"/>
          <p:nvPr/>
        </p:nvSpPr>
        <p:spPr>
          <a:xfrm>
            <a:off x="186705" y="2330808"/>
            <a:ext cx="11503724" cy="646331"/>
          </a:xfrm>
          <a:prstGeom prst="rect">
            <a:avLst/>
          </a:prstGeom>
          <a:solidFill>
            <a:schemeClr val="bg2">
              <a:lumMod val="95000"/>
            </a:schemeClr>
          </a:solidFill>
          <a:ln w="12700">
            <a:solidFill>
              <a:schemeClr val="tx1"/>
            </a:solidFill>
          </a:ln>
        </p:spPr>
        <p:txBody>
          <a:bodyPr wrap="square">
            <a:spAutoFit/>
          </a:bodyPr>
          <a:lstStyle/>
          <a:p>
            <a:pPr marL="0" indent="0">
              <a:buNone/>
            </a:pPr>
            <a:r>
              <a:rPr lang="en-IN" b="1" dirty="0">
                <a:solidFill>
                  <a:srgbClr val="C00000"/>
                </a:solidFill>
                <a:latin typeface="Consolas" panose="020B0609020204030204" pitchFamily="49" charset="0"/>
                <a:cs typeface="Consolas" panose="020B0609020204030204" pitchFamily="49" charset="0"/>
              </a:rPr>
              <a:t>Output:</a:t>
            </a:r>
          </a:p>
          <a:p>
            <a:r>
              <a:rPr lang="en-IN" b="1" dirty="0">
                <a:solidFill>
                  <a:schemeClr val="tx1">
                    <a:lumMod val="90000"/>
                    <a:lumOff val="10000"/>
                  </a:schemeClr>
                </a:solidFill>
                <a:latin typeface="Consolas" panose="020B0609020204030204" pitchFamily="49" charset="0"/>
                <a:cs typeface="Consolas" panose="020B0609020204030204" pitchFamily="49" charset="0"/>
              </a:rPr>
              <a:t>A set of density-based clusters. </a:t>
            </a:r>
          </a:p>
        </p:txBody>
      </p:sp>
    </p:spTree>
    <p:extLst>
      <p:ext uri="{BB962C8B-B14F-4D97-AF65-F5344CB8AC3E}">
        <p14:creationId xmlns:p14="http://schemas.microsoft.com/office/powerpoint/2010/main" val="76254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9315-7852-06B5-CF89-9529CD53C10E}"/>
              </a:ext>
            </a:extLst>
          </p:cNvPr>
          <p:cNvSpPr>
            <a:spLocks noGrp="1"/>
          </p:cNvSpPr>
          <p:nvPr>
            <p:ph type="title"/>
          </p:nvPr>
        </p:nvSpPr>
        <p:spPr/>
        <p:txBody>
          <a:bodyPr/>
          <a:lstStyle/>
          <a:p>
            <a:r>
              <a:rPr lang="en-US" dirty="0"/>
              <a:t>DBSCAN</a:t>
            </a:r>
          </a:p>
        </p:txBody>
      </p:sp>
      <p:sp>
        <p:nvSpPr>
          <p:cNvPr id="4" name="TextBox 3">
            <a:extLst>
              <a:ext uri="{FF2B5EF4-FFF2-40B4-BE49-F238E27FC236}">
                <a16:creationId xmlns:a16="http://schemas.microsoft.com/office/drawing/2014/main" id="{3837AC6E-E177-134D-B116-06E237228B90}"/>
              </a:ext>
            </a:extLst>
          </p:cNvPr>
          <p:cNvSpPr txBox="1"/>
          <p:nvPr/>
        </p:nvSpPr>
        <p:spPr>
          <a:xfrm>
            <a:off x="93352" y="880110"/>
            <a:ext cx="12098648" cy="4524315"/>
          </a:xfrm>
          <a:prstGeom prst="rect">
            <a:avLst/>
          </a:prstGeom>
          <a:solidFill>
            <a:schemeClr val="bg2">
              <a:lumMod val="95000"/>
            </a:schemeClr>
          </a:solidFill>
          <a:ln w="12700">
            <a:solidFill>
              <a:schemeClr val="tx1"/>
            </a:solidFill>
          </a:ln>
        </p:spPr>
        <p:txBody>
          <a:bodyPr wrap="square">
            <a:spAutoFit/>
          </a:bodyPr>
          <a:lstStyle/>
          <a:p>
            <a:r>
              <a:rPr lang="en-IN" b="1" dirty="0">
                <a:latin typeface="Consolas" panose="020B0609020204030204" pitchFamily="49" charset="0"/>
                <a:cs typeface="Consolas" panose="020B0609020204030204" pitchFamily="49" charset="0"/>
              </a:rPr>
              <a:t>mark all objects as </a:t>
            </a:r>
            <a:r>
              <a:rPr lang="en-IN" b="1" dirty="0">
                <a:solidFill>
                  <a:srgbClr val="00B050"/>
                </a:solidFill>
                <a:latin typeface="Consolas" panose="020B0609020204030204" pitchFamily="49" charset="0"/>
                <a:cs typeface="Consolas" panose="020B0609020204030204" pitchFamily="49" charset="0"/>
              </a:rPr>
              <a:t>unvisited</a:t>
            </a:r>
            <a:r>
              <a:rPr lang="en-IN" b="1" dirty="0">
                <a:latin typeface="Consolas" panose="020B0609020204030204" pitchFamily="49" charset="0"/>
                <a:cs typeface="Consolas" panose="020B0609020204030204" pitchFamily="49" charset="0"/>
              </a:rPr>
              <a:t>; </a:t>
            </a:r>
          </a:p>
          <a:p>
            <a:r>
              <a:rPr lang="en-IN" b="1" dirty="0">
                <a:solidFill>
                  <a:srgbClr val="C00000"/>
                </a:solidFill>
                <a:latin typeface="Consolas" panose="020B0609020204030204" pitchFamily="49" charset="0"/>
                <a:cs typeface="Consolas" panose="020B0609020204030204" pitchFamily="49" charset="0"/>
              </a:rPr>
              <a:t>do</a:t>
            </a:r>
            <a:r>
              <a:rPr lang="en-IN" b="1" dirty="0">
                <a:solidFill>
                  <a:srgbClr val="00B050"/>
                </a:solidFill>
                <a:latin typeface="Consolas" panose="020B0609020204030204" pitchFamily="49" charset="0"/>
                <a:cs typeface="Consolas" panose="020B0609020204030204" pitchFamily="49" charset="0"/>
              </a:rPr>
              <a:t> </a:t>
            </a:r>
          </a:p>
          <a:p>
            <a:r>
              <a:rPr lang="en-IN" b="1" dirty="0">
                <a:latin typeface="Consolas" panose="020B0609020204030204" pitchFamily="49" charset="0"/>
                <a:cs typeface="Consolas" panose="020B0609020204030204" pitchFamily="49" charset="0"/>
              </a:rPr>
              <a:t>    randomly select an </a:t>
            </a:r>
            <a:r>
              <a:rPr lang="en-IN" b="1" dirty="0">
                <a:solidFill>
                  <a:srgbClr val="00B050"/>
                </a:solidFill>
                <a:latin typeface="Consolas" panose="020B0609020204030204" pitchFamily="49" charset="0"/>
                <a:cs typeface="Consolas" panose="020B0609020204030204" pitchFamily="49" charset="0"/>
              </a:rPr>
              <a:t>unvisited</a:t>
            </a:r>
            <a:r>
              <a:rPr lang="en-IN" b="1" dirty="0">
                <a:latin typeface="Consolas" panose="020B0609020204030204" pitchFamily="49" charset="0"/>
                <a:cs typeface="Consolas" panose="020B0609020204030204" pitchFamily="49" charset="0"/>
              </a:rPr>
              <a:t> object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a:t>
            </a:r>
            <a:br>
              <a:rPr lang="en-IN" b="1" dirty="0">
                <a:latin typeface="Consolas" panose="020B0609020204030204" pitchFamily="49" charset="0"/>
                <a:cs typeface="Consolas" panose="020B0609020204030204" pitchFamily="49" charset="0"/>
              </a:rPr>
            </a:br>
            <a:r>
              <a:rPr lang="en-IN" b="1" dirty="0">
                <a:latin typeface="Consolas" panose="020B0609020204030204" pitchFamily="49" charset="0"/>
                <a:cs typeface="Consolas" panose="020B0609020204030204" pitchFamily="49" charset="0"/>
              </a:rPr>
              <a:t>    mark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as </a:t>
            </a:r>
            <a:r>
              <a:rPr lang="en-IN" b="1" dirty="0">
                <a:solidFill>
                  <a:srgbClr val="00B050"/>
                </a:solidFill>
                <a:latin typeface="Consolas" panose="020B0609020204030204" pitchFamily="49" charset="0"/>
                <a:cs typeface="Consolas" panose="020B0609020204030204" pitchFamily="49" charset="0"/>
              </a:rPr>
              <a:t>visited</a:t>
            </a:r>
            <a:r>
              <a:rPr lang="en-IN" b="1" dirty="0">
                <a:latin typeface="Consolas" panose="020B0609020204030204" pitchFamily="49" charset="0"/>
                <a:cs typeface="Consolas" panose="020B0609020204030204" pitchFamily="49" charset="0"/>
              </a:rPr>
              <a:t>;</a:t>
            </a:r>
          </a:p>
          <a:p>
            <a:r>
              <a:rPr lang="en-IN" b="1" dirty="0">
                <a:latin typeface="Consolas" panose="020B0609020204030204" pitchFamily="49" charset="0"/>
                <a:cs typeface="Consolas" panose="020B0609020204030204" pitchFamily="49" charset="0"/>
              </a:rPr>
              <a:t>    </a:t>
            </a:r>
            <a:r>
              <a:rPr lang="en-IN" b="1" dirty="0">
                <a:solidFill>
                  <a:srgbClr val="C00000"/>
                </a:solidFill>
                <a:latin typeface="Consolas" panose="020B0609020204030204" pitchFamily="49" charset="0"/>
                <a:cs typeface="Consolas" panose="020B0609020204030204" pitchFamily="49" charset="0"/>
              </a:rPr>
              <a:t>if</a:t>
            </a:r>
            <a:r>
              <a:rPr lang="en-IN" b="1" dirty="0">
                <a:latin typeface="Consolas" panose="020B0609020204030204" pitchFamily="49" charset="0"/>
                <a:cs typeface="Consolas" panose="020B0609020204030204" pitchFamily="49" charset="0"/>
              </a:rPr>
              <a:t> the </a:t>
            </a:r>
            <a:r>
              <a:rPr lang="el-GR" b="1" dirty="0">
                <a:solidFill>
                  <a:srgbClr val="00B050"/>
                </a:solidFill>
                <a:latin typeface="Consolas" panose="020B0609020204030204" pitchFamily="49" charset="0"/>
                <a:cs typeface="Consolas" panose="020B0609020204030204" pitchFamily="49" charset="0"/>
              </a:rPr>
              <a:t>ε-</a:t>
            </a:r>
            <a:r>
              <a:rPr lang="en-IN" b="1" dirty="0" err="1">
                <a:solidFill>
                  <a:srgbClr val="00B050"/>
                </a:solidFill>
                <a:latin typeface="Consolas" panose="020B0609020204030204" pitchFamily="49" charset="0"/>
                <a:cs typeface="Consolas" panose="020B0609020204030204" pitchFamily="49" charset="0"/>
              </a:rPr>
              <a:t>neighborhood</a:t>
            </a:r>
            <a:r>
              <a:rPr lang="en-IN" b="1" dirty="0">
                <a:solidFill>
                  <a:srgbClr val="00B050"/>
                </a:solidFill>
                <a:latin typeface="Consolas" panose="020B0609020204030204" pitchFamily="49" charset="0"/>
                <a:cs typeface="Consolas" panose="020B0609020204030204" pitchFamily="49" charset="0"/>
              </a:rPr>
              <a:t> </a:t>
            </a:r>
            <a:r>
              <a:rPr lang="en-IN" b="1" dirty="0">
                <a:latin typeface="Consolas" panose="020B0609020204030204" pitchFamily="49" charset="0"/>
                <a:cs typeface="Consolas" panose="020B0609020204030204" pitchFamily="49" charset="0"/>
              </a:rPr>
              <a:t>of </a:t>
            </a:r>
            <a:r>
              <a:rPr lang="en-IN" b="1" dirty="0">
                <a:solidFill>
                  <a:srgbClr val="00B050"/>
                </a:solidFill>
                <a:latin typeface="Consolas" panose="020B0609020204030204" pitchFamily="49" charset="0"/>
                <a:cs typeface="Consolas" panose="020B0609020204030204" pitchFamily="49" charset="0"/>
              </a:rPr>
              <a:t>p </a:t>
            </a:r>
            <a:r>
              <a:rPr lang="en-IN" b="1" dirty="0">
                <a:latin typeface="Consolas" panose="020B0609020204030204" pitchFamily="49" charset="0"/>
                <a:cs typeface="Consolas" panose="020B0609020204030204" pitchFamily="49" charset="0"/>
              </a:rPr>
              <a:t>has at least </a:t>
            </a:r>
            <a:r>
              <a:rPr lang="en-IN" b="1" dirty="0" err="1">
                <a:solidFill>
                  <a:srgbClr val="00B050"/>
                </a:solidFill>
                <a:latin typeface="Consolas" panose="020B0609020204030204" pitchFamily="49" charset="0"/>
                <a:cs typeface="Consolas" panose="020B0609020204030204" pitchFamily="49" charset="0"/>
              </a:rPr>
              <a:t>MinPts</a:t>
            </a:r>
            <a:r>
              <a:rPr lang="en-IN" b="1" dirty="0">
                <a:latin typeface="Consolas" panose="020B0609020204030204" pitchFamily="49" charset="0"/>
                <a:cs typeface="Consolas" panose="020B0609020204030204" pitchFamily="49" charset="0"/>
              </a:rPr>
              <a:t> objects;</a:t>
            </a:r>
          </a:p>
          <a:p>
            <a:r>
              <a:rPr lang="en-IN" b="1" dirty="0">
                <a:latin typeface="Consolas" panose="020B0609020204030204" pitchFamily="49" charset="0"/>
                <a:cs typeface="Consolas" panose="020B0609020204030204" pitchFamily="49" charset="0"/>
              </a:rPr>
              <a:t>        create a new </a:t>
            </a:r>
            <a:r>
              <a:rPr lang="en-IN" b="1" dirty="0">
                <a:solidFill>
                  <a:srgbClr val="C00000"/>
                </a:solidFill>
                <a:latin typeface="Consolas" panose="020B0609020204030204" pitchFamily="49" charset="0"/>
                <a:cs typeface="Consolas" panose="020B0609020204030204" pitchFamily="49" charset="0"/>
              </a:rPr>
              <a:t>cluster</a:t>
            </a:r>
            <a:r>
              <a:rPr lang="en-IN" b="1" dirty="0">
                <a:latin typeface="Consolas" panose="020B0609020204030204" pitchFamily="49" charset="0"/>
                <a:cs typeface="Consolas" panose="020B0609020204030204" pitchFamily="49" charset="0"/>
              </a:rPr>
              <a:t> </a:t>
            </a:r>
            <a:r>
              <a:rPr lang="en-IN" b="1" dirty="0">
                <a:solidFill>
                  <a:srgbClr val="00B050"/>
                </a:solidFill>
                <a:latin typeface="Consolas" panose="020B0609020204030204" pitchFamily="49" charset="0"/>
                <a:cs typeface="Consolas" panose="020B0609020204030204" pitchFamily="49" charset="0"/>
              </a:rPr>
              <a:t>C</a:t>
            </a:r>
            <a:r>
              <a:rPr lang="en-IN" b="1" dirty="0">
                <a:latin typeface="Consolas" panose="020B0609020204030204" pitchFamily="49" charset="0"/>
                <a:cs typeface="Consolas" panose="020B0609020204030204" pitchFamily="49" charset="0"/>
              </a:rPr>
              <a:t>, and add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to </a:t>
            </a:r>
            <a:r>
              <a:rPr lang="en-IN" b="1" dirty="0">
                <a:solidFill>
                  <a:srgbClr val="00B050"/>
                </a:solidFill>
                <a:latin typeface="Consolas" panose="020B0609020204030204" pitchFamily="49" charset="0"/>
                <a:cs typeface="Consolas" panose="020B0609020204030204" pitchFamily="49" charset="0"/>
              </a:rPr>
              <a:t>C</a:t>
            </a:r>
            <a:r>
              <a:rPr lang="en-IN" b="1" dirty="0">
                <a:latin typeface="Consolas" panose="020B0609020204030204" pitchFamily="49" charset="0"/>
                <a:cs typeface="Consolas" panose="020B0609020204030204" pitchFamily="49" charset="0"/>
              </a:rPr>
              <a:t>;</a:t>
            </a:r>
            <a:br>
              <a:rPr lang="en-IN" b="1" dirty="0">
                <a:latin typeface="Consolas" panose="020B0609020204030204" pitchFamily="49" charset="0"/>
                <a:cs typeface="Consolas" panose="020B0609020204030204" pitchFamily="49" charset="0"/>
              </a:rPr>
            </a:br>
            <a:r>
              <a:rPr lang="en-IN" b="1" dirty="0">
                <a:latin typeface="Consolas" panose="020B0609020204030204" pitchFamily="49" charset="0"/>
                <a:cs typeface="Consolas" panose="020B0609020204030204" pitchFamily="49" charset="0"/>
              </a:rPr>
              <a:t>        </a:t>
            </a:r>
            <a:r>
              <a:rPr lang="en-IN" b="1" dirty="0">
                <a:solidFill>
                  <a:srgbClr val="C00000"/>
                </a:solidFill>
                <a:latin typeface="Consolas" panose="020B0609020204030204" pitchFamily="49" charset="0"/>
                <a:cs typeface="Consolas" panose="020B0609020204030204" pitchFamily="49" charset="0"/>
              </a:rPr>
              <a:t>let</a:t>
            </a:r>
            <a:r>
              <a:rPr lang="en-IN" b="1" dirty="0">
                <a:latin typeface="Consolas" panose="020B0609020204030204" pitchFamily="49" charset="0"/>
                <a:cs typeface="Consolas" panose="020B0609020204030204" pitchFamily="49" charset="0"/>
              </a:rPr>
              <a:t> </a:t>
            </a:r>
            <a:r>
              <a:rPr lang="en-IN" b="1" dirty="0">
                <a:solidFill>
                  <a:srgbClr val="00B050"/>
                </a:solidFill>
                <a:latin typeface="Consolas" panose="020B0609020204030204" pitchFamily="49" charset="0"/>
                <a:cs typeface="Consolas" panose="020B0609020204030204" pitchFamily="49" charset="0"/>
              </a:rPr>
              <a:t>N</a:t>
            </a:r>
            <a:r>
              <a:rPr lang="en-IN" b="1" dirty="0">
                <a:latin typeface="Consolas" panose="020B0609020204030204" pitchFamily="49" charset="0"/>
                <a:cs typeface="Consolas" panose="020B0609020204030204" pitchFamily="49" charset="0"/>
              </a:rPr>
              <a:t> be the set of objects in the </a:t>
            </a:r>
            <a:r>
              <a:rPr lang="el-GR" b="1" dirty="0">
                <a:solidFill>
                  <a:srgbClr val="00B050"/>
                </a:solidFill>
                <a:latin typeface="Consolas" panose="020B0609020204030204" pitchFamily="49" charset="0"/>
                <a:cs typeface="Consolas" panose="020B0609020204030204" pitchFamily="49" charset="0"/>
              </a:rPr>
              <a:t>ε-</a:t>
            </a:r>
            <a:r>
              <a:rPr lang="en-IN" b="1" dirty="0" err="1">
                <a:solidFill>
                  <a:srgbClr val="00B050"/>
                </a:solidFill>
                <a:latin typeface="Consolas" panose="020B0609020204030204" pitchFamily="49" charset="0"/>
                <a:cs typeface="Consolas" panose="020B0609020204030204" pitchFamily="49" charset="0"/>
              </a:rPr>
              <a:t>neighborhood</a:t>
            </a:r>
            <a:r>
              <a:rPr lang="en-IN" b="1" dirty="0">
                <a:solidFill>
                  <a:srgbClr val="00B050"/>
                </a:solidFill>
                <a:latin typeface="Consolas" panose="020B0609020204030204" pitchFamily="49" charset="0"/>
                <a:cs typeface="Consolas" panose="020B0609020204030204" pitchFamily="49" charset="0"/>
              </a:rPr>
              <a:t> </a:t>
            </a:r>
            <a:r>
              <a:rPr lang="en-IN" b="1" dirty="0">
                <a:latin typeface="Consolas" panose="020B0609020204030204" pitchFamily="49" charset="0"/>
                <a:cs typeface="Consolas" panose="020B0609020204030204" pitchFamily="49" charset="0"/>
              </a:rPr>
              <a:t>of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a:t>
            </a:r>
          </a:p>
          <a:p>
            <a:r>
              <a:rPr lang="en-IN" b="1" dirty="0">
                <a:latin typeface="Consolas" panose="020B0609020204030204" pitchFamily="49" charset="0"/>
                <a:cs typeface="Consolas" panose="020B0609020204030204" pitchFamily="49" charset="0"/>
              </a:rPr>
              <a:t>	 </a:t>
            </a:r>
            <a:r>
              <a:rPr lang="en-IN" b="1" dirty="0">
                <a:solidFill>
                  <a:srgbClr val="C00000"/>
                </a:solidFill>
                <a:latin typeface="Consolas" panose="020B0609020204030204" pitchFamily="49" charset="0"/>
                <a:cs typeface="Consolas" panose="020B0609020204030204" pitchFamily="49" charset="0"/>
              </a:rPr>
              <a:t>for</a:t>
            </a:r>
            <a:r>
              <a:rPr lang="en-IN" b="1" dirty="0">
                <a:solidFill>
                  <a:srgbClr val="00B050"/>
                </a:solidFill>
                <a:latin typeface="Consolas" panose="020B0609020204030204" pitchFamily="49" charset="0"/>
                <a:cs typeface="Consolas" panose="020B0609020204030204" pitchFamily="49" charset="0"/>
              </a:rPr>
              <a:t> each </a:t>
            </a:r>
            <a:r>
              <a:rPr lang="en-IN" b="1" dirty="0">
                <a:latin typeface="Consolas" panose="020B0609020204030204" pitchFamily="49" charset="0"/>
                <a:cs typeface="Consolas" panose="020B0609020204030204" pitchFamily="49" charset="0"/>
              </a:rPr>
              <a:t>point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in </a:t>
            </a:r>
            <a:r>
              <a:rPr lang="en-IN" b="1" dirty="0">
                <a:solidFill>
                  <a:srgbClr val="00B050"/>
                </a:solidFill>
                <a:latin typeface="Consolas" panose="020B0609020204030204" pitchFamily="49" charset="0"/>
                <a:cs typeface="Consolas" panose="020B0609020204030204" pitchFamily="49" charset="0"/>
              </a:rPr>
              <a:t>N</a:t>
            </a:r>
          </a:p>
          <a:p>
            <a:r>
              <a:rPr lang="en-IN" b="1" dirty="0">
                <a:latin typeface="Consolas" panose="020B0609020204030204" pitchFamily="49" charset="0"/>
                <a:cs typeface="Consolas" panose="020B0609020204030204" pitchFamily="49" charset="0"/>
              </a:rPr>
              <a:t>	     </a:t>
            </a:r>
            <a:r>
              <a:rPr lang="en-IN" b="1" dirty="0">
                <a:solidFill>
                  <a:srgbClr val="C00000"/>
                </a:solidFill>
                <a:latin typeface="Consolas" panose="020B0609020204030204" pitchFamily="49" charset="0"/>
                <a:cs typeface="Consolas" panose="020B0609020204030204" pitchFamily="49" charset="0"/>
              </a:rPr>
              <a:t>if</a:t>
            </a:r>
            <a:r>
              <a:rPr lang="en-IN" b="1" dirty="0">
                <a:latin typeface="Consolas" panose="020B0609020204030204" pitchFamily="49" charset="0"/>
                <a:cs typeface="Consolas" panose="020B0609020204030204" pitchFamily="49" charset="0"/>
              </a:rPr>
              <a:t>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is unvisited</a:t>
            </a:r>
          </a:p>
          <a:p>
            <a:r>
              <a:rPr lang="en-IN" b="1" dirty="0">
                <a:latin typeface="Consolas" panose="020B0609020204030204" pitchFamily="49" charset="0"/>
                <a:cs typeface="Consolas" panose="020B0609020204030204" pitchFamily="49" charset="0"/>
              </a:rPr>
              <a:t>                 mark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as visited; </a:t>
            </a:r>
          </a:p>
          <a:p>
            <a:r>
              <a:rPr lang="en-IN" b="1" dirty="0">
                <a:latin typeface="Consolas" panose="020B0609020204030204" pitchFamily="49" charset="0"/>
                <a:cs typeface="Consolas" panose="020B0609020204030204" pitchFamily="49" charset="0"/>
              </a:rPr>
              <a:t>		  </a:t>
            </a:r>
            <a:r>
              <a:rPr lang="en-IN" b="1" dirty="0">
                <a:solidFill>
                  <a:srgbClr val="C00000"/>
                </a:solidFill>
                <a:latin typeface="Consolas" panose="020B0609020204030204" pitchFamily="49" charset="0"/>
                <a:cs typeface="Consolas" panose="020B0609020204030204" pitchFamily="49" charset="0"/>
              </a:rPr>
              <a:t>if</a:t>
            </a:r>
            <a:r>
              <a:rPr lang="en-IN" b="1" dirty="0">
                <a:latin typeface="Consolas" panose="020B0609020204030204" pitchFamily="49" charset="0"/>
                <a:cs typeface="Consolas" panose="020B0609020204030204" pitchFamily="49" charset="0"/>
              </a:rPr>
              <a:t> the </a:t>
            </a:r>
            <a:r>
              <a:rPr lang="el-GR" b="1" dirty="0">
                <a:solidFill>
                  <a:srgbClr val="00B050"/>
                </a:solidFill>
                <a:latin typeface="Consolas" panose="020B0609020204030204" pitchFamily="49" charset="0"/>
                <a:cs typeface="Consolas" panose="020B0609020204030204" pitchFamily="49" charset="0"/>
              </a:rPr>
              <a:t>ε-</a:t>
            </a:r>
            <a:r>
              <a:rPr lang="en-IN" b="1" dirty="0" err="1">
                <a:solidFill>
                  <a:srgbClr val="00B050"/>
                </a:solidFill>
                <a:latin typeface="Consolas" panose="020B0609020204030204" pitchFamily="49" charset="0"/>
                <a:cs typeface="Consolas" panose="020B0609020204030204" pitchFamily="49" charset="0"/>
              </a:rPr>
              <a:t>neighborhood</a:t>
            </a:r>
            <a:r>
              <a:rPr lang="en-IN" b="1" dirty="0">
                <a:solidFill>
                  <a:srgbClr val="00B050"/>
                </a:solidFill>
                <a:latin typeface="Consolas" panose="020B0609020204030204" pitchFamily="49" charset="0"/>
                <a:cs typeface="Consolas" panose="020B0609020204030204" pitchFamily="49" charset="0"/>
              </a:rPr>
              <a:t> </a:t>
            </a:r>
            <a:r>
              <a:rPr lang="en-IN" b="1" dirty="0">
                <a:latin typeface="Consolas" panose="020B0609020204030204" pitchFamily="49" charset="0"/>
                <a:cs typeface="Consolas" panose="020B0609020204030204" pitchFamily="49" charset="0"/>
              </a:rPr>
              <a:t>of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has at least </a:t>
            </a:r>
            <a:r>
              <a:rPr lang="en-IN" b="1" dirty="0" err="1">
                <a:solidFill>
                  <a:srgbClr val="00B050"/>
                </a:solidFill>
                <a:latin typeface="Consolas" panose="020B0609020204030204" pitchFamily="49" charset="0"/>
                <a:cs typeface="Consolas" panose="020B0609020204030204" pitchFamily="49" charset="0"/>
              </a:rPr>
              <a:t>MinPts</a:t>
            </a:r>
            <a:r>
              <a:rPr lang="en-IN" b="1" dirty="0">
                <a:latin typeface="Consolas" panose="020B0609020204030204" pitchFamily="49" charset="0"/>
                <a:cs typeface="Consolas" panose="020B0609020204030204" pitchFamily="49" charset="0"/>
              </a:rPr>
              <a:t> points, add those points to </a:t>
            </a:r>
            <a:r>
              <a:rPr lang="en-IN" b="1" dirty="0">
                <a:solidFill>
                  <a:srgbClr val="00B050"/>
                </a:solidFill>
                <a:latin typeface="Consolas" panose="020B0609020204030204" pitchFamily="49" charset="0"/>
                <a:cs typeface="Consolas" panose="020B0609020204030204" pitchFamily="49" charset="0"/>
              </a:rPr>
              <a:t>N</a:t>
            </a:r>
            <a:r>
              <a:rPr lang="en-IN" b="1" dirty="0">
                <a:latin typeface="Consolas" panose="020B0609020204030204" pitchFamily="49" charset="0"/>
                <a:cs typeface="Consolas" panose="020B0609020204030204" pitchFamily="49" charset="0"/>
              </a:rPr>
              <a:t>;</a:t>
            </a:r>
          </a:p>
          <a:p>
            <a:r>
              <a:rPr lang="en-IN" b="1" dirty="0">
                <a:latin typeface="Consolas" panose="020B0609020204030204" pitchFamily="49" charset="0"/>
                <a:cs typeface="Consolas" panose="020B0609020204030204" pitchFamily="49" charset="0"/>
              </a:rPr>
              <a:t>	     </a:t>
            </a:r>
            <a:r>
              <a:rPr lang="en-IN" b="1" dirty="0">
                <a:solidFill>
                  <a:srgbClr val="C00000"/>
                </a:solidFill>
                <a:latin typeface="Consolas" panose="020B0609020204030204" pitchFamily="49" charset="0"/>
                <a:cs typeface="Consolas" panose="020B0609020204030204" pitchFamily="49" charset="0"/>
              </a:rPr>
              <a:t>if</a:t>
            </a:r>
            <a:r>
              <a:rPr lang="en-IN" b="1" dirty="0">
                <a:latin typeface="Consolas" panose="020B0609020204030204" pitchFamily="49" charset="0"/>
                <a:cs typeface="Consolas" panose="020B0609020204030204" pitchFamily="49" charset="0"/>
              </a:rPr>
              <a:t>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is not yet a member of any cluster, add </a:t>
            </a:r>
            <a:r>
              <a:rPr lang="en-IN" b="1" dirty="0">
                <a:solidFill>
                  <a:srgbClr val="00B050"/>
                </a:solidFill>
                <a:latin typeface="Consolas" panose="020B0609020204030204" pitchFamily="49" charset="0"/>
                <a:cs typeface="Consolas" panose="020B0609020204030204" pitchFamily="49" charset="0"/>
              </a:rPr>
              <a:t>p′</a:t>
            </a:r>
            <a:r>
              <a:rPr lang="en-IN" b="1" dirty="0">
                <a:latin typeface="Consolas" panose="020B0609020204030204" pitchFamily="49" charset="0"/>
                <a:cs typeface="Consolas" panose="020B0609020204030204" pitchFamily="49" charset="0"/>
              </a:rPr>
              <a:t> to </a:t>
            </a:r>
            <a:r>
              <a:rPr lang="en-IN" b="1" dirty="0">
                <a:solidFill>
                  <a:srgbClr val="00B050"/>
                </a:solidFill>
                <a:latin typeface="Consolas" panose="020B0609020204030204" pitchFamily="49" charset="0"/>
                <a:cs typeface="Consolas" panose="020B0609020204030204" pitchFamily="49" charset="0"/>
              </a:rPr>
              <a:t>C</a:t>
            </a:r>
            <a:r>
              <a:rPr lang="en-IN" b="1" dirty="0">
                <a:latin typeface="Consolas" panose="020B0609020204030204" pitchFamily="49" charset="0"/>
                <a:cs typeface="Consolas" panose="020B0609020204030204" pitchFamily="49" charset="0"/>
              </a:rPr>
              <a:t>;</a:t>
            </a:r>
          </a:p>
          <a:p>
            <a:r>
              <a:rPr lang="en-IN" b="1" dirty="0">
                <a:latin typeface="Consolas" panose="020B0609020204030204" pitchFamily="49" charset="0"/>
                <a:cs typeface="Consolas" panose="020B0609020204030204" pitchFamily="49" charset="0"/>
              </a:rPr>
              <a:t>	  </a:t>
            </a:r>
            <a:r>
              <a:rPr lang="en-IN" b="1" dirty="0">
                <a:solidFill>
                  <a:srgbClr val="C00000"/>
                </a:solidFill>
                <a:latin typeface="Consolas" panose="020B0609020204030204" pitchFamily="49" charset="0"/>
                <a:cs typeface="Consolas" panose="020B0609020204030204" pitchFamily="49" charset="0"/>
              </a:rPr>
              <a:t>end for</a:t>
            </a:r>
          </a:p>
          <a:p>
            <a:r>
              <a:rPr lang="en-IN" b="1" dirty="0">
                <a:latin typeface="Consolas" panose="020B0609020204030204" pitchFamily="49" charset="0"/>
                <a:cs typeface="Consolas" panose="020B0609020204030204" pitchFamily="49" charset="0"/>
              </a:rPr>
              <a:t>         output C;</a:t>
            </a:r>
          </a:p>
          <a:p>
            <a:r>
              <a:rPr lang="en-IN" b="1" dirty="0">
                <a:latin typeface="Consolas" panose="020B0609020204030204" pitchFamily="49" charset="0"/>
                <a:cs typeface="Consolas" panose="020B0609020204030204" pitchFamily="49" charset="0"/>
              </a:rPr>
              <a:t>    </a:t>
            </a:r>
            <a:r>
              <a:rPr lang="en-IN" b="1" dirty="0">
                <a:solidFill>
                  <a:srgbClr val="C00000"/>
                </a:solidFill>
                <a:latin typeface="Consolas" panose="020B0609020204030204" pitchFamily="49" charset="0"/>
                <a:cs typeface="Consolas" panose="020B0609020204030204" pitchFamily="49" charset="0"/>
              </a:rPr>
              <a:t>else</a:t>
            </a:r>
            <a:r>
              <a:rPr lang="en-IN" b="1" dirty="0">
                <a:latin typeface="Consolas" panose="020B0609020204030204" pitchFamily="49" charset="0"/>
                <a:cs typeface="Consolas" panose="020B0609020204030204" pitchFamily="49" charset="0"/>
              </a:rPr>
              <a:t> mark p as </a:t>
            </a:r>
            <a:r>
              <a:rPr lang="en-IN" b="1" dirty="0">
                <a:solidFill>
                  <a:srgbClr val="00B050"/>
                </a:solidFill>
                <a:latin typeface="Consolas" panose="020B0609020204030204" pitchFamily="49" charset="0"/>
                <a:cs typeface="Consolas" panose="020B0609020204030204" pitchFamily="49" charset="0"/>
              </a:rPr>
              <a:t>noise</a:t>
            </a:r>
            <a:r>
              <a:rPr lang="en-IN" b="1" dirty="0">
                <a:latin typeface="Consolas" panose="020B0609020204030204" pitchFamily="49" charset="0"/>
                <a:cs typeface="Consolas" panose="020B0609020204030204" pitchFamily="49" charset="0"/>
              </a:rPr>
              <a:t>;</a:t>
            </a:r>
          </a:p>
          <a:p>
            <a:r>
              <a:rPr lang="en-IN" b="1" dirty="0">
                <a:solidFill>
                  <a:srgbClr val="C00000"/>
                </a:solidFill>
                <a:latin typeface="Consolas" panose="020B0609020204030204" pitchFamily="49" charset="0"/>
                <a:cs typeface="Consolas" panose="020B0609020204030204" pitchFamily="49" charset="0"/>
              </a:rPr>
              <a:t>until</a:t>
            </a:r>
            <a:r>
              <a:rPr lang="en-IN" b="1" dirty="0">
                <a:latin typeface="Consolas" panose="020B0609020204030204" pitchFamily="49" charset="0"/>
                <a:cs typeface="Consolas" panose="020B0609020204030204" pitchFamily="49" charset="0"/>
              </a:rPr>
              <a:t> no object is </a:t>
            </a:r>
            <a:r>
              <a:rPr lang="en-IN" b="1" dirty="0">
                <a:solidFill>
                  <a:srgbClr val="00B050"/>
                </a:solidFill>
                <a:latin typeface="Consolas" panose="020B0609020204030204" pitchFamily="49" charset="0"/>
                <a:cs typeface="Consolas" panose="020B0609020204030204" pitchFamily="49" charset="0"/>
              </a:rPr>
              <a:t>unvisited</a:t>
            </a:r>
            <a:r>
              <a:rPr lang="en-IN" b="1"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190377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9DF91-EF7A-8474-2EC7-164A1297B0F1}"/>
              </a:ext>
            </a:extLst>
          </p:cNvPr>
          <p:cNvSpPr>
            <a:spLocks noGrp="1"/>
          </p:cNvSpPr>
          <p:nvPr>
            <p:ph type="title"/>
          </p:nvPr>
        </p:nvSpPr>
        <p:spPr/>
        <p:txBody>
          <a:bodyPr/>
          <a:lstStyle/>
          <a:p>
            <a:r>
              <a:rPr lang="en-US" dirty="0"/>
              <a:t>DBSCAN Example</a:t>
            </a:r>
          </a:p>
        </p:txBody>
      </p:sp>
      <p:sp>
        <p:nvSpPr>
          <p:cNvPr id="4" name="Rectangle 3">
            <a:extLst>
              <a:ext uri="{FF2B5EF4-FFF2-40B4-BE49-F238E27FC236}">
                <a16:creationId xmlns:a16="http://schemas.microsoft.com/office/drawing/2014/main" id="{1B376571-421E-717E-62EA-B5C91D4FB21F}"/>
              </a:ext>
            </a:extLst>
          </p:cNvPr>
          <p:cNvSpPr/>
          <p:nvPr/>
        </p:nvSpPr>
        <p:spPr>
          <a:xfrm>
            <a:off x="715063" y="1122101"/>
            <a:ext cx="5945381" cy="3539430"/>
          </a:xfrm>
          <a:prstGeom prst="rect">
            <a:avLst/>
          </a:prstGeom>
          <a:solidFill>
            <a:schemeClr val="bg1">
              <a:lumMod val="95000"/>
            </a:schemeClr>
          </a:solidFill>
          <a:ln>
            <a:noFill/>
          </a:ln>
        </p:spPr>
        <p:txBody>
          <a:bodyPr wrap="square">
            <a:spAutoFit/>
          </a:bodyPr>
          <a:lstStyle/>
          <a:p>
            <a:r>
              <a:rPr lang="en-IN" sz="1600" dirty="0">
                <a:solidFill>
                  <a:srgbClr val="AF00DB"/>
                </a:solidFill>
                <a:latin typeface="Menlo" panose="020B0609030804020204" pitchFamily="49" charset="0"/>
              </a:rPr>
              <a:t>import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numpy</a:t>
            </a:r>
            <a:r>
              <a:rPr lang="en-IN" sz="1600" dirty="0">
                <a:solidFill>
                  <a:srgbClr val="000000"/>
                </a:solidFill>
                <a:latin typeface="Menlo" panose="020B0609030804020204" pitchFamily="49" charset="0"/>
              </a:rPr>
              <a:t> </a:t>
            </a:r>
            <a:r>
              <a:rPr lang="en-IN" sz="1600" dirty="0">
                <a:solidFill>
                  <a:srgbClr val="AF00DB"/>
                </a:solidFill>
                <a:latin typeface="Menlo" panose="020B0609030804020204" pitchFamily="49" charset="0"/>
              </a:rPr>
              <a:t>as</a:t>
            </a:r>
            <a:r>
              <a:rPr lang="en-IN" sz="1600" dirty="0">
                <a:solidFill>
                  <a:srgbClr val="000000"/>
                </a:solidFill>
                <a:latin typeface="Menlo" panose="020B0609030804020204" pitchFamily="49" charset="0"/>
              </a:rPr>
              <a:t> </a:t>
            </a:r>
            <a:r>
              <a:rPr lang="en-IN" sz="1600" dirty="0">
                <a:solidFill>
                  <a:srgbClr val="267F99"/>
                </a:solidFill>
                <a:latin typeface="Menlo" panose="020B0609030804020204" pitchFamily="49" charset="0"/>
              </a:rPr>
              <a:t>np</a:t>
            </a:r>
            <a:endParaRPr lang="en-IN" sz="1600" dirty="0">
              <a:solidFill>
                <a:srgbClr val="000000"/>
              </a:solidFill>
              <a:latin typeface="Menlo" panose="020B0609030804020204" pitchFamily="49" charset="0"/>
            </a:endParaRPr>
          </a:p>
          <a:p>
            <a:r>
              <a:rPr lang="en-IN" sz="1600" dirty="0">
                <a:solidFill>
                  <a:srgbClr val="AF00DB"/>
                </a:solidFill>
                <a:latin typeface="Menlo" panose="020B0609030804020204" pitchFamily="49" charset="0"/>
              </a:rPr>
              <a:t>import</a:t>
            </a:r>
            <a:r>
              <a:rPr lang="en-IN" sz="1600" dirty="0">
                <a:solidFill>
                  <a:srgbClr val="000000"/>
                </a:solidFill>
                <a:latin typeface="Menlo" panose="020B0609030804020204" pitchFamily="49" charset="0"/>
              </a:rPr>
              <a:t> </a:t>
            </a:r>
            <a:r>
              <a:rPr lang="en-IN" sz="1600" dirty="0" err="1">
                <a:solidFill>
                  <a:srgbClr val="267F99"/>
                </a:solidFill>
                <a:latin typeface="Menlo" panose="020B0609030804020204" pitchFamily="49" charset="0"/>
              </a:rPr>
              <a:t>matplotlib</a:t>
            </a:r>
            <a:r>
              <a:rPr lang="en-IN" sz="1600" dirty="0" err="1">
                <a:solidFill>
                  <a:srgbClr val="000000"/>
                </a:solidFill>
                <a:latin typeface="Menlo" panose="020B0609030804020204" pitchFamily="49" charset="0"/>
              </a:rPr>
              <a:t>.</a:t>
            </a:r>
            <a:r>
              <a:rPr lang="en-IN" sz="1600" dirty="0" err="1">
                <a:solidFill>
                  <a:srgbClr val="267F99"/>
                </a:solidFill>
                <a:latin typeface="Menlo" panose="020B0609030804020204" pitchFamily="49" charset="0"/>
              </a:rPr>
              <a:t>pyplot</a:t>
            </a:r>
            <a:r>
              <a:rPr lang="en-IN" sz="1600" dirty="0">
                <a:solidFill>
                  <a:srgbClr val="000000"/>
                </a:solidFill>
                <a:latin typeface="Menlo" panose="020B0609030804020204" pitchFamily="49" charset="0"/>
              </a:rPr>
              <a:t> </a:t>
            </a:r>
            <a:r>
              <a:rPr lang="en-IN" sz="1600" dirty="0">
                <a:solidFill>
                  <a:srgbClr val="AF00DB"/>
                </a:solidFill>
                <a:latin typeface="Menlo" panose="020B0609030804020204" pitchFamily="49" charset="0"/>
              </a:rPr>
              <a:t>as</a:t>
            </a:r>
            <a:r>
              <a:rPr lang="en-IN" sz="1600" dirty="0">
                <a:solidFill>
                  <a:srgbClr val="000000"/>
                </a:solidFill>
                <a:latin typeface="Menlo" panose="020B0609030804020204" pitchFamily="49" charset="0"/>
              </a:rPr>
              <a:t> </a:t>
            </a:r>
            <a:r>
              <a:rPr lang="en-IN" sz="1600" dirty="0" err="1">
                <a:solidFill>
                  <a:srgbClr val="267F99"/>
                </a:solidFill>
                <a:latin typeface="Menlo" panose="020B0609030804020204" pitchFamily="49" charset="0"/>
              </a:rPr>
              <a:t>plt</a:t>
            </a:r>
            <a:endParaRPr lang="en-IN" sz="1600" dirty="0">
              <a:solidFill>
                <a:srgbClr val="000000"/>
              </a:solidFill>
              <a:latin typeface="Menlo" panose="020B0609030804020204" pitchFamily="49" charset="0"/>
            </a:endParaRPr>
          </a:p>
          <a:p>
            <a:r>
              <a:rPr lang="en-IN" sz="1600" dirty="0">
                <a:solidFill>
                  <a:srgbClr val="AF00DB"/>
                </a:solidFill>
                <a:latin typeface="Menlo" panose="020B0609030804020204" pitchFamily="49" charset="0"/>
              </a:rPr>
              <a:t>from</a:t>
            </a:r>
            <a:r>
              <a:rPr lang="en-IN" sz="1600" dirty="0">
                <a:solidFill>
                  <a:srgbClr val="000000"/>
                </a:solidFill>
                <a:latin typeface="Menlo" panose="020B0609030804020204" pitchFamily="49" charset="0"/>
              </a:rPr>
              <a:t> </a:t>
            </a:r>
            <a:r>
              <a:rPr lang="en-IN" sz="1600" dirty="0" err="1">
                <a:solidFill>
                  <a:srgbClr val="267F99"/>
                </a:solidFill>
                <a:latin typeface="Menlo" panose="020B0609030804020204" pitchFamily="49" charset="0"/>
              </a:rPr>
              <a:t>sklearn</a:t>
            </a:r>
            <a:r>
              <a:rPr lang="en-IN" sz="1600" dirty="0" err="1">
                <a:solidFill>
                  <a:srgbClr val="000000"/>
                </a:solidFill>
                <a:latin typeface="Menlo" panose="020B0609030804020204" pitchFamily="49" charset="0"/>
              </a:rPr>
              <a:t>.</a:t>
            </a:r>
            <a:r>
              <a:rPr lang="en-IN" sz="1600" dirty="0" err="1">
                <a:solidFill>
                  <a:srgbClr val="267F99"/>
                </a:solidFill>
                <a:latin typeface="Menlo" panose="020B0609030804020204" pitchFamily="49" charset="0"/>
              </a:rPr>
              <a:t>datasets</a:t>
            </a:r>
            <a:r>
              <a:rPr lang="en-IN" sz="1600" dirty="0">
                <a:solidFill>
                  <a:srgbClr val="000000"/>
                </a:solidFill>
                <a:latin typeface="Menlo" panose="020B0609030804020204" pitchFamily="49" charset="0"/>
              </a:rPr>
              <a:t> </a:t>
            </a:r>
            <a:r>
              <a:rPr lang="en-IN" sz="1600" dirty="0">
                <a:solidFill>
                  <a:srgbClr val="AF00DB"/>
                </a:solidFill>
                <a:latin typeface="Menlo" panose="020B0609030804020204" pitchFamily="49" charset="0"/>
              </a:rPr>
              <a:t>import</a:t>
            </a:r>
            <a:r>
              <a:rPr lang="en-IN" sz="1600" dirty="0">
                <a:solidFill>
                  <a:srgbClr val="000000"/>
                </a:solidFill>
                <a:latin typeface="Menlo" panose="020B0609030804020204" pitchFamily="49" charset="0"/>
              </a:rPr>
              <a:t> </a:t>
            </a:r>
            <a:r>
              <a:rPr lang="en-IN" sz="1600" dirty="0" err="1">
                <a:solidFill>
                  <a:srgbClr val="795E26"/>
                </a:solidFill>
                <a:latin typeface="Menlo" panose="020B0609030804020204" pitchFamily="49" charset="0"/>
              </a:rPr>
              <a:t>make_moons</a:t>
            </a:r>
            <a:endParaRPr lang="en-IN" sz="1600" dirty="0">
              <a:solidFill>
                <a:srgbClr val="000000"/>
              </a:solidFill>
              <a:latin typeface="Menlo" panose="020B0609030804020204" pitchFamily="49" charset="0"/>
            </a:endParaRPr>
          </a:p>
          <a:p>
            <a:r>
              <a:rPr lang="en-IN" sz="1600" dirty="0">
                <a:solidFill>
                  <a:srgbClr val="AF00DB"/>
                </a:solidFill>
                <a:latin typeface="Menlo" panose="020B0609030804020204" pitchFamily="49" charset="0"/>
              </a:rPr>
              <a:t>from</a:t>
            </a:r>
            <a:r>
              <a:rPr lang="en-IN" sz="1600" dirty="0">
                <a:solidFill>
                  <a:srgbClr val="000000"/>
                </a:solidFill>
                <a:latin typeface="Menlo" panose="020B0609030804020204" pitchFamily="49" charset="0"/>
              </a:rPr>
              <a:t> </a:t>
            </a:r>
            <a:r>
              <a:rPr lang="en-IN" sz="1600" dirty="0" err="1">
                <a:solidFill>
                  <a:srgbClr val="267F99"/>
                </a:solidFill>
                <a:latin typeface="Menlo" panose="020B0609030804020204" pitchFamily="49" charset="0"/>
              </a:rPr>
              <a:t>sklearn</a:t>
            </a:r>
            <a:r>
              <a:rPr lang="en-IN" sz="1600" dirty="0" err="1">
                <a:solidFill>
                  <a:srgbClr val="000000"/>
                </a:solidFill>
                <a:latin typeface="Menlo" panose="020B0609030804020204" pitchFamily="49" charset="0"/>
              </a:rPr>
              <a:t>.</a:t>
            </a:r>
            <a:r>
              <a:rPr lang="en-IN" sz="1600" dirty="0" err="1">
                <a:solidFill>
                  <a:srgbClr val="267F99"/>
                </a:solidFill>
                <a:latin typeface="Menlo" panose="020B0609030804020204" pitchFamily="49" charset="0"/>
              </a:rPr>
              <a:t>cluster</a:t>
            </a:r>
            <a:r>
              <a:rPr lang="en-IN" sz="1600" dirty="0">
                <a:solidFill>
                  <a:srgbClr val="000000"/>
                </a:solidFill>
                <a:latin typeface="Menlo" panose="020B0609030804020204" pitchFamily="49" charset="0"/>
              </a:rPr>
              <a:t> </a:t>
            </a:r>
            <a:r>
              <a:rPr lang="en-IN" sz="1600" dirty="0">
                <a:solidFill>
                  <a:srgbClr val="AF00DB"/>
                </a:solidFill>
                <a:latin typeface="Menlo" panose="020B0609030804020204" pitchFamily="49" charset="0"/>
              </a:rPr>
              <a:t>import</a:t>
            </a:r>
            <a:r>
              <a:rPr lang="en-IN" sz="1600" dirty="0">
                <a:solidFill>
                  <a:srgbClr val="000000"/>
                </a:solidFill>
                <a:latin typeface="Menlo" panose="020B0609030804020204" pitchFamily="49" charset="0"/>
              </a:rPr>
              <a:t> </a:t>
            </a:r>
            <a:r>
              <a:rPr lang="en-IN" sz="1600" dirty="0">
                <a:solidFill>
                  <a:srgbClr val="267F99"/>
                </a:solidFill>
                <a:latin typeface="Menlo" panose="020B0609030804020204" pitchFamily="49" charset="0"/>
              </a:rPr>
              <a:t>DBSCAN</a:t>
            </a:r>
            <a:endParaRPr lang="en-IN" sz="1600" dirty="0">
              <a:solidFill>
                <a:srgbClr val="000000"/>
              </a:solidFill>
              <a:latin typeface="Menlo" panose="020B0609030804020204" pitchFamily="49" charset="0"/>
            </a:endParaRPr>
          </a:p>
          <a:p>
            <a:r>
              <a:rPr lang="en-IN" sz="1600" dirty="0">
                <a:solidFill>
                  <a:srgbClr val="000000"/>
                </a:solidFill>
                <a:latin typeface="Menlo" panose="020B0609030804020204" pitchFamily="49" charset="0"/>
              </a:rPr>
              <a:t/>
            </a:r>
            <a:br>
              <a:rPr lang="en-IN" sz="1600" dirty="0">
                <a:solidFill>
                  <a:srgbClr val="000000"/>
                </a:solidFill>
                <a:latin typeface="Menlo" panose="020B0609030804020204" pitchFamily="49" charset="0"/>
              </a:rPr>
            </a:br>
            <a:r>
              <a:rPr lang="en-IN" sz="1600" dirty="0">
                <a:solidFill>
                  <a:srgbClr val="0070C1"/>
                </a:solidFill>
                <a:latin typeface="Menlo" panose="020B0609030804020204" pitchFamily="49" charset="0"/>
              </a:rPr>
              <a:t>X</a:t>
            </a:r>
            <a:r>
              <a:rPr lang="en-IN" sz="1600" dirty="0">
                <a:solidFill>
                  <a:srgbClr val="000000"/>
                </a:solidFill>
                <a:latin typeface="Menlo" panose="020B0609030804020204" pitchFamily="49" charset="0"/>
              </a:rPr>
              <a:t>, </a:t>
            </a:r>
            <a:r>
              <a:rPr lang="en-IN" sz="1600" dirty="0">
                <a:solidFill>
                  <a:srgbClr val="001080"/>
                </a:solidFill>
                <a:latin typeface="Menlo" panose="020B0609030804020204" pitchFamily="49" charset="0"/>
              </a:rPr>
              <a:t>y</a:t>
            </a:r>
            <a:r>
              <a:rPr lang="en-IN" sz="1600" dirty="0">
                <a:solidFill>
                  <a:srgbClr val="000000"/>
                </a:solidFill>
                <a:latin typeface="Menlo" panose="020B0609030804020204" pitchFamily="49" charset="0"/>
              </a:rPr>
              <a:t> = </a:t>
            </a:r>
            <a:r>
              <a:rPr lang="en-IN" sz="1600" dirty="0" err="1">
                <a:solidFill>
                  <a:srgbClr val="795E26"/>
                </a:solidFill>
                <a:latin typeface="Menlo" panose="020B0609030804020204" pitchFamily="49" charset="0"/>
              </a:rPr>
              <a:t>make_moons</a:t>
            </a:r>
            <a:r>
              <a:rPr lang="en-IN" sz="1600" dirty="0">
                <a:solidFill>
                  <a:srgbClr val="000000"/>
                </a:solidFill>
                <a:latin typeface="Menlo" panose="020B0609030804020204" pitchFamily="49" charset="0"/>
              </a:rPr>
              <a:t>(</a:t>
            </a:r>
            <a:r>
              <a:rPr lang="en-IN" sz="1600" dirty="0" err="1">
                <a:solidFill>
                  <a:srgbClr val="001080"/>
                </a:solidFill>
                <a:latin typeface="Menlo" panose="020B0609030804020204" pitchFamily="49" charset="0"/>
              </a:rPr>
              <a:t>n_samples</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300</a:t>
            </a:r>
            <a:r>
              <a:rPr lang="en-IN" sz="1600" dirty="0">
                <a:solidFill>
                  <a:srgbClr val="000000"/>
                </a:solidFill>
                <a:latin typeface="Menlo" panose="020B0609030804020204" pitchFamily="49" charset="0"/>
              </a:rPr>
              <a:t>, </a:t>
            </a:r>
            <a:r>
              <a:rPr lang="en-IN" sz="1600" dirty="0">
                <a:solidFill>
                  <a:srgbClr val="001080"/>
                </a:solidFill>
                <a:latin typeface="Menlo" panose="020B0609030804020204" pitchFamily="49" charset="0"/>
              </a:rPr>
              <a:t>noise</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0.1</a:t>
            </a:r>
            <a:r>
              <a:rPr lang="en-IN" sz="1600" dirty="0">
                <a:solidFill>
                  <a:srgbClr val="000000"/>
                </a:solidFill>
                <a:latin typeface="Menlo" panose="020B0609030804020204" pitchFamily="49" charset="0"/>
              </a:rPr>
              <a:t>, </a:t>
            </a:r>
            <a:r>
              <a:rPr lang="en-IN" sz="1600" dirty="0" err="1">
                <a:solidFill>
                  <a:srgbClr val="001080"/>
                </a:solidFill>
                <a:latin typeface="Menlo" panose="020B0609030804020204" pitchFamily="49" charset="0"/>
              </a:rPr>
              <a:t>random_state</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42</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a:r>
            <a:br>
              <a:rPr lang="en-IN" sz="1600" dirty="0">
                <a:solidFill>
                  <a:srgbClr val="000000"/>
                </a:solidFill>
                <a:latin typeface="Menlo" panose="020B0609030804020204" pitchFamily="49" charset="0"/>
              </a:rPr>
            </a:br>
            <a:r>
              <a:rPr lang="en-IN" sz="1600" dirty="0" err="1">
                <a:solidFill>
                  <a:srgbClr val="001080"/>
                </a:solidFill>
                <a:latin typeface="Menlo" panose="020B0609030804020204" pitchFamily="49" charset="0"/>
              </a:rPr>
              <a:t>dbscan</a:t>
            </a:r>
            <a:r>
              <a:rPr lang="en-IN" sz="1600" dirty="0">
                <a:solidFill>
                  <a:srgbClr val="000000"/>
                </a:solidFill>
                <a:latin typeface="Menlo" panose="020B0609030804020204" pitchFamily="49" charset="0"/>
              </a:rPr>
              <a:t> = </a:t>
            </a:r>
            <a:r>
              <a:rPr lang="en-IN" sz="1600" dirty="0">
                <a:solidFill>
                  <a:srgbClr val="267F99"/>
                </a:solidFill>
                <a:latin typeface="Menlo" panose="020B0609030804020204" pitchFamily="49" charset="0"/>
              </a:rPr>
              <a:t>DBSCAN</a:t>
            </a:r>
            <a:r>
              <a:rPr lang="en-IN" sz="1600" dirty="0">
                <a:solidFill>
                  <a:srgbClr val="000000"/>
                </a:solidFill>
                <a:latin typeface="Menlo" panose="020B0609030804020204" pitchFamily="49" charset="0"/>
              </a:rPr>
              <a:t>(</a:t>
            </a:r>
            <a:r>
              <a:rPr lang="en-IN" sz="1600" dirty="0">
                <a:solidFill>
                  <a:srgbClr val="001080"/>
                </a:solidFill>
                <a:latin typeface="Menlo" panose="020B0609030804020204" pitchFamily="49" charset="0"/>
              </a:rPr>
              <a:t>eps</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0.2</a:t>
            </a:r>
            <a:r>
              <a:rPr lang="en-IN" sz="1600" dirty="0">
                <a:solidFill>
                  <a:srgbClr val="000000"/>
                </a:solidFill>
                <a:latin typeface="Menlo" panose="020B0609030804020204" pitchFamily="49" charset="0"/>
              </a:rPr>
              <a:t>, </a:t>
            </a:r>
            <a:r>
              <a:rPr lang="en-IN" sz="1600" dirty="0" err="1">
                <a:solidFill>
                  <a:srgbClr val="001080"/>
                </a:solidFill>
                <a:latin typeface="Menlo" panose="020B0609030804020204" pitchFamily="49" charset="0"/>
              </a:rPr>
              <a:t>min_samples</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5</a:t>
            </a:r>
            <a:r>
              <a:rPr lang="en-IN" sz="1600" dirty="0">
                <a:solidFill>
                  <a:srgbClr val="000000"/>
                </a:solidFill>
                <a:latin typeface="Menlo" panose="020B0609030804020204" pitchFamily="49" charset="0"/>
              </a:rPr>
              <a:t>) </a:t>
            </a:r>
          </a:p>
          <a:p>
            <a:r>
              <a:rPr lang="en-IN" sz="1600" dirty="0">
                <a:solidFill>
                  <a:srgbClr val="001080"/>
                </a:solidFill>
                <a:latin typeface="Menlo" panose="020B0609030804020204" pitchFamily="49" charset="0"/>
              </a:rPr>
              <a:t>labels</a:t>
            </a:r>
            <a:r>
              <a:rPr lang="en-IN" sz="1600" dirty="0">
                <a:solidFill>
                  <a:srgbClr val="000000"/>
                </a:solidFill>
                <a:latin typeface="Menlo" panose="020B0609030804020204" pitchFamily="49" charset="0"/>
              </a:rPr>
              <a:t> = </a:t>
            </a:r>
            <a:r>
              <a:rPr lang="en-IN" sz="1600" dirty="0" err="1">
                <a:solidFill>
                  <a:srgbClr val="001080"/>
                </a:solidFill>
                <a:latin typeface="Menlo" panose="020B0609030804020204" pitchFamily="49" charset="0"/>
              </a:rPr>
              <a:t>dbscan</a:t>
            </a:r>
            <a:r>
              <a:rPr lang="en-IN" sz="1600" dirty="0" err="1">
                <a:solidFill>
                  <a:srgbClr val="000000"/>
                </a:solidFill>
                <a:latin typeface="Menlo" panose="020B0609030804020204" pitchFamily="49" charset="0"/>
              </a:rPr>
              <a:t>.</a:t>
            </a:r>
            <a:r>
              <a:rPr lang="en-IN" sz="1600" dirty="0" err="1">
                <a:solidFill>
                  <a:srgbClr val="795E26"/>
                </a:solidFill>
                <a:latin typeface="Menlo" panose="020B0609030804020204" pitchFamily="49" charset="0"/>
              </a:rPr>
              <a:t>fit_predict</a:t>
            </a:r>
            <a:r>
              <a:rPr lang="en-IN" sz="1600" dirty="0">
                <a:solidFill>
                  <a:srgbClr val="000000"/>
                </a:solidFill>
                <a:latin typeface="Menlo" panose="020B0609030804020204" pitchFamily="49" charset="0"/>
              </a:rPr>
              <a:t>(</a:t>
            </a:r>
            <a:r>
              <a:rPr lang="en-IN" sz="1600" dirty="0">
                <a:solidFill>
                  <a:srgbClr val="0070C1"/>
                </a:solidFill>
                <a:latin typeface="Menlo" panose="020B0609030804020204" pitchFamily="49" charset="0"/>
              </a:rPr>
              <a:t>X</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a:r>
            <a:br>
              <a:rPr lang="en-IN" sz="1600" dirty="0">
                <a:solidFill>
                  <a:srgbClr val="000000"/>
                </a:solidFill>
                <a:latin typeface="Menlo" panose="020B0609030804020204" pitchFamily="49" charset="0"/>
              </a:rPr>
            </a:br>
            <a:r>
              <a:rPr lang="en-IN" sz="1600" dirty="0" err="1">
                <a:solidFill>
                  <a:srgbClr val="267F99"/>
                </a:solidFill>
                <a:latin typeface="Menlo" panose="020B0609030804020204" pitchFamily="49" charset="0"/>
              </a:rPr>
              <a:t>plt</a:t>
            </a:r>
            <a:r>
              <a:rPr lang="en-IN" sz="1600" dirty="0" err="1">
                <a:solidFill>
                  <a:srgbClr val="000000"/>
                </a:solidFill>
                <a:latin typeface="Menlo" panose="020B0609030804020204" pitchFamily="49" charset="0"/>
              </a:rPr>
              <a:t>.</a:t>
            </a:r>
            <a:r>
              <a:rPr lang="en-IN" sz="1600" dirty="0" err="1">
                <a:solidFill>
                  <a:srgbClr val="795E26"/>
                </a:solidFill>
                <a:latin typeface="Menlo" panose="020B0609030804020204" pitchFamily="49" charset="0"/>
              </a:rPr>
              <a:t>scatter</a:t>
            </a:r>
            <a:r>
              <a:rPr lang="en-IN" sz="1600" dirty="0">
                <a:solidFill>
                  <a:srgbClr val="000000"/>
                </a:solidFill>
                <a:latin typeface="Menlo" panose="020B0609030804020204" pitchFamily="49" charset="0"/>
              </a:rPr>
              <a:t>(</a:t>
            </a:r>
            <a:r>
              <a:rPr lang="en-IN" sz="1600" dirty="0">
                <a:solidFill>
                  <a:srgbClr val="0070C1"/>
                </a:solidFill>
                <a:latin typeface="Menlo" panose="020B0609030804020204" pitchFamily="49" charset="0"/>
              </a:rPr>
              <a:t>X</a:t>
            </a:r>
            <a:r>
              <a:rPr lang="en-IN" sz="1600" dirty="0">
                <a:solidFill>
                  <a:srgbClr val="000000"/>
                </a:solidFill>
                <a:latin typeface="Menlo" panose="020B0609030804020204" pitchFamily="49" charset="0"/>
              </a:rPr>
              <a:t>[:, </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 </a:t>
            </a:r>
            <a:r>
              <a:rPr lang="en-IN" sz="1600" dirty="0">
                <a:solidFill>
                  <a:srgbClr val="0070C1"/>
                </a:solidFill>
                <a:latin typeface="Menlo" panose="020B0609030804020204" pitchFamily="49" charset="0"/>
              </a:rPr>
              <a:t>X</a:t>
            </a:r>
            <a:r>
              <a:rPr lang="en-IN" sz="1600" dirty="0">
                <a:solidFill>
                  <a:srgbClr val="000000"/>
                </a:solidFill>
                <a:latin typeface="Menlo" panose="020B0609030804020204" pitchFamily="49" charset="0"/>
              </a:rPr>
              <a:t>[:, </a:t>
            </a:r>
            <a:r>
              <a:rPr lang="en-IN" sz="1600" dirty="0">
                <a:solidFill>
                  <a:srgbClr val="098658"/>
                </a:solidFill>
                <a:latin typeface="Menlo" panose="020B0609030804020204" pitchFamily="49" charset="0"/>
              </a:rPr>
              <a:t>1</a:t>
            </a:r>
            <a:r>
              <a:rPr lang="en-IN" sz="1600" dirty="0">
                <a:solidFill>
                  <a:srgbClr val="000000"/>
                </a:solidFill>
                <a:latin typeface="Menlo" panose="020B0609030804020204" pitchFamily="49" charset="0"/>
              </a:rPr>
              <a:t>], </a:t>
            </a:r>
            <a:r>
              <a:rPr lang="en-IN" sz="1600" dirty="0">
                <a:solidFill>
                  <a:srgbClr val="001080"/>
                </a:solidFill>
                <a:latin typeface="Menlo" panose="020B0609030804020204" pitchFamily="49" charset="0"/>
              </a:rPr>
              <a:t>c</a:t>
            </a:r>
            <a:r>
              <a:rPr lang="en-IN" sz="1600" dirty="0">
                <a:solidFill>
                  <a:srgbClr val="000000"/>
                </a:solidFill>
                <a:latin typeface="Menlo" panose="020B0609030804020204" pitchFamily="49" charset="0"/>
              </a:rPr>
              <a:t>=</a:t>
            </a:r>
            <a:r>
              <a:rPr lang="en-IN" sz="1600" dirty="0">
                <a:solidFill>
                  <a:srgbClr val="001080"/>
                </a:solidFill>
                <a:latin typeface="Menlo" panose="020B0609030804020204" pitchFamily="49" charset="0"/>
              </a:rPr>
              <a:t>labels</a:t>
            </a:r>
            <a:r>
              <a:rPr lang="en-IN" sz="1600" dirty="0">
                <a:solidFill>
                  <a:srgbClr val="000000"/>
                </a:solidFill>
                <a:latin typeface="Menlo" panose="020B0609030804020204" pitchFamily="49" charset="0"/>
              </a:rPr>
              <a:t>, </a:t>
            </a:r>
            <a:r>
              <a:rPr lang="en-IN" sz="1600" dirty="0" err="1">
                <a:solidFill>
                  <a:srgbClr val="001080"/>
                </a:solidFill>
                <a:latin typeface="Menlo" panose="020B0609030804020204" pitchFamily="49" charset="0"/>
              </a:rPr>
              <a:t>cmap</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a:t>
            </a:r>
            <a:r>
              <a:rPr lang="en-IN" sz="1600" dirty="0" err="1">
                <a:solidFill>
                  <a:srgbClr val="A31515"/>
                </a:solidFill>
                <a:latin typeface="Menlo" panose="020B0609030804020204" pitchFamily="49" charset="0"/>
              </a:rPr>
              <a:t>viridis</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 </a:t>
            </a:r>
            <a:r>
              <a:rPr lang="en-IN" sz="1600" dirty="0" err="1">
                <a:solidFill>
                  <a:srgbClr val="001080"/>
                </a:solidFill>
                <a:latin typeface="Menlo" panose="020B0609030804020204" pitchFamily="49" charset="0"/>
              </a:rPr>
              <a:t>edgecolors</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'k'</a:t>
            </a:r>
            <a:r>
              <a:rPr lang="en-IN" sz="1600" dirty="0">
                <a:solidFill>
                  <a:srgbClr val="000000"/>
                </a:solidFill>
                <a:latin typeface="Menlo" panose="020B0609030804020204" pitchFamily="49" charset="0"/>
              </a:rPr>
              <a:t>, </a:t>
            </a:r>
            <a:r>
              <a:rPr lang="en-IN" sz="1600" dirty="0">
                <a:solidFill>
                  <a:srgbClr val="001080"/>
                </a:solidFill>
                <a:latin typeface="Menlo" panose="020B0609030804020204" pitchFamily="49" charset="0"/>
              </a:rPr>
              <a:t>alpha</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0.7</a:t>
            </a:r>
            <a:r>
              <a:rPr lang="en-IN" sz="1600" dirty="0">
                <a:solidFill>
                  <a:srgbClr val="000000"/>
                </a:solidFill>
                <a:latin typeface="Menlo" panose="020B0609030804020204" pitchFamily="49" charset="0"/>
              </a:rPr>
              <a:t>)</a:t>
            </a:r>
          </a:p>
          <a:p>
            <a:r>
              <a:rPr lang="en-IN" sz="1600" dirty="0" err="1">
                <a:solidFill>
                  <a:srgbClr val="267F99"/>
                </a:solidFill>
                <a:latin typeface="Menlo" panose="020B0609030804020204" pitchFamily="49" charset="0"/>
              </a:rPr>
              <a:t>plt</a:t>
            </a:r>
            <a:r>
              <a:rPr lang="en-IN" sz="1600" dirty="0" err="1">
                <a:solidFill>
                  <a:srgbClr val="000000"/>
                </a:solidFill>
                <a:latin typeface="Menlo" panose="020B0609030804020204" pitchFamily="49" charset="0"/>
              </a:rPr>
              <a:t>.</a:t>
            </a:r>
            <a:r>
              <a:rPr lang="en-IN" sz="1600" dirty="0" err="1">
                <a:solidFill>
                  <a:srgbClr val="795E26"/>
                </a:solidFill>
                <a:latin typeface="Menlo" panose="020B0609030804020204" pitchFamily="49" charset="0"/>
              </a:rPr>
              <a:t>savefig</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a:t>
            </a:r>
            <a:r>
              <a:rPr lang="en-IN" sz="1600" dirty="0" err="1">
                <a:solidFill>
                  <a:srgbClr val="A31515"/>
                </a:solidFill>
                <a:latin typeface="Menlo" panose="020B0609030804020204" pitchFamily="49" charset="0"/>
              </a:rPr>
              <a:t>abc.png</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a:t>
            </a:r>
          </a:p>
        </p:txBody>
      </p:sp>
      <p:sp>
        <p:nvSpPr>
          <p:cNvPr id="5" name="Rectangle 4">
            <a:extLst>
              <a:ext uri="{FF2B5EF4-FFF2-40B4-BE49-F238E27FC236}">
                <a16:creationId xmlns:a16="http://schemas.microsoft.com/office/drawing/2014/main" id="{EE739CAB-E4FF-8669-5A23-6EAF428E5691}"/>
              </a:ext>
            </a:extLst>
          </p:cNvPr>
          <p:cNvSpPr/>
          <p:nvPr/>
        </p:nvSpPr>
        <p:spPr>
          <a:xfrm>
            <a:off x="215071" y="1122101"/>
            <a:ext cx="499993" cy="353943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endParaRPr lang="en-IN" sz="1600" b="1" dirty="0">
              <a:solidFill>
                <a:schemeClr val="tx1">
                  <a:lumMod val="75000"/>
                  <a:lumOff val="25000"/>
                </a:schemeClr>
              </a:solidFill>
              <a:latin typeface="Consolas" panose="020B0609020204030204" pitchFamily="49" charset="0"/>
            </a:endParaRP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endParaRPr lang="en-IN" sz="1600" b="1" dirty="0">
              <a:solidFill>
                <a:schemeClr val="tx1">
                  <a:lumMod val="75000"/>
                  <a:lumOff val="25000"/>
                </a:schemeClr>
              </a:solidFill>
              <a:latin typeface="Consolas" panose="020B0609020204030204" pitchFamily="49" charset="0"/>
            </a:endParaRPr>
          </a:p>
          <a:p>
            <a:pPr algn="r"/>
            <a:r>
              <a:rPr lang="en-IN" sz="1600" b="1" dirty="0">
                <a:solidFill>
                  <a:schemeClr val="tx1">
                    <a:lumMod val="75000"/>
                    <a:lumOff val="25000"/>
                  </a:schemeClr>
                </a:solidFill>
                <a:latin typeface="Consolas" panose="020B0609020204030204" pitchFamily="49" charset="0"/>
              </a:rPr>
              <a:t>12</a:t>
            </a:r>
          </a:p>
        </p:txBody>
      </p:sp>
      <p:sp>
        <p:nvSpPr>
          <p:cNvPr id="6" name="Rectangle: Top Corners Rounded 6">
            <a:extLst>
              <a:ext uri="{FF2B5EF4-FFF2-40B4-BE49-F238E27FC236}">
                <a16:creationId xmlns:a16="http://schemas.microsoft.com/office/drawing/2014/main" id="{DC33AB87-CEC6-EE16-7345-3B3A09874DDF}"/>
              </a:ext>
            </a:extLst>
          </p:cNvPr>
          <p:cNvSpPr/>
          <p:nvPr/>
        </p:nvSpPr>
        <p:spPr>
          <a:xfrm>
            <a:off x="215071" y="79291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t>DBSCAN</a:t>
            </a:r>
            <a:r>
              <a:rPr lang="en-US" sz="1600" dirty="0" err="1">
                <a:solidFill>
                  <a:schemeClr val="bg1"/>
                </a:solidFill>
              </a:rPr>
              <a:t>.py</a:t>
            </a:r>
            <a:endParaRPr lang="en-US" sz="1600" dirty="0">
              <a:solidFill>
                <a:schemeClr val="bg1"/>
              </a:solidFill>
            </a:endParaRPr>
          </a:p>
        </p:txBody>
      </p:sp>
      <p:pic>
        <p:nvPicPr>
          <p:cNvPr id="7" name="Picture 6">
            <a:extLst>
              <a:ext uri="{FF2B5EF4-FFF2-40B4-BE49-F238E27FC236}">
                <a16:creationId xmlns:a16="http://schemas.microsoft.com/office/drawing/2014/main" id="{FC343185-C86B-8CC7-9222-D6A594E395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6155" y="792917"/>
            <a:ext cx="5585178" cy="4188884"/>
          </a:xfrm>
          <a:prstGeom prst="rect">
            <a:avLst/>
          </a:prstGeom>
        </p:spPr>
      </p:pic>
    </p:spTree>
    <p:extLst>
      <p:ext uri="{BB962C8B-B14F-4D97-AF65-F5344CB8AC3E}">
        <p14:creationId xmlns:p14="http://schemas.microsoft.com/office/powerpoint/2010/main" val="389731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7A4C-46DC-6F7F-0C55-ED23AB72947B}"/>
              </a:ext>
            </a:extLst>
          </p:cNvPr>
          <p:cNvSpPr>
            <a:spLocks noGrp="1"/>
          </p:cNvSpPr>
          <p:nvPr>
            <p:ph type="title"/>
          </p:nvPr>
        </p:nvSpPr>
        <p:spPr/>
        <p:txBody>
          <a:bodyPr>
            <a:normAutofit/>
          </a:bodyPr>
          <a:lstStyle/>
          <a:p>
            <a:r>
              <a:rPr lang="en-US" dirty="0"/>
              <a:t>What Are Outliers ?</a:t>
            </a:r>
          </a:p>
        </p:txBody>
      </p:sp>
      <p:sp>
        <p:nvSpPr>
          <p:cNvPr id="3" name="Content Placeholder 2">
            <a:extLst>
              <a:ext uri="{FF2B5EF4-FFF2-40B4-BE49-F238E27FC236}">
                <a16:creationId xmlns:a16="http://schemas.microsoft.com/office/drawing/2014/main" id="{56566B00-31E3-ECBD-8B83-E95E4502DB31}"/>
              </a:ext>
            </a:extLst>
          </p:cNvPr>
          <p:cNvSpPr>
            <a:spLocks noGrp="1"/>
          </p:cNvSpPr>
          <p:nvPr>
            <p:ph idx="1"/>
          </p:nvPr>
        </p:nvSpPr>
        <p:spPr/>
        <p:txBody>
          <a:bodyPr/>
          <a:lstStyle/>
          <a:p>
            <a:r>
              <a:rPr lang="en-US" dirty="0"/>
              <a:t>Assume that a given </a:t>
            </a:r>
            <a:r>
              <a:rPr lang="en-US" dirty="0">
                <a:solidFill>
                  <a:schemeClr val="accent6"/>
                </a:solidFill>
              </a:rPr>
              <a:t>statistical process </a:t>
            </a:r>
            <a:r>
              <a:rPr lang="en-US" dirty="0"/>
              <a:t>is used to generate a </a:t>
            </a:r>
            <a:r>
              <a:rPr lang="en-US" dirty="0">
                <a:solidFill>
                  <a:schemeClr val="accent6"/>
                </a:solidFill>
              </a:rPr>
              <a:t>set of data objects</a:t>
            </a:r>
            <a:r>
              <a:rPr lang="en-US" dirty="0"/>
              <a:t>. </a:t>
            </a:r>
          </a:p>
          <a:p>
            <a:r>
              <a:rPr lang="en-US" dirty="0"/>
              <a:t>An outlier is a data </a:t>
            </a:r>
            <a:r>
              <a:rPr lang="en-US" dirty="0">
                <a:solidFill>
                  <a:schemeClr val="accent6"/>
                </a:solidFill>
              </a:rPr>
              <a:t>object that deviates significantly from the rest of the objects</a:t>
            </a:r>
            <a:r>
              <a:rPr lang="en-US" dirty="0"/>
              <a:t>, as if it were generated </a:t>
            </a:r>
            <a:r>
              <a:rPr lang="en-US" dirty="0">
                <a:solidFill>
                  <a:schemeClr val="accent6"/>
                </a:solidFill>
              </a:rPr>
              <a:t>by a different mechanism</a:t>
            </a:r>
            <a:r>
              <a:rPr lang="en-US" dirty="0"/>
              <a:t>.</a:t>
            </a:r>
          </a:p>
          <a:p>
            <a:r>
              <a:rPr lang="en-US" dirty="0">
                <a:solidFill>
                  <a:schemeClr val="accent6"/>
                </a:solidFill>
              </a:rPr>
              <a:t>Outliers</a:t>
            </a:r>
            <a:r>
              <a:rPr lang="en-US" dirty="0"/>
              <a:t> are different from </a:t>
            </a:r>
            <a:r>
              <a:rPr lang="en-US" dirty="0">
                <a:solidFill>
                  <a:schemeClr val="accent6"/>
                </a:solidFill>
              </a:rPr>
              <a:t>noisy</a:t>
            </a:r>
            <a:r>
              <a:rPr lang="en-US" dirty="0"/>
              <a:t> data. </a:t>
            </a:r>
          </a:p>
          <a:p>
            <a:pPr lvl="1"/>
            <a:r>
              <a:rPr lang="en-US" dirty="0"/>
              <a:t>noise is </a:t>
            </a:r>
            <a:r>
              <a:rPr lang="en-US" dirty="0">
                <a:solidFill>
                  <a:schemeClr val="accent6"/>
                </a:solidFill>
              </a:rPr>
              <a:t>a random error or variance in a measured variable</a:t>
            </a:r>
            <a:r>
              <a:rPr lang="en-US" dirty="0"/>
              <a:t>. </a:t>
            </a:r>
          </a:p>
          <a:p>
            <a:pPr lvl="1"/>
            <a:r>
              <a:rPr lang="en-US" dirty="0"/>
              <a:t>Noise should be </a:t>
            </a:r>
            <a:r>
              <a:rPr lang="en-US" dirty="0">
                <a:solidFill>
                  <a:schemeClr val="accent6"/>
                </a:solidFill>
              </a:rPr>
              <a:t>removed before outlier detection</a:t>
            </a:r>
          </a:p>
          <a:p>
            <a:pPr lvl="1"/>
            <a:r>
              <a:rPr lang="en-US" dirty="0"/>
              <a:t>In general, noise is </a:t>
            </a:r>
            <a:r>
              <a:rPr lang="en-US" dirty="0">
                <a:solidFill>
                  <a:schemeClr val="accent6"/>
                </a:solidFill>
              </a:rPr>
              <a:t>not interesting </a:t>
            </a:r>
            <a:r>
              <a:rPr lang="en-US" dirty="0"/>
              <a:t>in data analysis, including </a:t>
            </a:r>
            <a:r>
              <a:rPr lang="en-US" dirty="0">
                <a:solidFill>
                  <a:schemeClr val="accent6"/>
                </a:solidFill>
              </a:rPr>
              <a:t>outlier detection</a:t>
            </a:r>
            <a:r>
              <a:rPr lang="en-US" dirty="0"/>
              <a:t>. </a:t>
            </a:r>
          </a:p>
          <a:p>
            <a:pPr lvl="1"/>
            <a:r>
              <a:rPr lang="en-US" dirty="0"/>
              <a:t>Outliers are interesting because they are suspected of not being generated by the same mechanisms as the </a:t>
            </a:r>
            <a:r>
              <a:rPr lang="en-US" dirty="0">
                <a:solidFill>
                  <a:schemeClr val="accent6"/>
                </a:solidFill>
              </a:rPr>
              <a:t>rest of the data</a:t>
            </a:r>
            <a:r>
              <a:rPr lang="en-US" dirty="0"/>
              <a:t>. </a:t>
            </a:r>
          </a:p>
          <a:p>
            <a:r>
              <a:rPr lang="en-US" dirty="0"/>
              <a:t>Outliers are interesting:  It </a:t>
            </a:r>
            <a:r>
              <a:rPr lang="en-US" dirty="0">
                <a:solidFill>
                  <a:schemeClr val="accent6"/>
                </a:solidFill>
              </a:rPr>
              <a:t>violates the mechanism that generates </a:t>
            </a:r>
            <a:r>
              <a:rPr lang="en-US" dirty="0"/>
              <a:t>the normal data</a:t>
            </a:r>
          </a:p>
          <a:p>
            <a:pPr lvl="1"/>
            <a:endParaRPr lang="en-US" dirty="0"/>
          </a:p>
          <a:p>
            <a:pPr lvl="1"/>
            <a:endParaRPr lang="en-US" dirty="0"/>
          </a:p>
          <a:p>
            <a:endParaRPr lang="en-US" dirty="0"/>
          </a:p>
        </p:txBody>
      </p:sp>
      <p:pic>
        <p:nvPicPr>
          <p:cNvPr id="4" name="Picture 8">
            <a:extLst>
              <a:ext uri="{FF2B5EF4-FFF2-40B4-BE49-F238E27FC236}">
                <a16:creationId xmlns:a16="http://schemas.microsoft.com/office/drawing/2014/main" id="{61B63660-8A9B-FD51-6438-CA3AA69E1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4663" y="4595936"/>
            <a:ext cx="2295332" cy="1694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712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A4CC9-AA4F-5CF9-F16F-9788542EF1DD}"/>
              </a:ext>
            </a:extLst>
          </p:cNvPr>
          <p:cNvSpPr>
            <a:spLocks noGrp="1"/>
          </p:cNvSpPr>
          <p:nvPr>
            <p:ph type="title"/>
          </p:nvPr>
        </p:nvSpPr>
        <p:spPr/>
        <p:txBody>
          <a:bodyPr/>
          <a:lstStyle/>
          <a:p>
            <a:r>
              <a:rPr lang="en-US" dirty="0"/>
              <a:t>What Are Outliers ?</a:t>
            </a:r>
          </a:p>
        </p:txBody>
      </p:sp>
      <p:sp>
        <p:nvSpPr>
          <p:cNvPr id="3" name="Content Placeholder 2">
            <a:extLst>
              <a:ext uri="{FF2B5EF4-FFF2-40B4-BE49-F238E27FC236}">
                <a16:creationId xmlns:a16="http://schemas.microsoft.com/office/drawing/2014/main" id="{12F7F762-26D4-2923-DA06-5E847215578A}"/>
              </a:ext>
            </a:extLst>
          </p:cNvPr>
          <p:cNvSpPr>
            <a:spLocks noGrp="1"/>
          </p:cNvSpPr>
          <p:nvPr>
            <p:ph idx="1"/>
          </p:nvPr>
        </p:nvSpPr>
        <p:spPr/>
        <p:txBody>
          <a:bodyPr/>
          <a:lstStyle/>
          <a:p>
            <a:r>
              <a:rPr lang="en-US" altLang="en-US" sz="2400" dirty="0"/>
              <a:t>Applications </a:t>
            </a:r>
          </a:p>
          <a:p>
            <a:pPr lvl="1"/>
            <a:r>
              <a:rPr lang="en-US" dirty="0"/>
              <a:t>Credit </a:t>
            </a:r>
            <a:r>
              <a:rPr lang="en-US" dirty="0">
                <a:solidFill>
                  <a:schemeClr val="accent6"/>
                </a:solidFill>
              </a:rPr>
              <a:t>card fraud detection</a:t>
            </a:r>
          </a:p>
          <a:p>
            <a:pPr lvl="1"/>
            <a:r>
              <a:rPr lang="en-US" dirty="0">
                <a:solidFill>
                  <a:schemeClr val="accent6"/>
                </a:solidFill>
              </a:rPr>
              <a:t>Telecom fraud detection</a:t>
            </a:r>
          </a:p>
          <a:p>
            <a:pPr lvl="1"/>
            <a:r>
              <a:rPr lang="en-US" dirty="0"/>
              <a:t>Customer </a:t>
            </a:r>
            <a:r>
              <a:rPr lang="en-US" dirty="0">
                <a:solidFill>
                  <a:schemeClr val="accent6"/>
                </a:solidFill>
              </a:rPr>
              <a:t>segmentation</a:t>
            </a:r>
          </a:p>
          <a:p>
            <a:pPr lvl="1"/>
            <a:r>
              <a:rPr lang="en-US" dirty="0">
                <a:solidFill>
                  <a:schemeClr val="accent6"/>
                </a:solidFill>
              </a:rPr>
              <a:t>Medical analysis</a:t>
            </a:r>
          </a:p>
          <a:p>
            <a:endParaRPr lang="en-US" dirty="0"/>
          </a:p>
        </p:txBody>
      </p:sp>
    </p:spTree>
    <p:extLst>
      <p:ext uri="{BB962C8B-B14F-4D97-AF65-F5344CB8AC3E}">
        <p14:creationId xmlns:p14="http://schemas.microsoft.com/office/powerpoint/2010/main" val="184533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62FCE-042A-ED2E-2076-D899FB0C6670}"/>
              </a:ext>
            </a:extLst>
          </p:cNvPr>
          <p:cNvSpPr>
            <a:spLocks noGrp="1"/>
          </p:cNvSpPr>
          <p:nvPr>
            <p:ph type="title"/>
          </p:nvPr>
        </p:nvSpPr>
        <p:spPr/>
        <p:txBody>
          <a:bodyPr/>
          <a:lstStyle/>
          <a:p>
            <a:r>
              <a:rPr lang="en-US" altLang="en-US" dirty="0"/>
              <a:t>Types of Outliers</a:t>
            </a:r>
            <a:endParaRPr lang="en-US" dirty="0"/>
          </a:p>
        </p:txBody>
      </p:sp>
      <p:sp>
        <p:nvSpPr>
          <p:cNvPr id="3" name="Content Placeholder 2">
            <a:extLst>
              <a:ext uri="{FF2B5EF4-FFF2-40B4-BE49-F238E27FC236}">
                <a16:creationId xmlns:a16="http://schemas.microsoft.com/office/drawing/2014/main" id="{C3B1E385-5889-AC31-37EB-F1EFF57E93A3}"/>
              </a:ext>
            </a:extLst>
          </p:cNvPr>
          <p:cNvSpPr>
            <a:spLocks noGrp="1"/>
          </p:cNvSpPr>
          <p:nvPr>
            <p:ph idx="1"/>
          </p:nvPr>
        </p:nvSpPr>
        <p:spPr/>
        <p:txBody>
          <a:bodyPr/>
          <a:lstStyle/>
          <a:p>
            <a:r>
              <a:rPr lang="en-US" dirty="0"/>
              <a:t>Three kinds: </a:t>
            </a:r>
            <a:r>
              <a:rPr lang="en-US" dirty="0">
                <a:solidFill>
                  <a:schemeClr val="accent6"/>
                </a:solidFill>
              </a:rPr>
              <a:t>global</a:t>
            </a:r>
            <a:r>
              <a:rPr lang="en-US" dirty="0"/>
              <a:t>, </a:t>
            </a:r>
            <a:r>
              <a:rPr lang="en-US" dirty="0">
                <a:solidFill>
                  <a:schemeClr val="accent6"/>
                </a:solidFill>
              </a:rPr>
              <a:t>contextual</a:t>
            </a:r>
            <a:r>
              <a:rPr lang="en-US" dirty="0"/>
              <a:t> and </a:t>
            </a:r>
            <a:r>
              <a:rPr lang="en-US" dirty="0">
                <a:solidFill>
                  <a:schemeClr val="accent6"/>
                </a:solidFill>
              </a:rPr>
              <a:t>collective outliers</a:t>
            </a:r>
          </a:p>
          <a:p>
            <a:r>
              <a:rPr lang="en-US" b="1" dirty="0"/>
              <a:t>Global outlier (or point anomaly)</a:t>
            </a:r>
          </a:p>
          <a:p>
            <a:r>
              <a:rPr lang="en-US" dirty="0"/>
              <a:t>In a </a:t>
            </a:r>
            <a:r>
              <a:rPr lang="en-US" dirty="0">
                <a:solidFill>
                  <a:schemeClr val="accent6"/>
                </a:solidFill>
              </a:rPr>
              <a:t>given data set</a:t>
            </a:r>
            <a:r>
              <a:rPr lang="en-US" dirty="0"/>
              <a:t>, a data object is a </a:t>
            </a:r>
            <a:r>
              <a:rPr lang="en-US" dirty="0">
                <a:solidFill>
                  <a:schemeClr val="accent6"/>
                </a:solidFill>
              </a:rPr>
              <a:t>global outlier if it deviates significantly from the rest of the data set. </a:t>
            </a:r>
          </a:p>
          <a:p>
            <a:r>
              <a:rPr lang="en-US" dirty="0"/>
              <a:t>Global outliers are sometimes called </a:t>
            </a:r>
            <a:r>
              <a:rPr lang="en-US" dirty="0">
                <a:solidFill>
                  <a:schemeClr val="accent6"/>
                </a:solidFill>
              </a:rPr>
              <a:t>point anomalies</a:t>
            </a:r>
            <a:r>
              <a:rPr lang="en-US" dirty="0"/>
              <a:t>, and </a:t>
            </a:r>
            <a:r>
              <a:rPr lang="en-US" dirty="0">
                <a:solidFill>
                  <a:schemeClr val="accent6"/>
                </a:solidFill>
              </a:rPr>
              <a:t>are the simplest type of outliers </a:t>
            </a:r>
          </a:p>
          <a:p>
            <a:r>
              <a:rPr lang="en-US" dirty="0"/>
              <a:t>Most outlier </a:t>
            </a:r>
            <a:r>
              <a:rPr lang="en-US" dirty="0">
                <a:solidFill>
                  <a:schemeClr val="accent6"/>
                </a:solidFill>
              </a:rPr>
              <a:t>detection methods are aimed at finding global outliers.</a:t>
            </a:r>
            <a:r>
              <a:rPr lang="en-US" dirty="0"/>
              <a:t> </a:t>
            </a:r>
          </a:p>
          <a:p>
            <a:r>
              <a:rPr lang="en-US" dirty="0"/>
              <a:t>Issue: </a:t>
            </a:r>
            <a:r>
              <a:rPr lang="en-US" dirty="0">
                <a:solidFill>
                  <a:schemeClr val="accent6"/>
                </a:solidFill>
              </a:rPr>
              <a:t>Find an appropriate measurement of deviation</a:t>
            </a:r>
          </a:p>
          <a:p>
            <a:r>
              <a:rPr lang="en-US" b="1" dirty="0"/>
              <a:t>Contextual outlier (or conditional outlier)</a:t>
            </a:r>
          </a:p>
          <a:p>
            <a:r>
              <a:rPr lang="en-US" dirty="0"/>
              <a:t>Object </a:t>
            </a:r>
            <a:r>
              <a:rPr lang="en-US" dirty="0">
                <a:solidFill>
                  <a:schemeClr val="accent6"/>
                </a:solidFill>
              </a:rPr>
              <a:t>is </a:t>
            </a:r>
            <a:r>
              <a:rPr lang="en-US" dirty="0" err="1">
                <a:solidFill>
                  <a:schemeClr val="accent6"/>
                </a:solidFill>
              </a:rPr>
              <a:t>O</a:t>
            </a:r>
            <a:r>
              <a:rPr lang="en-US" baseline="-25000" dirty="0" err="1">
                <a:solidFill>
                  <a:schemeClr val="accent6"/>
                </a:solidFill>
              </a:rPr>
              <a:t>c</a:t>
            </a:r>
            <a:r>
              <a:rPr lang="en-US" dirty="0">
                <a:solidFill>
                  <a:schemeClr val="accent6"/>
                </a:solidFill>
              </a:rPr>
              <a:t> if it deviates significantly based on a selected context</a:t>
            </a:r>
            <a:r>
              <a:rPr lang="en-US" dirty="0"/>
              <a:t>.</a:t>
            </a:r>
          </a:p>
          <a:p>
            <a:r>
              <a:rPr lang="en-US" dirty="0"/>
              <a:t>“The temperature today is 28 C. Is it exceptional (i.e., an outlier)?” It depends, for example, on the time and location! If it is in winter in Toronto, yes, it is an outlier. If it is a summer day in Toronto, then it is normal. </a:t>
            </a:r>
          </a:p>
          <a:p>
            <a:endParaRPr lang="en-US" dirty="0"/>
          </a:p>
          <a:p>
            <a:endParaRPr lang="en-US" dirty="0"/>
          </a:p>
          <a:p>
            <a:pPr lvl="1"/>
            <a:endParaRPr lang="en-US" dirty="0"/>
          </a:p>
        </p:txBody>
      </p:sp>
    </p:spTree>
    <p:extLst>
      <p:ext uri="{BB962C8B-B14F-4D97-AF65-F5344CB8AC3E}">
        <p14:creationId xmlns:p14="http://schemas.microsoft.com/office/powerpoint/2010/main" val="405537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3EF23-BBAF-9C66-0373-9536EBBBE9F8}"/>
              </a:ext>
            </a:extLst>
          </p:cNvPr>
          <p:cNvSpPr>
            <a:spLocks noGrp="1"/>
          </p:cNvSpPr>
          <p:nvPr>
            <p:ph type="title"/>
          </p:nvPr>
        </p:nvSpPr>
        <p:spPr/>
        <p:txBody>
          <a:bodyPr/>
          <a:lstStyle/>
          <a:p>
            <a:r>
              <a:rPr lang="en-US" altLang="en-US" dirty="0"/>
              <a:t>Types of Outliers</a:t>
            </a:r>
            <a:endParaRPr lang="en-US" dirty="0"/>
          </a:p>
        </p:txBody>
      </p:sp>
      <p:sp>
        <p:nvSpPr>
          <p:cNvPr id="3" name="Content Placeholder 2">
            <a:extLst>
              <a:ext uri="{FF2B5EF4-FFF2-40B4-BE49-F238E27FC236}">
                <a16:creationId xmlns:a16="http://schemas.microsoft.com/office/drawing/2014/main" id="{10AE5DF5-86AC-FC21-BC3D-1395D0BD09B5}"/>
              </a:ext>
            </a:extLst>
          </p:cNvPr>
          <p:cNvSpPr>
            <a:spLocks noGrp="1"/>
          </p:cNvSpPr>
          <p:nvPr>
            <p:ph idx="1"/>
          </p:nvPr>
        </p:nvSpPr>
        <p:spPr/>
        <p:txBody>
          <a:bodyPr/>
          <a:lstStyle/>
          <a:p>
            <a:r>
              <a:rPr lang="en-US" dirty="0"/>
              <a:t>In a given data set, a </a:t>
            </a:r>
            <a:r>
              <a:rPr lang="en-US" dirty="0">
                <a:solidFill>
                  <a:schemeClr val="accent6"/>
                </a:solidFill>
              </a:rPr>
              <a:t>data object is a contextual outlier if it deviates significantly with respect to a specific context of the object </a:t>
            </a:r>
          </a:p>
          <a:p>
            <a:r>
              <a:rPr lang="en-US" dirty="0"/>
              <a:t>Contextual outliers are also known as </a:t>
            </a:r>
            <a:r>
              <a:rPr lang="en-US" dirty="0">
                <a:solidFill>
                  <a:schemeClr val="accent6"/>
                </a:solidFill>
              </a:rPr>
              <a:t>conditional outliers because they are conditional on the selected context.</a:t>
            </a:r>
            <a:r>
              <a:rPr lang="en-US" dirty="0"/>
              <a:t> </a:t>
            </a:r>
          </a:p>
          <a:p>
            <a:r>
              <a:rPr lang="en-US" dirty="0"/>
              <a:t>Attributes of data objects </a:t>
            </a:r>
            <a:r>
              <a:rPr lang="en-US" dirty="0">
                <a:solidFill>
                  <a:schemeClr val="accent6"/>
                </a:solidFill>
              </a:rPr>
              <a:t>should be divided into two groups </a:t>
            </a:r>
          </a:p>
          <a:p>
            <a:pPr lvl="1"/>
            <a:r>
              <a:rPr lang="en-US" dirty="0"/>
              <a:t>Contextual attributes: defines the context, e.g., time &amp; location </a:t>
            </a:r>
          </a:p>
          <a:p>
            <a:pPr lvl="1"/>
            <a:r>
              <a:rPr lang="en-US" dirty="0"/>
              <a:t>Behavioral attributes:  characteristics of the object, used in outlier evaluation, e.g., temperature</a:t>
            </a:r>
          </a:p>
          <a:p>
            <a:r>
              <a:rPr lang="en-US" dirty="0"/>
              <a:t>An object in a data set is a </a:t>
            </a:r>
            <a:r>
              <a:rPr lang="en-US" dirty="0">
                <a:solidFill>
                  <a:schemeClr val="accent6"/>
                </a:solidFill>
              </a:rPr>
              <a:t>local outlier</a:t>
            </a:r>
            <a:r>
              <a:rPr lang="en-US" dirty="0"/>
              <a:t> if its density significantly deviates from the local area in which it occurs. </a:t>
            </a:r>
          </a:p>
          <a:p>
            <a:endParaRPr lang="en-US" dirty="0"/>
          </a:p>
          <a:p>
            <a:endParaRPr lang="en-US" dirty="0"/>
          </a:p>
        </p:txBody>
      </p:sp>
    </p:spTree>
    <p:extLst>
      <p:ext uri="{BB962C8B-B14F-4D97-AF65-F5344CB8AC3E}">
        <p14:creationId xmlns:p14="http://schemas.microsoft.com/office/powerpoint/2010/main" val="100488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9AE0-517D-7A61-A7F6-B176C80C26FC}"/>
              </a:ext>
            </a:extLst>
          </p:cNvPr>
          <p:cNvSpPr>
            <a:spLocks noGrp="1"/>
          </p:cNvSpPr>
          <p:nvPr>
            <p:ph type="title"/>
          </p:nvPr>
        </p:nvSpPr>
        <p:spPr/>
        <p:txBody>
          <a:bodyPr/>
          <a:lstStyle/>
          <a:p>
            <a:r>
              <a:rPr lang="en-US" altLang="en-US" dirty="0"/>
              <a:t>Types of Outliers</a:t>
            </a:r>
            <a:endParaRPr lang="en-US" dirty="0"/>
          </a:p>
        </p:txBody>
      </p:sp>
      <p:sp>
        <p:nvSpPr>
          <p:cNvPr id="3" name="Content Placeholder 2">
            <a:extLst>
              <a:ext uri="{FF2B5EF4-FFF2-40B4-BE49-F238E27FC236}">
                <a16:creationId xmlns:a16="http://schemas.microsoft.com/office/drawing/2014/main" id="{525661AF-6DBD-6BEE-B900-68ABF7FFC273}"/>
              </a:ext>
            </a:extLst>
          </p:cNvPr>
          <p:cNvSpPr>
            <a:spLocks noGrp="1"/>
          </p:cNvSpPr>
          <p:nvPr>
            <p:ph idx="1"/>
          </p:nvPr>
        </p:nvSpPr>
        <p:spPr/>
        <p:txBody>
          <a:bodyPr/>
          <a:lstStyle/>
          <a:p>
            <a:r>
              <a:rPr lang="en-US" b="1" dirty="0"/>
              <a:t>Collective Outliers </a:t>
            </a:r>
          </a:p>
          <a:p>
            <a:r>
              <a:rPr lang="en-US" dirty="0"/>
              <a:t>A subset of data objects </a:t>
            </a:r>
            <a:r>
              <a:rPr lang="en-US" dirty="0">
                <a:solidFill>
                  <a:schemeClr val="accent6"/>
                </a:solidFill>
              </a:rPr>
              <a:t>collectively deviate significantly from the whole data set</a:t>
            </a:r>
            <a:r>
              <a:rPr lang="en-US" dirty="0"/>
              <a:t>, even if the </a:t>
            </a:r>
            <a:r>
              <a:rPr lang="en-US" dirty="0">
                <a:solidFill>
                  <a:schemeClr val="accent6"/>
                </a:solidFill>
              </a:rPr>
              <a:t>individual data objects may not be outliers</a:t>
            </a:r>
          </a:p>
          <a:p>
            <a:r>
              <a:rPr lang="en-US" dirty="0"/>
              <a:t>Detection of collective outliers</a:t>
            </a:r>
          </a:p>
          <a:p>
            <a:pPr lvl="1"/>
            <a:r>
              <a:rPr lang="en-US" dirty="0"/>
              <a:t>Consider not only behavior </a:t>
            </a:r>
            <a:r>
              <a:rPr lang="en-US" dirty="0">
                <a:solidFill>
                  <a:schemeClr val="accent6"/>
                </a:solidFill>
              </a:rPr>
              <a:t>of individual objects, but also that of groups of objects</a:t>
            </a:r>
          </a:p>
          <a:p>
            <a:pPr lvl="1"/>
            <a:r>
              <a:rPr lang="en-US" dirty="0"/>
              <a:t>Need to have the background knowledge on the relationship among data objects, </a:t>
            </a:r>
            <a:r>
              <a:rPr lang="en-US" dirty="0">
                <a:solidFill>
                  <a:schemeClr val="accent6"/>
                </a:solidFill>
              </a:rPr>
              <a:t>such as a distance or similarity measure on objects.</a:t>
            </a:r>
          </a:p>
          <a:p>
            <a:pPr lvl="1"/>
            <a:endParaRPr lang="en-US" dirty="0"/>
          </a:p>
          <a:p>
            <a:pPr lvl="1"/>
            <a:endParaRPr lang="en-US" dirty="0"/>
          </a:p>
          <a:p>
            <a:pPr lvl="1"/>
            <a:endParaRPr lang="en-US" dirty="0"/>
          </a:p>
          <a:p>
            <a:pPr lvl="1"/>
            <a:endParaRPr lang="en-US" dirty="0"/>
          </a:p>
          <a:p>
            <a:pPr lvl="1"/>
            <a:endParaRPr lang="en-US" dirty="0"/>
          </a:p>
          <a:p>
            <a:pPr lvl="1"/>
            <a:endParaRPr lang="en-US" dirty="0"/>
          </a:p>
          <a:p>
            <a:r>
              <a:rPr lang="en-US" dirty="0"/>
              <a:t>A data </a:t>
            </a:r>
            <a:r>
              <a:rPr lang="en-US" dirty="0">
                <a:solidFill>
                  <a:schemeClr val="accent6"/>
                </a:solidFill>
              </a:rPr>
              <a:t>set may have multiple types of outlier</a:t>
            </a:r>
          </a:p>
          <a:p>
            <a:r>
              <a:rPr lang="en-US" dirty="0"/>
              <a:t>One </a:t>
            </a:r>
            <a:r>
              <a:rPr lang="en-US" dirty="0">
                <a:solidFill>
                  <a:schemeClr val="accent6"/>
                </a:solidFill>
              </a:rPr>
              <a:t>object may belong to more than one type of outlier</a:t>
            </a:r>
          </a:p>
          <a:p>
            <a:endParaRPr lang="en-US" dirty="0"/>
          </a:p>
        </p:txBody>
      </p:sp>
      <p:pic>
        <p:nvPicPr>
          <p:cNvPr id="4" name="Picture 6">
            <a:extLst>
              <a:ext uri="{FF2B5EF4-FFF2-40B4-BE49-F238E27FC236}">
                <a16:creationId xmlns:a16="http://schemas.microsoft.com/office/drawing/2014/main" id="{CA2EE7FB-780D-286E-77EA-E78D82DE5E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9964" y="3568390"/>
            <a:ext cx="2005012"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8">
            <a:extLst>
              <a:ext uri="{FF2B5EF4-FFF2-40B4-BE49-F238E27FC236}">
                <a16:creationId xmlns:a16="http://schemas.microsoft.com/office/drawing/2014/main" id="{2DA95A6F-A7D3-8FC3-6B1E-3B4FCA01FA67}"/>
              </a:ext>
            </a:extLst>
          </p:cNvPr>
          <p:cNvSpPr txBox="1">
            <a:spLocks noChangeArrowheads="1"/>
          </p:cNvSpPr>
          <p:nvPr/>
        </p:nvSpPr>
        <p:spPr bwMode="auto">
          <a:xfrm>
            <a:off x="4425176" y="5168590"/>
            <a:ext cx="2362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1800" dirty="0"/>
              <a:t>Collective Outlier</a:t>
            </a:r>
          </a:p>
        </p:txBody>
      </p:sp>
    </p:spTree>
    <p:extLst>
      <p:ext uri="{BB962C8B-B14F-4D97-AF65-F5344CB8AC3E}">
        <p14:creationId xmlns:p14="http://schemas.microsoft.com/office/powerpoint/2010/main" val="471962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C1D27-7AB4-843E-4794-161B1F0E3157}"/>
              </a:ext>
            </a:extLst>
          </p:cNvPr>
          <p:cNvSpPr>
            <a:spLocks noGrp="1"/>
          </p:cNvSpPr>
          <p:nvPr>
            <p:ph type="title"/>
          </p:nvPr>
        </p:nvSpPr>
        <p:spPr/>
        <p:txBody>
          <a:bodyPr/>
          <a:lstStyle/>
          <a:p>
            <a:r>
              <a:rPr lang="en-US" altLang="en-US" dirty="0"/>
              <a:t>Challenges of Outlier Detection</a:t>
            </a:r>
            <a:endParaRPr lang="en-US" dirty="0"/>
          </a:p>
        </p:txBody>
      </p:sp>
      <p:sp>
        <p:nvSpPr>
          <p:cNvPr id="3" name="Content Placeholder 2">
            <a:extLst>
              <a:ext uri="{FF2B5EF4-FFF2-40B4-BE49-F238E27FC236}">
                <a16:creationId xmlns:a16="http://schemas.microsoft.com/office/drawing/2014/main" id="{D2A02672-E56C-5162-E550-351BB50B393F}"/>
              </a:ext>
            </a:extLst>
          </p:cNvPr>
          <p:cNvSpPr>
            <a:spLocks noGrp="1"/>
          </p:cNvSpPr>
          <p:nvPr>
            <p:ph idx="1"/>
          </p:nvPr>
        </p:nvSpPr>
        <p:spPr/>
        <p:txBody>
          <a:bodyPr/>
          <a:lstStyle/>
          <a:p>
            <a:r>
              <a:rPr lang="en-US" b="1" dirty="0"/>
              <a:t>Modeling normal objects and outliers properly</a:t>
            </a:r>
          </a:p>
          <a:p>
            <a:pPr lvl="1"/>
            <a:r>
              <a:rPr lang="en-US" dirty="0"/>
              <a:t>Hard to </a:t>
            </a:r>
            <a:r>
              <a:rPr lang="en-US" dirty="0">
                <a:solidFill>
                  <a:schemeClr val="accent6"/>
                </a:solidFill>
              </a:rPr>
              <a:t>enumerate all possible normal behaviors </a:t>
            </a:r>
            <a:r>
              <a:rPr lang="en-US" dirty="0"/>
              <a:t>in an application</a:t>
            </a:r>
          </a:p>
          <a:p>
            <a:pPr lvl="1"/>
            <a:r>
              <a:rPr lang="en-US" dirty="0"/>
              <a:t>The </a:t>
            </a:r>
            <a:r>
              <a:rPr lang="en-US" dirty="0">
                <a:solidFill>
                  <a:schemeClr val="accent6"/>
                </a:solidFill>
              </a:rPr>
              <a:t>border between normal and outlier objects is often a gray area</a:t>
            </a:r>
          </a:p>
          <a:p>
            <a:r>
              <a:rPr lang="en-US" b="1" dirty="0"/>
              <a:t>Application-specific outlier detection</a:t>
            </a:r>
          </a:p>
          <a:p>
            <a:pPr lvl="1"/>
            <a:r>
              <a:rPr lang="en-US" dirty="0"/>
              <a:t>Choice of distance measure among objects and the model of relationship among objects are often </a:t>
            </a:r>
            <a:r>
              <a:rPr lang="en-US" dirty="0">
                <a:solidFill>
                  <a:schemeClr val="accent6"/>
                </a:solidFill>
              </a:rPr>
              <a:t>application-dependent</a:t>
            </a:r>
          </a:p>
          <a:p>
            <a:pPr lvl="1"/>
            <a:r>
              <a:rPr lang="en-US" dirty="0"/>
              <a:t>E.g., clinic data: a </a:t>
            </a:r>
            <a:r>
              <a:rPr lang="en-US" dirty="0">
                <a:solidFill>
                  <a:schemeClr val="accent6"/>
                </a:solidFill>
              </a:rPr>
              <a:t>small deviation could be an outlier</a:t>
            </a:r>
            <a:r>
              <a:rPr lang="en-US" dirty="0"/>
              <a:t>; while in marketing analysis, larger fluctuations</a:t>
            </a:r>
          </a:p>
          <a:p>
            <a:r>
              <a:rPr lang="en-US" b="1" dirty="0"/>
              <a:t>Handling noise in outlier detection</a:t>
            </a:r>
          </a:p>
          <a:p>
            <a:pPr lvl="1"/>
            <a:r>
              <a:rPr lang="en-US" dirty="0">
                <a:solidFill>
                  <a:schemeClr val="accent6"/>
                </a:solidFill>
              </a:rPr>
              <a:t>Noise may distort the normal objects </a:t>
            </a:r>
            <a:r>
              <a:rPr lang="en-US" dirty="0"/>
              <a:t>and </a:t>
            </a:r>
            <a:r>
              <a:rPr lang="en-US" dirty="0">
                <a:solidFill>
                  <a:schemeClr val="accent6"/>
                </a:solidFill>
              </a:rPr>
              <a:t>blur the distinction between normal objects and outliers</a:t>
            </a:r>
            <a:r>
              <a:rPr lang="en-US" dirty="0"/>
              <a:t>.  It may help hide </a:t>
            </a:r>
            <a:r>
              <a:rPr lang="en-US" dirty="0">
                <a:solidFill>
                  <a:schemeClr val="accent6"/>
                </a:solidFill>
              </a:rPr>
              <a:t>outliers and reduce the effectiveness of outlier detection </a:t>
            </a:r>
          </a:p>
          <a:p>
            <a:r>
              <a:rPr lang="en-US" b="1" dirty="0"/>
              <a:t>Understandability</a:t>
            </a:r>
          </a:p>
          <a:p>
            <a:pPr lvl="1"/>
            <a:r>
              <a:rPr lang="en-US" dirty="0"/>
              <a:t>Understand why these are </a:t>
            </a:r>
            <a:r>
              <a:rPr lang="en-US" dirty="0">
                <a:solidFill>
                  <a:schemeClr val="accent6"/>
                </a:solidFill>
              </a:rPr>
              <a:t>outliers: Justification of the detection</a:t>
            </a:r>
          </a:p>
          <a:p>
            <a:pPr lvl="1"/>
            <a:r>
              <a:rPr lang="en-US" dirty="0"/>
              <a:t>Specify </a:t>
            </a:r>
            <a:r>
              <a:rPr lang="en-US" dirty="0">
                <a:solidFill>
                  <a:schemeClr val="accent6"/>
                </a:solidFill>
              </a:rPr>
              <a:t>the degree of an outlier</a:t>
            </a:r>
            <a:r>
              <a:rPr lang="en-US" dirty="0"/>
              <a:t>: the unlikelihood of the object being generated by a normal mechanism</a:t>
            </a:r>
          </a:p>
          <a:p>
            <a:endParaRPr lang="en-US" dirty="0"/>
          </a:p>
        </p:txBody>
      </p:sp>
    </p:spTree>
    <p:extLst>
      <p:ext uri="{BB962C8B-B14F-4D97-AF65-F5344CB8AC3E}">
        <p14:creationId xmlns:p14="http://schemas.microsoft.com/office/powerpoint/2010/main" val="79605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63BDE-9826-0227-2754-6E156E4E160D}"/>
              </a:ext>
            </a:extLst>
          </p:cNvPr>
          <p:cNvSpPr>
            <a:spLocks noGrp="1"/>
          </p:cNvSpPr>
          <p:nvPr>
            <p:ph type="title"/>
          </p:nvPr>
        </p:nvSpPr>
        <p:spPr/>
        <p:txBody>
          <a:bodyPr/>
          <a:lstStyle/>
          <a:p>
            <a:r>
              <a:rPr lang="en-US" altLang="en-US" sz="3600" dirty="0"/>
              <a:t>Outlier Detection Methods</a:t>
            </a:r>
            <a:endParaRPr lang="en-US" dirty="0"/>
          </a:p>
        </p:txBody>
      </p:sp>
      <p:sp>
        <p:nvSpPr>
          <p:cNvPr id="3" name="Content Placeholder 2">
            <a:extLst>
              <a:ext uri="{FF2B5EF4-FFF2-40B4-BE49-F238E27FC236}">
                <a16:creationId xmlns:a16="http://schemas.microsoft.com/office/drawing/2014/main" id="{C745B7DB-5FF2-4484-7358-B663B7C2418D}"/>
              </a:ext>
            </a:extLst>
          </p:cNvPr>
          <p:cNvSpPr>
            <a:spLocks noGrp="1"/>
          </p:cNvSpPr>
          <p:nvPr>
            <p:ph idx="1"/>
          </p:nvPr>
        </p:nvSpPr>
        <p:spPr/>
        <p:txBody>
          <a:bodyPr/>
          <a:lstStyle/>
          <a:p>
            <a:r>
              <a:rPr lang="en-US" dirty="0"/>
              <a:t>Two ways to categorize </a:t>
            </a:r>
            <a:r>
              <a:rPr lang="en-US" dirty="0">
                <a:solidFill>
                  <a:schemeClr val="accent6"/>
                </a:solidFill>
              </a:rPr>
              <a:t>outlier detection methods</a:t>
            </a:r>
            <a:r>
              <a:rPr lang="en-US" dirty="0"/>
              <a:t>: </a:t>
            </a:r>
          </a:p>
          <a:p>
            <a:r>
              <a:rPr lang="en-US" b="1" dirty="0"/>
              <a:t>Based on whether user-labeled examples of outliers can be obtained: </a:t>
            </a:r>
          </a:p>
          <a:p>
            <a:pPr lvl="1"/>
            <a:r>
              <a:rPr lang="en-US" dirty="0"/>
              <a:t>Supervised, semi-supervised vs. unsupervised methods</a:t>
            </a:r>
          </a:p>
          <a:p>
            <a:r>
              <a:rPr lang="en-US" b="1" dirty="0"/>
              <a:t>Based on assumptions about normal data and outliers:</a:t>
            </a:r>
          </a:p>
          <a:p>
            <a:pPr lvl="1"/>
            <a:r>
              <a:rPr lang="en-US" dirty="0"/>
              <a:t>Statistical, proximity-based, and clustering-based methods</a:t>
            </a:r>
          </a:p>
          <a:p>
            <a:r>
              <a:rPr lang="en-US" b="1" dirty="0"/>
              <a:t>Supervised Methods </a:t>
            </a:r>
          </a:p>
          <a:p>
            <a:r>
              <a:rPr lang="en-US" dirty="0"/>
              <a:t>Modeling outlier </a:t>
            </a:r>
            <a:r>
              <a:rPr lang="en-US" dirty="0">
                <a:solidFill>
                  <a:schemeClr val="accent6"/>
                </a:solidFill>
              </a:rPr>
              <a:t>detection as a classification problem</a:t>
            </a:r>
          </a:p>
          <a:p>
            <a:r>
              <a:rPr lang="en-US" dirty="0"/>
              <a:t>The task </a:t>
            </a:r>
            <a:r>
              <a:rPr lang="en-US" dirty="0">
                <a:solidFill>
                  <a:schemeClr val="accent6"/>
                </a:solidFill>
              </a:rPr>
              <a:t>is to learn a classifier that can recognize outliers </a:t>
            </a:r>
          </a:p>
          <a:p>
            <a:r>
              <a:rPr lang="en-US" dirty="0"/>
              <a:t>Samples examined </a:t>
            </a:r>
            <a:r>
              <a:rPr lang="en-US" dirty="0">
                <a:solidFill>
                  <a:schemeClr val="accent6"/>
                </a:solidFill>
              </a:rPr>
              <a:t>by domain experts used for training &amp; testing</a:t>
            </a:r>
          </a:p>
          <a:p>
            <a:r>
              <a:rPr lang="en-US" dirty="0"/>
              <a:t>Methods for Learning a classifier for outlier detection effectively:</a:t>
            </a:r>
          </a:p>
          <a:p>
            <a:pPr lvl="1"/>
            <a:r>
              <a:rPr lang="en-US" dirty="0">
                <a:solidFill>
                  <a:schemeClr val="accent6"/>
                </a:solidFill>
              </a:rPr>
              <a:t>Model normal objects &amp; report those not matching the model as outliers</a:t>
            </a:r>
            <a:r>
              <a:rPr lang="en-US" dirty="0"/>
              <a:t>, or</a:t>
            </a:r>
          </a:p>
          <a:p>
            <a:pPr lvl="1"/>
            <a:r>
              <a:rPr lang="en-US" dirty="0">
                <a:solidFill>
                  <a:schemeClr val="accent6"/>
                </a:solidFill>
              </a:rPr>
              <a:t>Model outliers and treat those not matching the model as normal</a:t>
            </a:r>
          </a:p>
          <a:p>
            <a:pPr lvl="1"/>
            <a:endParaRPr lang="en-US" dirty="0"/>
          </a:p>
        </p:txBody>
      </p:sp>
    </p:spTree>
    <p:extLst>
      <p:ext uri="{BB962C8B-B14F-4D97-AF65-F5344CB8AC3E}">
        <p14:creationId xmlns:p14="http://schemas.microsoft.com/office/powerpoint/2010/main" val="443888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7B07F-37DC-39F0-955F-90BBE95826D7}"/>
              </a:ext>
            </a:extLst>
          </p:cNvPr>
          <p:cNvSpPr>
            <a:spLocks noGrp="1"/>
          </p:cNvSpPr>
          <p:nvPr>
            <p:ph type="title"/>
          </p:nvPr>
        </p:nvSpPr>
        <p:spPr/>
        <p:txBody>
          <a:bodyPr/>
          <a:lstStyle/>
          <a:p>
            <a:r>
              <a:rPr lang="en-US" altLang="en-US" sz="3200" dirty="0"/>
              <a:t>Outlier Detection Methods</a:t>
            </a:r>
            <a:endParaRPr lang="en-US" dirty="0"/>
          </a:p>
        </p:txBody>
      </p:sp>
      <p:sp>
        <p:nvSpPr>
          <p:cNvPr id="3" name="Content Placeholder 2">
            <a:extLst>
              <a:ext uri="{FF2B5EF4-FFF2-40B4-BE49-F238E27FC236}">
                <a16:creationId xmlns:a16="http://schemas.microsoft.com/office/drawing/2014/main" id="{56D6C159-14B7-FA0A-80CB-D014286908E9}"/>
              </a:ext>
            </a:extLst>
          </p:cNvPr>
          <p:cNvSpPr>
            <a:spLocks noGrp="1"/>
          </p:cNvSpPr>
          <p:nvPr>
            <p:ph idx="1"/>
          </p:nvPr>
        </p:nvSpPr>
        <p:spPr/>
        <p:txBody>
          <a:bodyPr/>
          <a:lstStyle/>
          <a:p>
            <a:r>
              <a:rPr lang="en-US" b="1" dirty="0"/>
              <a:t>Supervised Methods </a:t>
            </a:r>
          </a:p>
          <a:p>
            <a:r>
              <a:rPr lang="en-US" dirty="0"/>
              <a:t>Challenges</a:t>
            </a:r>
          </a:p>
          <a:p>
            <a:pPr lvl="1"/>
            <a:r>
              <a:rPr lang="en-US" dirty="0">
                <a:solidFill>
                  <a:schemeClr val="accent6"/>
                </a:solidFill>
              </a:rPr>
              <a:t>Imbalanced classes</a:t>
            </a:r>
            <a:r>
              <a:rPr lang="en-US" dirty="0"/>
              <a:t>, i.e., </a:t>
            </a:r>
            <a:r>
              <a:rPr lang="en-US" dirty="0">
                <a:solidFill>
                  <a:schemeClr val="accent6"/>
                </a:solidFill>
              </a:rPr>
              <a:t>outliers are rare</a:t>
            </a:r>
            <a:r>
              <a:rPr lang="en-US" dirty="0"/>
              <a:t>: Boost </a:t>
            </a:r>
            <a:r>
              <a:rPr lang="en-US" dirty="0">
                <a:solidFill>
                  <a:schemeClr val="accent6"/>
                </a:solidFill>
              </a:rPr>
              <a:t>the outlier class and make up some artificial outliers</a:t>
            </a:r>
          </a:p>
          <a:p>
            <a:pPr lvl="1"/>
            <a:r>
              <a:rPr lang="en-US" dirty="0">
                <a:solidFill>
                  <a:schemeClr val="accent6"/>
                </a:solidFill>
              </a:rPr>
              <a:t>Catch as many outliers as possible</a:t>
            </a:r>
            <a:r>
              <a:rPr lang="en-US" dirty="0"/>
              <a:t>, i.e., recall is </a:t>
            </a:r>
            <a:r>
              <a:rPr lang="en-US" dirty="0">
                <a:solidFill>
                  <a:schemeClr val="accent6"/>
                </a:solidFill>
              </a:rPr>
              <a:t>more important than accuracy </a:t>
            </a:r>
            <a:r>
              <a:rPr lang="en-US" dirty="0"/>
              <a:t>(i.e., not mislabeling normal objects as outliers)</a:t>
            </a:r>
          </a:p>
          <a:p>
            <a:r>
              <a:rPr lang="en-US" b="1" dirty="0"/>
              <a:t>Unsupervised Methods </a:t>
            </a:r>
          </a:p>
          <a:p>
            <a:r>
              <a:rPr lang="en-US" dirty="0"/>
              <a:t>Assume the normal objects are </a:t>
            </a:r>
            <a:r>
              <a:rPr lang="en-US" dirty="0">
                <a:solidFill>
                  <a:schemeClr val="accent6"/>
                </a:solidFill>
              </a:rPr>
              <a:t>somewhat ``clustered'‘ into multiple groups</a:t>
            </a:r>
            <a:r>
              <a:rPr lang="en-US" dirty="0"/>
              <a:t>, each having some </a:t>
            </a:r>
            <a:r>
              <a:rPr lang="en-US" dirty="0">
                <a:solidFill>
                  <a:schemeClr val="accent6"/>
                </a:solidFill>
              </a:rPr>
              <a:t>distinct features</a:t>
            </a:r>
          </a:p>
          <a:p>
            <a:r>
              <a:rPr lang="en-US" dirty="0"/>
              <a:t>An outlier is expected to be far away from </a:t>
            </a:r>
            <a:r>
              <a:rPr lang="en-US" dirty="0">
                <a:solidFill>
                  <a:schemeClr val="accent6"/>
                </a:solidFill>
              </a:rPr>
              <a:t>any groups of normal objects</a:t>
            </a:r>
          </a:p>
          <a:p>
            <a:r>
              <a:rPr lang="en-US" dirty="0"/>
              <a:t>Weakness: Cannot detect </a:t>
            </a:r>
            <a:r>
              <a:rPr lang="en-US" dirty="0">
                <a:solidFill>
                  <a:schemeClr val="accent6"/>
                </a:solidFill>
              </a:rPr>
              <a:t>collective outlier effectively</a:t>
            </a:r>
          </a:p>
          <a:p>
            <a:pPr lvl="1"/>
            <a:r>
              <a:rPr lang="en-US" dirty="0"/>
              <a:t>Normal objects may not share any strong patterns, but the collective </a:t>
            </a:r>
            <a:r>
              <a:rPr lang="en-US" dirty="0">
                <a:solidFill>
                  <a:schemeClr val="accent6"/>
                </a:solidFill>
              </a:rPr>
              <a:t>outliers may share high similarity in a small area</a:t>
            </a:r>
          </a:p>
          <a:p>
            <a:pPr marL="457200" lvl="1" indent="0">
              <a:buNone/>
            </a:pPr>
            <a:endParaRPr lang="en-US" dirty="0"/>
          </a:p>
        </p:txBody>
      </p:sp>
    </p:spTree>
    <p:extLst>
      <p:ext uri="{BB962C8B-B14F-4D97-AF65-F5344CB8AC3E}">
        <p14:creationId xmlns:p14="http://schemas.microsoft.com/office/powerpoint/2010/main" val="191416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16B3A-9192-E151-1CEA-CA18B0FA2D21}"/>
              </a:ext>
            </a:extLst>
          </p:cNvPr>
          <p:cNvSpPr>
            <a:spLocks noGrp="1"/>
          </p:cNvSpPr>
          <p:nvPr>
            <p:ph type="title"/>
          </p:nvPr>
        </p:nvSpPr>
        <p:spPr/>
        <p:txBody>
          <a:bodyPr/>
          <a:lstStyle/>
          <a:p>
            <a:r>
              <a:rPr lang="en-US" altLang="en-US" sz="3600" dirty="0"/>
              <a:t>Outlier Detection Methods</a:t>
            </a:r>
            <a:endParaRPr lang="en-US" dirty="0"/>
          </a:p>
        </p:txBody>
      </p:sp>
      <p:sp>
        <p:nvSpPr>
          <p:cNvPr id="3" name="Content Placeholder 2">
            <a:extLst>
              <a:ext uri="{FF2B5EF4-FFF2-40B4-BE49-F238E27FC236}">
                <a16:creationId xmlns:a16="http://schemas.microsoft.com/office/drawing/2014/main" id="{808DA70D-A34B-0C42-83A5-B26DDA85C687}"/>
              </a:ext>
            </a:extLst>
          </p:cNvPr>
          <p:cNvSpPr>
            <a:spLocks noGrp="1"/>
          </p:cNvSpPr>
          <p:nvPr>
            <p:ph idx="1"/>
          </p:nvPr>
        </p:nvSpPr>
        <p:spPr/>
        <p:txBody>
          <a:bodyPr/>
          <a:lstStyle/>
          <a:p>
            <a:r>
              <a:rPr lang="en-US" b="1" dirty="0"/>
              <a:t>Unsupervised Methods </a:t>
            </a:r>
          </a:p>
          <a:p>
            <a:r>
              <a:rPr lang="en-US" dirty="0"/>
              <a:t>Many clustering methods can </a:t>
            </a:r>
            <a:r>
              <a:rPr lang="en-US" dirty="0">
                <a:solidFill>
                  <a:schemeClr val="accent6"/>
                </a:solidFill>
              </a:rPr>
              <a:t>be adapted for unsupervised methods</a:t>
            </a:r>
          </a:p>
          <a:p>
            <a:pPr lvl="1"/>
            <a:r>
              <a:rPr lang="en-US" dirty="0"/>
              <a:t>Find clusters, </a:t>
            </a:r>
            <a:r>
              <a:rPr lang="en-US" dirty="0">
                <a:solidFill>
                  <a:schemeClr val="accent6"/>
                </a:solidFill>
              </a:rPr>
              <a:t>then outliers: not belonging to any cluster</a:t>
            </a:r>
          </a:p>
          <a:p>
            <a:pPr lvl="1"/>
            <a:r>
              <a:rPr lang="en-US" dirty="0"/>
              <a:t>Problem 1: Hard to </a:t>
            </a:r>
            <a:r>
              <a:rPr lang="en-US" dirty="0">
                <a:solidFill>
                  <a:schemeClr val="accent6"/>
                </a:solidFill>
              </a:rPr>
              <a:t>distinguish noise from outliers</a:t>
            </a:r>
          </a:p>
          <a:p>
            <a:pPr lvl="1"/>
            <a:r>
              <a:rPr lang="en-US" dirty="0"/>
              <a:t>Problem 2: Costly </a:t>
            </a:r>
            <a:r>
              <a:rPr lang="en-US" dirty="0">
                <a:solidFill>
                  <a:schemeClr val="accent6"/>
                </a:solidFill>
              </a:rPr>
              <a:t>since first clustering</a:t>
            </a:r>
            <a:r>
              <a:rPr lang="en-US" dirty="0"/>
              <a:t>: but far less outliers than normal objects </a:t>
            </a:r>
          </a:p>
          <a:p>
            <a:r>
              <a:rPr lang="en-US" b="1" dirty="0"/>
              <a:t>Semi-Supervised Methods </a:t>
            </a:r>
          </a:p>
          <a:p>
            <a:r>
              <a:rPr lang="en-US" dirty="0"/>
              <a:t>Situation: </a:t>
            </a:r>
            <a:r>
              <a:rPr lang="en-US" dirty="0">
                <a:solidFill>
                  <a:schemeClr val="accent6"/>
                </a:solidFill>
              </a:rPr>
              <a:t>In many applications, the number of labeled data is often small: Labels could be on outliers only, normal objects only, or both</a:t>
            </a:r>
          </a:p>
          <a:p>
            <a:r>
              <a:rPr lang="en-US" dirty="0"/>
              <a:t>Semi-supervised outlier detection: </a:t>
            </a:r>
            <a:r>
              <a:rPr lang="en-US" dirty="0">
                <a:solidFill>
                  <a:schemeClr val="accent6"/>
                </a:solidFill>
              </a:rPr>
              <a:t>Regarded as applications of semi-supervised learning</a:t>
            </a:r>
          </a:p>
          <a:p>
            <a:r>
              <a:rPr lang="en-US" dirty="0"/>
              <a:t>If some </a:t>
            </a:r>
            <a:r>
              <a:rPr lang="en-US" dirty="0">
                <a:solidFill>
                  <a:schemeClr val="accent6"/>
                </a:solidFill>
              </a:rPr>
              <a:t>labeled normal objects are available</a:t>
            </a:r>
          </a:p>
          <a:p>
            <a:pPr lvl="1"/>
            <a:r>
              <a:rPr lang="en-US" dirty="0"/>
              <a:t>Use </a:t>
            </a:r>
            <a:r>
              <a:rPr lang="en-US" dirty="0">
                <a:solidFill>
                  <a:schemeClr val="accent6"/>
                </a:solidFill>
              </a:rPr>
              <a:t>the labeled examples and the proximate unlabeled objects to train a model for normal objects</a:t>
            </a:r>
          </a:p>
          <a:p>
            <a:pPr lvl="1"/>
            <a:r>
              <a:rPr lang="en-US" dirty="0"/>
              <a:t>Those not </a:t>
            </a:r>
            <a:r>
              <a:rPr lang="en-US" dirty="0">
                <a:solidFill>
                  <a:schemeClr val="accent6"/>
                </a:solidFill>
              </a:rPr>
              <a:t>fitting the model of normal objects are detected as outliers</a:t>
            </a:r>
          </a:p>
          <a:p>
            <a:endParaRPr lang="en-US" dirty="0"/>
          </a:p>
        </p:txBody>
      </p:sp>
    </p:spTree>
    <p:extLst>
      <p:ext uri="{BB962C8B-B14F-4D97-AF65-F5344CB8AC3E}">
        <p14:creationId xmlns:p14="http://schemas.microsoft.com/office/powerpoint/2010/main" val="410865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093-111D-2F40-288F-CF640657ED56}"/>
              </a:ext>
            </a:extLst>
          </p:cNvPr>
          <p:cNvSpPr>
            <a:spLocks noGrp="1"/>
          </p:cNvSpPr>
          <p:nvPr>
            <p:ph type="title"/>
          </p:nvPr>
        </p:nvSpPr>
        <p:spPr/>
        <p:txBody>
          <a:bodyPr/>
          <a:lstStyle/>
          <a:p>
            <a:r>
              <a:rPr lang="en-US" altLang="en-US" sz="3200" dirty="0"/>
              <a:t>Outlier Detection Methods</a:t>
            </a:r>
            <a:endParaRPr lang="en-US" dirty="0"/>
          </a:p>
        </p:txBody>
      </p:sp>
      <p:sp>
        <p:nvSpPr>
          <p:cNvPr id="3" name="Content Placeholder 2">
            <a:extLst>
              <a:ext uri="{FF2B5EF4-FFF2-40B4-BE49-F238E27FC236}">
                <a16:creationId xmlns:a16="http://schemas.microsoft.com/office/drawing/2014/main" id="{20B2145F-6F4F-2CDD-61C5-E610323664FC}"/>
              </a:ext>
            </a:extLst>
          </p:cNvPr>
          <p:cNvSpPr>
            <a:spLocks noGrp="1"/>
          </p:cNvSpPr>
          <p:nvPr>
            <p:ph idx="1"/>
          </p:nvPr>
        </p:nvSpPr>
        <p:spPr>
          <a:xfrm>
            <a:off x="131180" y="863444"/>
            <a:ext cx="11929641" cy="2948535"/>
          </a:xfrm>
        </p:spPr>
        <p:txBody>
          <a:bodyPr/>
          <a:lstStyle/>
          <a:p>
            <a:r>
              <a:rPr lang="en-US" dirty="0"/>
              <a:t>If only some </a:t>
            </a:r>
            <a:r>
              <a:rPr lang="en-US" dirty="0">
                <a:solidFill>
                  <a:srgbClr val="C00000"/>
                </a:solidFill>
              </a:rPr>
              <a:t>labeled outliers are available</a:t>
            </a:r>
            <a:r>
              <a:rPr lang="en-US" dirty="0"/>
              <a:t>, a </a:t>
            </a:r>
            <a:r>
              <a:rPr lang="en-US" dirty="0">
                <a:solidFill>
                  <a:srgbClr val="C00000"/>
                </a:solidFill>
              </a:rPr>
              <a:t>small number of labeled outliers many not cover </a:t>
            </a:r>
            <a:r>
              <a:rPr lang="en-US" dirty="0"/>
              <a:t>the possible outliers well</a:t>
            </a:r>
          </a:p>
          <a:p>
            <a:pPr lvl="1"/>
            <a:r>
              <a:rPr lang="en-US" dirty="0"/>
              <a:t>To improve the quality of outlier detection, one can get help from models for normal objects learned from unsupervised methods </a:t>
            </a:r>
          </a:p>
          <a:p>
            <a:r>
              <a:rPr lang="en-US" b="1" dirty="0"/>
              <a:t>Statistical Methods:</a:t>
            </a:r>
          </a:p>
          <a:p>
            <a:r>
              <a:rPr lang="en-US" dirty="0"/>
              <a:t>Statistical methods (also known as model-based methods) make </a:t>
            </a:r>
            <a:r>
              <a:rPr lang="en-US" dirty="0">
                <a:solidFill>
                  <a:srgbClr val="C00000"/>
                </a:solidFill>
              </a:rPr>
              <a:t>assumptions of data normality</a:t>
            </a:r>
            <a:r>
              <a:rPr lang="en-US" dirty="0"/>
              <a:t>. They assume </a:t>
            </a:r>
            <a:r>
              <a:rPr lang="en-US" dirty="0">
                <a:solidFill>
                  <a:srgbClr val="C00000"/>
                </a:solidFill>
              </a:rPr>
              <a:t>that normal data objects are generated </a:t>
            </a:r>
            <a:r>
              <a:rPr lang="en-US" dirty="0"/>
              <a:t>by a </a:t>
            </a:r>
            <a:r>
              <a:rPr lang="en-US" dirty="0">
                <a:solidFill>
                  <a:srgbClr val="C00000"/>
                </a:solidFill>
              </a:rPr>
              <a:t>statistical (stochastic) model, and that data not following the model are outliers. </a:t>
            </a:r>
          </a:p>
          <a:p>
            <a:endParaRPr lang="en-US" dirty="0"/>
          </a:p>
        </p:txBody>
      </p:sp>
      <p:pic>
        <p:nvPicPr>
          <p:cNvPr id="4" name="Picture 8">
            <a:extLst>
              <a:ext uri="{FF2B5EF4-FFF2-40B4-BE49-F238E27FC236}">
                <a16:creationId xmlns:a16="http://schemas.microsoft.com/office/drawing/2014/main" id="{BDBEADB1-663E-F760-293A-01C996D41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2766" y="3652694"/>
            <a:ext cx="2198688" cy="162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2">
            <a:extLst>
              <a:ext uri="{FF2B5EF4-FFF2-40B4-BE49-F238E27FC236}">
                <a16:creationId xmlns:a16="http://schemas.microsoft.com/office/drawing/2014/main" id="{8904D302-982A-959B-2CE6-DC23428D5320}"/>
              </a:ext>
            </a:extLst>
          </p:cNvPr>
          <p:cNvSpPr txBox="1">
            <a:spLocks/>
          </p:cNvSpPr>
          <p:nvPr/>
        </p:nvSpPr>
        <p:spPr>
          <a:xfrm>
            <a:off x="131181" y="3909465"/>
            <a:ext cx="8727812" cy="294853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Example (right figure): First use </a:t>
            </a:r>
            <a:r>
              <a:rPr lang="en-US" dirty="0">
                <a:solidFill>
                  <a:srgbClr val="C00000"/>
                </a:solidFill>
              </a:rPr>
              <a:t>Gaussian distribution to model the normal data</a:t>
            </a:r>
          </a:p>
          <a:p>
            <a:pPr lvl="1"/>
            <a:r>
              <a:rPr lang="en-US" dirty="0"/>
              <a:t>For each </a:t>
            </a:r>
            <a:r>
              <a:rPr lang="en-US" dirty="0">
                <a:solidFill>
                  <a:srgbClr val="C00000"/>
                </a:solidFill>
              </a:rPr>
              <a:t>object y in region R</a:t>
            </a:r>
            <a:r>
              <a:rPr lang="en-US" dirty="0"/>
              <a:t>, estimate </a:t>
            </a:r>
            <a:r>
              <a:rPr lang="en-US" dirty="0" err="1"/>
              <a:t>gD</a:t>
            </a:r>
            <a:r>
              <a:rPr lang="en-US" dirty="0"/>
              <a:t>(y), the </a:t>
            </a:r>
            <a:r>
              <a:rPr lang="en-US" dirty="0">
                <a:solidFill>
                  <a:srgbClr val="C00000"/>
                </a:solidFill>
              </a:rPr>
              <a:t>probability of y fits the Gaussian distribution</a:t>
            </a:r>
          </a:p>
          <a:p>
            <a:pPr lvl="1"/>
            <a:r>
              <a:rPr lang="en-US" dirty="0">
                <a:solidFill>
                  <a:srgbClr val="C00000"/>
                </a:solidFill>
              </a:rPr>
              <a:t>If </a:t>
            </a:r>
            <a:r>
              <a:rPr lang="en-US" dirty="0" err="1">
                <a:solidFill>
                  <a:srgbClr val="C00000"/>
                </a:solidFill>
              </a:rPr>
              <a:t>gD</a:t>
            </a:r>
            <a:r>
              <a:rPr lang="en-US" dirty="0">
                <a:solidFill>
                  <a:srgbClr val="C00000"/>
                </a:solidFill>
              </a:rPr>
              <a:t>(y) is very low, y </a:t>
            </a:r>
            <a:r>
              <a:rPr lang="en-US" dirty="0"/>
              <a:t>is unlikely generated by the </a:t>
            </a:r>
            <a:r>
              <a:rPr lang="en-US" dirty="0">
                <a:solidFill>
                  <a:srgbClr val="C00000"/>
                </a:solidFill>
              </a:rPr>
              <a:t>Gaussian model, thus an outlier</a:t>
            </a:r>
          </a:p>
          <a:p>
            <a:pPr lvl="1"/>
            <a:r>
              <a:rPr lang="en-US" altLang="en-US" dirty="0"/>
              <a:t>Effectiveness of </a:t>
            </a:r>
            <a:r>
              <a:rPr lang="en-US" altLang="en-US" dirty="0">
                <a:solidFill>
                  <a:srgbClr val="C00000"/>
                </a:solidFill>
              </a:rPr>
              <a:t>statistical methods</a:t>
            </a:r>
            <a:r>
              <a:rPr lang="en-US" altLang="en-US" dirty="0"/>
              <a:t>: highly </a:t>
            </a:r>
            <a:r>
              <a:rPr lang="en-US" altLang="en-US" dirty="0">
                <a:solidFill>
                  <a:srgbClr val="C00000"/>
                </a:solidFill>
              </a:rPr>
              <a:t>depends on whether the assumption of statistical model holds in the real data</a:t>
            </a:r>
          </a:p>
          <a:p>
            <a:endParaRPr lang="en-US" dirty="0"/>
          </a:p>
        </p:txBody>
      </p:sp>
    </p:spTree>
    <p:extLst>
      <p:ext uri="{BB962C8B-B14F-4D97-AF65-F5344CB8AC3E}">
        <p14:creationId xmlns:p14="http://schemas.microsoft.com/office/powerpoint/2010/main" val="5148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0B939-2AEC-8D89-845A-57CDB8715BC6}"/>
              </a:ext>
            </a:extLst>
          </p:cNvPr>
          <p:cNvSpPr>
            <a:spLocks noGrp="1"/>
          </p:cNvSpPr>
          <p:nvPr>
            <p:ph type="title"/>
          </p:nvPr>
        </p:nvSpPr>
        <p:spPr/>
        <p:txBody>
          <a:bodyPr/>
          <a:lstStyle/>
          <a:p>
            <a:r>
              <a:rPr lang="en-US" altLang="en-US" sz="3600" dirty="0"/>
              <a:t>Outlier Detection Methods</a:t>
            </a:r>
            <a:endParaRPr lang="en-US" dirty="0"/>
          </a:p>
        </p:txBody>
      </p:sp>
      <p:sp>
        <p:nvSpPr>
          <p:cNvPr id="3" name="Content Placeholder 2">
            <a:extLst>
              <a:ext uri="{FF2B5EF4-FFF2-40B4-BE49-F238E27FC236}">
                <a16:creationId xmlns:a16="http://schemas.microsoft.com/office/drawing/2014/main" id="{87AF5F80-C9B0-0CBC-E492-9C0F4F19B2EA}"/>
              </a:ext>
            </a:extLst>
          </p:cNvPr>
          <p:cNvSpPr>
            <a:spLocks noGrp="1"/>
          </p:cNvSpPr>
          <p:nvPr>
            <p:ph idx="1"/>
          </p:nvPr>
        </p:nvSpPr>
        <p:spPr>
          <a:xfrm>
            <a:off x="131180" y="863444"/>
            <a:ext cx="11929641" cy="1578967"/>
          </a:xfrm>
        </p:spPr>
        <p:txBody>
          <a:bodyPr/>
          <a:lstStyle/>
          <a:p>
            <a:r>
              <a:rPr lang="en-US" b="1" dirty="0"/>
              <a:t>Proximity-Based Methods </a:t>
            </a:r>
          </a:p>
          <a:p>
            <a:r>
              <a:rPr lang="en-US" dirty="0"/>
              <a:t>An object is an outlier if the </a:t>
            </a:r>
            <a:r>
              <a:rPr lang="en-US" dirty="0">
                <a:solidFill>
                  <a:srgbClr val="C00000"/>
                </a:solidFill>
              </a:rPr>
              <a:t>nearest neighbors of the object are far away</a:t>
            </a:r>
            <a:r>
              <a:rPr lang="en-US" dirty="0"/>
              <a:t>, i.e., the proximity of the object </a:t>
            </a:r>
            <a:r>
              <a:rPr lang="en-US" dirty="0">
                <a:solidFill>
                  <a:srgbClr val="C00000"/>
                </a:solidFill>
              </a:rPr>
              <a:t>is significantly deviates from the proximity of most of the other objects </a:t>
            </a:r>
            <a:r>
              <a:rPr lang="en-US" dirty="0"/>
              <a:t>in the same data set</a:t>
            </a:r>
          </a:p>
          <a:p>
            <a:endParaRPr lang="en-US" dirty="0"/>
          </a:p>
          <a:p>
            <a:pPr lvl="1"/>
            <a:endParaRPr lang="en-US" dirty="0"/>
          </a:p>
        </p:txBody>
      </p:sp>
      <p:sp>
        <p:nvSpPr>
          <p:cNvPr id="4" name="Content Placeholder 2">
            <a:extLst>
              <a:ext uri="{FF2B5EF4-FFF2-40B4-BE49-F238E27FC236}">
                <a16:creationId xmlns:a16="http://schemas.microsoft.com/office/drawing/2014/main" id="{E469EAA3-89D5-FEF9-C215-D4125AAFF2B6}"/>
              </a:ext>
            </a:extLst>
          </p:cNvPr>
          <p:cNvSpPr txBox="1">
            <a:spLocks/>
          </p:cNvSpPr>
          <p:nvPr/>
        </p:nvSpPr>
        <p:spPr>
          <a:xfrm>
            <a:off x="131179" y="2442411"/>
            <a:ext cx="9590336" cy="459606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Example (right figure):  </a:t>
            </a:r>
          </a:p>
          <a:p>
            <a:pPr lvl="1"/>
            <a:r>
              <a:rPr lang="en-US" dirty="0">
                <a:solidFill>
                  <a:srgbClr val="C00000"/>
                </a:solidFill>
              </a:rPr>
              <a:t>Model the proximity of an object using its 3 nearest neighbors</a:t>
            </a:r>
          </a:p>
          <a:p>
            <a:pPr lvl="1"/>
            <a:r>
              <a:rPr lang="en-US" dirty="0"/>
              <a:t>Objects in region R are substantially different from </a:t>
            </a:r>
            <a:r>
              <a:rPr lang="en-US" dirty="0">
                <a:solidFill>
                  <a:srgbClr val="C00000"/>
                </a:solidFill>
              </a:rPr>
              <a:t>other objects in the data set</a:t>
            </a:r>
            <a:r>
              <a:rPr lang="en-US" dirty="0"/>
              <a:t>.  </a:t>
            </a:r>
          </a:p>
          <a:p>
            <a:pPr lvl="1"/>
            <a:r>
              <a:rPr lang="en-US" dirty="0"/>
              <a:t>Thus the objects in R are outliers</a:t>
            </a:r>
          </a:p>
          <a:p>
            <a:r>
              <a:rPr lang="en-US" dirty="0"/>
              <a:t>The effectiveness of proximity-based methods highly </a:t>
            </a:r>
            <a:r>
              <a:rPr lang="en-US" dirty="0">
                <a:solidFill>
                  <a:srgbClr val="C00000"/>
                </a:solidFill>
              </a:rPr>
              <a:t>relies on the proximity measure</a:t>
            </a:r>
            <a:r>
              <a:rPr lang="en-US" dirty="0"/>
              <a:t>.  </a:t>
            </a:r>
          </a:p>
          <a:p>
            <a:r>
              <a:rPr lang="en-US" dirty="0"/>
              <a:t>In some applications</a:t>
            </a:r>
            <a:r>
              <a:rPr lang="en-US" dirty="0">
                <a:solidFill>
                  <a:srgbClr val="C00000"/>
                </a:solidFill>
              </a:rPr>
              <a:t>, proximity or distance measures cannot be obtained easily</a:t>
            </a:r>
            <a:r>
              <a:rPr lang="en-US" dirty="0"/>
              <a:t>.  </a:t>
            </a:r>
          </a:p>
          <a:p>
            <a:r>
              <a:rPr lang="en-US" dirty="0"/>
              <a:t>Often have a difficulty in finding a group </a:t>
            </a:r>
            <a:r>
              <a:rPr lang="en-US" dirty="0">
                <a:solidFill>
                  <a:srgbClr val="C00000"/>
                </a:solidFill>
              </a:rPr>
              <a:t>of outliers which stay close to each other</a:t>
            </a:r>
          </a:p>
          <a:p>
            <a:r>
              <a:rPr lang="en-US" dirty="0"/>
              <a:t>Two major types of </a:t>
            </a:r>
            <a:r>
              <a:rPr lang="en-US" dirty="0">
                <a:solidFill>
                  <a:srgbClr val="C00000"/>
                </a:solidFill>
              </a:rPr>
              <a:t>outlier detection Distance-based vs. density-based</a:t>
            </a:r>
            <a:endParaRPr lang="en-US" dirty="0"/>
          </a:p>
          <a:p>
            <a:endParaRPr lang="en-US" dirty="0">
              <a:solidFill>
                <a:srgbClr val="C00000"/>
              </a:solidFill>
            </a:endParaRPr>
          </a:p>
          <a:p>
            <a:pPr lvl="1"/>
            <a:endParaRPr lang="en-US" dirty="0"/>
          </a:p>
        </p:txBody>
      </p:sp>
      <p:pic>
        <p:nvPicPr>
          <p:cNvPr id="5" name="Picture 8">
            <a:extLst>
              <a:ext uri="{FF2B5EF4-FFF2-40B4-BE49-F238E27FC236}">
                <a16:creationId xmlns:a16="http://schemas.microsoft.com/office/drawing/2014/main" id="{E33A9583-9528-89A5-97AE-8F3720918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2132" y="2304424"/>
            <a:ext cx="2198688" cy="162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9023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36A12-8DF5-82C5-2D19-CE67908F7C11}"/>
              </a:ext>
            </a:extLst>
          </p:cNvPr>
          <p:cNvSpPr>
            <a:spLocks noGrp="1"/>
          </p:cNvSpPr>
          <p:nvPr>
            <p:ph type="title"/>
          </p:nvPr>
        </p:nvSpPr>
        <p:spPr/>
        <p:txBody>
          <a:bodyPr/>
          <a:lstStyle/>
          <a:p>
            <a:r>
              <a:rPr lang="en-US" altLang="en-US" sz="3200" dirty="0"/>
              <a:t>Outlier Detection Methods</a:t>
            </a:r>
            <a:endParaRPr lang="en-US" dirty="0"/>
          </a:p>
        </p:txBody>
      </p:sp>
      <p:sp>
        <p:nvSpPr>
          <p:cNvPr id="3" name="Content Placeholder 2">
            <a:extLst>
              <a:ext uri="{FF2B5EF4-FFF2-40B4-BE49-F238E27FC236}">
                <a16:creationId xmlns:a16="http://schemas.microsoft.com/office/drawing/2014/main" id="{BF9546E0-A52B-BD63-D856-C0544507D5A6}"/>
              </a:ext>
            </a:extLst>
          </p:cNvPr>
          <p:cNvSpPr>
            <a:spLocks noGrp="1"/>
          </p:cNvSpPr>
          <p:nvPr>
            <p:ph idx="1"/>
          </p:nvPr>
        </p:nvSpPr>
        <p:spPr/>
        <p:txBody>
          <a:bodyPr/>
          <a:lstStyle/>
          <a:p>
            <a:r>
              <a:rPr lang="en-US" b="1" dirty="0"/>
              <a:t>Clustering-Based Methods</a:t>
            </a:r>
          </a:p>
          <a:p>
            <a:r>
              <a:rPr lang="en-US" dirty="0"/>
              <a:t>Normal data </a:t>
            </a:r>
            <a:r>
              <a:rPr lang="en-US" dirty="0">
                <a:solidFill>
                  <a:srgbClr val="C00000"/>
                </a:solidFill>
              </a:rPr>
              <a:t>belong to large and dense clusters,</a:t>
            </a:r>
            <a:r>
              <a:rPr lang="en-US" dirty="0"/>
              <a:t> whereas </a:t>
            </a:r>
            <a:r>
              <a:rPr lang="en-US" dirty="0">
                <a:solidFill>
                  <a:srgbClr val="C00000"/>
                </a:solidFill>
              </a:rPr>
              <a:t>outliers belong to small or sparse clusters, or do not belong to any clusters</a:t>
            </a:r>
          </a:p>
          <a:p>
            <a:r>
              <a:rPr lang="en-US" dirty="0"/>
              <a:t>Example (right figure): two clusters</a:t>
            </a:r>
          </a:p>
          <a:p>
            <a:r>
              <a:rPr lang="en-US" dirty="0"/>
              <a:t>All points not in R form a large cluster</a:t>
            </a:r>
          </a:p>
          <a:p>
            <a:r>
              <a:rPr lang="en-US" dirty="0"/>
              <a:t>The two points in </a:t>
            </a:r>
            <a:r>
              <a:rPr lang="en-US" dirty="0">
                <a:solidFill>
                  <a:srgbClr val="C00000"/>
                </a:solidFill>
              </a:rPr>
              <a:t>R form a tiny cluster, thus are outliers</a:t>
            </a:r>
          </a:p>
          <a:p>
            <a:r>
              <a:rPr lang="en-US" dirty="0">
                <a:solidFill>
                  <a:srgbClr val="C00000"/>
                </a:solidFill>
              </a:rPr>
              <a:t>there are many clustering-based outlier detection methods are available.</a:t>
            </a:r>
          </a:p>
          <a:p>
            <a:r>
              <a:rPr lang="en-US" dirty="0"/>
              <a:t>Clustering is expensive: </a:t>
            </a:r>
            <a:r>
              <a:rPr lang="en-US" dirty="0">
                <a:solidFill>
                  <a:srgbClr val="C00000"/>
                </a:solidFill>
              </a:rPr>
              <a:t>straightforward adaption of a clustering method for outlier detection can be costly and does not scale up well for large data sets</a:t>
            </a:r>
          </a:p>
          <a:p>
            <a:endParaRPr lang="en-US" dirty="0"/>
          </a:p>
        </p:txBody>
      </p:sp>
      <p:pic>
        <p:nvPicPr>
          <p:cNvPr id="4" name="Picture 8">
            <a:extLst>
              <a:ext uri="{FF2B5EF4-FFF2-40B4-BE49-F238E27FC236}">
                <a16:creationId xmlns:a16="http://schemas.microsoft.com/office/drawing/2014/main" id="{18E9A3BB-CFC7-1262-C1B9-0B77E8122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2584" y="1804988"/>
            <a:ext cx="2198688" cy="162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37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1DD11-4600-F2EF-33F5-C4D8D442C117}"/>
              </a:ext>
            </a:extLst>
          </p:cNvPr>
          <p:cNvSpPr>
            <a:spLocks noGrp="1"/>
          </p:cNvSpPr>
          <p:nvPr>
            <p:ph type="title"/>
          </p:nvPr>
        </p:nvSpPr>
        <p:spPr/>
        <p:txBody>
          <a:bodyPr/>
          <a:lstStyle/>
          <a:p>
            <a:r>
              <a:rPr lang="en-US" dirty="0"/>
              <a:t>Feature Selection, Extraction and Engineering</a:t>
            </a:r>
          </a:p>
        </p:txBody>
      </p:sp>
      <p:sp>
        <p:nvSpPr>
          <p:cNvPr id="4" name="Rectangle 3">
            <a:extLst>
              <a:ext uri="{FF2B5EF4-FFF2-40B4-BE49-F238E27FC236}">
                <a16:creationId xmlns:a16="http://schemas.microsoft.com/office/drawing/2014/main" id="{538BBE70-0BD9-2E92-A37F-3497D58C9669}"/>
              </a:ext>
            </a:extLst>
          </p:cNvPr>
          <p:cNvSpPr/>
          <p:nvPr/>
        </p:nvSpPr>
        <p:spPr>
          <a:xfrm>
            <a:off x="778933" y="1049867"/>
            <a:ext cx="2111023" cy="5283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 name="Rectangle 4">
            <a:extLst>
              <a:ext uri="{FF2B5EF4-FFF2-40B4-BE49-F238E27FC236}">
                <a16:creationId xmlns:a16="http://schemas.microsoft.com/office/drawing/2014/main" id="{03D6426F-8A23-9B05-26E3-16079C1D71CD}"/>
              </a:ext>
            </a:extLst>
          </p:cNvPr>
          <p:cNvSpPr/>
          <p:nvPr/>
        </p:nvSpPr>
        <p:spPr>
          <a:xfrm>
            <a:off x="778933" y="1049867"/>
            <a:ext cx="2111023" cy="620889"/>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Feature </a:t>
            </a:r>
          </a:p>
          <a:p>
            <a:pPr algn="ctr"/>
            <a:r>
              <a:rPr lang="en-US" dirty="0"/>
              <a:t>Selection</a:t>
            </a:r>
          </a:p>
        </p:txBody>
      </p:sp>
      <p:sp>
        <p:nvSpPr>
          <p:cNvPr id="6" name="Rectangle 5">
            <a:extLst>
              <a:ext uri="{FF2B5EF4-FFF2-40B4-BE49-F238E27FC236}">
                <a16:creationId xmlns:a16="http://schemas.microsoft.com/office/drawing/2014/main" id="{49F3EAAE-4DF5-68B0-210D-1CB3E4461287}"/>
              </a:ext>
            </a:extLst>
          </p:cNvPr>
          <p:cNvSpPr/>
          <p:nvPr/>
        </p:nvSpPr>
        <p:spPr>
          <a:xfrm>
            <a:off x="3810000" y="1049867"/>
            <a:ext cx="2111023" cy="5283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390372AC-6741-E23E-6562-F4B720A4E57A}"/>
              </a:ext>
            </a:extLst>
          </p:cNvPr>
          <p:cNvSpPr/>
          <p:nvPr/>
        </p:nvSpPr>
        <p:spPr>
          <a:xfrm>
            <a:off x="3810000" y="1049867"/>
            <a:ext cx="2111023" cy="620889"/>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Feature </a:t>
            </a:r>
          </a:p>
          <a:p>
            <a:pPr algn="ctr"/>
            <a:r>
              <a:rPr lang="en-US" dirty="0"/>
              <a:t>Extraction</a:t>
            </a:r>
          </a:p>
        </p:txBody>
      </p:sp>
      <p:sp>
        <p:nvSpPr>
          <p:cNvPr id="8" name="Rectangle 7">
            <a:extLst>
              <a:ext uri="{FF2B5EF4-FFF2-40B4-BE49-F238E27FC236}">
                <a16:creationId xmlns:a16="http://schemas.microsoft.com/office/drawing/2014/main" id="{82BB1078-01B0-3235-4612-4BE3401C55F1}"/>
              </a:ext>
            </a:extLst>
          </p:cNvPr>
          <p:cNvSpPr/>
          <p:nvPr/>
        </p:nvSpPr>
        <p:spPr>
          <a:xfrm>
            <a:off x="6841067" y="1049867"/>
            <a:ext cx="2111023" cy="5283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AA1BAF54-562F-1EBA-171E-722178E26C65}"/>
              </a:ext>
            </a:extLst>
          </p:cNvPr>
          <p:cNvSpPr/>
          <p:nvPr/>
        </p:nvSpPr>
        <p:spPr>
          <a:xfrm>
            <a:off x="6841067" y="1049867"/>
            <a:ext cx="2111023" cy="620889"/>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Feature </a:t>
            </a:r>
          </a:p>
          <a:p>
            <a:pPr algn="ctr"/>
            <a:r>
              <a:rPr lang="en-US" dirty="0"/>
              <a:t>Engineering</a:t>
            </a:r>
          </a:p>
        </p:txBody>
      </p:sp>
      <p:sp>
        <p:nvSpPr>
          <p:cNvPr id="10" name="Rectangle 9">
            <a:extLst>
              <a:ext uri="{FF2B5EF4-FFF2-40B4-BE49-F238E27FC236}">
                <a16:creationId xmlns:a16="http://schemas.microsoft.com/office/drawing/2014/main" id="{19F7AC25-8C20-E264-D66A-F77336482750}"/>
              </a:ext>
            </a:extLst>
          </p:cNvPr>
          <p:cNvSpPr/>
          <p:nvPr/>
        </p:nvSpPr>
        <p:spPr>
          <a:xfrm>
            <a:off x="1018823" y="1986844"/>
            <a:ext cx="1704622" cy="144215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Subsetting</a:t>
            </a:r>
            <a:r>
              <a:rPr lang="en-US" dirty="0"/>
              <a:t> the features </a:t>
            </a:r>
          </a:p>
        </p:txBody>
      </p:sp>
      <p:sp>
        <p:nvSpPr>
          <p:cNvPr id="11" name="Rectangle 10">
            <a:extLst>
              <a:ext uri="{FF2B5EF4-FFF2-40B4-BE49-F238E27FC236}">
                <a16:creationId xmlns:a16="http://schemas.microsoft.com/office/drawing/2014/main" id="{00682717-3831-AD16-87A8-1CC0CC8501E0}"/>
              </a:ext>
            </a:extLst>
          </p:cNvPr>
          <p:cNvSpPr/>
          <p:nvPr/>
        </p:nvSpPr>
        <p:spPr>
          <a:xfrm>
            <a:off x="1018823" y="4047066"/>
            <a:ext cx="1704622" cy="1442156"/>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 Use Correlation with the dependent variable</a:t>
            </a:r>
          </a:p>
        </p:txBody>
      </p:sp>
      <p:sp>
        <p:nvSpPr>
          <p:cNvPr id="12" name="Rectangle 11">
            <a:extLst>
              <a:ext uri="{FF2B5EF4-FFF2-40B4-BE49-F238E27FC236}">
                <a16:creationId xmlns:a16="http://schemas.microsoft.com/office/drawing/2014/main" id="{3930140B-2C54-5671-8630-52FDB378A839}"/>
              </a:ext>
            </a:extLst>
          </p:cNvPr>
          <p:cNvSpPr/>
          <p:nvPr/>
        </p:nvSpPr>
        <p:spPr>
          <a:xfrm>
            <a:off x="4035778" y="1986844"/>
            <a:ext cx="1704622" cy="144215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Create new features when we could </a:t>
            </a:r>
            <a:r>
              <a:rPr lang="en-US" b="1" dirty="0"/>
              <a:t>NOT</a:t>
            </a:r>
            <a:r>
              <a:rPr lang="en-US" dirty="0"/>
              <a:t> have used row features</a:t>
            </a:r>
          </a:p>
        </p:txBody>
      </p:sp>
      <p:sp>
        <p:nvSpPr>
          <p:cNvPr id="13" name="Rectangle 12">
            <a:extLst>
              <a:ext uri="{FF2B5EF4-FFF2-40B4-BE49-F238E27FC236}">
                <a16:creationId xmlns:a16="http://schemas.microsoft.com/office/drawing/2014/main" id="{C5D5B481-8AE0-8972-3C01-912614749A3C}"/>
              </a:ext>
            </a:extLst>
          </p:cNvPr>
          <p:cNvSpPr/>
          <p:nvPr/>
        </p:nvSpPr>
        <p:spPr>
          <a:xfrm>
            <a:off x="4035778" y="4047066"/>
            <a:ext cx="1704622" cy="1442156"/>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 from image to RGB value. Automatic methods such as PCA</a:t>
            </a:r>
          </a:p>
        </p:txBody>
      </p:sp>
      <p:sp>
        <p:nvSpPr>
          <p:cNvPr id="14" name="Rectangle 13">
            <a:extLst>
              <a:ext uri="{FF2B5EF4-FFF2-40B4-BE49-F238E27FC236}">
                <a16:creationId xmlns:a16="http://schemas.microsoft.com/office/drawing/2014/main" id="{52C09F02-7398-F87C-EE34-C0BB8120A007}"/>
              </a:ext>
            </a:extLst>
          </p:cNvPr>
          <p:cNvSpPr/>
          <p:nvPr/>
        </p:nvSpPr>
        <p:spPr>
          <a:xfrm>
            <a:off x="7072489" y="2009422"/>
            <a:ext cx="1704622" cy="144215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Create new features when we could have used row features</a:t>
            </a:r>
          </a:p>
        </p:txBody>
      </p:sp>
      <p:sp>
        <p:nvSpPr>
          <p:cNvPr id="15" name="Rectangle 14">
            <a:extLst>
              <a:ext uri="{FF2B5EF4-FFF2-40B4-BE49-F238E27FC236}">
                <a16:creationId xmlns:a16="http://schemas.microsoft.com/office/drawing/2014/main" id="{2CE37AB9-5137-C0F3-890E-484EF81031B8}"/>
              </a:ext>
            </a:extLst>
          </p:cNvPr>
          <p:cNvSpPr/>
          <p:nvPr/>
        </p:nvSpPr>
        <p:spPr>
          <a:xfrm>
            <a:off x="7072489" y="4069644"/>
            <a:ext cx="1704622" cy="1442156"/>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 Creating a new dummy variable for working days </a:t>
            </a:r>
          </a:p>
        </p:txBody>
      </p:sp>
    </p:spTree>
    <p:extLst>
      <p:ext uri="{BB962C8B-B14F-4D97-AF65-F5344CB8AC3E}">
        <p14:creationId xmlns:p14="http://schemas.microsoft.com/office/powerpoint/2010/main" val="425561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C1BE2-E5BD-7E09-6143-7102FA3A4613}"/>
              </a:ext>
            </a:extLst>
          </p:cNvPr>
          <p:cNvSpPr>
            <a:spLocks noGrp="1"/>
          </p:cNvSpPr>
          <p:nvPr>
            <p:ph type="title"/>
          </p:nvPr>
        </p:nvSpPr>
        <p:spPr/>
        <p:txBody>
          <a:bodyPr/>
          <a:lstStyle/>
          <a:p>
            <a:r>
              <a:rPr lang="en-US" dirty="0"/>
              <a:t>Feature Selection</a:t>
            </a:r>
          </a:p>
        </p:txBody>
      </p:sp>
      <p:sp>
        <p:nvSpPr>
          <p:cNvPr id="3" name="Content Placeholder 2">
            <a:extLst>
              <a:ext uri="{FF2B5EF4-FFF2-40B4-BE49-F238E27FC236}">
                <a16:creationId xmlns:a16="http://schemas.microsoft.com/office/drawing/2014/main" id="{7DD4A4AE-42E4-A975-B01A-9F95A4610FC6}"/>
              </a:ext>
            </a:extLst>
          </p:cNvPr>
          <p:cNvSpPr>
            <a:spLocks noGrp="1"/>
          </p:cNvSpPr>
          <p:nvPr>
            <p:ph idx="1"/>
          </p:nvPr>
        </p:nvSpPr>
        <p:spPr>
          <a:xfrm>
            <a:off x="131180" y="863444"/>
            <a:ext cx="11929641" cy="1766867"/>
          </a:xfrm>
        </p:spPr>
        <p:txBody>
          <a:bodyPr/>
          <a:lstStyle/>
          <a:p>
            <a:r>
              <a:rPr lang="en-US" dirty="0"/>
              <a:t>Feature selection is the process of </a:t>
            </a:r>
            <a:r>
              <a:rPr lang="en-US" dirty="0">
                <a:solidFill>
                  <a:srgbClr val="C00000"/>
                </a:solidFill>
              </a:rPr>
              <a:t>choosing the most relevant features </a:t>
            </a:r>
            <a:r>
              <a:rPr lang="en-US" dirty="0"/>
              <a:t>from the </a:t>
            </a:r>
            <a:r>
              <a:rPr lang="en-US" dirty="0">
                <a:solidFill>
                  <a:srgbClr val="C00000"/>
                </a:solidFill>
              </a:rPr>
              <a:t>dataset while removing irrelevant or redundant ones.</a:t>
            </a:r>
          </a:p>
          <a:p>
            <a:r>
              <a:rPr lang="en-US" dirty="0"/>
              <a:t>The </a:t>
            </a:r>
            <a:r>
              <a:rPr lang="en-US" dirty="0">
                <a:solidFill>
                  <a:srgbClr val="C00000"/>
                </a:solidFill>
              </a:rPr>
              <a:t>goal is to improve model performance by reducing overfitting</a:t>
            </a:r>
            <a:r>
              <a:rPr lang="en-US" dirty="0"/>
              <a:t>, </a:t>
            </a:r>
            <a:r>
              <a:rPr lang="en-US" dirty="0">
                <a:solidFill>
                  <a:srgbClr val="C00000"/>
                </a:solidFill>
              </a:rPr>
              <a:t>speeding up training, and improving interpretability.</a:t>
            </a:r>
          </a:p>
        </p:txBody>
      </p:sp>
      <p:sp>
        <p:nvSpPr>
          <p:cNvPr id="4" name="TextBox 3">
            <a:extLst>
              <a:ext uri="{FF2B5EF4-FFF2-40B4-BE49-F238E27FC236}">
                <a16:creationId xmlns:a16="http://schemas.microsoft.com/office/drawing/2014/main" id="{CF4B92E7-1831-EDA2-1AFB-CF73C3E3645E}"/>
              </a:ext>
            </a:extLst>
          </p:cNvPr>
          <p:cNvSpPr txBox="1"/>
          <p:nvPr/>
        </p:nvSpPr>
        <p:spPr>
          <a:xfrm>
            <a:off x="534894" y="3138690"/>
            <a:ext cx="1635384" cy="369332"/>
          </a:xfrm>
          <a:prstGeom prst="rect">
            <a:avLst/>
          </a:prstGeom>
          <a:noFill/>
        </p:spPr>
        <p:txBody>
          <a:bodyPr wrap="none" rtlCol="0">
            <a:spAutoFit/>
          </a:bodyPr>
          <a:lstStyle/>
          <a:p>
            <a:r>
              <a:rPr lang="en-US" b="1" dirty="0">
                <a:solidFill>
                  <a:schemeClr val="accent3">
                    <a:lumMod val="50000"/>
                  </a:schemeClr>
                </a:solidFill>
              </a:rPr>
              <a:t>Full Feature Set</a:t>
            </a:r>
          </a:p>
        </p:txBody>
      </p:sp>
      <p:sp>
        <p:nvSpPr>
          <p:cNvPr id="6" name="Rectangle 5">
            <a:extLst>
              <a:ext uri="{FF2B5EF4-FFF2-40B4-BE49-F238E27FC236}">
                <a16:creationId xmlns:a16="http://schemas.microsoft.com/office/drawing/2014/main" id="{F74E2443-011F-DA0B-3C17-C1D303DA9098}"/>
              </a:ext>
            </a:extLst>
          </p:cNvPr>
          <p:cNvSpPr/>
          <p:nvPr/>
        </p:nvSpPr>
        <p:spPr>
          <a:xfrm>
            <a:off x="2901244" y="3042734"/>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 name="Rectangle 8">
            <a:extLst>
              <a:ext uri="{FF2B5EF4-FFF2-40B4-BE49-F238E27FC236}">
                <a16:creationId xmlns:a16="http://schemas.microsoft.com/office/drawing/2014/main" id="{C8AAE0FD-AC7F-301C-1BF3-88321DCC4E92}"/>
              </a:ext>
            </a:extLst>
          </p:cNvPr>
          <p:cNvSpPr/>
          <p:nvPr/>
        </p:nvSpPr>
        <p:spPr>
          <a:xfrm>
            <a:off x="3550053" y="3042734"/>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0" name="Rectangle 9">
            <a:extLst>
              <a:ext uri="{FF2B5EF4-FFF2-40B4-BE49-F238E27FC236}">
                <a16:creationId xmlns:a16="http://schemas.microsoft.com/office/drawing/2014/main" id="{BD8BE609-CEFA-A5E5-5605-2F9551358BAE}"/>
              </a:ext>
            </a:extLst>
          </p:cNvPr>
          <p:cNvSpPr/>
          <p:nvPr/>
        </p:nvSpPr>
        <p:spPr>
          <a:xfrm>
            <a:off x="4198862" y="3042734"/>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 name="Rectangle 10">
            <a:extLst>
              <a:ext uri="{FF2B5EF4-FFF2-40B4-BE49-F238E27FC236}">
                <a16:creationId xmlns:a16="http://schemas.microsoft.com/office/drawing/2014/main" id="{366130F9-70A9-A6B0-B23B-489B6C795D48}"/>
              </a:ext>
            </a:extLst>
          </p:cNvPr>
          <p:cNvSpPr/>
          <p:nvPr/>
        </p:nvSpPr>
        <p:spPr>
          <a:xfrm>
            <a:off x="4847671" y="3042734"/>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2" name="Rectangle 11">
            <a:extLst>
              <a:ext uri="{FF2B5EF4-FFF2-40B4-BE49-F238E27FC236}">
                <a16:creationId xmlns:a16="http://schemas.microsoft.com/office/drawing/2014/main" id="{73FA7DC0-CF48-4111-AE59-79B8EA350795}"/>
              </a:ext>
            </a:extLst>
          </p:cNvPr>
          <p:cNvSpPr/>
          <p:nvPr/>
        </p:nvSpPr>
        <p:spPr>
          <a:xfrm>
            <a:off x="5496480" y="3042734"/>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3" name="Rectangle 12">
            <a:extLst>
              <a:ext uri="{FF2B5EF4-FFF2-40B4-BE49-F238E27FC236}">
                <a16:creationId xmlns:a16="http://schemas.microsoft.com/office/drawing/2014/main" id="{80DBAF35-E219-A3BC-F91A-9E50C5E384A4}"/>
              </a:ext>
            </a:extLst>
          </p:cNvPr>
          <p:cNvSpPr/>
          <p:nvPr/>
        </p:nvSpPr>
        <p:spPr>
          <a:xfrm>
            <a:off x="6145289" y="3042734"/>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4" name="Rectangle 13">
            <a:extLst>
              <a:ext uri="{FF2B5EF4-FFF2-40B4-BE49-F238E27FC236}">
                <a16:creationId xmlns:a16="http://schemas.microsoft.com/office/drawing/2014/main" id="{2379F9B2-3AA1-AAC5-A8AF-D65BE1EE4163}"/>
              </a:ext>
            </a:extLst>
          </p:cNvPr>
          <p:cNvSpPr/>
          <p:nvPr/>
        </p:nvSpPr>
        <p:spPr>
          <a:xfrm>
            <a:off x="6794098" y="3042734"/>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5" name="Rectangle 14">
            <a:extLst>
              <a:ext uri="{FF2B5EF4-FFF2-40B4-BE49-F238E27FC236}">
                <a16:creationId xmlns:a16="http://schemas.microsoft.com/office/drawing/2014/main" id="{7D7D6493-8D0E-7A62-716B-F6067AB2C99A}"/>
              </a:ext>
            </a:extLst>
          </p:cNvPr>
          <p:cNvSpPr/>
          <p:nvPr/>
        </p:nvSpPr>
        <p:spPr>
          <a:xfrm>
            <a:off x="7442907" y="3042734"/>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6" name="TextBox 15">
            <a:extLst>
              <a:ext uri="{FF2B5EF4-FFF2-40B4-BE49-F238E27FC236}">
                <a16:creationId xmlns:a16="http://schemas.microsoft.com/office/drawing/2014/main" id="{946AE23A-4FBA-5A79-E4FC-ED7390D6FA84}"/>
              </a:ext>
            </a:extLst>
          </p:cNvPr>
          <p:cNvSpPr txBox="1"/>
          <p:nvPr/>
        </p:nvSpPr>
        <p:spPr>
          <a:xfrm>
            <a:off x="534894" y="3858358"/>
            <a:ext cx="1531188" cy="369332"/>
          </a:xfrm>
          <a:prstGeom prst="rect">
            <a:avLst/>
          </a:prstGeom>
          <a:noFill/>
        </p:spPr>
        <p:txBody>
          <a:bodyPr wrap="none" rtlCol="0">
            <a:spAutoFit/>
          </a:bodyPr>
          <a:lstStyle/>
          <a:p>
            <a:r>
              <a:rPr lang="en-US" b="1" dirty="0">
                <a:solidFill>
                  <a:schemeClr val="accent3">
                    <a:lumMod val="50000"/>
                  </a:schemeClr>
                </a:solidFill>
              </a:rPr>
              <a:t>Useful Feature</a:t>
            </a:r>
          </a:p>
        </p:txBody>
      </p:sp>
      <p:sp>
        <p:nvSpPr>
          <p:cNvPr id="17" name="Rectangle 16">
            <a:extLst>
              <a:ext uri="{FF2B5EF4-FFF2-40B4-BE49-F238E27FC236}">
                <a16:creationId xmlns:a16="http://schemas.microsoft.com/office/drawing/2014/main" id="{8025B84A-17A2-2AA2-2CE0-7EC3962EAD55}"/>
              </a:ext>
            </a:extLst>
          </p:cNvPr>
          <p:cNvSpPr/>
          <p:nvPr/>
        </p:nvSpPr>
        <p:spPr>
          <a:xfrm>
            <a:off x="2901244" y="3762402"/>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 name="Rectangle 17">
            <a:extLst>
              <a:ext uri="{FF2B5EF4-FFF2-40B4-BE49-F238E27FC236}">
                <a16:creationId xmlns:a16="http://schemas.microsoft.com/office/drawing/2014/main" id="{ED31D49E-3594-9181-6B5C-8625E49B256C}"/>
              </a:ext>
            </a:extLst>
          </p:cNvPr>
          <p:cNvSpPr/>
          <p:nvPr/>
        </p:nvSpPr>
        <p:spPr>
          <a:xfrm>
            <a:off x="3550053" y="3762402"/>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9" name="Rectangle 18">
            <a:extLst>
              <a:ext uri="{FF2B5EF4-FFF2-40B4-BE49-F238E27FC236}">
                <a16:creationId xmlns:a16="http://schemas.microsoft.com/office/drawing/2014/main" id="{72EF5459-9E8A-2312-5AB2-589033966AA2}"/>
              </a:ext>
            </a:extLst>
          </p:cNvPr>
          <p:cNvSpPr/>
          <p:nvPr/>
        </p:nvSpPr>
        <p:spPr>
          <a:xfrm>
            <a:off x="4198862" y="3762402"/>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0" name="Rectangle 19">
            <a:extLst>
              <a:ext uri="{FF2B5EF4-FFF2-40B4-BE49-F238E27FC236}">
                <a16:creationId xmlns:a16="http://schemas.microsoft.com/office/drawing/2014/main" id="{DD7F7643-94CA-C4A1-9144-AA2974415960}"/>
              </a:ext>
            </a:extLst>
          </p:cNvPr>
          <p:cNvSpPr/>
          <p:nvPr/>
        </p:nvSpPr>
        <p:spPr>
          <a:xfrm>
            <a:off x="4847671" y="3762402"/>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1" name="Rectangle 20">
            <a:extLst>
              <a:ext uri="{FF2B5EF4-FFF2-40B4-BE49-F238E27FC236}">
                <a16:creationId xmlns:a16="http://schemas.microsoft.com/office/drawing/2014/main" id="{7D92FAA0-62DB-B1BF-7FB3-008B84DA269A}"/>
              </a:ext>
            </a:extLst>
          </p:cNvPr>
          <p:cNvSpPr/>
          <p:nvPr/>
        </p:nvSpPr>
        <p:spPr>
          <a:xfrm>
            <a:off x="5496480" y="3762402"/>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2" name="Rectangle 21">
            <a:extLst>
              <a:ext uri="{FF2B5EF4-FFF2-40B4-BE49-F238E27FC236}">
                <a16:creationId xmlns:a16="http://schemas.microsoft.com/office/drawing/2014/main" id="{F6EDFF18-F075-EF57-2B42-8D8574DE3386}"/>
              </a:ext>
            </a:extLst>
          </p:cNvPr>
          <p:cNvSpPr/>
          <p:nvPr/>
        </p:nvSpPr>
        <p:spPr>
          <a:xfrm>
            <a:off x="6145289" y="3762402"/>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3" name="Rectangle 22">
            <a:extLst>
              <a:ext uri="{FF2B5EF4-FFF2-40B4-BE49-F238E27FC236}">
                <a16:creationId xmlns:a16="http://schemas.microsoft.com/office/drawing/2014/main" id="{38465230-34D0-D8CD-897B-F75367BAFB0A}"/>
              </a:ext>
            </a:extLst>
          </p:cNvPr>
          <p:cNvSpPr/>
          <p:nvPr/>
        </p:nvSpPr>
        <p:spPr>
          <a:xfrm>
            <a:off x="6794098" y="3762402"/>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4" name="Rectangle 23">
            <a:extLst>
              <a:ext uri="{FF2B5EF4-FFF2-40B4-BE49-F238E27FC236}">
                <a16:creationId xmlns:a16="http://schemas.microsoft.com/office/drawing/2014/main" id="{47A45D9B-A230-36B0-BC6B-F70A12DF17EC}"/>
              </a:ext>
            </a:extLst>
          </p:cNvPr>
          <p:cNvSpPr/>
          <p:nvPr/>
        </p:nvSpPr>
        <p:spPr>
          <a:xfrm>
            <a:off x="7442907" y="3762402"/>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5" name="Multiply 24">
            <a:extLst>
              <a:ext uri="{FF2B5EF4-FFF2-40B4-BE49-F238E27FC236}">
                <a16:creationId xmlns:a16="http://schemas.microsoft.com/office/drawing/2014/main" id="{B822BE9C-FE11-1AC6-C925-2E14B83D0341}"/>
              </a:ext>
            </a:extLst>
          </p:cNvPr>
          <p:cNvSpPr/>
          <p:nvPr/>
        </p:nvSpPr>
        <p:spPr>
          <a:xfrm>
            <a:off x="3578578" y="3755725"/>
            <a:ext cx="502053" cy="417310"/>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ultiply 25">
            <a:extLst>
              <a:ext uri="{FF2B5EF4-FFF2-40B4-BE49-F238E27FC236}">
                <a16:creationId xmlns:a16="http://schemas.microsoft.com/office/drawing/2014/main" id="{19A0D978-4C7A-C77C-0D80-51EAF255CEA5}"/>
              </a:ext>
            </a:extLst>
          </p:cNvPr>
          <p:cNvSpPr/>
          <p:nvPr/>
        </p:nvSpPr>
        <p:spPr>
          <a:xfrm>
            <a:off x="4876196" y="3786391"/>
            <a:ext cx="502053" cy="417310"/>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Multiply 26">
            <a:extLst>
              <a:ext uri="{FF2B5EF4-FFF2-40B4-BE49-F238E27FC236}">
                <a16:creationId xmlns:a16="http://schemas.microsoft.com/office/drawing/2014/main" id="{9415F7A8-7D6C-EE6B-DAD2-D04C2E550C28}"/>
              </a:ext>
            </a:extLst>
          </p:cNvPr>
          <p:cNvSpPr/>
          <p:nvPr/>
        </p:nvSpPr>
        <p:spPr>
          <a:xfrm>
            <a:off x="5525005" y="3786391"/>
            <a:ext cx="502053" cy="417310"/>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Multiply 27">
            <a:extLst>
              <a:ext uri="{FF2B5EF4-FFF2-40B4-BE49-F238E27FC236}">
                <a16:creationId xmlns:a16="http://schemas.microsoft.com/office/drawing/2014/main" id="{C06BE69D-A87A-9534-B2A1-F60D552A36E2}"/>
              </a:ext>
            </a:extLst>
          </p:cNvPr>
          <p:cNvSpPr/>
          <p:nvPr/>
        </p:nvSpPr>
        <p:spPr>
          <a:xfrm>
            <a:off x="6822623" y="3786391"/>
            <a:ext cx="502053" cy="417310"/>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ultiply 28">
            <a:extLst>
              <a:ext uri="{FF2B5EF4-FFF2-40B4-BE49-F238E27FC236}">
                <a16:creationId xmlns:a16="http://schemas.microsoft.com/office/drawing/2014/main" id="{A82E8DD6-5BD0-7361-8DC3-D0CF08ECB605}"/>
              </a:ext>
            </a:extLst>
          </p:cNvPr>
          <p:cNvSpPr/>
          <p:nvPr/>
        </p:nvSpPr>
        <p:spPr>
          <a:xfrm>
            <a:off x="7442907" y="3786391"/>
            <a:ext cx="502053" cy="417310"/>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B8D0A42-72BB-D713-1155-E6B439B70A09}"/>
              </a:ext>
            </a:extLst>
          </p:cNvPr>
          <p:cNvSpPr txBox="1"/>
          <p:nvPr/>
        </p:nvSpPr>
        <p:spPr>
          <a:xfrm>
            <a:off x="534894" y="4578026"/>
            <a:ext cx="2081019" cy="369332"/>
          </a:xfrm>
          <a:prstGeom prst="rect">
            <a:avLst/>
          </a:prstGeom>
          <a:noFill/>
        </p:spPr>
        <p:txBody>
          <a:bodyPr wrap="none" rtlCol="0">
            <a:spAutoFit/>
          </a:bodyPr>
          <a:lstStyle/>
          <a:p>
            <a:r>
              <a:rPr lang="en-US" b="1" dirty="0">
                <a:solidFill>
                  <a:schemeClr val="accent3">
                    <a:lumMod val="50000"/>
                  </a:schemeClr>
                </a:solidFill>
              </a:rPr>
              <a:t>Selected Feature set</a:t>
            </a:r>
          </a:p>
        </p:txBody>
      </p:sp>
      <p:sp>
        <p:nvSpPr>
          <p:cNvPr id="31" name="Rectangle 30">
            <a:extLst>
              <a:ext uri="{FF2B5EF4-FFF2-40B4-BE49-F238E27FC236}">
                <a16:creationId xmlns:a16="http://schemas.microsoft.com/office/drawing/2014/main" id="{4DA53625-4403-6BC4-2006-EEF09F0D8C48}"/>
              </a:ext>
            </a:extLst>
          </p:cNvPr>
          <p:cNvSpPr/>
          <p:nvPr/>
        </p:nvSpPr>
        <p:spPr>
          <a:xfrm>
            <a:off x="2901244" y="4482070"/>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3" name="Rectangle 32">
            <a:extLst>
              <a:ext uri="{FF2B5EF4-FFF2-40B4-BE49-F238E27FC236}">
                <a16:creationId xmlns:a16="http://schemas.microsoft.com/office/drawing/2014/main" id="{219026D1-69D6-EFB7-5269-43AC409ECC91}"/>
              </a:ext>
            </a:extLst>
          </p:cNvPr>
          <p:cNvSpPr/>
          <p:nvPr/>
        </p:nvSpPr>
        <p:spPr>
          <a:xfrm>
            <a:off x="3550053" y="4482451"/>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6" name="Rectangle 35">
            <a:extLst>
              <a:ext uri="{FF2B5EF4-FFF2-40B4-BE49-F238E27FC236}">
                <a16:creationId xmlns:a16="http://schemas.microsoft.com/office/drawing/2014/main" id="{57E59A51-180C-6B60-1F43-2EEB5DD26415}"/>
              </a:ext>
            </a:extLst>
          </p:cNvPr>
          <p:cNvSpPr/>
          <p:nvPr/>
        </p:nvSpPr>
        <p:spPr>
          <a:xfrm>
            <a:off x="4198862" y="4482070"/>
            <a:ext cx="530578" cy="4652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Tree>
    <p:extLst>
      <p:ext uri="{BB962C8B-B14F-4D97-AF65-F5344CB8AC3E}">
        <p14:creationId xmlns:p14="http://schemas.microsoft.com/office/powerpoint/2010/main" val="119016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9" grpId="0" animBg="1"/>
      <p:bldP spid="10" grpId="0" animBg="1"/>
      <p:bldP spid="11" grpId="0" animBg="1"/>
      <p:bldP spid="12" grpId="0" animBg="1"/>
      <p:bldP spid="13" grpId="0" animBg="1"/>
      <p:bldP spid="14" grpId="0" animBg="1"/>
      <p:bldP spid="15" grpId="0" animBg="1"/>
      <p:bldP spid="16" grpId="0"/>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p:bldP spid="31" grpId="0" animBg="1"/>
      <p:bldP spid="33" grpId="0" animBg="1"/>
      <p:bldP spid="3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46016-41C3-AB57-CE69-E21CC6DA7BDB}"/>
              </a:ext>
            </a:extLst>
          </p:cNvPr>
          <p:cNvSpPr>
            <a:spLocks noGrp="1"/>
          </p:cNvSpPr>
          <p:nvPr>
            <p:ph type="title"/>
          </p:nvPr>
        </p:nvSpPr>
        <p:spPr/>
        <p:txBody>
          <a:bodyPr/>
          <a:lstStyle/>
          <a:p>
            <a:r>
              <a:rPr lang="en-US" dirty="0"/>
              <a:t>Feature Selection Methods</a:t>
            </a:r>
          </a:p>
        </p:txBody>
      </p:sp>
      <p:sp>
        <p:nvSpPr>
          <p:cNvPr id="4" name="Rounded Rectangle 5">
            <a:extLst>
              <a:ext uri="{FF2B5EF4-FFF2-40B4-BE49-F238E27FC236}">
                <a16:creationId xmlns:a16="http://schemas.microsoft.com/office/drawing/2014/main" id="{F6BFB7A9-63AD-6398-BE51-361C2FB3FA9C}"/>
              </a:ext>
            </a:extLst>
          </p:cNvPr>
          <p:cNvSpPr/>
          <p:nvPr/>
        </p:nvSpPr>
        <p:spPr>
          <a:xfrm>
            <a:off x="4839032" y="915562"/>
            <a:ext cx="2191871" cy="1188720"/>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Feature Selection Methods</a:t>
            </a:r>
          </a:p>
        </p:txBody>
      </p:sp>
      <p:sp>
        <p:nvSpPr>
          <p:cNvPr id="5" name="Rounded Rectangle 6">
            <a:extLst>
              <a:ext uri="{FF2B5EF4-FFF2-40B4-BE49-F238E27FC236}">
                <a16:creationId xmlns:a16="http://schemas.microsoft.com/office/drawing/2014/main" id="{93EEF51E-243C-5B40-0762-62F33D5B30B9}"/>
              </a:ext>
            </a:extLst>
          </p:cNvPr>
          <p:cNvSpPr/>
          <p:nvPr/>
        </p:nvSpPr>
        <p:spPr>
          <a:xfrm>
            <a:off x="2203408" y="3034160"/>
            <a:ext cx="2191871" cy="1188720"/>
          </a:xfrm>
          <a:prstGeom prst="round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Filter Methods</a:t>
            </a:r>
          </a:p>
        </p:txBody>
      </p:sp>
      <p:sp>
        <p:nvSpPr>
          <p:cNvPr id="6" name="Rounded Rectangle 7">
            <a:extLst>
              <a:ext uri="{FF2B5EF4-FFF2-40B4-BE49-F238E27FC236}">
                <a16:creationId xmlns:a16="http://schemas.microsoft.com/office/drawing/2014/main" id="{4957F52F-BB67-2737-5050-2A5D9D6451B9}"/>
              </a:ext>
            </a:extLst>
          </p:cNvPr>
          <p:cNvSpPr/>
          <p:nvPr/>
        </p:nvSpPr>
        <p:spPr>
          <a:xfrm>
            <a:off x="4839032" y="3034160"/>
            <a:ext cx="2191871" cy="118872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Wrapper Methods</a:t>
            </a:r>
          </a:p>
        </p:txBody>
      </p:sp>
      <p:sp>
        <p:nvSpPr>
          <p:cNvPr id="7" name="Rounded Rectangle 8">
            <a:extLst>
              <a:ext uri="{FF2B5EF4-FFF2-40B4-BE49-F238E27FC236}">
                <a16:creationId xmlns:a16="http://schemas.microsoft.com/office/drawing/2014/main" id="{54021FAF-CBD4-405E-19FB-C7CC96E65672}"/>
              </a:ext>
            </a:extLst>
          </p:cNvPr>
          <p:cNvSpPr/>
          <p:nvPr/>
        </p:nvSpPr>
        <p:spPr>
          <a:xfrm>
            <a:off x="7474656" y="3034160"/>
            <a:ext cx="2191871" cy="118872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Embedded Methods</a:t>
            </a:r>
          </a:p>
        </p:txBody>
      </p:sp>
      <p:cxnSp>
        <p:nvCxnSpPr>
          <p:cNvPr id="8" name="Straight Connector 7">
            <a:extLst>
              <a:ext uri="{FF2B5EF4-FFF2-40B4-BE49-F238E27FC236}">
                <a16:creationId xmlns:a16="http://schemas.microsoft.com/office/drawing/2014/main" id="{AEA10DC7-65E7-F12C-2D38-3AA3F3DAC23C}"/>
              </a:ext>
            </a:extLst>
          </p:cNvPr>
          <p:cNvCxnSpPr>
            <a:stCxn id="4" idx="2"/>
            <a:endCxn id="6" idx="0"/>
          </p:cNvCxnSpPr>
          <p:nvPr/>
        </p:nvCxnSpPr>
        <p:spPr>
          <a:xfrm>
            <a:off x="5934967" y="2104282"/>
            <a:ext cx="0" cy="9298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7C002D-28EF-0217-1203-077C6C446F4D}"/>
              </a:ext>
            </a:extLst>
          </p:cNvPr>
          <p:cNvCxnSpPr>
            <a:endCxn id="5" idx="0"/>
          </p:cNvCxnSpPr>
          <p:nvPr/>
        </p:nvCxnSpPr>
        <p:spPr>
          <a:xfrm>
            <a:off x="3299341" y="2475420"/>
            <a:ext cx="2" cy="55874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DC7D475-57D3-2B29-AA4B-A5190C6D5A59}"/>
              </a:ext>
            </a:extLst>
          </p:cNvPr>
          <p:cNvCxnSpPr>
            <a:endCxn id="7" idx="0"/>
          </p:cNvCxnSpPr>
          <p:nvPr/>
        </p:nvCxnSpPr>
        <p:spPr>
          <a:xfrm>
            <a:off x="8570591" y="2475420"/>
            <a:ext cx="1" cy="55874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B8D7A34-A394-DC91-A9F3-14488C02B0F9}"/>
              </a:ext>
            </a:extLst>
          </p:cNvPr>
          <p:cNvCxnSpPr/>
          <p:nvPr/>
        </p:nvCxnSpPr>
        <p:spPr>
          <a:xfrm flipV="1">
            <a:off x="3299342" y="2475419"/>
            <a:ext cx="527124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ABD2B9A-0A50-4DC7-E388-5A9263C06583}"/>
              </a:ext>
            </a:extLst>
          </p:cNvPr>
          <p:cNvSpPr txBox="1"/>
          <p:nvPr/>
        </p:nvSpPr>
        <p:spPr>
          <a:xfrm>
            <a:off x="2203408" y="4541111"/>
            <a:ext cx="2191871" cy="646331"/>
          </a:xfrm>
          <a:prstGeom prst="rect">
            <a:avLst/>
          </a:prstGeom>
          <a:noFill/>
        </p:spPr>
        <p:txBody>
          <a:bodyPr wrap="square" rtlCol="0">
            <a:spAutoFit/>
          </a:bodyPr>
          <a:lstStyle/>
          <a:p>
            <a:r>
              <a:rPr lang="en-IN" dirty="0"/>
              <a:t>Independent of the model</a:t>
            </a:r>
            <a:endParaRPr lang="en-US" sz="2000" dirty="0"/>
          </a:p>
        </p:txBody>
      </p:sp>
      <p:sp>
        <p:nvSpPr>
          <p:cNvPr id="14" name="TextBox 13">
            <a:extLst>
              <a:ext uri="{FF2B5EF4-FFF2-40B4-BE49-F238E27FC236}">
                <a16:creationId xmlns:a16="http://schemas.microsoft.com/office/drawing/2014/main" id="{318B2852-F743-031F-530C-579CC77B0D82}"/>
              </a:ext>
            </a:extLst>
          </p:cNvPr>
          <p:cNvSpPr txBox="1"/>
          <p:nvPr/>
        </p:nvSpPr>
        <p:spPr>
          <a:xfrm>
            <a:off x="4839032" y="4541111"/>
            <a:ext cx="2191871" cy="923330"/>
          </a:xfrm>
          <a:prstGeom prst="rect">
            <a:avLst/>
          </a:prstGeom>
          <a:noFill/>
        </p:spPr>
        <p:txBody>
          <a:bodyPr wrap="square" rtlCol="0">
            <a:spAutoFit/>
          </a:bodyPr>
          <a:lstStyle/>
          <a:p>
            <a:r>
              <a:rPr lang="en-IN" dirty="0"/>
              <a:t>Use model performance to select features</a:t>
            </a:r>
            <a:endParaRPr lang="en-US" sz="2000" dirty="0"/>
          </a:p>
        </p:txBody>
      </p:sp>
      <p:sp>
        <p:nvSpPr>
          <p:cNvPr id="15" name="TextBox 14">
            <a:extLst>
              <a:ext uri="{FF2B5EF4-FFF2-40B4-BE49-F238E27FC236}">
                <a16:creationId xmlns:a16="http://schemas.microsoft.com/office/drawing/2014/main" id="{B6EB4EDA-930A-9F75-4A1D-2DAC731560A6}"/>
              </a:ext>
            </a:extLst>
          </p:cNvPr>
          <p:cNvSpPr txBox="1"/>
          <p:nvPr/>
        </p:nvSpPr>
        <p:spPr>
          <a:xfrm>
            <a:off x="7474654" y="4541111"/>
            <a:ext cx="2286000" cy="923330"/>
          </a:xfrm>
          <a:prstGeom prst="rect">
            <a:avLst/>
          </a:prstGeom>
          <a:noFill/>
        </p:spPr>
        <p:txBody>
          <a:bodyPr wrap="square" rtlCol="0">
            <a:spAutoFit/>
          </a:bodyPr>
          <a:lstStyle/>
          <a:p>
            <a:r>
              <a:rPr lang="en-IN" dirty="0"/>
              <a:t>Feature selection happens during model training</a:t>
            </a:r>
            <a:endParaRPr lang="en-US" sz="2000" dirty="0"/>
          </a:p>
        </p:txBody>
      </p:sp>
    </p:spTree>
    <p:extLst>
      <p:ext uri="{BB962C8B-B14F-4D97-AF65-F5344CB8AC3E}">
        <p14:creationId xmlns:p14="http://schemas.microsoft.com/office/powerpoint/2010/main" val="28173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par>
                          <p:cTn id="30" fill="hold">
                            <p:stCondLst>
                              <p:cond delay="1500"/>
                            </p:stCondLst>
                            <p:childTnLst>
                              <p:par>
                                <p:cTn id="31" presetID="10" presetClass="entr" presetSubtype="0"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2" grpId="0"/>
      <p:bldP spid="14" grpId="0"/>
      <p:bldP spid="1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29624-E582-2DBB-1F0D-6BE1035CAEB5}"/>
              </a:ext>
            </a:extLst>
          </p:cNvPr>
          <p:cNvSpPr>
            <a:spLocks noGrp="1"/>
          </p:cNvSpPr>
          <p:nvPr>
            <p:ph type="title"/>
          </p:nvPr>
        </p:nvSpPr>
        <p:spPr/>
        <p:txBody>
          <a:bodyPr/>
          <a:lstStyle/>
          <a:p>
            <a:r>
              <a:rPr lang="en-US" dirty="0"/>
              <a:t>Filter Methods</a:t>
            </a:r>
          </a:p>
        </p:txBody>
      </p:sp>
      <p:sp>
        <p:nvSpPr>
          <p:cNvPr id="3" name="Content Placeholder 2">
            <a:extLst>
              <a:ext uri="{FF2B5EF4-FFF2-40B4-BE49-F238E27FC236}">
                <a16:creationId xmlns:a16="http://schemas.microsoft.com/office/drawing/2014/main" id="{E8F04952-F253-4E92-FE48-BE85BA512B06}"/>
              </a:ext>
            </a:extLst>
          </p:cNvPr>
          <p:cNvSpPr>
            <a:spLocks noGrp="1"/>
          </p:cNvSpPr>
          <p:nvPr>
            <p:ph idx="1"/>
          </p:nvPr>
        </p:nvSpPr>
        <p:spPr/>
        <p:txBody>
          <a:bodyPr/>
          <a:lstStyle/>
          <a:p>
            <a:r>
              <a:rPr lang="en-US" dirty="0"/>
              <a:t>Filter methods evaluate the </a:t>
            </a:r>
            <a:r>
              <a:rPr lang="en-US" dirty="0">
                <a:solidFill>
                  <a:srgbClr val="C00000"/>
                </a:solidFill>
              </a:rPr>
              <a:t>relevance of features independently </a:t>
            </a:r>
            <a:r>
              <a:rPr lang="en-US" dirty="0"/>
              <a:t>of any machine learning model.</a:t>
            </a:r>
          </a:p>
          <a:p>
            <a:r>
              <a:rPr lang="en-US" dirty="0"/>
              <a:t>These methods rely on </a:t>
            </a:r>
            <a:r>
              <a:rPr lang="en-US" dirty="0">
                <a:solidFill>
                  <a:srgbClr val="C00000"/>
                </a:solidFill>
              </a:rPr>
              <a:t>statistical tests to measure the correlation between input features </a:t>
            </a:r>
            <a:r>
              <a:rPr lang="en-US" dirty="0"/>
              <a:t>and </a:t>
            </a:r>
            <a:r>
              <a:rPr lang="en-US" dirty="0">
                <a:solidFill>
                  <a:srgbClr val="C00000"/>
                </a:solidFill>
              </a:rPr>
              <a:t>the target variable.</a:t>
            </a:r>
          </a:p>
          <a:p>
            <a:r>
              <a:rPr lang="en-US" dirty="0"/>
              <a:t>Filter method generally </a:t>
            </a:r>
            <a:r>
              <a:rPr lang="en-US" dirty="0">
                <a:solidFill>
                  <a:srgbClr val="C00000"/>
                </a:solidFill>
              </a:rPr>
              <a:t>used as a preprocessing step</a:t>
            </a:r>
            <a:r>
              <a:rPr lang="en-US" dirty="0"/>
              <a:t>.</a:t>
            </a:r>
          </a:p>
          <a:p>
            <a:r>
              <a:rPr lang="en-US" dirty="0"/>
              <a:t>Some of the common filter methods are correlation metrics(Pearson, chi-squared test, </a:t>
            </a:r>
            <a:r>
              <a:rPr lang="en-US" dirty="0" err="1"/>
              <a:t>anova</a:t>
            </a:r>
            <a:r>
              <a:rPr lang="en-US" dirty="0"/>
              <a:t> etc.</a:t>
            </a:r>
          </a:p>
          <a:p>
            <a:r>
              <a:rPr lang="en-US" b="1" dirty="0"/>
              <a:t>Steps to Apply Filter Methods</a:t>
            </a:r>
          </a:p>
          <a:p>
            <a:pPr lvl="1"/>
            <a:r>
              <a:rPr lang="en-US" dirty="0"/>
              <a:t>Calculate the </a:t>
            </a:r>
            <a:r>
              <a:rPr lang="en-US" dirty="0">
                <a:solidFill>
                  <a:srgbClr val="C00000"/>
                </a:solidFill>
              </a:rPr>
              <a:t>statistical measure (e.g., correlation, chi-square)</a:t>
            </a:r>
            <a:r>
              <a:rPr lang="en-US" dirty="0"/>
              <a:t> for each feature.</a:t>
            </a:r>
          </a:p>
          <a:p>
            <a:pPr lvl="1"/>
            <a:r>
              <a:rPr lang="en-US" dirty="0"/>
              <a:t>Sort </a:t>
            </a:r>
            <a:r>
              <a:rPr lang="en-US" dirty="0">
                <a:solidFill>
                  <a:srgbClr val="C00000"/>
                </a:solidFill>
              </a:rPr>
              <a:t>features based on their scores</a:t>
            </a:r>
            <a:r>
              <a:rPr lang="en-US" dirty="0"/>
              <a:t> in descending order.</a:t>
            </a:r>
          </a:p>
          <a:p>
            <a:pPr lvl="1"/>
            <a:r>
              <a:rPr lang="en-US" dirty="0"/>
              <a:t>Choose the top </a:t>
            </a:r>
            <a:r>
              <a:rPr lang="en-US" dirty="0">
                <a:solidFill>
                  <a:srgbClr val="C00000"/>
                </a:solidFill>
              </a:rPr>
              <a:t>k features or features above a threshold</a:t>
            </a:r>
            <a:r>
              <a:rPr lang="en-US" dirty="0"/>
              <a:t>.</a:t>
            </a:r>
          </a:p>
          <a:p>
            <a:r>
              <a:rPr lang="en-US" dirty="0"/>
              <a:t>This method Ignores feature interactions</a:t>
            </a:r>
          </a:p>
          <a:p>
            <a:pPr lvl="1"/>
            <a:endParaRPr lang="en-US" dirty="0"/>
          </a:p>
          <a:p>
            <a:endParaRPr lang="en-US" dirty="0"/>
          </a:p>
        </p:txBody>
      </p:sp>
    </p:spTree>
    <p:extLst>
      <p:ext uri="{BB962C8B-B14F-4D97-AF65-F5344CB8AC3E}">
        <p14:creationId xmlns:p14="http://schemas.microsoft.com/office/powerpoint/2010/main" val="221487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7D6F5-2678-5B7D-3FAE-C3C6B77E23C1}"/>
              </a:ext>
            </a:extLst>
          </p:cNvPr>
          <p:cNvSpPr>
            <a:spLocks noGrp="1"/>
          </p:cNvSpPr>
          <p:nvPr>
            <p:ph type="title"/>
          </p:nvPr>
        </p:nvSpPr>
        <p:spPr/>
        <p:txBody>
          <a:bodyPr/>
          <a:lstStyle/>
          <a:p>
            <a:r>
              <a:rPr lang="en-US" dirty="0"/>
              <a:t>Filter Methods - Techniques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D4D965-651E-14AC-7E2E-04E0EC6C249B}"/>
                  </a:ext>
                </a:extLst>
              </p:cNvPr>
              <p:cNvSpPr>
                <a:spLocks noGrp="1"/>
              </p:cNvSpPr>
              <p:nvPr>
                <p:ph idx="1"/>
              </p:nvPr>
            </p:nvSpPr>
            <p:spPr>
              <a:xfrm>
                <a:off x="131180" y="863445"/>
                <a:ext cx="11929641" cy="3426334"/>
              </a:xfrm>
            </p:spPr>
            <p:txBody>
              <a:bodyPr/>
              <a:lstStyle/>
              <a:p>
                <a:r>
                  <a:rPr lang="en-US" b="1" dirty="0">
                    <a:solidFill>
                      <a:srgbClr val="C00000"/>
                    </a:solidFill>
                  </a:rPr>
                  <a:t>Information Gain (Entropy-Based):</a:t>
                </a:r>
              </a:p>
              <a:p>
                <a:pPr lvl="1"/>
                <a:r>
                  <a:rPr lang="en-US" dirty="0"/>
                  <a:t>It is used to measures how much a feature reduces </a:t>
                </a:r>
                <a:r>
                  <a:rPr lang="en-US" dirty="0">
                    <a:solidFill>
                      <a:srgbClr val="C00000"/>
                    </a:solidFill>
                  </a:rPr>
                  <a:t>uncertainty (entropy) in the target variable</a:t>
                </a:r>
                <a:r>
                  <a:rPr lang="en-US" dirty="0"/>
                  <a:t>.</a:t>
                </a:r>
              </a:p>
              <a:p>
                <a:pPr lvl="1"/>
                <a:r>
                  <a:rPr lang="en-US" dirty="0"/>
                  <a:t>It is defined as the amount of information provided by the feature for identifying the target value and measures reduction in the</a:t>
                </a:r>
                <a:r>
                  <a:rPr lang="en-US" dirty="0">
                    <a:solidFill>
                      <a:srgbClr val="C00000"/>
                    </a:solidFill>
                  </a:rPr>
                  <a:t> entropy values</a:t>
                </a:r>
                <a:r>
                  <a:rPr lang="en-US" dirty="0"/>
                  <a:t>.</a:t>
                </a:r>
              </a:p>
              <a:p>
                <a:pPr lvl="1"/>
                <a:r>
                  <a:rPr lang="en-US" dirty="0"/>
                  <a:t>Information gain of each attribute is calculated </a:t>
                </a:r>
                <a:r>
                  <a:rPr lang="en-US" dirty="0">
                    <a:solidFill>
                      <a:srgbClr val="C00000"/>
                    </a:solidFill>
                  </a:rPr>
                  <a:t>considering the target values for feature selection</a:t>
                </a:r>
                <a:r>
                  <a:rPr lang="en-US" dirty="0"/>
                  <a:t>.</a:t>
                </a:r>
              </a:p>
              <a:p>
                <a:pPr lvl="1"/>
                <a:r>
                  <a:rPr lang="en-US" dirty="0"/>
                  <a:t>Feature selection in </a:t>
                </a:r>
                <a:r>
                  <a:rPr lang="en-US" dirty="0">
                    <a:solidFill>
                      <a:srgbClr val="C00000"/>
                    </a:solidFill>
                  </a:rPr>
                  <a:t>decision tree models</a:t>
                </a:r>
                <a:r>
                  <a:rPr lang="en-US" dirty="0"/>
                  <a:t>.</a:t>
                </a:r>
              </a:p>
              <a:p>
                <a:r>
                  <a:rPr lang="en-US" b="1" dirty="0">
                    <a:solidFill>
                      <a:srgbClr val="C00000"/>
                    </a:solidFill>
                  </a:rPr>
                  <a:t>Pearson Correlation Coefficient:</a:t>
                </a:r>
              </a:p>
              <a:p>
                <a:pPr lvl="1"/>
                <a:r>
                  <a:rPr lang="en-US" dirty="0"/>
                  <a:t>Measures the </a:t>
                </a:r>
                <a:r>
                  <a:rPr lang="en-US" dirty="0">
                    <a:solidFill>
                      <a:srgbClr val="C00000"/>
                    </a:solidFill>
                  </a:rPr>
                  <a:t>linear relationship between two variables</a:t>
                </a:r>
                <a:r>
                  <a:rPr lang="en-US" dirty="0"/>
                  <a:t>.</a:t>
                </a:r>
              </a:p>
              <a:p>
                <a:pPr lvl="1"/>
                <a:r>
                  <a:rPr lang="en-US" dirty="0"/>
                  <a:t>Range: [−1,1], where 1 indicates a perfect positive linear relationship, -1 indicates a perfect negative linear relationship, and 0 indicates no linear relationship.</a:t>
                </a:r>
              </a:p>
              <a:p>
                <a:pPr lvl="1"/>
                <a:endParaRPr lang="en-US" dirty="0"/>
              </a:p>
              <a:p>
                <a:pPr lvl="1"/>
                <a:endParaRPr lang="en-US" dirty="0"/>
              </a:p>
              <a:p>
                <a:pPr lvl="1"/>
                <a:endParaRPr lang="en-US" dirty="0"/>
              </a:p>
              <a:p>
                <a:pPr lvl="1"/>
                <a:r>
                  <a:rPr lang="en-US" dirty="0" err="1"/>
                  <a:t>Cov</a:t>
                </a:r>
                <a:r>
                  <a:rPr lang="en-US" dirty="0"/>
                  <a:t> is the covariance</a:t>
                </a:r>
              </a:p>
              <a:p>
                <a:pPr lvl="1"/>
                <a14:m>
                  <m:oMath xmlns:m="http://schemas.openxmlformats.org/officeDocument/2006/math">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𝑋</m:t>
                    </m:r>
                  </m:oMath>
                </a14:m>
                <a:r>
                  <a:rPr lang="en-US" dirty="0"/>
                  <a:t> is the standard deviation of</a:t>
                </a:r>
              </a:p>
              <a:p>
                <a:pPr lvl="1"/>
                <a14:m>
                  <m:oMath xmlns:m="http://schemas.openxmlformats.org/officeDocument/2006/math">
                    <m:r>
                      <a:rPr lang="en-US" i="1">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𝑌</m:t>
                    </m:r>
                  </m:oMath>
                </a14:m>
                <a:r>
                  <a:rPr lang="en-US" dirty="0"/>
                  <a:t> is the standard deviation of</a:t>
                </a:r>
              </a:p>
              <a:p>
                <a:pPr lvl="1"/>
                <a:endParaRPr lang="en-US" dirty="0"/>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EFD4D965-651E-14AC-7E2E-04E0EC6C249B}"/>
                  </a:ext>
                </a:extLst>
              </p:cNvPr>
              <p:cNvSpPr>
                <a:spLocks noGrp="1" noRot="1" noChangeAspect="1" noMove="1" noResize="1" noEditPoints="1" noAdjustHandles="1" noChangeArrowheads="1" noChangeShapeType="1" noTextEdit="1"/>
              </p:cNvSpPr>
              <p:nvPr>
                <p:ph idx="1"/>
              </p:nvPr>
            </p:nvSpPr>
            <p:spPr>
              <a:xfrm>
                <a:off x="131180" y="863445"/>
                <a:ext cx="11929641" cy="3426334"/>
              </a:xfrm>
              <a:blipFill>
                <a:blip r:embed="rId2"/>
                <a:stretch>
                  <a:fillRect l="-532" t="-2963" r="-532" b="-62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5DCB619-9AC3-D156-DF1D-C2501AD206A8}"/>
                  </a:ext>
                </a:extLst>
              </p:cNvPr>
              <p:cNvSpPr txBox="1"/>
              <p:nvPr/>
            </p:nvSpPr>
            <p:spPr>
              <a:xfrm>
                <a:off x="790223" y="4442023"/>
                <a:ext cx="1624804" cy="6181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𝐶𝑜𝑣</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𝑌</m:t>
                          </m:r>
                        </m:den>
                      </m:f>
                    </m:oMath>
                  </m:oMathPara>
                </a14:m>
                <a:endParaRPr lang="en-US" dirty="0"/>
              </a:p>
            </p:txBody>
          </p:sp>
        </mc:Choice>
        <mc:Fallback xmlns="">
          <p:sp>
            <p:nvSpPr>
              <p:cNvPr id="4" name="TextBox 3">
                <a:extLst>
                  <a:ext uri="{FF2B5EF4-FFF2-40B4-BE49-F238E27FC236}">
                    <a16:creationId xmlns:a16="http://schemas.microsoft.com/office/drawing/2014/main" id="{A5DCB619-9AC3-D156-DF1D-C2501AD206A8}"/>
                  </a:ext>
                </a:extLst>
              </p:cNvPr>
              <p:cNvSpPr txBox="1">
                <a:spLocks noRot="1" noChangeAspect="1" noMove="1" noResize="1" noEditPoints="1" noAdjustHandles="1" noChangeArrowheads="1" noChangeShapeType="1" noTextEdit="1"/>
              </p:cNvSpPr>
              <p:nvPr/>
            </p:nvSpPr>
            <p:spPr>
              <a:xfrm>
                <a:off x="790223" y="4442023"/>
                <a:ext cx="1624804" cy="618118"/>
              </a:xfrm>
              <a:prstGeom prst="rect">
                <a:avLst/>
              </a:prstGeom>
              <a:blipFill>
                <a:blip r:embed="rId3"/>
                <a:stretch>
                  <a:fillRect b="-4000"/>
                </a:stretch>
              </a:blipFill>
            </p:spPr>
            <p:txBody>
              <a:bodyPr/>
              <a:lstStyle/>
              <a:p>
                <a:r>
                  <a:rPr lang="en-US">
                    <a:noFill/>
                  </a:rPr>
                  <a:t> </a:t>
                </a:r>
              </a:p>
            </p:txBody>
          </p:sp>
        </mc:Fallback>
      </mc:AlternateContent>
    </p:spTree>
    <p:extLst>
      <p:ext uri="{BB962C8B-B14F-4D97-AF65-F5344CB8AC3E}">
        <p14:creationId xmlns:p14="http://schemas.microsoft.com/office/powerpoint/2010/main" val="319246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7D6F5-2678-5B7D-3FAE-C3C6B77E23C1}"/>
              </a:ext>
            </a:extLst>
          </p:cNvPr>
          <p:cNvSpPr>
            <a:spLocks noGrp="1"/>
          </p:cNvSpPr>
          <p:nvPr>
            <p:ph type="title"/>
          </p:nvPr>
        </p:nvSpPr>
        <p:spPr/>
        <p:txBody>
          <a:bodyPr/>
          <a:lstStyle/>
          <a:p>
            <a:r>
              <a:rPr lang="en-US" dirty="0"/>
              <a:t>Filter Methods - Techniques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D4D965-651E-14AC-7E2E-04E0EC6C249B}"/>
                  </a:ext>
                </a:extLst>
              </p:cNvPr>
              <p:cNvSpPr>
                <a:spLocks noGrp="1"/>
              </p:cNvSpPr>
              <p:nvPr>
                <p:ph idx="1"/>
              </p:nvPr>
            </p:nvSpPr>
            <p:spPr>
              <a:xfrm>
                <a:off x="131180" y="863444"/>
                <a:ext cx="11929641" cy="4950333"/>
              </a:xfrm>
            </p:spPr>
            <p:txBody>
              <a:bodyPr/>
              <a:lstStyle/>
              <a:p>
                <a:r>
                  <a:rPr lang="en-US" b="1" dirty="0">
                    <a:solidFill>
                      <a:srgbClr val="C00000"/>
                    </a:solidFill>
                  </a:rPr>
                  <a:t>Chi-Square Test(</a:t>
                </a:r>
                <a14:m>
                  <m:oMath xmlns:m="http://schemas.openxmlformats.org/officeDocument/2006/math">
                    <m:sSup>
                      <m:sSupPr>
                        <m:ctrlPr>
                          <a:rPr lang="en-US" b="1" i="1" smtClean="0">
                            <a:solidFill>
                              <a:srgbClr val="C00000"/>
                            </a:solidFill>
                            <a:latin typeface="Cambria Math" panose="02040503050406030204" pitchFamily="18" charset="0"/>
                          </a:rPr>
                        </m:ctrlPr>
                      </m:sSupPr>
                      <m:e>
                        <m:r>
                          <a:rPr lang="en-US" b="1" i="1" smtClean="0">
                            <a:solidFill>
                              <a:srgbClr val="C00000"/>
                            </a:solidFill>
                            <a:latin typeface="Cambria Math" panose="02040503050406030204" pitchFamily="18" charset="0"/>
                          </a:rPr>
                          <m:t>𝑿</m:t>
                        </m:r>
                      </m:e>
                      <m:sup>
                        <m:r>
                          <a:rPr lang="en-US" b="1" i="1" smtClean="0">
                            <a:solidFill>
                              <a:srgbClr val="C00000"/>
                            </a:solidFill>
                            <a:latin typeface="Cambria Math" panose="02040503050406030204" pitchFamily="18" charset="0"/>
                          </a:rPr>
                          <m:t>𝟐</m:t>
                        </m:r>
                      </m:sup>
                    </m:sSup>
                  </m:oMath>
                </a14:m>
                <a:r>
                  <a:rPr lang="en-US" b="1" dirty="0">
                    <a:solidFill>
                      <a:srgbClr val="C00000"/>
                    </a:solidFill>
                  </a:rPr>
                  <a:t>)</a:t>
                </a:r>
              </a:p>
              <a:p>
                <a:pPr lvl="1"/>
                <a:r>
                  <a:rPr lang="en-US" dirty="0"/>
                  <a:t>It is used to measures </a:t>
                </a:r>
                <a:r>
                  <a:rPr lang="en-US" dirty="0">
                    <a:solidFill>
                      <a:srgbClr val="C00000"/>
                    </a:solidFill>
                  </a:rPr>
                  <a:t>Measures dependence between categorical variables</a:t>
                </a:r>
                <a:r>
                  <a:rPr lang="en-US" dirty="0"/>
                  <a:t>.</a:t>
                </a:r>
              </a:p>
              <a:p>
                <a:pPr lvl="1"/>
                <a:r>
                  <a:rPr lang="en-US" dirty="0"/>
                  <a:t>Compares observed vs. expected frequencies.</a:t>
                </a:r>
              </a:p>
              <a:p>
                <a:pPr lvl="1"/>
                <a:endParaRPr lang="en-US" dirty="0"/>
              </a:p>
              <a:p>
                <a:pPr lvl="1"/>
                <a:endParaRPr lang="en-US" dirty="0"/>
              </a:p>
              <a:p>
                <a:pPr lvl="1"/>
                <a:endParaRPr lang="en-US" dirty="0"/>
              </a:p>
              <a:p>
                <a:pPr lvl="1"/>
                <a:r>
                  <a:rPr lang="en-US" dirty="0"/>
                  <a:t>O = Observed frequency</a:t>
                </a:r>
              </a:p>
              <a:p>
                <a:pPr lvl="1"/>
                <a:r>
                  <a:rPr lang="en-US" dirty="0"/>
                  <a:t>E = Expected frequency</a:t>
                </a:r>
              </a:p>
              <a:p>
                <a:r>
                  <a:rPr lang="en-US" b="1" dirty="0">
                    <a:solidFill>
                      <a:srgbClr val="C00000"/>
                    </a:solidFill>
                  </a:rPr>
                  <a:t>Variance:</a:t>
                </a:r>
              </a:p>
              <a:p>
                <a:pPr lvl="1"/>
                <a:r>
                  <a:rPr lang="en-US" dirty="0"/>
                  <a:t>Removes </a:t>
                </a:r>
                <a:r>
                  <a:rPr lang="en-US" dirty="0">
                    <a:solidFill>
                      <a:srgbClr val="C00000"/>
                    </a:solidFill>
                  </a:rPr>
                  <a:t>features with low variance (i.e., nearly constant features).</a:t>
                </a:r>
              </a:p>
              <a:p>
                <a:pPr lvl="1"/>
                <a:r>
                  <a:rPr lang="en-US" dirty="0"/>
                  <a:t>Useful for dimensionality reduction.</a:t>
                </a:r>
              </a:p>
              <a:p>
                <a:pPr lvl="1"/>
                <a:r>
                  <a:rPr lang="en-US" dirty="0"/>
                  <a:t>Effective when some features contain very little information.</a:t>
                </a:r>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EFD4D965-651E-14AC-7E2E-04E0EC6C249B}"/>
                  </a:ext>
                </a:extLst>
              </p:cNvPr>
              <p:cNvSpPr>
                <a:spLocks noGrp="1" noRot="1" noChangeAspect="1" noMove="1" noResize="1" noEditPoints="1" noAdjustHandles="1" noChangeArrowheads="1" noChangeShapeType="1" noTextEdit="1"/>
              </p:cNvSpPr>
              <p:nvPr>
                <p:ph idx="1"/>
              </p:nvPr>
            </p:nvSpPr>
            <p:spPr>
              <a:xfrm>
                <a:off x="131180" y="863444"/>
                <a:ext cx="11929641" cy="4950333"/>
              </a:xfrm>
              <a:blipFill>
                <a:blip r:embed="rId2"/>
                <a:stretch>
                  <a:fillRect l="-532" t="-17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5DCB619-9AC3-D156-DF1D-C2501AD206A8}"/>
                  </a:ext>
                </a:extLst>
              </p:cNvPr>
              <p:cNvSpPr txBox="1"/>
              <p:nvPr/>
            </p:nvSpPr>
            <p:spPr>
              <a:xfrm>
                <a:off x="3668890" y="2093935"/>
                <a:ext cx="2098395" cy="8106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𝐸</m:t>
                                  </m:r>
                                  <m:r>
                                    <a:rPr lang="en-US" i="1">
                                      <a:latin typeface="Cambria Math" panose="02040503050406030204" pitchFamily="18" charset="0"/>
                                    </a:rPr>
                                    <m:t>)</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𝐸</m:t>
                              </m:r>
                            </m:den>
                          </m:f>
                        </m:e>
                      </m:nary>
                    </m:oMath>
                  </m:oMathPara>
                </a14:m>
                <a:endParaRPr lang="en-US" dirty="0"/>
              </a:p>
            </p:txBody>
          </p:sp>
        </mc:Choice>
        <mc:Fallback xmlns="">
          <p:sp>
            <p:nvSpPr>
              <p:cNvPr id="4" name="TextBox 3">
                <a:extLst>
                  <a:ext uri="{FF2B5EF4-FFF2-40B4-BE49-F238E27FC236}">
                    <a16:creationId xmlns:a16="http://schemas.microsoft.com/office/drawing/2014/main" id="{A5DCB619-9AC3-D156-DF1D-C2501AD206A8}"/>
                  </a:ext>
                </a:extLst>
              </p:cNvPr>
              <p:cNvSpPr txBox="1">
                <a:spLocks noRot="1" noChangeAspect="1" noMove="1" noResize="1" noEditPoints="1" noAdjustHandles="1" noChangeArrowheads="1" noChangeShapeType="1" noTextEdit="1"/>
              </p:cNvSpPr>
              <p:nvPr/>
            </p:nvSpPr>
            <p:spPr>
              <a:xfrm>
                <a:off x="3668890" y="2093935"/>
                <a:ext cx="2098395" cy="810671"/>
              </a:xfrm>
              <a:prstGeom prst="rect">
                <a:avLst/>
              </a:prstGeom>
              <a:blipFill>
                <a:blip r:embed="rId3"/>
                <a:stretch>
                  <a:fillRect l="-6587" t="-110769" b="-156923"/>
                </a:stretch>
              </a:blipFill>
            </p:spPr>
            <p:txBody>
              <a:bodyPr/>
              <a:lstStyle/>
              <a:p>
                <a:r>
                  <a:rPr lang="en-US">
                    <a:noFill/>
                  </a:rPr>
                  <a:t> </a:t>
                </a:r>
              </a:p>
            </p:txBody>
          </p:sp>
        </mc:Fallback>
      </mc:AlternateContent>
    </p:spTree>
    <p:extLst>
      <p:ext uri="{BB962C8B-B14F-4D97-AF65-F5344CB8AC3E}">
        <p14:creationId xmlns:p14="http://schemas.microsoft.com/office/powerpoint/2010/main" val="282996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412602C-AB2C-C501-FC31-F562D4D22721}"/>
                  </a:ext>
                </a:extLst>
              </p:cNvPr>
              <p:cNvSpPr>
                <a:spLocks noGrp="1"/>
              </p:cNvSpPr>
              <p:nvPr>
                <p:ph type="title"/>
              </p:nvPr>
            </p:nvSpPr>
            <p:spPr/>
            <p:txBody>
              <a:bodyPr>
                <a:normAutofit/>
              </a:bodyPr>
              <a:lstStyle/>
              <a:p>
                <a:r>
                  <a:rPr lang="en-US" dirty="0">
                    <a:solidFill>
                      <a:schemeClr val="tx1"/>
                    </a:solidFill>
                    <a:latin typeface="+mn-lt"/>
                  </a:rPr>
                  <a:t>Chi-Square Test(</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𝑿</m:t>
                        </m:r>
                      </m:e>
                      <m:sup>
                        <m:r>
                          <a:rPr lang="en-US" b="1" i="1" smtClean="0">
                            <a:solidFill>
                              <a:schemeClr val="tx1"/>
                            </a:solidFill>
                            <a:latin typeface="Cambria Math" panose="02040503050406030204" pitchFamily="18" charset="0"/>
                          </a:rPr>
                          <m:t>𝟐</m:t>
                        </m:r>
                      </m:sup>
                    </m:sSup>
                  </m:oMath>
                </a14:m>
                <a:r>
                  <a:rPr lang="en-US" dirty="0">
                    <a:solidFill>
                      <a:schemeClr val="tx1"/>
                    </a:solidFill>
                    <a:latin typeface="+mn-lt"/>
                  </a:rPr>
                  <a:t>) - Example</a:t>
                </a:r>
              </a:p>
            </p:txBody>
          </p:sp>
        </mc:Choice>
        <mc:Fallback xmlns="">
          <p:sp>
            <p:nvSpPr>
              <p:cNvPr id="2" name="Title 1">
                <a:extLst>
                  <a:ext uri="{FF2B5EF4-FFF2-40B4-BE49-F238E27FC236}">
                    <a16:creationId xmlns:a16="http://schemas.microsoft.com/office/drawing/2014/main" id="{B412602C-AB2C-C501-FC31-F562D4D22721}"/>
                  </a:ext>
                </a:extLst>
              </p:cNvPr>
              <p:cNvSpPr>
                <a:spLocks noGrp="1" noRot="1" noChangeAspect="1" noMove="1" noResize="1" noEditPoints="1" noAdjustHandles="1" noChangeArrowheads="1" noChangeShapeType="1" noTextEdit="1"/>
              </p:cNvSpPr>
              <p:nvPr>
                <p:ph type="title"/>
              </p:nvPr>
            </p:nvSpPr>
            <p:spPr>
              <a:blipFill>
                <a:blip r:embed="rId2"/>
                <a:stretch>
                  <a:fillRect l="-416" t="-8772" b="-19298"/>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8048FBCF-C733-4ED5-73BB-1BA4E302769C}"/>
              </a:ext>
            </a:extLst>
          </p:cNvPr>
          <p:cNvGraphicFramePr>
            <a:graphicFrameLocks noGrp="1"/>
          </p:cNvGraphicFramePr>
          <p:nvPr>
            <p:extLst>
              <p:ext uri="{D42A27DB-BD31-4B8C-83A1-F6EECF244321}">
                <p14:modId xmlns:p14="http://schemas.microsoft.com/office/powerpoint/2010/main" val="2979546685"/>
              </p:ext>
            </p:extLst>
          </p:nvPr>
        </p:nvGraphicFramePr>
        <p:xfrm>
          <a:off x="366888" y="976488"/>
          <a:ext cx="8619068" cy="4566357"/>
        </p:xfrm>
        <a:graphic>
          <a:graphicData uri="http://schemas.openxmlformats.org/drawingml/2006/table">
            <a:tbl>
              <a:tblPr firstRow="1" bandRow="1">
                <a:tableStyleId>{69012ECD-51FC-41F1-AA8D-1B2483CD663E}</a:tableStyleId>
              </a:tblPr>
              <a:tblGrid>
                <a:gridCol w="2154767">
                  <a:extLst>
                    <a:ext uri="{9D8B030D-6E8A-4147-A177-3AD203B41FA5}">
                      <a16:colId xmlns:a16="http://schemas.microsoft.com/office/drawing/2014/main" val="20000"/>
                    </a:ext>
                  </a:extLst>
                </a:gridCol>
                <a:gridCol w="2154767">
                  <a:extLst>
                    <a:ext uri="{9D8B030D-6E8A-4147-A177-3AD203B41FA5}">
                      <a16:colId xmlns:a16="http://schemas.microsoft.com/office/drawing/2014/main" val="20001"/>
                    </a:ext>
                  </a:extLst>
                </a:gridCol>
                <a:gridCol w="2154767">
                  <a:extLst>
                    <a:ext uri="{9D8B030D-6E8A-4147-A177-3AD203B41FA5}">
                      <a16:colId xmlns:a16="http://schemas.microsoft.com/office/drawing/2014/main" val="20002"/>
                    </a:ext>
                  </a:extLst>
                </a:gridCol>
                <a:gridCol w="2154767">
                  <a:extLst>
                    <a:ext uri="{9D8B030D-6E8A-4147-A177-3AD203B41FA5}">
                      <a16:colId xmlns:a16="http://schemas.microsoft.com/office/drawing/2014/main" val="20003"/>
                    </a:ext>
                  </a:extLst>
                </a:gridCol>
              </a:tblGrid>
              <a:tr h="507373">
                <a:tc>
                  <a:txBody>
                    <a:bodyPr/>
                    <a:lstStyle/>
                    <a:p>
                      <a:pPr algn="ctr"/>
                      <a:r>
                        <a:rPr dirty="0"/>
                        <a:t>Person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t>Education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Buys 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07373">
                <a:tc>
                  <a:txBody>
                    <a:bodyPr/>
                    <a:lstStyle/>
                    <a:p>
                      <a:pPr algn="ctr"/>
                      <a:r>
                        <a:rPr dirty="0"/>
                        <a:t>P1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Graduate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7373">
                <a:tc>
                  <a:txBody>
                    <a:bodyPr/>
                    <a:lstStyle/>
                    <a:p>
                      <a:pPr algn="ctr"/>
                      <a:r>
                        <a:t>P2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Female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Graduate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07373">
                <a:tc>
                  <a:txBody>
                    <a:bodyPr/>
                    <a:lstStyle/>
                    <a:p>
                      <a:pPr algn="ctr"/>
                      <a:r>
                        <a:t>P3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Graduate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07373">
                <a:tc>
                  <a:txBody>
                    <a:bodyPr/>
                    <a:lstStyle/>
                    <a:p>
                      <a:pPr algn="ctr"/>
                      <a:r>
                        <a:t>P4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Female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Graduate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07373">
                <a:tc>
                  <a:txBody>
                    <a:bodyPr/>
                    <a:lstStyle/>
                    <a:p>
                      <a:pPr algn="ctr"/>
                      <a:r>
                        <a:t>P5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t>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Non-Grad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07373">
                <a:tc>
                  <a:txBody>
                    <a:bodyPr/>
                    <a:lstStyle/>
                    <a:p>
                      <a:pPr algn="ctr"/>
                      <a:r>
                        <a:t>P6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t>Female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Non-Grad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07373">
                <a:tc>
                  <a:txBody>
                    <a:bodyPr/>
                    <a:lstStyle/>
                    <a:p>
                      <a:pPr algn="ctr"/>
                      <a:r>
                        <a:t>P7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t>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t>Non-Grad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07373">
                <a:tc>
                  <a:txBody>
                    <a:bodyPr/>
                    <a:lstStyle/>
                    <a:p>
                      <a:pPr algn="ctr"/>
                      <a:r>
                        <a:rPr dirty="0"/>
                        <a:t>P8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t>Female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Non-Grad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196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0FAE973-7204-EA0C-C26B-D288CB1C043C}"/>
                  </a:ext>
                </a:extLst>
              </p:cNvPr>
              <p:cNvSpPr>
                <a:spLocks noGrp="1"/>
              </p:cNvSpPr>
              <p:nvPr>
                <p:ph type="title"/>
              </p:nvPr>
            </p:nvSpPr>
            <p:spPr/>
            <p:txBody>
              <a:bodyPr/>
              <a:lstStyle/>
              <a:p>
                <a:r>
                  <a:rPr lang="en-US" dirty="0">
                    <a:solidFill>
                      <a:schemeClr val="tx1"/>
                    </a:solidFill>
                    <a:latin typeface="+mn-lt"/>
                  </a:rPr>
                  <a:t>Chi-Square Test(</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𝑿</m:t>
                        </m:r>
                      </m:e>
                      <m:sup>
                        <m:r>
                          <a:rPr lang="en-US" b="1" i="1" smtClean="0">
                            <a:solidFill>
                              <a:schemeClr val="tx1"/>
                            </a:solidFill>
                            <a:latin typeface="Cambria Math" panose="02040503050406030204" pitchFamily="18" charset="0"/>
                          </a:rPr>
                          <m:t>𝟐</m:t>
                        </m:r>
                      </m:sup>
                    </m:sSup>
                  </m:oMath>
                </a14:m>
                <a:r>
                  <a:rPr lang="en-US" dirty="0">
                    <a:solidFill>
                      <a:schemeClr val="tx1"/>
                    </a:solidFill>
                    <a:latin typeface="+mn-lt"/>
                  </a:rPr>
                  <a:t>) - Example</a:t>
                </a:r>
                <a:endParaRPr lang="en-US" dirty="0"/>
              </a:p>
            </p:txBody>
          </p:sp>
        </mc:Choice>
        <mc:Fallback xmlns="">
          <p:sp>
            <p:nvSpPr>
              <p:cNvPr id="2" name="Title 1">
                <a:extLst>
                  <a:ext uri="{FF2B5EF4-FFF2-40B4-BE49-F238E27FC236}">
                    <a16:creationId xmlns:a16="http://schemas.microsoft.com/office/drawing/2014/main" id="{00FAE973-7204-EA0C-C26B-D288CB1C043C}"/>
                  </a:ext>
                </a:extLst>
              </p:cNvPr>
              <p:cNvSpPr>
                <a:spLocks noGrp="1" noRot="1" noChangeAspect="1" noMove="1" noResize="1" noEditPoints="1" noAdjustHandles="1" noChangeArrowheads="1" noChangeShapeType="1" noTextEdit="1"/>
              </p:cNvSpPr>
              <p:nvPr>
                <p:ph type="title"/>
              </p:nvPr>
            </p:nvSpPr>
            <p:spPr>
              <a:blipFill>
                <a:blip r:embed="rId2"/>
                <a:stretch>
                  <a:fillRect l="-416" t="-8772" b="-19298"/>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A8C2FE88-4F29-33B2-14D7-632158A28BFB}"/>
              </a:ext>
            </a:extLst>
          </p:cNvPr>
          <p:cNvSpPr>
            <a:spLocks noGrp="1"/>
          </p:cNvSpPr>
          <p:nvPr>
            <p:ph idx="1"/>
          </p:nvPr>
        </p:nvSpPr>
        <p:spPr>
          <a:xfrm>
            <a:off x="131180" y="863444"/>
            <a:ext cx="11929641" cy="3369889"/>
          </a:xfrm>
        </p:spPr>
        <p:txBody>
          <a:bodyPr/>
          <a:lstStyle/>
          <a:p>
            <a:r>
              <a:rPr lang="en-US" b="1" dirty="0">
                <a:solidFill>
                  <a:srgbClr val="C00000"/>
                </a:solidFill>
              </a:rPr>
              <a:t>Step1: Define Null and Alternative Hypothesis.</a:t>
            </a:r>
          </a:p>
          <a:p>
            <a:r>
              <a:rPr lang="en-US" b="1" dirty="0"/>
              <a:t>First </a:t>
            </a:r>
            <a:r>
              <a:rPr lang="en-US" b="1" dirty="0">
                <a:solidFill>
                  <a:srgbClr val="C00000"/>
                </a:solidFill>
              </a:rPr>
              <a:t>we will check for education column with buy product</a:t>
            </a:r>
            <a:r>
              <a:rPr lang="en-US" b="1" dirty="0"/>
              <a:t>.</a:t>
            </a:r>
          </a:p>
          <a:p>
            <a:r>
              <a:rPr lang="en-US" dirty="0"/>
              <a:t>Null Hypothesis(H0):</a:t>
            </a:r>
          </a:p>
          <a:p>
            <a:pPr lvl="1"/>
            <a:r>
              <a:rPr lang="en-US" dirty="0"/>
              <a:t>There </a:t>
            </a:r>
            <a:r>
              <a:rPr lang="en-US" dirty="0">
                <a:solidFill>
                  <a:srgbClr val="C00000"/>
                </a:solidFill>
              </a:rPr>
              <a:t>no</a:t>
            </a:r>
            <a:r>
              <a:rPr lang="en-US" dirty="0"/>
              <a:t> significate association </a:t>
            </a:r>
            <a:r>
              <a:rPr lang="en-US" dirty="0">
                <a:solidFill>
                  <a:srgbClr val="C00000"/>
                </a:solidFill>
              </a:rPr>
              <a:t>between two categorical variable</a:t>
            </a:r>
            <a:r>
              <a:rPr lang="en-US" dirty="0"/>
              <a:t>.</a:t>
            </a:r>
          </a:p>
          <a:p>
            <a:r>
              <a:rPr lang="en-US" dirty="0"/>
              <a:t>Alternative Hypothesis(H0):</a:t>
            </a:r>
          </a:p>
          <a:p>
            <a:pPr lvl="1"/>
            <a:r>
              <a:rPr lang="en-US" dirty="0"/>
              <a:t>There significate association between </a:t>
            </a:r>
            <a:r>
              <a:rPr lang="en-US" dirty="0">
                <a:solidFill>
                  <a:srgbClr val="C00000"/>
                </a:solidFill>
              </a:rPr>
              <a:t>two categorical variable</a:t>
            </a:r>
            <a:r>
              <a:rPr lang="en-US" dirty="0"/>
              <a:t>.</a:t>
            </a:r>
          </a:p>
          <a:p>
            <a:pPr lvl="1"/>
            <a:endParaRPr lang="en-US" dirty="0"/>
          </a:p>
          <a:p>
            <a:r>
              <a:rPr lang="en-US" b="1" dirty="0">
                <a:solidFill>
                  <a:srgbClr val="C00000"/>
                </a:solidFill>
              </a:rPr>
              <a:t>Step2</a:t>
            </a:r>
            <a:r>
              <a:rPr lang="en-US" dirty="0">
                <a:solidFill>
                  <a:srgbClr val="C00000"/>
                </a:solidFill>
              </a:rPr>
              <a:t>: </a:t>
            </a:r>
            <a:r>
              <a:rPr lang="en-IN" b="1" i="0" u="none" strike="noStrike" dirty="0">
                <a:solidFill>
                  <a:srgbClr val="C00000"/>
                </a:solidFill>
                <a:effectLst/>
              </a:rPr>
              <a:t>Create the Contingency Tables (Observed frequency)</a:t>
            </a:r>
            <a:endParaRPr lang="en-US" b="1" dirty="0">
              <a:solidFill>
                <a:srgbClr val="C00000"/>
              </a:solidFill>
            </a:endParaRPr>
          </a:p>
          <a:p>
            <a:pPr lvl="1"/>
            <a:endParaRPr lang="en-US" dirty="0"/>
          </a:p>
          <a:p>
            <a:pPr lvl="1"/>
            <a:endParaRPr lang="en-US" dirty="0"/>
          </a:p>
          <a:p>
            <a:pPr lvl="2"/>
            <a:endParaRPr lang="en-US" dirty="0"/>
          </a:p>
        </p:txBody>
      </p:sp>
      <p:graphicFrame>
        <p:nvGraphicFramePr>
          <p:cNvPr id="4" name="Table 3">
            <a:extLst>
              <a:ext uri="{FF2B5EF4-FFF2-40B4-BE49-F238E27FC236}">
                <a16:creationId xmlns:a16="http://schemas.microsoft.com/office/drawing/2014/main" id="{CF7A582D-57AA-965F-D4A3-028A7DF21A9A}"/>
              </a:ext>
            </a:extLst>
          </p:cNvPr>
          <p:cNvGraphicFramePr>
            <a:graphicFrameLocks noGrp="1"/>
          </p:cNvGraphicFramePr>
          <p:nvPr>
            <p:extLst>
              <p:ext uri="{D42A27DB-BD31-4B8C-83A1-F6EECF244321}">
                <p14:modId xmlns:p14="http://schemas.microsoft.com/office/powerpoint/2010/main" val="1882570829"/>
              </p:ext>
            </p:extLst>
          </p:nvPr>
        </p:nvGraphicFramePr>
        <p:xfrm>
          <a:off x="609599" y="4233333"/>
          <a:ext cx="5192892" cy="1737360"/>
        </p:xfrm>
        <a:graphic>
          <a:graphicData uri="http://schemas.openxmlformats.org/drawingml/2006/table">
            <a:tbl>
              <a:tblPr firstRow="1" bandRow="1">
                <a:tableStyleId>{5C22544A-7EE6-4342-B048-85BDC9FD1C3A}</a:tableStyleId>
              </a:tblPr>
              <a:tblGrid>
                <a:gridCol w="1298223">
                  <a:extLst>
                    <a:ext uri="{9D8B030D-6E8A-4147-A177-3AD203B41FA5}">
                      <a16:colId xmlns:a16="http://schemas.microsoft.com/office/drawing/2014/main" val="20000"/>
                    </a:ext>
                  </a:extLst>
                </a:gridCol>
                <a:gridCol w="1298223">
                  <a:extLst>
                    <a:ext uri="{9D8B030D-6E8A-4147-A177-3AD203B41FA5}">
                      <a16:colId xmlns:a16="http://schemas.microsoft.com/office/drawing/2014/main" val="20001"/>
                    </a:ext>
                  </a:extLst>
                </a:gridCol>
                <a:gridCol w="1298223">
                  <a:extLst>
                    <a:ext uri="{9D8B030D-6E8A-4147-A177-3AD203B41FA5}">
                      <a16:colId xmlns:a16="http://schemas.microsoft.com/office/drawing/2014/main" val="20002"/>
                    </a:ext>
                  </a:extLst>
                </a:gridCol>
                <a:gridCol w="1298223">
                  <a:extLst>
                    <a:ext uri="{9D8B030D-6E8A-4147-A177-3AD203B41FA5}">
                      <a16:colId xmlns:a16="http://schemas.microsoft.com/office/drawing/2014/main" val="20003"/>
                    </a:ext>
                  </a:extLst>
                </a:gridCol>
              </a:tblGrid>
              <a:tr h="481317">
                <a:tc>
                  <a:txBody>
                    <a:bodyPr/>
                    <a:lstStyle/>
                    <a:p>
                      <a:pPr algn="ctr"/>
                      <a:r>
                        <a:rPr dirty="0"/>
                        <a:t>Education</a:t>
                      </a:r>
                    </a:p>
                  </a:txBody>
                  <a:tcPr/>
                </a:tc>
                <a:tc>
                  <a:txBody>
                    <a:bodyPr/>
                    <a:lstStyle/>
                    <a:p>
                      <a:pPr algn="ctr"/>
                      <a:r>
                        <a:rPr dirty="0"/>
                        <a:t>Buys (Yes)</a:t>
                      </a:r>
                    </a:p>
                  </a:txBody>
                  <a:tcPr/>
                </a:tc>
                <a:tc>
                  <a:txBody>
                    <a:bodyPr/>
                    <a:lstStyle/>
                    <a:p>
                      <a:pPr algn="ctr"/>
                      <a:r>
                        <a:rPr dirty="0"/>
                        <a:t>Does Not Buy (No)</a:t>
                      </a:r>
                    </a:p>
                  </a:txBody>
                  <a:tcPr/>
                </a:tc>
                <a:tc>
                  <a:txBody>
                    <a:bodyPr/>
                    <a:lstStyle/>
                    <a:p>
                      <a:pPr algn="ctr"/>
                      <a:r>
                        <a:rPr dirty="0"/>
                        <a:t>Total</a:t>
                      </a:r>
                    </a:p>
                  </a:txBody>
                  <a:tcPr/>
                </a:tc>
                <a:extLst>
                  <a:ext uri="{0D108BD9-81ED-4DB2-BD59-A6C34878D82A}">
                    <a16:rowId xmlns:a16="http://schemas.microsoft.com/office/drawing/2014/main" val="10000"/>
                  </a:ext>
                </a:extLst>
              </a:tr>
              <a:tr h="343798">
                <a:tc>
                  <a:txBody>
                    <a:bodyPr/>
                    <a:lstStyle/>
                    <a:p>
                      <a:pPr algn="ctr"/>
                      <a:r>
                        <a:rPr dirty="0"/>
                        <a:t>Graduate</a:t>
                      </a:r>
                    </a:p>
                  </a:txBody>
                  <a:tcPr/>
                </a:tc>
                <a:tc>
                  <a:txBody>
                    <a:bodyPr/>
                    <a:lstStyle/>
                    <a:p>
                      <a:pPr algn="ctr"/>
                      <a:r>
                        <a:rPr dirty="0"/>
                        <a:t>3</a:t>
                      </a:r>
                    </a:p>
                  </a:txBody>
                  <a:tcPr/>
                </a:tc>
                <a:tc>
                  <a:txBody>
                    <a:bodyPr/>
                    <a:lstStyle/>
                    <a:p>
                      <a:pPr algn="ctr"/>
                      <a:r>
                        <a:rPr dirty="0"/>
                        <a:t>1</a:t>
                      </a:r>
                    </a:p>
                  </a:txBody>
                  <a:tcPr/>
                </a:tc>
                <a:tc>
                  <a:txBody>
                    <a:bodyPr/>
                    <a:lstStyle/>
                    <a:p>
                      <a:pPr algn="ctr"/>
                      <a:r>
                        <a:rPr b="1" dirty="0"/>
                        <a:t>4</a:t>
                      </a:r>
                    </a:p>
                  </a:txBody>
                  <a:tcPr/>
                </a:tc>
                <a:extLst>
                  <a:ext uri="{0D108BD9-81ED-4DB2-BD59-A6C34878D82A}">
                    <a16:rowId xmlns:a16="http://schemas.microsoft.com/office/drawing/2014/main" val="10001"/>
                  </a:ext>
                </a:extLst>
              </a:tr>
              <a:tr h="343798">
                <a:tc>
                  <a:txBody>
                    <a:bodyPr/>
                    <a:lstStyle/>
                    <a:p>
                      <a:pPr algn="ctr"/>
                      <a:r>
                        <a:rPr dirty="0"/>
                        <a:t>Non-Grad</a:t>
                      </a:r>
                    </a:p>
                  </a:txBody>
                  <a:tcPr/>
                </a:tc>
                <a:tc>
                  <a:txBody>
                    <a:bodyPr/>
                    <a:lstStyle/>
                    <a:p>
                      <a:pPr algn="ctr"/>
                      <a:r>
                        <a:rPr dirty="0"/>
                        <a:t>0</a:t>
                      </a:r>
                    </a:p>
                  </a:txBody>
                  <a:tcPr/>
                </a:tc>
                <a:tc>
                  <a:txBody>
                    <a:bodyPr/>
                    <a:lstStyle/>
                    <a:p>
                      <a:pPr algn="ctr"/>
                      <a:r>
                        <a:rPr dirty="0"/>
                        <a:t>4</a:t>
                      </a:r>
                    </a:p>
                  </a:txBody>
                  <a:tcPr/>
                </a:tc>
                <a:tc>
                  <a:txBody>
                    <a:bodyPr/>
                    <a:lstStyle/>
                    <a:p>
                      <a:pPr algn="ctr"/>
                      <a:r>
                        <a:rPr b="1" dirty="0"/>
                        <a:t>4</a:t>
                      </a:r>
                    </a:p>
                  </a:txBody>
                  <a:tcPr/>
                </a:tc>
                <a:extLst>
                  <a:ext uri="{0D108BD9-81ED-4DB2-BD59-A6C34878D82A}">
                    <a16:rowId xmlns:a16="http://schemas.microsoft.com/office/drawing/2014/main" val="10002"/>
                  </a:ext>
                </a:extLst>
              </a:tr>
              <a:tr h="343798">
                <a:tc>
                  <a:txBody>
                    <a:bodyPr/>
                    <a:lstStyle/>
                    <a:p>
                      <a:pPr algn="ctr"/>
                      <a:r>
                        <a:rPr b="1" dirty="0"/>
                        <a:t>Total</a:t>
                      </a:r>
                    </a:p>
                  </a:txBody>
                  <a:tcPr/>
                </a:tc>
                <a:tc>
                  <a:txBody>
                    <a:bodyPr/>
                    <a:lstStyle/>
                    <a:p>
                      <a:pPr algn="ctr"/>
                      <a:r>
                        <a:rPr b="1"/>
                        <a:t>3</a:t>
                      </a:r>
                    </a:p>
                  </a:txBody>
                  <a:tcPr/>
                </a:tc>
                <a:tc>
                  <a:txBody>
                    <a:bodyPr/>
                    <a:lstStyle/>
                    <a:p>
                      <a:pPr algn="ctr"/>
                      <a:r>
                        <a:rPr b="1"/>
                        <a:t>5</a:t>
                      </a:r>
                    </a:p>
                  </a:txBody>
                  <a:tcPr/>
                </a:tc>
                <a:tc>
                  <a:txBody>
                    <a:bodyPr/>
                    <a:lstStyle/>
                    <a:p>
                      <a:pPr algn="ctr"/>
                      <a:r>
                        <a:rPr b="1" dirty="0"/>
                        <a:t>8</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81197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52A2EF9-1DC1-5056-073B-F54CB050D3C3}"/>
                  </a:ext>
                </a:extLst>
              </p:cNvPr>
              <p:cNvSpPr>
                <a:spLocks noGrp="1"/>
              </p:cNvSpPr>
              <p:nvPr>
                <p:ph type="title"/>
              </p:nvPr>
            </p:nvSpPr>
            <p:spPr/>
            <p:txBody>
              <a:bodyPr/>
              <a:lstStyle/>
              <a:p>
                <a:r>
                  <a:rPr lang="en-US" dirty="0">
                    <a:solidFill>
                      <a:schemeClr val="tx1"/>
                    </a:solidFill>
                    <a:latin typeface="+mn-lt"/>
                  </a:rPr>
                  <a:t>Chi-Square Test(</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𝑿</m:t>
                        </m:r>
                      </m:e>
                      <m:sup>
                        <m:r>
                          <a:rPr lang="en-US" b="1" i="1" smtClean="0">
                            <a:solidFill>
                              <a:schemeClr val="tx1"/>
                            </a:solidFill>
                            <a:latin typeface="Cambria Math" panose="02040503050406030204" pitchFamily="18" charset="0"/>
                          </a:rPr>
                          <m:t>𝟐</m:t>
                        </m:r>
                      </m:sup>
                    </m:sSup>
                  </m:oMath>
                </a14:m>
                <a:r>
                  <a:rPr lang="en-US" dirty="0">
                    <a:solidFill>
                      <a:schemeClr val="tx1"/>
                    </a:solidFill>
                    <a:latin typeface="+mn-lt"/>
                  </a:rPr>
                  <a:t>) - Example</a:t>
                </a:r>
                <a:endParaRPr lang="en-US" dirty="0"/>
              </a:p>
            </p:txBody>
          </p:sp>
        </mc:Choice>
        <mc:Fallback xmlns="">
          <p:sp>
            <p:nvSpPr>
              <p:cNvPr id="2" name="Title 1">
                <a:extLst>
                  <a:ext uri="{FF2B5EF4-FFF2-40B4-BE49-F238E27FC236}">
                    <a16:creationId xmlns:a16="http://schemas.microsoft.com/office/drawing/2014/main" id="{E52A2EF9-1DC1-5056-073B-F54CB050D3C3}"/>
                  </a:ext>
                </a:extLst>
              </p:cNvPr>
              <p:cNvSpPr>
                <a:spLocks noGrp="1" noRot="1" noChangeAspect="1" noMove="1" noResize="1" noEditPoints="1" noAdjustHandles="1" noChangeArrowheads="1" noChangeShapeType="1" noTextEdit="1"/>
              </p:cNvSpPr>
              <p:nvPr>
                <p:ph type="title"/>
              </p:nvPr>
            </p:nvSpPr>
            <p:spPr>
              <a:blipFill>
                <a:blip r:embed="rId2"/>
                <a:stretch>
                  <a:fillRect l="-416" t="-8772" b="-19298"/>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9AE1D48A-7C7B-5B63-9801-05EC30710150}"/>
              </a:ext>
            </a:extLst>
          </p:cNvPr>
          <p:cNvSpPr>
            <a:spLocks noGrp="1"/>
          </p:cNvSpPr>
          <p:nvPr>
            <p:ph idx="1"/>
          </p:nvPr>
        </p:nvSpPr>
        <p:spPr>
          <a:xfrm>
            <a:off x="131180" y="863444"/>
            <a:ext cx="6430485" cy="711201"/>
          </a:xfrm>
        </p:spPr>
        <p:txBody>
          <a:bodyPr/>
          <a:lstStyle/>
          <a:p>
            <a:r>
              <a:rPr lang="en-US" b="1" dirty="0">
                <a:solidFill>
                  <a:srgbClr val="C00000"/>
                </a:solidFill>
              </a:rPr>
              <a:t>Step 3 : Calculate Expected Frequency</a:t>
            </a:r>
          </a:p>
          <a:p>
            <a:pPr marL="457200" lvl="1" indent="0">
              <a:buNone/>
            </a:pPr>
            <a:endParaRPr lang="en-US" dirty="0"/>
          </a:p>
          <a:p>
            <a:pPr lvl="1"/>
            <a:endParaRPr lang="en-US" dirty="0"/>
          </a:p>
          <a:p>
            <a:pPr lvl="2"/>
            <a:endParaRPr lang="en-US" dirty="0"/>
          </a:p>
        </p:txBody>
      </p:sp>
      <p:graphicFrame>
        <p:nvGraphicFramePr>
          <p:cNvPr id="6" name="Table 5">
            <a:extLst>
              <a:ext uri="{FF2B5EF4-FFF2-40B4-BE49-F238E27FC236}">
                <a16:creationId xmlns:a16="http://schemas.microsoft.com/office/drawing/2014/main" id="{6515F105-28B7-8345-0F7F-E5470385A67D}"/>
              </a:ext>
            </a:extLst>
          </p:cNvPr>
          <p:cNvGraphicFramePr>
            <a:graphicFrameLocks noGrp="1"/>
          </p:cNvGraphicFramePr>
          <p:nvPr>
            <p:extLst>
              <p:ext uri="{D42A27DB-BD31-4B8C-83A1-F6EECF244321}">
                <p14:modId xmlns:p14="http://schemas.microsoft.com/office/powerpoint/2010/main" val="772534014"/>
              </p:ext>
            </p:extLst>
          </p:nvPr>
        </p:nvGraphicFramePr>
        <p:xfrm>
          <a:off x="6867928" y="1230121"/>
          <a:ext cx="5192892" cy="1737360"/>
        </p:xfrm>
        <a:graphic>
          <a:graphicData uri="http://schemas.openxmlformats.org/drawingml/2006/table">
            <a:tbl>
              <a:tblPr firstRow="1" bandRow="1">
                <a:tableStyleId>{5C22544A-7EE6-4342-B048-85BDC9FD1C3A}</a:tableStyleId>
              </a:tblPr>
              <a:tblGrid>
                <a:gridCol w="1298223">
                  <a:extLst>
                    <a:ext uri="{9D8B030D-6E8A-4147-A177-3AD203B41FA5}">
                      <a16:colId xmlns:a16="http://schemas.microsoft.com/office/drawing/2014/main" val="20000"/>
                    </a:ext>
                  </a:extLst>
                </a:gridCol>
                <a:gridCol w="1298223">
                  <a:extLst>
                    <a:ext uri="{9D8B030D-6E8A-4147-A177-3AD203B41FA5}">
                      <a16:colId xmlns:a16="http://schemas.microsoft.com/office/drawing/2014/main" val="20001"/>
                    </a:ext>
                  </a:extLst>
                </a:gridCol>
                <a:gridCol w="1298223">
                  <a:extLst>
                    <a:ext uri="{9D8B030D-6E8A-4147-A177-3AD203B41FA5}">
                      <a16:colId xmlns:a16="http://schemas.microsoft.com/office/drawing/2014/main" val="20002"/>
                    </a:ext>
                  </a:extLst>
                </a:gridCol>
                <a:gridCol w="1298223">
                  <a:extLst>
                    <a:ext uri="{9D8B030D-6E8A-4147-A177-3AD203B41FA5}">
                      <a16:colId xmlns:a16="http://schemas.microsoft.com/office/drawing/2014/main" val="20003"/>
                    </a:ext>
                  </a:extLst>
                </a:gridCol>
              </a:tblGrid>
              <a:tr h="481317">
                <a:tc>
                  <a:txBody>
                    <a:bodyPr/>
                    <a:lstStyle/>
                    <a:p>
                      <a:pPr algn="ctr"/>
                      <a:r>
                        <a:rPr dirty="0"/>
                        <a:t>Education</a:t>
                      </a:r>
                    </a:p>
                  </a:txBody>
                  <a:tcPr/>
                </a:tc>
                <a:tc>
                  <a:txBody>
                    <a:bodyPr/>
                    <a:lstStyle/>
                    <a:p>
                      <a:pPr algn="ctr"/>
                      <a:r>
                        <a:rPr dirty="0"/>
                        <a:t>Buys (Yes)</a:t>
                      </a:r>
                    </a:p>
                  </a:txBody>
                  <a:tcPr/>
                </a:tc>
                <a:tc>
                  <a:txBody>
                    <a:bodyPr/>
                    <a:lstStyle/>
                    <a:p>
                      <a:pPr algn="ctr"/>
                      <a:r>
                        <a:rPr dirty="0"/>
                        <a:t>Does Not Buy (No)</a:t>
                      </a:r>
                    </a:p>
                  </a:txBody>
                  <a:tcPr/>
                </a:tc>
                <a:tc>
                  <a:txBody>
                    <a:bodyPr/>
                    <a:lstStyle/>
                    <a:p>
                      <a:pPr algn="ctr"/>
                      <a:r>
                        <a:t>Total</a:t>
                      </a:r>
                    </a:p>
                  </a:txBody>
                  <a:tcPr/>
                </a:tc>
                <a:extLst>
                  <a:ext uri="{0D108BD9-81ED-4DB2-BD59-A6C34878D82A}">
                    <a16:rowId xmlns:a16="http://schemas.microsoft.com/office/drawing/2014/main" val="10000"/>
                  </a:ext>
                </a:extLst>
              </a:tr>
              <a:tr h="343798">
                <a:tc>
                  <a:txBody>
                    <a:bodyPr/>
                    <a:lstStyle/>
                    <a:p>
                      <a:pPr algn="ctr"/>
                      <a:r>
                        <a:rPr dirty="0"/>
                        <a:t>Graduate</a:t>
                      </a:r>
                    </a:p>
                  </a:txBody>
                  <a:tcPr/>
                </a:tc>
                <a:tc>
                  <a:txBody>
                    <a:bodyPr/>
                    <a:lstStyle/>
                    <a:p>
                      <a:pPr algn="ctr"/>
                      <a:r>
                        <a:rPr dirty="0"/>
                        <a:t>3</a:t>
                      </a:r>
                    </a:p>
                  </a:txBody>
                  <a:tcPr/>
                </a:tc>
                <a:tc>
                  <a:txBody>
                    <a:bodyPr/>
                    <a:lstStyle/>
                    <a:p>
                      <a:pPr algn="ctr"/>
                      <a:r>
                        <a:rPr dirty="0"/>
                        <a:t>1</a:t>
                      </a:r>
                    </a:p>
                  </a:txBody>
                  <a:tcPr/>
                </a:tc>
                <a:tc>
                  <a:txBody>
                    <a:bodyPr/>
                    <a:lstStyle/>
                    <a:p>
                      <a:pPr algn="ctr"/>
                      <a:r>
                        <a:rPr b="1" dirty="0"/>
                        <a:t>4</a:t>
                      </a:r>
                    </a:p>
                  </a:txBody>
                  <a:tcPr/>
                </a:tc>
                <a:extLst>
                  <a:ext uri="{0D108BD9-81ED-4DB2-BD59-A6C34878D82A}">
                    <a16:rowId xmlns:a16="http://schemas.microsoft.com/office/drawing/2014/main" val="10001"/>
                  </a:ext>
                </a:extLst>
              </a:tr>
              <a:tr h="343798">
                <a:tc>
                  <a:txBody>
                    <a:bodyPr/>
                    <a:lstStyle/>
                    <a:p>
                      <a:pPr algn="ctr"/>
                      <a:r>
                        <a:rPr dirty="0"/>
                        <a:t>Non-Grad</a:t>
                      </a:r>
                    </a:p>
                  </a:txBody>
                  <a:tcPr/>
                </a:tc>
                <a:tc>
                  <a:txBody>
                    <a:bodyPr/>
                    <a:lstStyle/>
                    <a:p>
                      <a:pPr algn="ctr"/>
                      <a:r>
                        <a:rPr dirty="0"/>
                        <a:t>0</a:t>
                      </a:r>
                    </a:p>
                  </a:txBody>
                  <a:tcPr/>
                </a:tc>
                <a:tc>
                  <a:txBody>
                    <a:bodyPr/>
                    <a:lstStyle/>
                    <a:p>
                      <a:pPr algn="ctr"/>
                      <a:r>
                        <a:rPr dirty="0"/>
                        <a:t>4</a:t>
                      </a:r>
                    </a:p>
                  </a:txBody>
                  <a:tcPr/>
                </a:tc>
                <a:tc>
                  <a:txBody>
                    <a:bodyPr/>
                    <a:lstStyle/>
                    <a:p>
                      <a:pPr algn="ctr"/>
                      <a:r>
                        <a:rPr b="1" dirty="0"/>
                        <a:t>4</a:t>
                      </a:r>
                    </a:p>
                  </a:txBody>
                  <a:tcPr/>
                </a:tc>
                <a:extLst>
                  <a:ext uri="{0D108BD9-81ED-4DB2-BD59-A6C34878D82A}">
                    <a16:rowId xmlns:a16="http://schemas.microsoft.com/office/drawing/2014/main" val="10002"/>
                  </a:ext>
                </a:extLst>
              </a:tr>
              <a:tr h="343798">
                <a:tc>
                  <a:txBody>
                    <a:bodyPr/>
                    <a:lstStyle/>
                    <a:p>
                      <a:pPr algn="ctr"/>
                      <a:r>
                        <a:rPr b="1" dirty="0"/>
                        <a:t>Total</a:t>
                      </a:r>
                    </a:p>
                  </a:txBody>
                  <a:tcPr/>
                </a:tc>
                <a:tc>
                  <a:txBody>
                    <a:bodyPr/>
                    <a:lstStyle/>
                    <a:p>
                      <a:pPr algn="ctr"/>
                      <a:r>
                        <a:rPr b="1"/>
                        <a:t>3</a:t>
                      </a:r>
                    </a:p>
                  </a:txBody>
                  <a:tcPr/>
                </a:tc>
                <a:tc>
                  <a:txBody>
                    <a:bodyPr/>
                    <a:lstStyle/>
                    <a:p>
                      <a:pPr algn="ctr"/>
                      <a:r>
                        <a:rPr b="1"/>
                        <a:t>5</a:t>
                      </a:r>
                    </a:p>
                  </a:txBody>
                  <a:tcPr/>
                </a:tc>
                <a:tc>
                  <a:txBody>
                    <a:bodyPr/>
                    <a:lstStyle/>
                    <a:p>
                      <a:pPr algn="ctr"/>
                      <a:r>
                        <a:rPr b="1" dirty="0"/>
                        <a:t>8</a:t>
                      </a:r>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DEBD6B-783A-F0FB-5E3A-23463829F167}"/>
                  </a:ext>
                </a:extLst>
              </p:cNvPr>
              <p:cNvSpPr txBox="1"/>
              <p:nvPr/>
            </p:nvSpPr>
            <p:spPr>
              <a:xfrm>
                <a:off x="1682046" y="1427891"/>
                <a:ext cx="3186257" cy="6164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sSup>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𝑅𝑜𝑤</m:t>
                          </m:r>
                          <m:r>
                            <a:rPr lang="en-US" b="0" i="1" smtClean="0">
                              <a:latin typeface="Cambria Math" panose="02040503050406030204" pitchFamily="18" charset="0"/>
                            </a:rPr>
                            <m:t> </m:t>
                          </m:r>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𝐶𝑜𝑙</m:t>
                          </m:r>
                          <m:r>
                            <a:rPr lang="en-US" b="0" i="1" smtClean="0">
                              <a:latin typeface="Cambria Math" panose="02040503050406030204" pitchFamily="18" charset="0"/>
                            </a:rPr>
                            <m:t> </m:t>
                          </m:r>
                          <m:r>
                            <a:rPr lang="en-US" b="0" i="1" smtClean="0">
                              <a:latin typeface="Cambria Math" panose="02040503050406030204" pitchFamily="18" charset="0"/>
                            </a:rPr>
                            <m:t>𝑇𝑜𝑡𝑎𝑙</m:t>
                          </m:r>
                        </m:num>
                        <m:den>
                          <m:r>
                            <a:rPr lang="en-US" b="0" i="1" smtClean="0">
                              <a:latin typeface="Cambria Math" panose="02040503050406030204" pitchFamily="18" charset="0"/>
                            </a:rPr>
                            <m:t>𝑇𝑜𝑡𝑎𝑙</m:t>
                          </m:r>
                        </m:den>
                      </m:f>
                    </m:oMath>
                  </m:oMathPara>
                </a14:m>
                <a:endParaRPr lang="en-US" dirty="0"/>
              </a:p>
            </p:txBody>
          </p:sp>
        </mc:Choice>
        <mc:Fallback xmlns="">
          <p:sp>
            <p:nvSpPr>
              <p:cNvPr id="7" name="TextBox 6">
                <a:extLst>
                  <a:ext uri="{FF2B5EF4-FFF2-40B4-BE49-F238E27FC236}">
                    <a16:creationId xmlns:a16="http://schemas.microsoft.com/office/drawing/2014/main" id="{BBDEBD6B-783A-F0FB-5E3A-23463829F167}"/>
                  </a:ext>
                </a:extLst>
              </p:cNvPr>
              <p:cNvSpPr txBox="1">
                <a:spLocks noRot="1" noChangeAspect="1" noMove="1" noResize="1" noEditPoints="1" noAdjustHandles="1" noChangeArrowheads="1" noChangeShapeType="1" noTextEdit="1"/>
              </p:cNvSpPr>
              <p:nvPr/>
            </p:nvSpPr>
            <p:spPr>
              <a:xfrm>
                <a:off x="1682046" y="1427891"/>
                <a:ext cx="3186257" cy="616451"/>
              </a:xfrm>
              <a:prstGeom prst="rect">
                <a:avLst/>
              </a:prstGeom>
              <a:blipFill>
                <a:blip r:embed="rId3"/>
                <a:stretch>
                  <a:fillRect b="-612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00B513F2-C24A-04B6-E18F-AB24AB7C9E57}"/>
              </a:ext>
            </a:extLst>
          </p:cNvPr>
          <p:cNvSpPr txBox="1"/>
          <p:nvPr/>
        </p:nvSpPr>
        <p:spPr>
          <a:xfrm>
            <a:off x="437443" y="2505335"/>
            <a:ext cx="6124222" cy="3139321"/>
          </a:xfrm>
          <a:prstGeom prst="rect">
            <a:avLst/>
          </a:prstGeom>
          <a:noFill/>
        </p:spPr>
        <p:txBody>
          <a:bodyPr wrap="square">
            <a:spAutoFit/>
          </a:bodyPr>
          <a:lstStyle/>
          <a:p>
            <a:r>
              <a:rPr lang="en-IN" b="1" dirty="0"/>
              <a:t>For Graduate, Buys (Yes):</a:t>
            </a:r>
          </a:p>
          <a:p>
            <a:r>
              <a:rPr lang="en-IN" dirty="0"/>
              <a:t>E = (4 × 3) / 8 = 1.5</a:t>
            </a:r>
          </a:p>
          <a:p>
            <a:endParaRPr lang="en-IN" dirty="0"/>
          </a:p>
          <a:p>
            <a:r>
              <a:rPr lang="en-IN" b="1" dirty="0"/>
              <a:t>For Graduate, Does Not Buy (No):</a:t>
            </a:r>
          </a:p>
          <a:p>
            <a:r>
              <a:rPr lang="en-IN" dirty="0"/>
              <a:t>E = (4 × 5) / 8 = 2.5</a:t>
            </a:r>
          </a:p>
          <a:p>
            <a:endParaRPr lang="en-IN" dirty="0"/>
          </a:p>
          <a:p>
            <a:r>
              <a:rPr lang="en-IN" b="1" dirty="0"/>
              <a:t>For Non-Grad, Buys (Yes):</a:t>
            </a:r>
          </a:p>
          <a:p>
            <a:r>
              <a:rPr lang="en-IN" dirty="0"/>
              <a:t>E = (4 × 3) / 8 = 1.5</a:t>
            </a:r>
          </a:p>
          <a:p>
            <a:endParaRPr lang="en-IN" dirty="0"/>
          </a:p>
          <a:p>
            <a:r>
              <a:rPr lang="en-IN" b="1" dirty="0"/>
              <a:t>For Non-Grad, Does Not Buy (No):</a:t>
            </a:r>
          </a:p>
          <a:p>
            <a:r>
              <a:rPr lang="en-IN" dirty="0"/>
              <a:t>E = (4 × 5) / 8 = 2.5</a:t>
            </a:r>
          </a:p>
        </p:txBody>
      </p:sp>
      <p:graphicFrame>
        <p:nvGraphicFramePr>
          <p:cNvPr id="10" name="Table 9">
            <a:extLst>
              <a:ext uri="{FF2B5EF4-FFF2-40B4-BE49-F238E27FC236}">
                <a16:creationId xmlns:a16="http://schemas.microsoft.com/office/drawing/2014/main" id="{AD847605-EDDE-7876-4057-CB031AD43DA7}"/>
              </a:ext>
            </a:extLst>
          </p:cNvPr>
          <p:cNvGraphicFramePr>
            <a:graphicFrameLocks noGrp="1"/>
          </p:cNvGraphicFramePr>
          <p:nvPr>
            <p:extLst>
              <p:ext uri="{D42A27DB-BD31-4B8C-83A1-F6EECF244321}">
                <p14:modId xmlns:p14="http://schemas.microsoft.com/office/powerpoint/2010/main" val="2382880080"/>
              </p:ext>
            </p:extLst>
          </p:nvPr>
        </p:nvGraphicFramePr>
        <p:xfrm>
          <a:off x="6867928" y="3907296"/>
          <a:ext cx="3894669" cy="1371600"/>
        </p:xfrm>
        <a:graphic>
          <a:graphicData uri="http://schemas.openxmlformats.org/drawingml/2006/table">
            <a:tbl>
              <a:tblPr firstRow="1" bandRow="1">
                <a:tableStyleId>{5C22544A-7EE6-4342-B048-85BDC9FD1C3A}</a:tableStyleId>
              </a:tblPr>
              <a:tblGrid>
                <a:gridCol w="1298223">
                  <a:extLst>
                    <a:ext uri="{9D8B030D-6E8A-4147-A177-3AD203B41FA5}">
                      <a16:colId xmlns:a16="http://schemas.microsoft.com/office/drawing/2014/main" val="20000"/>
                    </a:ext>
                  </a:extLst>
                </a:gridCol>
                <a:gridCol w="1298223">
                  <a:extLst>
                    <a:ext uri="{9D8B030D-6E8A-4147-A177-3AD203B41FA5}">
                      <a16:colId xmlns:a16="http://schemas.microsoft.com/office/drawing/2014/main" val="20001"/>
                    </a:ext>
                  </a:extLst>
                </a:gridCol>
                <a:gridCol w="1298223">
                  <a:extLst>
                    <a:ext uri="{9D8B030D-6E8A-4147-A177-3AD203B41FA5}">
                      <a16:colId xmlns:a16="http://schemas.microsoft.com/office/drawing/2014/main" val="20002"/>
                    </a:ext>
                  </a:extLst>
                </a:gridCol>
              </a:tblGrid>
              <a:tr h="481317">
                <a:tc>
                  <a:txBody>
                    <a:bodyPr/>
                    <a:lstStyle/>
                    <a:p>
                      <a:pPr algn="ctr"/>
                      <a:r>
                        <a:rPr dirty="0"/>
                        <a:t>Education</a:t>
                      </a:r>
                    </a:p>
                  </a:txBody>
                  <a:tcPr/>
                </a:tc>
                <a:tc>
                  <a:txBody>
                    <a:bodyPr/>
                    <a:lstStyle/>
                    <a:p>
                      <a:pPr algn="ctr"/>
                      <a:r>
                        <a:rPr dirty="0"/>
                        <a:t>Buys (Yes)</a:t>
                      </a:r>
                    </a:p>
                  </a:txBody>
                  <a:tcPr/>
                </a:tc>
                <a:tc>
                  <a:txBody>
                    <a:bodyPr/>
                    <a:lstStyle/>
                    <a:p>
                      <a:pPr algn="ctr"/>
                      <a:r>
                        <a:rPr dirty="0"/>
                        <a:t>Does Not Buy (No)</a:t>
                      </a:r>
                    </a:p>
                  </a:txBody>
                  <a:tcPr/>
                </a:tc>
                <a:extLst>
                  <a:ext uri="{0D108BD9-81ED-4DB2-BD59-A6C34878D82A}">
                    <a16:rowId xmlns:a16="http://schemas.microsoft.com/office/drawing/2014/main" val="10000"/>
                  </a:ext>
                </a:extLst>
              </a:tr>
              <a:tr h="343798">
                <a:tc>
                  <a:txBody>
                    <a:bodyPr/>
                    <a:lstStyle/>
                    <a:p>
                      <a:pPr algn="ctr"/>
                      <a:r>
                        <a:rPr dirty="0"/>
                        <a:t>Graduate</a:t>
                      </a:r>
                    </a:p>
                  </a:txBody>
                  <a:tcPr/>
                </a:tc>
                <a:tc>
                  <a:txBody>
                    <a:bodyPr/>
                    <a:lstStyle/>
                    <a:p>
                      <a:pPr algn="ctr"/>
                      <a:r>
                        <a:rPr lang="en-US" dirty="0"/>
                        <a:t>1.5</a:t>
                      </a:r>
                      <a:endParaRPr dirty="0"/>
                    </a:p>
                  </a:txBody>
                  <a:tcPr/>
                </a:tc>
                <a:tc>
                  <a:txBody>
                    <a:bodyPr/>
                    <a:lstStyle/>
                    <a:p>
                      <a:pPr algn="ctr"/>
                      <a:r>
                        <a:rPr lang="en-US" dirty="0"/>
                        <a:t>2.5</a:t>
                      </a:r>
                      <a:endParaRPr dirty="0"/>
                    </a:p>
                  </a:txBody>
                  <a:tcPr/>
                </a:tc>
                <a:extLst>
                  <a:ext uri="{0D108BD9-81ED-4DB2-BD59-A6C34878D82A}">
                    <a16:rowId xmlns:a16="http://schemas.microsoft.com/office/drawing/2014/main" val="10001"/>
                  </a:ext>
                </a:extLst>
              </a:tr>
              <a:tr h="343798">
                <a:tc>
                  <a:txBody>
                    <a:bodyPr/>
                    <a:lstStyle/>
                    <a:p>
                      <a:pPr algn="ctr"/>
                      <a:r>
                        <a:rPr dirty="0"/>
                        <a:t>Non-Grad</a:t>
                      </a:r>
                    </a:p>
                  </a:txBody>
                  <a:tcPr/>
                </a:tc>
                <a:tc>
                  <a:txBody>
                    <a:bodyPr/>
                    <a:lstStyle/>
                    <a:p>
                      <a:pPr algn="ctr"/>
                      <a:r>
                        <a:rPr lang="en-US" dirty="0"/>
                        <a:t>1.5</a:t>
                      </a:r>
                      <a:endParaRPr dirty="0"/>
                    </a:p>
                  </a:txBody>
                  <a:tcPr/>
                </a:tc>
                <a:tc>
                  <a:txBody>
                    <a:bodyPr/>
                    <a:lstStyle/>
                    <a:p>
                      <a:pPr algn="ctr"/>
                      <a:r>
                        <a:rPr lang="en-US" dirty="0"/>
                        <a:t>2.5</a:t>
                      </a:r>
                      <a:endParaRPr dirty="0"/>
                    </a:p>
                  </a:txBody>
                  <a:tcPr/>
                </a:tc>
                <a:extLst>
                  <a:ext uri="{0D108BD9-81ED-4DB2-BD59-A6C34878D82A}">
                    <a16:rowId xmlns:a16="http://schemas.microsoft.com/office/drawing/2014/main" val="10002"/>
                  </a:ext>
                </a:extLst>
              </a:tr>
            </a:tbl>
          </a:graphicData>
        </a:graphic>
      </p:graphicFrame>
      <p:sp>
        <p:nvSpPr>
          <p:cNvPr id="11" name="TextBox 10">
            <a:extLst>
              <a:ext uri="{FF2B5EF4-FFF2-40B4-BE49-F238E27FC236}">
                <a16:creationId xmlns:a16="http://schemas.microsoft.com/office/drawing/2014/main" id="{977D390D-F015-51DB-C1B4-1E601E35006E}"/>
              </a:ext>
            </a:extLst>
          </p:cNvPr>
          <p:cNvSpPr txBox="1"/>
          <p:nvPr/>
        </p:nvSpPr>
        <p:spPr>
          <a:xfrm>
            <a:off x="6867928" y="860789"/>
            <a:ext cx="2069797" cy="369332"/>
          </a:xfrm>
          <a:prstGeom prst="rect">
            <a:avLst/>
          </a:prstGeom>
          <a:noFill/>
        </p:spPr>
        <p:txBody>
          <a:bodyPr wrap="none" rtlCol="0">
            <a:spAutoFit/>
          </a:bodyPr>
          <a:lstStyle/>
          <a:p>
            <a:r>
              <a:rPr lang="en-US" b="1" dirty="0"/>
              <a:t>Observed Frequency</a:t>
            </a:r>
          </a:p>
        </p:txBody>
      </p:sp>
      <p:sp>
        <p:nvSpPr>
          <p:cNvPr id="12" name="TextBox 11">
            <a:extLst>
              <a:ext uri="{FF2B5EF4-FFF2-40B4-BE49-F238E27FC236}">
                <a16:creationId xmlns:a16="http://schemas.microsoft.com/office/drawing/2014/main" id="{63562808-6695-F0FD-50AC-23E932C8614C}"/>
              </a:ext>
            </a:extLst>
          </p:cNvPr>
          <p:cNvSpPr txBox="1"/>
          <p:nvPr/>
        </p:nvSpPr>
        <p:spPr>
          <a:xfrm>
            <a:off x="6867928" y="3558676"/>
            <a:ext cx="2039341" cy="369332"/>
          </a:xfrm>
          <a:prstGeom prst="rect">
            <a:avLst/>
          </a:prstGeom>
          <a:noFill/>
        </p:spPr>
        <p:txBody>
          <a:bodyPr wrap="none" rtlCol="0">
            <a:spAutoFit/>
          </a:bodyPr>
          <a:lstStyle/>
          <a:p>
            <a:r>
              <a:rPr lang="en-US" b="1" dirty="0"/>
              <a:t>Expected Frequency</a:t>
            </a:r>
          </a:p>
        </p:txBody>
      </p:sp>
    </p:spTree>
    <p:extLst>
      <p:ext uri="{BB962C8B-B14F-4D97-AF65-F5344CB8AC3E}">
        <p14:creationId xmlns:p14="http://schemas.microsoft.com/office/powerpoint/2010/main" val="262113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P spid="9" grpId="0"/>
      <p:bldP spid="11" grpId="0"/>
      <p:bldP spid="1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60D7EA8-180D-C961-A272-0C9D1D5DD3CA}"/>
                  </a:ext>
                </a:extLst>
              </p:cNvPr>
              <p:cNvSpPr>
                <a:spLocks noGrp="1"/>
              </p:cNvSpPr>
              <p:nvPr>
                <p:ph type="title"/>
              </p:nvPr>
            </p:nvSpPr>
            <p:spPr/>
            <p:txBody>
              <a:bodyPr/>
              <a:lstStyle/>
              <a:p>
                <a:r>
                  <a:rPr lang="en-US" dirty="0">
                    <a:solidFill>
                      <a:schemeClr val="tx1"/>
                    </a:solidFill>
                    <a:latin typeface="+mn-lt"/>
                  </a:rPr>
                  <a:t>Chi-Square Test(</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𝑿</m:t>
                        </m:r>
                      </m:e>
                      <m:sup>
                        <m:r>
                          <a:rPr lang="en-US" b="1" i="1" smtClean="0">
                            <a:solidFill>
                              <a:schemeClr val="tx1"/>
                            </a:solidFill>
                            <a:latin typeface="Cambria Math" panose="02040503050406030204" pitchFamily="18" charset="0"/>
                          </a:rPr>
                          <m:t>𝟐</m:t>
                        </m:r>
                      </m:sup>
                    </m:sSup>
                  </m:oMath>
                </a14:m>
                <a:r>
                  <a:rPr lang="en-US" dirty="0">
                    <a:solidFill>
                      <a:schemeClr val="tx1"/>
                    </a:solidFill>
                    <a:latin typeface="+mn-lt"/>
                  </a:rPr>
                  <a:t>) - Example</a:t>
                </a:r>
                <a:endParaRPr lang="en-US" dirty="0"/>
              </a:p>
            </p:txBody>
          </p:sp>
        </mc:Choice>
        <mc:Fallback xmlns="">
          <p:sp>
            <p:nvSpPr>
              <p:cNvPr id="2" name="Title 1">
                <a:extLst>
                  <a:ext uri="{FF2B5EF4-FFF2-40B4-BE49-F238E27FC236}">
                    <a16:creationId xmlns:a16="http://schemas.microsoft.com/office/drawing/2014/main" id="{660D7EA8-180D-C961-A272-0C9D1D5DD3CA}"/>
                  </a:ext>
                </a:extLst>
              </p:cNvPr>
              <p:cNvSpPr>
                <a:spLocks noGrp="1" noRot="1" noChangeAspect="1" noMove="1" noResize="1" noEditPoints="1" noAdjustHandles="1" noChangeArrowheads="1" noChangeShapeType="1" noTextEdit="1"/>
              </p:cNvSpPr>
              <p:nvPr>
                <p:ph type="title"/>
              </p:nvPr>
            </p:nvSpPr>
            <p:spPr>
              <a:blipFill>
                <a:blip r:embed="rId2"/>
                <a:stretch>
                  <a:fillRect l="-416" t="-8772" b="-19298"/>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FBDCF6FD-539E-D2D7-34EF-95CD9527F9C1}"/>
              </a:ext>
            </a:extLst>
          </p:cNvPr>
          <p:cNvSpPr>
            <a:spLocks noGrp="1"/>
          </p:cNvSpPr>
          <p:nvPr>
            <p:ph idx="1"/>
          </p:nvPr>
        </p:nvSpPr>
        <p:spPr>
          <a:xfrm>
            <a:off x="131180" y="863444"/>
            <a:ext cx="6430485" cy="711201"/>
          </a:xfrm>
        </p:spPr>
        <p:txBody>
          <a:bodyPr/>
          <a:lstStyle/>
          <a:p>
            <a:r>
              <a:rPr lang="en-US" b="1" dirty="0">
                <a:solidFill>
                  <a:srgbClr val="C00000"/>
                </a:solidFill>
              </a:rPr>
              <a:t>Step 4 : Calculate Chi-square value</a:t>
            </a:r>
          </a:p>
          <a:p>
            <a:pPr marL="457200" lvl="1" indent="0">
              <a:buNone/>
            </a:pPr>
            <a:endParaRPr lang="en-US" dirty="0"/>
          </a:p>
          <a:p>
            <a:pPr lvl="1"/>
            <a:endParaRPr lang="en-US" dirty="0"/>
          </a:p>
          <a:p>
            <a:pPr lvl="2"/>
            <a:endParaRPr lang="en-US" dirty="0"/>
          </a:p>
        </p:txBody>
      </p:sp>
      <p:graphicFrame>
        <p:nvGraphicFramePr>
          <p:cNvPr id="6" name="Table 5">
            <a:extLst>
              <a:ext uri="{FF2B5EF4-FFF2-40B4-BE49-F238E27FC236}">
                <a16:creationId xmlns:a16="http://schemas.microsoft.com/office/drawing/2014/main" id="{F07AAF5D-020B-327F-6BF1-7A78230F9E70}"/>
              </a:ext>
            </a:extLst>
          </p:cNvPr>
          <p:cNvGraphicFramePr>
            <a:graphicFrameLocks noGrp="1"/>
          </p:cNvGraphicFramePr>
          <p:nvPr>
            <p:extLst>
              <p:ext uri="{D42A27DB-BD31-4B8C-83A1-F6EECF244321}">
                <p14:modId xmlns:p14="http://schemas.microsoft.com/office/powerpoint/2010/main" val="3617089067"/>
              </p:ext>
            </p:extLst>
          </p:nvPr>
        </p:nvGraphicFramePr>
        <p:xfrm>
          <a:off x="6867928" y="1230121"/>
          <a:ext cx="5192892" cy="1737360"/>
        </p:xfrm>
        <a:graphic>
          <a:graphicData uri="http://schemas.openxmlformats.org/drawingml/2006/table">
            <a:tbl>
              <a:tblPr firstRow="1" bandRow="1">
                <a:tableStyleId>{5C22544A-7EE6-4342-B048-85BDC9FD1C3A}</a:tableStyleId>
              </a:tblPr>
              <a:tblGrid>
                <a:gridCol w="1298223">
                  <a:extLst>
                    <a:ext uri="{9D8B030D-6E8A-4147-A177-3AD203B41FA5}">
                      <a16:colId xmlns:a16="http://schemas.microsoft.com/office/drawing/2014/main" val="20000"/>
                    </a:ext>
                  </a:extLst>
                </a:gridCol>
                <a:gridCol w="1298223">
                  <a:extLst>
                    <a:ext uri="{9D8B030D-6E8A-4147-A177-3AD203B41FA5}">
                      <a16:colId xmlns:a16="http://schemas.microsoft.com/office/drawing/2014/main" val="20001"/>
                    </a:ext>
                  </a:extLst>
                </a:gridCol>
                <a:gridCol w="1298223">
                  <a:extLst>
                    <a:ext uri="{9D8B030D-6E8A-4147-A177-3AD203B41FA5}">
                      <a16:colId xmlns:a16="http://schemas.microsoft.com/office/drawing/2014/main" val="20002"/>
                    </a:ext>
                  </a:extLst>
                </a:gridCol>
                <a:gridCol w="1298223">
                  <a:extLst>
                    <a:ext uri="{9D8B030D-6E8A-4147-A177-3AD203B41FA5}">
                      <a16:colId xmlns:a16="http://schemas.microsoft.com/office/drawing/2014/main" val="20003"/>
                    </a:ext>
                  </a:extLst>
                </a:gridCol>
              </a:tblGrid>
              <a:tr h="481317">
                <a:tc>
                  <a:txBody>
                    <a:bodyPr/>
                    <a:lstStyle/>
                    <a:p>
                      <a:pPr algn="ctr"/>
                      <a:r>
                        <a:rPr dirty="0"/>
                        <a:t>Education</a:t>
                      </a:r>
                    </a:p>
                  </a:txBody>
                  <a:tcPr/>
                </a:tc>
                <a:tc>
                  <a:txBody>
                    <a:bodyPr/>
                    <a:lstStyle/>
                    <a:p>
                      <a:pPr algn="ctr"/>
                      <a:r>
                        <a:rPr dirty="0"/>
                        <a:t>Buys (Yes)</a:t>
                      </a:r>
                    </a:p>
                  </a:txBody>
                  <a:tcPr/>
                </a:tc>
                <a:tc>
                  <a:txBody>
                    <a:bodyPr/>
                    <a:lstStyle/>
                    <a:p>
                      <a:pPr algn="ctr"/>
                      <a:r>
                        <a:rPr dirty="0"/>
                        <a:t>Does Not Buy (No)</a:t>
                      </a:r>
                    </a:p>
                  </a:txBody>
                  <a:tcPr/>
                </a:tc>
                <a:tc>
                  <a:txBody>
                    <a:bodyPr/>
                    <a:lstStyle/>
                    <a:p>
                      <a:pPr algn="ctr"/>
                      <a:r>
                        <a:t>Total</a:t>
                      </a:r>
                    </a:p>
                  </a:txBody>
                  <a:tcPr/>
                </a:tc>
                <a:extLst>
                  <a:ext uri="{0D108BD9-81ED-4DB2-BD59-A6C34878D82A}">
                    <a16:rowId xmlns:a16="http://schemas.microsoft.com/office/drawing/2014/main" val="10000"/>
                  </a:ext>
                </a:extLst>
              </a:tr>
              <a:tr h="343798">
                <a:tc>
                  <a:txBody>
                    <a:bodyPr/>
                    <a:lstStyle/>
                    <a:p>
                      <a:pPr algn="ctr"/>
                      <a:r>
                        <a:rPr dirty="0"/>
                        <a:t>Graduate</a:t>
                      </a:r>
                    </a:p>
                  </a:txBody>
                  <a:tcPr/>
                </a:tc>
                <a:tc>
                  <a:txBody>
                    <a:bodyPr/>
                    <a:lstStyle/>
                    <a:p>
                      <a:pPr algn="ctr"/>
                      <a:r>
                        <a:rPr dirty="0"/>
                        <a:t>3</a:t>
                      </a:r>
                    </a:p>
                  </a:txBody>
                  <a:tcPr/>
                </a:tc>
                <a:tc>
                  <a:txBody>
                    <a:bodyPr/>
                    <a:lstStyle/>
                    <a:p>
                      <a:pPr algn="ctr"/>
                      <a:r>
                        <a:rPr dirty="0"/>
                        <a:t>1</a:t>
                      </a:r>
                    </a:p>
                  </a:txBody>
                  <a:tcPr/>
                </a:tc>
                <a:tc>
                  <a:txBody>
                    <a:bodyPr/>
                    <a:lstStyle/>
                    <a:p>
                      <a:pPr algn="ctr"/>
                      <a:r>
                        <a:rPr b="1" dirty="0"/>
                        <a:t>4</a:t>
                      </a:r>
                    </a:p>
                  </a:txBody>
                  <a:tcPr/>
                </a:tc>
                <a:extLst>
                  <a:ext uri="{0D108BD9-81ED-4DB2-BD59-A6C34878D82A}">
                    <a16:rowId xmlns:a16="http://schemas.microsoft.com/office/drawing/2014/main" val="10001"/>
                  </a:ext>
                </a:extLst>
              </a:tr>
              <a:tr h="343798">
                <a:tc>
                  <a:txBody>
                    <a:bodyPr/>
                    <a:lstStyle/>
                    <a:p>
                      <a:pPr algn="ctr"/>
                      <a:r>
                        <a:rPr dirty="0"/>
                        <a:t>Non-Grad</a:t>
                      </a:r>
                    </a:p>
                  </a:txBody>
                  <a:tcPr/>
                </a:tc>
                <a:tc>
                  <a:txBody>
                    <a:bodyPr/>
                    <a:lstStyle/>
                    <a:p>
                      <a:pPr algn="ctr"/>
                      <a:r>
                        <a:rPr dirty="0"/>
                        <a:t>0</a:t>
                      </a:r>
                    </a:p>
                  </a:txBody>
                  <a:tcPr/>
                </a:tc>
                <a:tc>
                  <a:txBody>
                    <a:bodyPr/>
                    <a:lstStyle/>
                    <a:p>
                      <a:pPr algn="ctr"/>
                      <a:r>
                        <a:rPr dirty="0"/>
                        <a:t>4</a:t>
                      </a:r>
                    </a:p>
                  </a:txBody>
                  <a:tcPr/>
                </a:tc>
                <a:tc>
                  <a:txBody>
                    <a:bodyPr/>
                    <a:lstStyle/>
                    <a:p>
                      <a:pPr algn="ctr"/>
                      <a:r>
                        <a:rPr b="1" dirty="0"/>
                        <a:t>4</a:t>
                      </a:r>
                    </a:p>
                  </a:txBody>
                  <a:tcPr/>
                </a:tc>
                <a:extLst>
                  <a:ext uri="{0D108BD9-81ED-4DB2-BD59-A6C34878D82A}">
                    <a16:rowId xmlns:a16="http://schemas.microsoft.com/office/drawing/2014/main" val="10002"/>
                  </a:ext>
                </a:extLst>
              </a:tr>
              <a:tr h="343798">
                <a:tc>
                  <a:txBody>
                    <a:bodyPr/>
                    <a:lstStyle/>
                    <a:p>
                      <a:pPr algn="ctr"/>
                      <a:r>
                        <a:rPr b="1" dirty="0"/>
                        <a:t>Total</a:t>
                      </a:r>
                    </a:p>
                  </a:txBody>
                  <a:tcPr/>
                </a:tc>
                <a:tc>
                  <a:txBody>
                    <a:bodyPr/>
                    <a:lstStyle/>
                    <a:p>
                      <a:pPr algn="ctr"/>
                      <a:r>
                        <a:rPr b="1"/>
                        <a:t>3</a:t>
                      </a:r>
                    </a:p>
                  </a:txBody>
                  <a:tcPr/>
                </a:tc>
                <a:tc>
                  <a:txBody>
                    <a:bodyPr/>
                    <a:lstStyle/>
                    <a:p>
                      <a:pPr algn="ctr"/>
                      <a:r>
                        <a:rPr b="1"/>
                        <a:t>5</a:t>
                      </a:r>
                    </a:p>
                  </a:txBody>
                  <a:tcPr/>
                </a:tc>
                <a:tc>
                  <a:txBody>
                    <a:bodyPr/>
                    <a:lstStyle/>
                    <a:p>
                      <a:pPr algn="ctr"/>
                      <a:r>
                        <a:rPr b="1" dirty="0"/>
                        <a:t>8</a:t>
                      </a:r>
                    </a:p>
                  </a:txBody>
                  <a:tcPr/>
                </a:tc>
                <a:extLst>
                  <a:ext uri="{0D108BD9-81ED-4DB2-BD59-A6C34878D82A}">
                    <a16:rowId xmlns:a16="http://schemas.microsoft.com/office/drawing/2014/main" val="10003"/>
                  </a:ext>
                </a:extLst>
              </a:tr>
            </a:tbl>
          </a:graphicData>
        </a:graphic>
      </p:graphicFrame>
      <p:graphicFrame>
        <p:nvGraphicFramePr>
          <p:cNvPr id="7" name="Table 6">
            <a:extLst>
              <a:ext uri="{FF2B5EF4-FFF2-40B4-BE49-F238E27FC236}">
                <a16:creationId xmlns:a16="http://schemas.microsoft.com/office/drawing/2014/main" id="{52BE5D08-DDAD-CE2D-EAD6-3498FB3C8E97}"/>
              </a:ext>
            </a:extLst>
          </p:cNvPr>
          <p:cNvGraphicFramePr>
            <a:graphicFrameLocks noGrp="1"/>
          </p:cNvGraphicFramePr>
          <p:nvPr>
            <p:extLst>
              <p:ext uri="{D42A27DB-BD31-4B8C-83A1-F6EECF244321}">
                <p14:modId xmlns:p14="http://schemas.microsoft.com/office/powerpoint/2010/main" val="2449518489"/>
              </p:ext>
            </p:extLst>
          </p:nvPr>
        </p:nvGraphicFramePr>
        <p:xfrm>
          <a:off x="6867928" y="3907296"/>
          <a:ext cx="3894669" cy="1371600"/>
        </p:xfrm>
        <a:graphic>
          <a:graphicData uri="http://schemas.openxmlformats.org/drawingml/2006/table">
            <a:tbl>
              <a:tblPr firstRow="1" bandRow="1">
                <a:tableStyleId>{5C22544A-7EE6-4342-B048-85BDC9FD1C3A}</a:tableStyleId>
              </a:tblPr>
              <a:tblGrid>
                <a:gridCol w="1298223">
                  <a:extLst>
                    <a:ext uri="{9D8B030D-6E8A-4147-A177-3AD203B41FA5}">
                      <a16:colId xmlns:a16="http://schemas.microsoft.com/office/drawing/2014/main" val="20000"/>
                    </a:ext>
                  </a:extLst>
                </a:gridCol>
                <a:gridCol w="1298223">
                  <a:extLst>
                    <a:ext uri="{9D8B030D-6E8A-4147-A177-3AD203B41FA5}">
                      <a16:colId xmlns:a16="http://schemas.microsoft.com/office/drawing/2014/main" val="20001"/>
                    </a:ext>
                  </a:extLst>
                </a:gridCol>
                <a:gridCol w="1298223">
                  <a:extLst>
                    <a:ext uri="{9D8B030D-6E8A-4147-A177-3AD203B41FA5}">
                      <a16:colId xmlns:a16="http://schemas.microsoft.com/office/drawing/2014/main" val="20002"/>
                    </a:ext>
                  </a:extLst>
                </a:gridCol>
              </a:tblGrid>
              <a:tr h="481317">
                <a:tc>
                  <a:txBody>
                    <a:bodyPr/>
                    <a:lstStyle/>
                    <a:p>
                      <a:pPr algn="ctr"/>
                      <a:r>
                        <a:rPr dirty="0"/>
                        <a:t>Education</a:t>
                      </a:r>
                    </a:p>
                  </a:txBody>
                  <a:tcPr/>
                </a:tc>
                <a:tc>
                  <a:txBody>
                    <a:bodyPr/>
                    <a:lstStyle/>
                    <a:p>
                      <a:pPr algn="ctr"/>
                      <a:r>
                        <a:rPr dirty="0"/>
                        <a:t>Buys (Yes)</a:t>
                      </a:r>
                    </a:p>
                  </a:txBody>
                  <a:tcPr/>
                </a:tc>
                <a:tc>
                  <a:txBody>
                    <a:bodyPr/>
                    <a:lstStyle/>
                    <a:p>
                      <a:pPr algn="ctr"/>
                      <a:r>
                        <a:rPr dirty="0"/>
                        <a:t>Does Not Buy (No)</a:t>
                      </a:r>
                    </a:p>
                  </a:txBody>
                  <a:tcPr/>
                </a:tc>
                <a:extLst>
                  <a:ext uri="{0D108BD9-81ED-4DB2-BD59-A6C34878D82A}">
                    <a16:rowId xmlns:a16="http://schemas.microsoft.com/office/drawing/2014/main" val="10000"/>
                  </a:ext>
                </a:extLst>
              </a:tr>
              <a:tr h="343798">
                <a:tc>
                  <a:txBody>
                    <a:bodyPr/>
                    <a:lstStyle/>
                    <a:p>
                      <a:pPr algn="ctr"/>
                      <a:r>
                        <a:rPr dirty="0"/>
                        <a:t>Graduate</a:t>
                      </a:r>
                    </a:p>
                  </a:txBody>
                  <a:tcPr/>
                </a:tc>
                <a:tc>
                  <a:txBody>
                    <a:bodyPr/>
                    <a:lstStyle/>
                    <a:p>
                      <a:pPr algn="ctr"/>
                      <a:r>
                        <a:rPr lang="en-US" dirty="0"/>
                        <a:t>1.5</a:t>
                      </a:r>
                      <a:endParaRPr dirty="0"/>
                    </a:p>
                  </a:txBody>
                  <a:tcPr/>
                </a:tc>
                <a:tc>
                  <a:txBody>
                    <a:bodyPr/>
                    <a:lstStyle/>
                    <a:p>
                      <a:pPr algn="ctr"/>
                      <a:r>
                        <a:rPr lang="en-US" dirty="0"/>
                        <a:t>2.5</a:t>
                      </a:r>
                      <a:endParaRPr dirty="0"/>
                    </a:p>
                  </a:txBody>
                  <a:tcPr/>
                </a:tc>
                <a:extLst>
                  <a:ext uri="{0D108BD9-81ED-4DB2-BD59-A6C34878D82A}">
                    <a16:rowId xmlns:a16="http://schemas.microsoft.com/office/drawing/2014/main" val="10001"/>
                  </a:ext>
                </a:extLst>
              </a:tr>
              <a:tr h="343798">
                <a:tc>
                  <a:txBody>
                    <a:bodyPr/>
                    <a:lstStyle/>
                    <a:p>
                      <a:pPr algn="ctr"/>
                      <a:r>
                        <a:rPr dirty="0"/>
                        <a:t>Non-Grad</a:t>
                      </a:r>
                    </a:p>
                  </a:txBody>
                  <a:tcPr/>
                </a:tc>
                <a:tc>
                  <a:txBody>
                    <a:bodyPr/>
                    <a:lstStyle/>
                    <a:p>
                      <a:pPr algn="ctr"/>
                      <a:r>
                        <a:rPr lang="en-US" dirty="0"/>
                        <a:t>1.5</a:t>
                      </a:r>
                      <a:endParaRPr dirty="0"/>
                    </a:p>
                  </a:txBody>
                  <a:tcPr/>
                </a:tc>
                <a:tc>
                  <a:txBody>
                    <a:bodyPr/>
                    <a:lstStyle/>
                    <a:p>
                      <a:pPr algn="ctr"/>
                      <a:r>
                        <a:rPr lang="en-US" dirty="0"/>
                        <a:t>2.5</a:t>
                      </a:r>
                      <a:endParaRPr dirty="0"/>
                    </a:p>
                  </a:txBody>
                  <a:tcPr/>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FFC03B69-73DC-7DF8-1A61-DB2B1E63A492}"/>
              </a:ext>
            </a:extLst>
          </p:cNvPr>
          <p:cNvSpPr txBox="1"/>
          <p:nvPr/>
        </p:nvSpPr>
        <p:spPr>
          <a:xfrm>
            <a:off x="6867928" y="860789"/>
            <a:ext cx="2069797" cy="369332"/>
          </a:xfrm>
          <a:prstGeom prst="rect">
            <a:avLst/>
          </a:prstGeom>
          <a:noFill/>
        </p:spPr>
        <p:txBody>
          <a:bodyPr wrap="none" rtlCol="0">
            <a:spAutoFit/>
          </a:bodyPr>
          <a:lstStyle/>
          <a:p>
            <a:r>
              <a:rPr lang="en-US" b="1" dirty="0"/>
              <a:t>Observed Frequency</a:t>
            </a:r>
          </a:p>
        </p:txBody>
      </p:sp>
      <p:sp>
        <p:nvSpPr>
          <p:cNvPr id="9" name="TextBox 8">
            <a:extLst>
              <a:ext uri="{FF2B5EF4-FFF2-40B4-BE49-F238E27FC236}">
                <a16:creationId xmlns:a16="http://schemas.microsoft.com/office/drawing/2014/main" id="{0A614601-F182-0677-9C33-C70DD2F19FE3}"/>
              </a:ext>
            </a:extLst>
          </p:cNvPr>
          <p:cNvSpPr txBox="1"/>
          <p:nvPr/>
        </p:nvSpPr>
        <p:spPr>
          <a:xfrm>
            <a:off x="6867928" y="3558676"/>
            <a:ext cx="2039341" cy="369332"/>
          </a:xfrm>
          <a:prstGeom prst="rect">
            <a:avLst/>
          </a:prstGeom>
          <a:noFill/>
        </p:spPr>
        <p:txBody>
          <a:bodyPr wrap="none" rtlCol="0">
            <a:spAutoFit/>
          </a:bodyPr>
          <a:lstStyle/>
          <a:p>
            <a:r>
              <a:rPr lang="en-US" b="1" dirty="0"/>
              <a:t>Expected Frequency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C0D990E-1FA3-2C5A-135F-D98A30264732}"/>
                  </a:ext>
                </a:extLst>
              </p:cNvPr>
              <p:cNvSpPr txBox="1"/>
              <p:nvPr/>
            </p:nvSpPr>
            <p:spPr>
              <a:xfrm>
                <a:off x="1365957" y="1405313"/>
                <a:ext cx="2098395" cy="8106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𝐸</m:t>
                                  </m:r>
                                  <m:r>
                                    <a:rPr lang="en-US" i="1">
                                      <a:latin typeface="Cambria Math" panose="02040503050406030204" pitchFamily="18" charset="0"/>
                                    </a:rPr>
                                    <m:t>)</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𝐸</m:t>
                              </m:r>
                            </m:den>
                          </m:f>
                        </m:e>
                      </m:nary>
                    </m:oMath>
                  </m:oMathPara>
                </a14:m>
                <a:endParaRPr lang="en-US" dirty="0"/>
              </a:p>
            </p:txBody>
          </p:sp>
        </mc:Choice>
        <mc:Fallback xmlns="">
          <p:sp>
            <p:nvSpPr>
              <p:cNvPr id="10" name="TextBox 9">
                <a:extLst>
                  <a:ext uri="{FF2B5EF4-FFF2-40B4-BE49-F238E27FC236}">
                    <a16:creationId xmlns:a16="http://schemas.microsoft.com/office/drawing/2014/main" id="{CC0D990E-1FA3-2C5A-135F-D98A30264732}"/>
                  </a:ext>
                </a:extLst>
              </p:cNvPr>
              <p:cNvSpPr txBox="1">
                <a:spLocks noRot="1" noChangeAspect="1" noMove="1" noResize="1" noEditPoints="1" noAdjustHandles="1" noChangeArrowheads="1" noChangeShapeType="1" noTextEdit="1"/>
              </p:cNvSpPr>
              <p:nvPr/>
            </p:nvSpPr>
            <p:spPr>
              <a:xfrm>
                <a:off x="1365957" y="1405313"/>
                <a:ext cx="2098395" cy="810671"/>
              </a:xfrm>
              <a:prstGeom prst="rect">
                <a:avLst/>
              </a:prstGeom>
              <a:blipFill>
                <a:blip r:embed="rId3"/>
                <a:stretch>
                  <a:fillRect l="-6627" t="-112308" b="-15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38F651F-44D7-A7C4-8B31-103CDB3A3543}"/>
                  </a:ext>
                </a:extLst>
              </p:cNvPr>
              <p:cNvSpPr txBox="1"/>
              <p:nvPr/>
            </p:nvSpPr>
            <p:spPr>
              <a:xfrm>
                <a:off x="428978" y="2388521"/>
                <a:ext cx="6448945" cy="646331"/>
              </a:xfrm>
              <a:prstGeom prst="rect">
                <a:avLst/>
              </a:prstGeom>
              <a:noFill/>
            </p:spPr>
            <p:txBody>
              <a:bodyPr wrap="none" rtlCol="0">
                <a:spAutoFit/>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r>
                      <a:rPr lang="en-US" b="0" i="1" smtClean="0">
                        <a:latin typeface="Cambria Math" panose="02040503050406030204" pitchFamily="18" charset="0"/>
                      </a:rPr>
                      <m:t> </m:t>
                    </m:r>
                  </m:oMath>
                </a14:m>
                <a:r>
                  <a:rPr lang="en-IN" dirty="0"/>
                  <a:t>= (3 - 1.5)² / 1.5  </a:t>
                </a:r>
                <a:r>
                  <a:rPr lang="en-IN" b="1" dirty="0">
                    <a:solidFill>
                      <a:schemeClr val="accent3">
                        <a:lumMod val="50000"/>
                      </a:schemeClr>
                    </a:solidFill>
                  </a:rPr>
                  <a:t>+</a:t>
                </a:r>
                <a:r>
                  <a:rPr lang="en-IN" dirty="0"/>
                  <a:t> (1 - 2.5)² / 2.5</a:t>
                </a:r>
                <a:r>
                  <a:rPr lang="en-IN" b="1" dirty="0"/>
                  <a:t> </a:t>
                </a:r>
                <a:r>
                  <a:rPr lang="en-IN" b="1" dirty="0">
                    <a:solidFill>
                      <a:schemeClr val="accent3">
                        <a:lumMod val="50000"/>
                      </a:schemeClr>
                    </a:solidFill>
                  </a:rPr>
                  <a:t>+</a:t>
                </a:r>
                <a:r>
                  <a:rPr lang="en-IN" b="1" dirty="0"/>
                  <a:t> </a:t>
                </a:r>
                <a:r>
                  <a:rPr lang="en-IN" dirty="0"/>
                  <a:t>(0 - 1.5)² / 1.5</a:t>
                </a:r>
                <a:r>
                  <a:rPr lang="en-IN" b="1" dirty="0"/>
                  <a:t> </a:t>
                </a:r>
                <a:r>
                  <a:rPr lang="en-IN" b="1" dirty="0">
                    <a:solidFill>
                      <a:schemeClr val="accent3">
                        <a:lumMod val="50000"/>
                      </a:schemeClr>
                    </a:solidFill>
                  </a:rPr>
                  <a:t>+</a:t>
                </a:r>
                <a:r>
                  <a:rPr lang="en-IN" b="1" dirty="0"/>
                  <a:t> </a:t>
                </a:r>
                <a:r>
                  <a:rPr lang="en-IN" dirty="0"/>
                  <a:t>(4 - 2.5)² / 2.5</a:t>
                </a:r>
              </a:p>
              <a:p>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𝑿</m:t>
                        </m:r>
                      </m:e>
                      <m:sup>
                        <m:r>
                          <a:rPr lang="en-US" b="1" i="1" smtClean="0">
                            <a:latin typeface="Cambria Math" panose="02040503050406030204" pitchFamily="18" charset="0"/>
                          </a:rPr>
                          <m:t>𝟐</m:t>
                        </m:r>
                      </m:sup>
                    </m:sSup>
                    <m:r>
                      <a:rPr lang="en-US" b="1" i="1" smtClean="0">
                        <a:latin typeface="Cambria Math" panose="02040503050406030204" pitchFamily="18" charset="0"/>
                      </a:rPr>
                      <m:t> </m:t>
                    </m:r>
                  </m:oMath>
                </a14:m>
                <a:r>
                  <a:rPr lang="en-IN" b="1" dirty="0"/>
                  <a:t>= 4.8 </a:t>
                </a:r>
                <a:endParaRPr lang="en-US" b="1" dirty="0"/>
              </a:p>
            </p:txBody>
          </p:sp>
        </mc:Choice>
        <mc:Fallback xmlns="">
          <p:sp>
            <p:nvSpPr>
              <p:cNvPr id="11" name="TextBox 10">
                <a:extLst>
                  <a:ext uri="{FF2B5EF4-FFF2-40B4-BE49-F238E27FC236}">
                    <a16:creationId xmlns:a16="http://schemas.microsoft.com/office/drawing/2014/main" id="{338F651F-44D7-A7C4-8B31-103CDB3A3543}"/>
                  </a:ext>
                </a:extLst>
              </p:cNvPr>
              <p:cNvSpPr txBox="1">
                <a:spLocks noRot="1" noChangeAspect="1" noMove="1" noResize="1" noEditPoints="1" noAdjustHandles="1" noChangeArrowheads="1" noChangeShapeType="1" noTextEdit="1"/>
              </p:cNvSpPr>
              <p:nvPr/>
            </p:nvSpPr>
            <p:spPr>
              <a:xfrm>
                <a:off x="428978" y="2388521"/>
                <a:ext cx="6448945" cy="646331"/>
              </a:xfrm>
              <a:prstGeom prst="rect">
                <a:avLst/>
              </a:prstGeom>
              <a:blipFill>
                <a:blip r:embed="rId4"/>
                <a:stretch>
                  <a:fillRect t="-5769" b="-11538"/>
                </a:stretch>
              </a:blipFill>
            </p:spPr>
            <p:txBody>
              <a:bodyPr/>
              <a:lstStyle/>
              <a:p>
                <a:r>
                  <a:rPr lang="en-US">
                    <a:noFill/>
                  </a:rPr>
                  <a:t> </a:t>
                </a:r>
              </a:p>
            </p:txBody>
          </p:sp>
        </mc:Fallback>
      </mc:AlternateContent>
    </p:spTree>
    <p:extLst>
      <p:ext uri="{BB962C8B-B14F-4D97-AF65-F5344CB8AC3E}">
        <p14:creationId xmlns:p14="http://schemas.microsoft.com/office/powerpoint/2010/main" val="392962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p:bldP spid="9" grpId="0"/>
      <p:bldP spid="10" grpId="0"/>
      <p:bldP spid="1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CC7B218-945B-039D-AE58-4923A433EA07}"/>
                  </a:ext>
                </a:extLst>
              </p:cNvPr>
              <p:cNvSpPr>
                <a:spLocks noGrp="1"/>
              </p:cNvSpPr>
              <p:nvPr>
                <p:ph type="title"/>
              </p:nvPr>
            </p:nvSpPr>
            <p:spPr/>
            <p:txBody>
              <a:bodyPr/>
              <a:lstStyle/>
              <a:p>
                <a:r>
                  <a:rPr lang="en-US" dirty="0">
                    <a:solidFill>
                      <a:schemeClr val="tx1"/>
                    </a:solidFill>
                    <a:latin typeface="+mn-lt"/>
                  </a:rPr>
                  <a:t>Chi-Square Test(</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𝑿</m:t>
                        </m:r>
                      </m:e>
                      <m:sup>
                        <m:r>
                          <a:rPr lang="en-US" b="1" i="1" smtClean="0">
                            <a:solidFill>
                              <a:schemeClr val="tx1"/>
                            </a:solidFill>
                            <a:latin typeface="Cambria Math" panose="02040503050406030204" pitchFamily="18" charset="0"/>
                          </a:rPr>
                          <m:t>𝟐</m:t>
                        </m:r>
                      </m:sup>
                    </m:sSup>
                  </m:oMath>
                </a14:m>
                <a:r>
                  <a:rPr lang="en-US" dirty="0">
                    <a:solidFill>
                      <a:schemeClr val="tx1"/>
                    </a:solidFill>
                    <a:latin typeface="+mn-lt"/>
                  </a:rPr>
                  <a:t>) - Example</a:t>
                </a:r>
                <a:endParaRPr lang="en-US" dirty="0"/>
              </a:p>
            </p:txBody>
          </p:sp>
        </mc:Choice>
        <mc:Fallback xmlns="">
          <p:sp>
            <p:nvSpPr>
              <p:cNvPr id="2" name="Title 1">
                <a:extLst>
                  <a:ext uri="{FF2B5EF4-FFF2-40B4-BE49-F238E27FC236}">
                    <a16:creationId xmlns:a16="http://schemas.microsoft.com/office/drawing/2014/main" id="{ACC7B218-945B-039D-AE58-4923A433EA07}"/>
                  </a:ext>
                </a:extLst>
              </p:cNvPr>
              <p:cNvSpPr>
                <a:spLocks noGrp="1" noRot="1" noChangeAspect="1" noMove="1" noResize="1" noEditPoints="1" noAdjustHandles="1" noChangeArrowheads="1" noChangeShapeType="1" noTextEdit="1"/>
              </p:cNvSpPr>
              <p:nvPr>
                <p:ph type="title"/>
              </p:nvPr>
            </p:nvSpPr>
            <p:spPr>
              <a:blipFill>
                <a:blip r:embed="rId2"/>
                <a:stretch>
                  <a:fillRect l="-416" t="-8772" b="-192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B7A48A-F18C-7BD0-2CE5-F74FE0249D24}"/>
                  </a:ext>
                </a:extLst>
              </p:cNvPr>
              <p:cNvSpPr>
                <a:spLocks noGrp="1"/>
              </p:cNvSpPr>
              <p:nvPr>
                <p:ph idx="1"/>
              </p:nvPr>
            </p:nvSpPr>
            <p:spPr/>
            <p:txBody>
              <a:bodyPr/>
              <a:lstStyle/>
              <a:p>
                <a:r>
                  <a:rPr lang="en-US" b="1" dirty="0">
                    <a:solidFill>
                      <a:srgbClr val="C00000"/>
                    </a:solidFill>
                  </a:rPr>
                  <a:t>Step 5 : Compare the chi-square value with critical value to accept or reject the null hypothesis.</a:t>
                </a:r>
              </a:p>
              <a:p>
                <a:r>
                  <a:rPr lang="en-US" b="1" dirty="0"/>
                  <a:t>Calculate degree of freedom</a:t>
                </a:r>
              </a:p>
              <a:p>
                <a:pPr lvl="1"/>
                <a14:m>
                  <m:oMath xmlns:m="http://schemas.openxmlformats.org/officeDocument/2006/math">
                    <m:r>
                      <m:rPr>
                        <m:nor/>
                      </m:rPr>
                      <a:rPr lang="en-US" dirty="0" smtClean="0">
                        <a:latin typeface="Cambria Math" panose="02040503050406030204" pitchFamily="18" charset="0"/>
                      </a:rPr>
                      <m:t>D</m:t>
                    </m:r>
                    <m:r>
                      <m:rPr>
                        <m:nor/>
                      </m:rPr>
                      <a:rPr lang="en-US" dirty="0"/>
                      <m:t>egree</m:t>
                    </m:r>
                    <m:r>
                      <m:rPr>
                        <m:nor/>
                      </m:rPr>
                      <a:rPr lang="en-US" dirty="0"/>
                      <m:t> </m:t>
                    </m:r>
                    <m:r>
                      <m:rPr>
                        <m:nor/>
                      </m:rPr>
                      <a:rPr lang="en-US" dirty="0"/>
                      <m:t>of</m:t>
                    </m:r>
                    <m:r>
                      <m:rPr>
                        <m:nor/>
                      </m:rPr>
                      <a:rPr lang="en-US" dirty="0"/>
                      <m:t> </m:t>
                    </m:r>
                    <m:r>
                      <m:rPr>
                        <m:nor/>
                      </m:rPr>
                      <a:rPr lang="en-US" dirty="0"/>
                      <m:t>freedom</m:t>
                    </m:r>
                  </m:oMath>
                </a14:m>
                <a:r>
                  <a:rPr lang="en-US" dirty="0"/>
                  <a:t>(</a:t>
                </a:r>
                <a:r>
                  <a:rPr lang="en-US" dirty="0" err="1"/>
                  <a:t>df</a:t>
                </a:r>
                <a:r>
                  <a:rPr lang="en-US" dirty="0"/>
                  <a:t>) = (No. of rows -1) * (No. of Columns -1)</a:t>
                </a:r>
              </a:p>
              <a:p>
                <a:pPr lvl="1"/>
                <a14:m>
                  <m:oMath xmlns:m="http://schemas.openxmlformats.org/officeDocument/2006/math">
                    <m:r>
                      <m:rPr>
                        <m:nor/>
                      </m:rPr>
                      <a:rPr lang="en-US" dirty="0" smtClean="0">
                        <a:latin typeface="Cambria Math" panose="02040503050406030204" pitchFamily="18" charset="0"/>
                      </a:rPr>
                      <m:t>D</m:t>
                    </m:r>
                    <m:r>
                      <m:rPr>
                        <m:nor/>
                      </m:rPr>
                      <a:rPr lang="en-US" dirty="0" smtClean="0"/>
                      <m:t>egree</m:t>
                    </m:r>
                    <m:r>
                      <m:rPr>
                        <m:nor/>
                      </m:rPr>
                      <a:rPr lang="en-US" dirty="0" smtClean="0"/>
                      <m:t> </m:t>
                    </m:r>
                    <m:r>
                      <m:rPr>
                        <m:nor/>
                      </m:rPr>
                      <a:rPr lang="en-US" dirty="0" smtClean="0"/>
                      <m:t>of</m:t>
                    </m:r>
                    <m:r>
                      <m:rPr>
                        <m:nor/>
                      </m:rPr>
                      <a:rPr lang="en-US" dirty="0" smtClean="0"/>
                      <m:t> </m:t>
                    </m:r>
                    <m:r>
                      <m:rPr>
                        <m:nor/>
                      </m:rPr>
                      <a:rPr lang="en-US" dirty="0" smtClean="0"/>
                      <m:t>freedom</m:t>
                    </m:r>
                  </m:oMath>
                </a14:m>
                <a:r>
                  <a:rPr lang="en-US" dirty="0"/>
                  <a:t>(</a:t>
                </a:r>
                <a:r>
                  <a:rPr lang="en-US" dirty="0" err="1"/>
                  <a:t>df</a:t>
                </a:r>
                <a:r>
                  <a:rPr lang="en-US" dirty="0"/>
                  <a:t>) = (2-1) × (2-1) = 1</a:t>
                </a:r>
              </a:p>
              <a:p>
                <a:r>
                  <a:rPr lang="en-US" dirty="0"/>
                  <a:t>The critical value at </a:t>
                </a:r>
                <a:r>
                  <a:rPr lang="en-US" dirty="0" err="1">
                    <a:solidFill>
                      <a:srgbClr val="C00000"/>
                    </a:solidFill>
                  </a:rPr>
                  <a:t>df</a:t>
                </a:r>
                <a:r>
                  <a:rPr lang="en-US" dirty="0">
                    <a:solidFill>
                      <a:srgbClr val="C00000"/>
                    </a:solidFill>
                  </a:rPr>
                  <a:t>=1 </a:t>
                </a:r>
                <a:r>
                  <a:rPr lang="en-US" dirty="0"/>
                  <a:t>and </a:t>
                </a:r>
                <a:r>
                  <a:rPr lang="en-US" dirty="0">
                    <a:solidFill>
                      <a:srgbClr val="C00000"/>
                    </a:solidFill>
                  </a:rPr>
                  <a:t>0.05</a:t>
                </a:r>
                <a:r>
                  <a:rPr lang="en-US" dirty="0"/>
                  <a:t> significance level, </a:t>
                </a:r>
                <a:r>
                  <a:rPr lang="en-IN" b="0" i="0" u="none" strike="noStrike" dirty="0">
                    <a:solidFill>
                      <a:srgbClr val="000000"/>
                    </a:solidFill>
                    <a:effectLst/>
                  </a:rPr>
                  <a:t>the critical value from the </a:t>
                </a:r>
                <a:r>
                  <a:rPr lang="en-IN" b="1" i="0" u="none" strike="noStrike" dirty="0">
                    <a:solidFill>
                      <a:srgbClr val="000000"/>
                    </a:solidFill>
                    <a:effectLst/>
                  </a:rPr>
                  <a:t>Chi-Square table</a:t>
                </a:r>
                <a:r>
                  <a:rPr lang="en-IN" b="0" i="0" u="none" strike="noStrike" dirty="0">
                    <a:solidFill>
                      <a:srgbClr val="000000"/>
                    </a:solidFill>
                    <a:effectLst/>
                  </a:rPr>
                  <a:t> is </a:t>
                </a:r>
                <a:r>
                  <a:rPr lang="en-US" dirty="0"/>
                  <a:t>is 3.841.</a:t>
                </a:r>
              </a:p>
              <a:p>
                <a:r>
                  <a:rPr lang="en-US" dirty="0"/>
                  <a:t>Here </a:t>
                </a:r>
                <a14:m>
                  <m:oMath xmlns:m="http://schemas.openxmlformats.org/officeDocument/2006/math">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𝑋</m:t>
                        </m:r>
                      </m:e>
                      <m:sup>
                        <m:r>
                          <a:rPr lang="en-US" b="0" i="1" smtClean="0">
                            <a:solidFill>
                              <a:srgbClr val="C00000"/>
                            </a:solidFill>
                            <a:latin typeface="Cambria Math" panose="02040503050406030204" pitchFamily="18" charset="0"/>
                          </a:rPr>
                          <m:t>2</m:t>
                        </m:r>
                      </m:sup>
                    </m:sSup>
                    <m:r>
                      <a:rPr lang="en-US" b="0" i="1" smtClean="0">
                        <a:latin typeface="Cambria Math" panose="02040503050406030204" pitchFamily="18" charset="0"/>
                      </a:rPr>
                      <m:t> </m:t>
                    </m:r>
                  </m:oMath>
                </a14:m>
                <a:r>
                  <a:rPr lang="en-US" dirty="0"/>
                  <a:t>is greater then 3.841. so we will reject the </a:t>
                </a:r>
                <a:r>
                  <a:rPr lang="en-US" dirty="0">
                    <a:solidFill>
                      <a:srgbClr val="C00000"/>
                    </a:solidFill>
                  </a:rPr>
                  <a:t>null hypothesis</a:t>
                </a:r>
                <a:r>
                  <a:rPr lang="en-US" dirty="0"/>
                  <a:t>.</a:t>
                </a:r>
              </a:p>
              <a:p>
                <a:r>
                  <a:rPr lang="en-US" dirty="0"/>
                  <a:t>Conclusion: Education affects buying decisions.</a:t>
                </a:r>
              </a:p>
              <a:p>
                <a:pPr lvl="1"/>
                <a:endParaRPr lang="en-US" dirty="0"/>
              </a:p>
              <a:p>
                <a:pPr lvl="1"/>
                <a:endParaRPr lang="en-US" dirty="0"/>
              </a:p>
              <a:p>
                <a:pPr lvl="1"/>
                <a:endParaRPr lang="en-US" b="1" dirty="0"/>
              </a:p>
              <a:p>
                <a:endParaRPr lang="en-US" dirty="0"/>
              </a:p>
            </p:txBody>
          </p:sp>
        </mc:Choice>
        <mc:Fallback xmlns="">
          <p:sp>
            <p:nvSpPr>
              <p:cNvPr id="3" name="Content Placeholder 2">
                <a:extLst>
                  <a:ext uri="{FF2B5EF4-FFF2-40B4-BE49-F238E27FC236}">
                    <a16:creationId xmlns:a16="http://schemas.microsoft.com/office/drawing/2014/main" id="{D5B7A48A-F18C-7BD0-2CE5-F74FE0249D24}"/>
                  </a:ext>
                </a:extLst>
              </p:cNvPr>
              <p:cNvSpPr>
                <a:spLocks noGrp="1" noRot="1" noChangeAspect="1" noMove="1" noResize="1" noEditPoints="1" noAdjustHandles="1" noChangeArrowheads="1" noChangeShapeType="1" noTextEdit="1"/>
              </p:cNvSpPr>
              <p:nvPr>
                <p:ph idx="1"/>
              </p:nvPr>
            </p:nvSpPr>
            <p:spPr>
              <a:blipFill>
                <a:blip r:embed="rId3"/>
                <a:stretch>
                  <a:fillRect l="-532" t="-1818" r="-851"/>
                </a:stretch>
              </a:blipFill>
            </p:spPr>
            <p:txBody>
              <a:bodyPr/>
              <a:lstStyle/>
              <a:p>
                <a:r>
                  <a:rPr lang="en-US">
                    <a:noFill/>
                  </a:rPr>
                  <a:t> </a:t>
                </a:r>
              </a:p>
            </p:txBody>
          </p:sp>
        </mc:Fallback>
      </mc:AlternateContent>
    </p:spTree>
    <p:extLst>
      <p:ext uri="{BB962C8B-B14F-4D97-AF65-F5344CB8AC3E}">
        <p14:creationId xmlns:p14="http://schemas.microsoft.com/office/powerpoint/2010/main" val="29678131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84844-2D47-D580-249E-A1936ED353A3}"/>
              </a:ext>
            </a:extLst>
          </p:cNvPr>
          <p:cNvSpPr>
            <a:spLocks noGrp="1"/>
          </p:cNvSpPr>
          <p:nvPr>
            <p:ph type="title"/>
          </p:nvPr>
        </p:nvSpPr>
        <p:spPr/>
        <p:txBody>
          <a:bodyPr>
            <a:normAutofit/>
          </a:bodyPr>
          <a:lstStyle/>
          <a:p>
            <a:r>
              <a:rPr lang="en-US" sz="3600" dirty="0">
                <a:solidFill>
                  <a:schemeClr val="tx1"/>
                </a:solidFill>
              </a:rPr>
              <a:t>Wrapper Method</a:t>
            </a:r>
            <a:endParaRPr lang="en-US" dirty="0"/>
          </a:p>
        </p:txBody>
      </p:sp>
      <p:sp>
        <p:nvSpPr>
          <p:cNvPr id="3" name="Content Placeholder 2">
            <a:extLst>
              <a:ext uri="{FF2B5EF4-FFF2-40B4-BE49-F238E27FC236}">
                <a16:creationId xmlns:a16="http://schemas.microsoft.com/office/drawing/2014/main" id="{7D8B50B4-9E45-DD81-1EF6-88AB60E0A0ED}"/>
              </a:ext>
            </a:extLst>
          </p:cNvPr>
          <p:cNvSpPr>
            <a:spLocks noGrp="1"/>
          </p:cNvSpPr>
          <p:nvPr>
            <p:ph idx="1"/>
          </p:nvPr>
        </p:nvSpPr>
        <p:spPr/>
        <p:txBody>
          <a:bodyPr/>
          <a:lstStyle/>
          <a:p>
            <a:r>
              <a:rPr lang="en-US" dirty="0"/>
              <a:t>Wrapper methods </a:t>
            </a:r>
            <a:r>
              <a:rPr lang="en-US" dirty="0">
                <a:solidFill>
                  <a:srgbClr val="C00000"/>
                </a:solidFill>
              </a:rPr>
              <a:t>use machine learning models to evaluate feature subsets</a:t>
            </a:r>
            <a:r>
              <a:rPr lang="en-US" dirty="0"/>
              <a:t>. </a:t>
            </a:r>
          </a:p>
          <a:p>
            <a:r>
              <a:rPr lang="en-US" dirty="0"/>
              <a:t>They iteratively </a:t>
            </a:r>
            <a:r>
              <a:rPr lang="en-US" dirty="0">
                <a:solidFill>
                  <a:srgbClr val="C00000"/>
                </a:solidFill>
              </a:rPr>
              <a:t>train models with different feature combinations and select the subset that performs best.</a:t>
            </a:r>
          </a:p>
          <a:p>
            <a:r>
              <a:rPr lang="en-US" dirty="0">
                <a:solidFill>
                  <a:srgbClr val="C00000"/>
                </a:solidFill>
              </a:rPr>
              <a:t>Forward Selection and Backward Elimination are some of the example of wrapper method</a:t>
            </a:r>
            <a:r>
              <a:rPr lang="en-US" dirty="0"/>
              <a:t>.</a:t>
            </a:r>
          </a:p>
          <a:p>
            <a:r>
              <a:rPr lang="en-US" dirty="0"/>
              <a:t>Small datasets, accurate subset.</a:t>
            </a:r>
          </a:p>
          <a:p>
            <a:r>
              <a:rPr lang="en-US" dirty="0"/>
              <a:t>Computationally expensive</a:t>
            </a:r>
          </a:p>
          <a:p>
            <a:endParaRPr lang="en-US" dirty="0"/>
          </a:p>
        </p:txBody>
      </p:sp>
    </p:spTree>
    <p:extLst>
      <p:ext uri="{BB962C8B-B14F-4D97-AF65-F5344CB8AC3E}">
        <p14:creationId xmlns:p14="http://schemas.microsoft.com/office/powerpoint/2010/main" val="281653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6745-25DA-EA1F-7AD0-937A5DFD54AA}"/>
              </a:ext>
            </a:extLst>
          </p:cNvPr>
          <p:cNvSpPr>
            <a:spLocks noGrp="1"/>
          </p:cNvSpPr>
          <p:nvPr>
            <p:ph type="title"/>
          </p:nvPr>
        </p:nvSpPr>
        <p:spPr/>
        <p:txBody>
          <a:bodyPr/>
          <a:lstStyle/>
          <a:p>
            <a:r>
              <a:rPr lang="en-US" sz="3200" dirty="0">
                <a:solidFill>
                  <a:schemeClr val="tx1"/>
                </a:solidFill>
              </a:rPr>
              <a:t>Wrapper Methods </a:t>
            </a:r>
            <a:r>
              <a:rPr lang="en-US" sz="3200" dirty="0"/>
              <a:t>- Techniques</a:t>
            </a:r>
            <a:endParaRPr lang="en-US" dirty="0"/>
          </a:p>
        </p:txBody>
      </p:sp>
      <p:sp>
        <p:nvSpPr>
          <p:cNvPr id="4" name="TextBox 3">
            <a:extLst>
              <a:ext uri="{FF2B5EF4-FFF2-40B4-BE49-F238E27FC236}">
                <a16:creationId xmlns:a16="http://schemas.microsoft.com/office/drawing/2014/main" id="{EF261A26-7775-FACA-ED45-7E36386DEE32}"/>
              </a:ext>
            </a:extLst>
          </p:cNvPr>
          <p:cNvSpPr txBox="1"/>
          <p:nvPr/>
        </p:nvSpPr>
        <p:spPr>
          <a:xfrm>
            <a:off x="443307" y="1382041"/>
            <a:ext cx="4681848" cy="3139321"/>
          </a:xfrm>
          <a:prstGeom prst="rect">
            <a:avLst/>
          </a:prstGeom>
          <a:solidFill>
            <a:schemeClr val="bg2">
              <a:lumMod val="95000"/>
            </a:schemeClr>
          </a:solidFill>
          <a:ln w="12700">
            <a:solidFill>
              <a:schemeClr val="tx1"/>
            </a:solidFill>
          </a:ln>
        </p:spPr>
        <p:txBody>
          <a:bodyPr wrap="square">
            <a:spAutoFit/>
          </a:bodyPr>
          <a:lstStyle/>
          <a:p>
            <a:r>
              <a:rPr lang="en-IN" b="1" dirty="0">
                <a:latin typeface="Consolas" panose="020B0609020204030204" pitchFamily="49" charset="0"/>
                <a:cs typeface="Consolas" panose="020B0609020204030204" pitchFamily="49" charset="0"/>
              </a:rPr>
              <a:t>Start with no features → </a:t>
            </a:r>
            <a:r>
              <a:rPr lang="en-IN" b="1" dirty="0">
                <a:solidFill>
                  <a:srgbClr val="00B050"/>
                </a:solidFill>
                <a:latin typeface="Consolas" panose="020B0609020204030204" pitchFamily="49" charset="0"/>
                <a:cs typeface="Consolas" panose="020B0609020204030204" pitchFamily="49" charset="0"/>
              </a:rPr>
              <a:t>Add one </a:t>
            </a:r>
            <a:r>
              <a:rPr lang="en-IN" b="1" dirty="0">
                <a:latin typeface="Consolas" panose="020B0609020204030204" pitchFamily="49" charset="0"/>
                <a:cs typeface="Consolas" panose="020B0609020204030204" pitchFamily="49" charset="0"/>
              </a:rPr>
              <a:t>feature at a time.</a:t>
            </a:r>
          </a:p>
          <a:p>
            <a:endParaRPr lang="en-IN" b="1" dirty="0">
              <a:latin typeface="Consolas" panose="020B0609020204030204" pitchFamily="49" charset="0"/>
              <a:cs typeface="Consolas" panose="020B0609020204030204" pitchFamily="49" charset="0"/>
            </a:endParaRPr>
          </a:p>
          <a:p>
            <a:r>
              <a:rPr lang="en-IN" b="1" dirty="0">
                <a:latin typeface="Consolas" panose="020B0609020204030204" pitchFamily="49" charset="0"/>
                <a:cs typeface="Consolas" panose="020B0609020204030204" pitchFamily="49" charset="0"/>
              </a:rPr>
              <a:t>At each step, train and evaluate the machine learning model using the </a:t>
            </a:r>
            <a:r>
              <a:rPr lang="en-IN" b="1" dirty="0">
                <a:solidFill>
                  <a:srgbClr val="00B050"/>
                </a:solidFill>
                <a:latin typeface="Consolas" panose="020B0609020204030204" pitchFamily="49" charset="0"/>
                <a:cs typeface="Consolas" panose="020B0609020204030204" pitchFamily="49" charset="0"/>
              </a:rPr>
              <a:t>selected features</a:t>
            </a:r>
            <a:r>
              <a:rPr lang="en-IN" b="1" dirty="0">
                <a:latin typeface="Consolas" panose="020B0609020204030204" pitchFamily="49" charset="0"/>
                <a:cs typeface="Consolas" panose="020B0609020204030204" pitchFamily="49" charset="0"/>
              </a:rPr>
              <a:t>.</a:t>
            </a:r>
          </a:p>
          <a:p>
            <a:endParaRPr lang="en-IN" b="1" dirty="0">
              <a:latin typeface="Consolas" panose="020B0609020204030204" pitchFamily="49" charset="0"/>
              <a:cs typeface="Consolas" panose="020B0609020204030204" pitchFamily="49" charset="0"/>
            </a:endParaRPr>
          </a:p>
          <a:p>
            <a:r>
              <a:rPr lang="en-IN" b="1" dirty="0">
                <a:latin typeface="Consolas" panose="020B0609020204030204" pitchFamily="49" charset="0"/>
                <a:cs typeface="Consolas" panose="020B0609020204030204" pitchFamily="49" charset="0"/>
              </a:rPr>
              <a:t>Continue until a predefined stopping </a:t>
            </a:r>
            <a:r>
              <a:rPr lang="en-IN" b="1" dirty="0">
                <a:solidFill>
                  <a:srgbClr val="C00000"/>
                </a:solidFill>
                <a:latin typeface="Consolas" panose="020B0609020204030204" pitchFamily="49" charset="0"/>
                <a:cs typeface="Consolas" panose="020B0609020204030204" pitchFamily="49" charset="0"/>
              </a:rPr>
              <a:t>criterion is met</a:t>
            </a:r>
            <a:r>
              <a:rPr lang="en-IN" b="1" dirty="0">
                <a:latin typeface="Consolas" panose="020B0609020204030204" pitchFamily="49" charset="0"/>
                <a:cs typeface="Consolas" panose="020B0609020204030204" pitchFamily="49" charset="0"/>
              </a:rPr>
              <a:t>, such as a </a:t>
            </a:r>
            <a:r>
              <a:rPr lang="en-IN" b="1" dirty="0">
                <a:solidFill>
                  <a:srgbClr val="00B050"/>
                </a:solidFill>
                <a:latin typeface="Consolas" panose="020B0609020204030204" pitchFamily="49" charset="0"/>
                <a:cs typeface="Consolas" panose="020B0609020204030204" pitchFamily="49" charset="0"/>
              </a:rPr>
              <a:t>maximum number of features</a:t>
            </a:r>
            <a:r>
              <a:rPr lang="en-IN" b="1" dirty="0">
                <a:latin typeface="Consolas" panose="020B0609020204030204" pitchFamily="49" charset="0"/>
                <a:cs typeface="Consolas" panose="020B0609020204030204" pitchFamily="49" charset="0"/>
              </a:rPr>
              <a:t> or a significant </a:t>
            </a:r>
            <a:r>
              <a:rPr lang="en-IN" b="1" dirty="0">
                <a:solidFill>
                  <a:srgbClr val="00B050"/>
                </a:solidFill>
                <a:latin typeface="Consolas" panose="020B0609020204030204" pitchFamily="49" charset="0"/>
                <a:cs typeface="Consolas" panose="020B0609020204030204" pitchFamily="49" charset="0"/>
              </a:rPr>
              <a:t>drop in performance</a:t>
            </a:r>
            <a:r>
              <a:rPr lang="en-IN"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FD0CFEDF-9386-C464-646E-360B89D3CF1F}"/>
              </a:ext>
            </a:extLst>
          </p:cNvPr>
          <p:cNvSpPr txBox="1"/>
          <p:nvPr/>
        </p:nvSpPr>
        <p:spPr>
          <a:xfrm>
            <a:off x="5912775" y="1382042"/>
            <a:ext cx="4681848" cy="3139321"/>
          </a:xfrm>
          <a:prstGeom prst="rect">
            <a:avLst/>
          </a:prstGeom>
          <a:solidFill>
            <a:schemeClr val="bg2">
              <a:lumMod val="95000"/>
            </a:schemeClr>
          </a:solidFill>
          <a:ln w="12700">
            <a:solidFill>
              <a:schemeClr val="tx1"/>
            </a:solidFill>
          </a:ln>
        </p:spPr>
        <p:txBody>
          <a:bodyPr wrap="square">
            <a:spAutoFit/>
          </a:bodyPr>
          <a:lstStyle/>
          <a:p>
            <a:r>
              <a:rPr lang="en-IN" b="1" dirty="0">
                <a:latin typeface="Consolas" panose="020B0609020204030204" pitchFamily="49" charset="0"/>
                <a:cs typeface="Consolas" panose="020B0609020204030204" pitchFamily="49" charset="0"/>
              </a:rPr>
              <a:t>Start with all features → </a:t>
            </a:r>
            <a:r>
              <a:rPr lang="en-IN" b="1" dirty="0">
                <a:solidFill>
                  <a:srgbClr val="00B050"/>
                </a:solidFill>
                <a:latin typeface="Consolas" panose="020B0609020204030204" pitchFamily="49" charset="0"/>
                <a:cs typeface="Consolas" panose="020B0609020204030204" pitchFamily="49" charset="0"/>
              </a:rPr>
              <a:t>Remove one</a:t>
            </a:r>
            <a:r>
              <a:rPr lang="en-IN" b="1" dirty="0">
                <a:latin typeface="Consolas" panose="020B0609020204030204" pitchFamily="49" charset="0"/>
                <a:cs typeface="Consolas" panose="020B0609020204030204" pitchFamily="49" charset="0"/>
              </a:rPr>
              <a:t> feature at a time.</a:t>
            </a:r>
          </a:p>
          <a:p>
            <a:endParaRPr lang="en-IN" b="1" dirty="0">
              <a:latin typeface="Consolas" panose="020B0609020204030204" pitchFamily="49" charset="0"/>
              <a:cs typeface="Consolas" panose="020B0609020204030204" pitchFamily="49" charset="0"/>
            </a:endParaRPr>
          </a:p>
          <a:p>
            <a:r>
              <a:rPr lang="en-IN" b="1" dirty="0">
                <a:latin typeface="Consolas" panose="020B0609020204030204" pitchFamily="49" charset="0"/>
                <a:cs typeface="Consolas" panose="020B0609020204030204" pitchFamily="49" charset="0"/>
              </a:rPr>
              <a:t>In each iteration, </a:t>
            </a:r>
            <a:r>
              <a:rPr lang="en-IN" b="1" dirty="0">
                <a:solidFill>
                  <a:srgbClr val="C00000"/>
                </a:solidFill>
                <a:latin typeface="Consolas" panose="020B0609020204030204" pitchFamily="49" charset="0"/>
                <a:cs typeface="Consolas" panose="020B0609020204030204" pitchFamily="49" charset="0"/>
              </a:rPr>
              <a:t>remove</a:t>
            </a:r>
            <a:r>
              <a:rPr lang="en-IN" b="1" dirty="0">
                <a:latin typeface="Consolas" panose="020B0609020204030204" pitchFamily="49" charset="0"/>
                <a:cs typeface="Consolas" panose="020B0609020204030204" pitchFamily="49" charset="0"/>
              </a:rPr>
              <a:t> the least important feature and evaluate the model.</a:t>
            </a:r>
          </a:p>
          <a:p>
            <a:endParaRPr lang="en-IN" b="1" dirty="0">
              <a:latin typeface="Consolas" panose="020B0609020204030204" pitchFamily="49" charset="0"/>
              <a:cs typeface="Consolas" panose="020B0609020204030204" pitchFamily="49" charset="0"/>
            </a:endParaRPr>
          </a:p>
          <a:p>
            <a:r>
              <a:rPr lang="en-IN" b="1" dirty="0">
                <a:latin typeface="Consolas" panose="020B0609020204030204" pitchFamily="49" charset="0"/>
                <a:cs typeface="Consolas" panose="020B0609020204030204" pitchFamily="49" charset="0"/>
              </a:rPr>
              <a:t>Continue until a predefined stopping </a:t>
            </a:r>
            <a:r>
              <a:rPr lang="en-IN" b="1" dirty="0">
                <a:solidFill>
                  <a:srgbClr val="C00000"/>
                </a:solidFill>
                <a:latin typeface="Consolas" panose="020B0609020204030204" pitchFamily="49" charset="0"/>
                <a:cs typeface="Consolas" panose="020B0609020204030204" pitchFamily="49" charset="0"/>
              </a:rPr>
              <a:t>criterion is met</a:t>
            </a:r>
            <a:r>
              <a:rPr lang="en-IN" b="1" dirty="0">
                <a:latin typeface="Consolas" panose="020B0609020204030204" pitchFamily="49" charset="0"/>
                <a:cs typeface="Consolas" panose="020B0609020204030204" pitchFamily="49" charset="0"/>
              </a:rPr>
              <a:t>, such as a </a:t>
            </a:r>
            <a:r>
              <a:rPr lang="en-IN" b="1" dirty="0">
                <a:solidFill>
                  <a:srgbClr val="00B050"/>
                </a:solidFill>
                <a:latin typeface="Consolas" panose="020B0609020204030204" pitchFamily="49" charset="0"/>
                <a:cs typeface="Consolas" panose="020B0609020204030204" pitchFamily="49" charset="0"/>
              </a:rPr>
              <a:t>maximum number of features</a:t>
            </a:r>
            <a:r>
              <a:rPr lang="en-IN" b="1" dirty="0">
                <a:latin typeface="Consolas" panose="020B0609020204030204" pitchFamily="49" charset="0"/>
                <a:cs typeface="Consolas" panose="020B0609020204030204" pitchFamily="49" charset="0"/>
              </a:rPr>
              <a:t> or a significant </a:t>
            </a:r>
            <a:r>
              <a:rPr lang="en-IN" b="1" dirty="0">
                <a:solidFill>
                  <a:srgbClr val="00B050"/>
                </a:solidFill>
                <a:latin typeface="Consolas" panose="020B0609020204030204" pitchFamily="49" charset="0"/>
                <a:cs typeface="Consolas" panose="020B0609020204030204" pitchFamily="49" charset="0"/>
              </a:rPr>
              <a:t>drop in performance</a:t>
            </a:r>
            <a:r>
              <a:rPr lang="en-IN"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285451BB-41BA-644B-E7E3-432584381B8E}"/>
              </a:ext>
            </a:extLst>
          </p:cNvPr>
          <p:cNvSpPr txBox="1"/>
          <p:nvPr/>
        </p:nvSpPr>
        <p:spPr>
          <a:xfrm>
            <a:off x="443307" y="1012710"/>
            <a:ext cx="1851789" cy="369332"/>
          </a:xfrm>
          <a:prstGeom prst="rect">
            <a:avLst/>
          </a:prstGeom>
          <a:noFill/>
        </p:spPr>
        <p:txBody>
          <a:bodyPr wrap="none" rtlCol="0">
            <a:spAutoFit/>
          </a:bodyPr>
          <a:lstStyle/>
          <a:p>
            <a:r>
              <a:rPr lang="en-IN" b="1" i="0" u="none" strike="noStrike" dirty="0">
                <a:solidFill>
                  <a:srgbClr val="C00000"/>
                </a:solidFill>
                <a:effectLst/>
                <a:cs typeface="Consolas" panose="020B0609020204030204" pitchFamily="49" charset="0"/>
              </a:rPr>
              <a:t>Forward Selection</a:t>
            </a:r>
          </a:p>
        </p:txBody>
      </p:sp>
      <p:sp>
        <p:nvSpPr>
          <p:cNvPr id="9" name="TextBox 8">
            <a:extLst>
              <a:ext uri="{FF2B5EF4-FFF2-40B4-BE49-F238E27FC236}">
                <a16:creationId xmlns:a16="http://schemas.microsoft.com/office/drawing/2014/main" id="{F1070FAE-5FA3-EAB9-4299-00B632C4B986}"/>
              </a:ext>
            </a:extLst>
          </p:cNvPr>
          <p:cNvSpPr txBox="1"/>
          <p:nvPr/>
        </p:nvSpPr>
        <p:spPr>
          <a:xfrm>
            <a:off x="5912775" y="1012710"/>
            <a:ext cx="2259529" cy="369332"/>
          </a:xfrm>
          <a:prstGeom prst="rect">
            <a:avLst/>
          </a:prstGeom>
          <a:noFill/>
        </p:spPr>
        <p:txBody>
          <a:bodyPr wrap="none" rtlCol="0">
            <a:spAutoFit/>
          </a:bodyPr>
          <a:lstStyle/>
          <a:p>
            <a:r>
              <a:rPr lang="en-IN" b="1" i="0" u="none" strike="noStrike" dirty="0">
                <a:solidFill>
                  <a:srgbClr val="C00000"/>
                </a:solidFill>
                <a:effectLst/>
              </a:rPr>
              <a:t>Backward Elimination</a:t>
            </a:r>
          </a:p>
        </p:txBody>
      </p:sp>
    </p:spTree>
    <p:extLst>
      <p:ext uri="{BB962C8B-B14F-4D97-AF65-F5344CB8AC3E}">
        <p14:creationId xmlns:p14="http://schemas.microsoft.com/office/powerpoint/2010/main" val="129150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p:bldP spid="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0DDB-1FBD-0D06-53DC-91A1E8D545ED}"/>
              </a:ext>
            </a:extLst>
          </p:cNvPr>
          <p:cNvSpPr>
            <a:spLocks noGrp="1"/>
          </p:cNvSpPr>
          <p:nvPr>
            <p:ph type="title"/>
          </p:nvPr>
        </p:nvSpPr>
        <p:spPr/>
        <p:txBody>
          <a:bodyPr/>
          <a:lstStyle/>
          <a:p>
            <a:r>
              <a:rPr lang="en-US" sz="3600" dirty="0">
                <a:solidFill>
                  <a:schemeClr val="tx1"/>
                </a:solidFill>
              </a:rPr>
              <a:t>Wrapper Methods </a:t>
            </a:r>
            <a:r>
              <a:rPr lang="en-US" dirty="0"/>
              <a:t>- Techniques</a:t>
            </a:r>
          </a:p>
        </p:txBody>
      </p:sp>
      <p:sp>
        <p:nvSpPr>
          <p:cNvPr id="6" name="TextBox 5">
            <a:extLst>
              <a:ext uri="{FF2B5EF4-FFF2-40B4-BE49-F238E27FC236}">
                <a16:creationId xmlns:a16="http://schemas.microsoft.com/office/drawing/2014/main" id="{BC5942EE-CD13-1798-0D27-4005AA7AA049}"/>
              </a:ext>
            </a:extLst>
          </p:cNvPr>
          <p:cNvSpPr txBox="1"/>
          <p:nvPr/>
        </p:nvSpPr>
        <p:spPr>
          <a:xfrm>
            <a:off x="432019" y="1400620"/>
            <a:ext cx="4681848" cy="3139321"/>
          </a:xfrm>
          <a:prstGeom prst="rect">
            <a:avLst/>
          </a:prstGeom>
          <a:solidFill>
            <a:schemeClr val="bg2">
              <a:lumMod val="95000"/>
            </a:schemeClr>
          </a:solidFill>
          <a:ln w="12700">
            <a:solidFill>
              <a:schemeClr val="tx1"/>
            </a:solidFill>
          </a:ln>
        </p:spPr>
        <p:txBody>
          <a:bodyPr wrap="square">
            <a:spAutoFit/>
          </a:bodyPr>
          <a:lstStyle/>
          <a:p>
            <a:r>
              <a:rPr lang="en-IN" b="1" dirty="0">
                <a:latin typeface="Consolas" panose="020B0609020204030204" pitchFamily="49" charset="0"/>
                <a:cs typeface="Consolas" panose="020B0609020204030204" pitchFamily="49" charset="0"/>
              </a:rPr>
              <a:t>Start with </a:t>
            </a:r>
            <a:r>
              <a:rPr lang="en-IN" b="1" dirty="0">
                <a:solidFill>
                  <a:srgbClr val="C00000"/>
                </a:solidFill>
                <a:latin typeface="Consolas" panose="020B0609020204030204" pitchFamily="49" charset="0"/>
                <a:cs typeface="Consolas" panose="020B0609020204030204" pitchFamily="49" charset="0"/>
              </a:rPr>
              <a:t>all features </a:t>
            </a:r>
            <a:r>
              <a:rPr lang="en-IN" b="1" dirty="0">
                <a:latin typeface="Consolas" panose="020B0609020204030204" pitchFamily="49" charset="0"/>
                <a:cs typeface="Consolas" panose="020B0609020204030204" pitchFamily="49" charset="0"/>
              </a:rPr>
              <a:t>and rank them based on </a:t>
            </a:r>
            <a:r>
              <a:rPr lang="en-IN" b="1" dirty="0">
                <a:solidFill>
                  <a:srgbClr val="C00000"/>
                </a:solidFill>
                <a:latin typeface="Consolas" panose="020B0609020204030204" pitchFamily="49" charset="0"/>
                <a:cs typeface="Consolas" panose="020B0609020204030204" pitchFamily="49" charset="0"/>
              </a:rPr>
              <a:t>their importance or contribution</a:t>
            </a:r>
            <a:r>
              <a:rPr lang="en-IN" b="1" dirty="0">
                <a:latin typeface="Consolas" panose="020B0609020204030204" pitchFamily="49" charset="0"/>
                <a:cs typeface="Consolas" panose="020B0609020204030204" pitchFamily="49" charset="0"/>
              </a:rPr>
              <a:t> to the model.</a:t>
            </a:r>
          </a:p>
          <a:p>
            <a:endParaRPr lang="en-IN" b="1" dirty="0">
              <a:latin typeface="Consolas" panose="020B0609020204030204" pitchFamily="49" charset="0"/>
              <a:cs typeface="Consolas" panose="020B0609020204030204" pitchFamily="49" charset="0"/>
            </a:endParaRPr>
          </a:p>
          <a:p>
            <a:r>
              <a:rPr lang="en-IN" b="1" dirty="0">
                <a:latin typeface="Consolas" panose="020B0609020204030204" pitchFamily="49" charset="0"/>
                <a:cs typeface="Consolas" panose="020B0609020204030204" pitchFamily="49" charset="0"/>
              </a:rPr>
              <a:t>In each iteration, </a:t>
            </a:r>
            <a:r>
              <a:rPr lang="en-IN" b="1" dirty="0">
                <a:solidFill>
                  <a:srgbClr val="00B050"/>
                </a:solidFill>
                <a:latin typeface="Consolas" panose="020B0609020204030204" pitchFamily="49" charset="0"/>
                <a:cs typeface="Consolas" panose="020B0609020204030204" pitchFamily="49" charset="0"/>
              </a:rPr>
              <a:t>remove the least important feature(s)</a:t>
            </a:r>
            <a:r>
              <a:rPr lang="en-IN" b="1" dirty="0">
                <a:latin typeface="Consolas" panose="020B0609020204030204" pitchFamily="49" charset="0"/>
                <a:cs typeface="Consolas" panose="020B0609020204030204" pitchFamily="49" charset="0"/>
              </a:rPr>
              <a:t>.</a:t>
            </a:r>
          </a:p>
          <a:p>
            <a:endParaRPr lang="en-IN" b="1" dirty="0">
              <a:latin typeface="Consolas" panose="020B0609020204030204" pitchFamily="49" charset="0"/>
              <a:cs typeface="Consolas" panose="020B0609020204030204" pitchFamily="49" charset="0"/>
            </a:endParaRPr>
          </a:p>
          <a:p>
            <a:r>
              <a:rPr lang="en-IN" b="1" dirty="0">
                <a:latin typeface="Consolas" panose="020B0609020204030204" pitchFamily="49" charset="0"/>
                <a:cs typeface="Consolas" panose="020B0609020204030204" pitchFamily="49" charset="0"/>
              </a:rPr>
              <a:t>Continue until a predefined stopping </a:t>
            </a:r>
            <a:r>
              <a:rPr lang="en-IN" b="1" dirty="0">
                <a:solidFill>
                  <a:srgbClr val="C00000"/>
                </a:solidFill>
                <a:latin typeface="Consolas" panose="020B0609020204030204" pitchFamily="49" charset="0"/>
                <a:cs typeface="Consolas" panose="020B0609020204030204" pitchFamily="49" charset="0"/>
              </a:rPr>
              <a:t>criterion is met</a:t>
            </a:r>
            <a:r>
              <a:rPr lang="en-IN" b="1" dirty="0">
                <a:latin typeface="Consolas" panose="020B0609020204030204" pitchFamily="49" charset="0"/>
                <a:cs typeface="Consolas" panose="020B0609020204030204" pitchFamily="49" charset="0"/>
              </a:rPr>
              <a:t>, such as a </a:t>
            </a:r>
            <a:r>
              <a:rPr lang="en-IN" b="1" dirty="0">
                <a:solidFill>
                  <a:srgbClr val="00B050"/>
                </a:solidFill>
                <a:latin typeface="Consolas" panose="020B0609020204030204" pitchFamily="49" charset="0"/>
                <a:cs typeface="Consolas" panose="020B0609020204030204" pitchFamily="49" charset="0"/>
              </a:rPr>
              <a:t>maximum number of features</a:t>
            </a:r>
            <a:r>
              <a:rPr lang="en-IN" b="1" dirty="0">
                <a:latin typeface="Consolas" panose="020B0609020204030204" pitchFamily="49" charset="0"/>
                <a:cs typeface="Consolas" panose="020B0609020204030204" pitchFamily="49" charset="0"/>
              </a:rPr>
              <a:t> or a significant </a:t>
            </a:r>
            <a:r>
              <a:rPr lang="en-IN" b="1" dirty="0">
                <a:solidFill>
                  <a:srgbClr val="00B050"/>
                </a:solidFill>
                <a:latin typeface="Consolas" panose="020B0609020204030204" pitchFamily="49" charset="0"/>
                <a:cs typeface="Consolas" panose="020B0609020204030204" pitchFamily="49" charset="0"/>
              </a:rPr>
              <a:t>drop in performance</a:t>
            </a:r>
            <a:r>
              <a:rPr lang="en-IN"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B4034B21-CFFD-91B9-FACD-020A151A9999}"/>
              </a:ext>
            </a:extLst>
          </p:cNvPr>
          <p:cNvSpPr txBox="1"/>
          <p:nvPr/>
        </p:nvSpPr>
        <p:spPr>
          <a:xfrm>
            <a:off x="432019" y="1031289"/>
            <a:ext cx="3459601" cy="369332"/>
          </a:xfrm>
          <a:prstGeom prst="rect">
            <a:avLst/>
          </a:prstGeom>
          <a:noFill/>
        </p:spPr>
        <p:txBody>
          <a:bodyPr wrap="none" rtlCol="0">
            <a:spAutoFit/>
          </a:bodyPr>
          <a:lstStyle/>
          <a:p>
            <a:r>
              <a:rPr lang="en-IN" b="1" dirty="0">
                <a:solidFill>
                  <a:srgbClr val="C00000"/>
                </a:solidFill>
                <a:cs typeface="Consolas" panose="020B0609020204030204" pitchFamily="49" charset="0"/>
              </a:rPr>
              <a:t>Recursive feature elimination (RFE)</a:t>
            </a:r>
            <a:endParaRPr lang="en-IN" b="1" i="0" u="none" strike="noStrike" dirty="0">
              <a:solidFill>
                <a:srgbClr val="C00000"/>
              </a:solidFill>
              <a:effectLst/>
              <a:cs typeface="Consolas" panose="020B0609020204030204" pitchFamily="49" charset="0"/>
            </a:endParaRPr>
          </a:p>
        </p:txBody>
      </p:sp>
    </p:spTree>
    <p:extLst>
      <p:ext uri="{BB962C8B-B14F-4D97-AF65-F5344CB8AC3E}">
        <p14:creationId xmlns:p14="http://schemas.microsoft.com/office/powerpoint/2010/main" val="242306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27C0-80CE-9043-19F4-6D76FF6C40C7}"/>
              </a:ext>
            </a:extLst>
          </p:cNvPr>
          <p:cNvSpPr>
            <a:spLocks noGrp="1"/>
          </p:cNvSpPr>
          <p:nvPr>
            <p:ph type="title"/>
          </p:nvPr>
        </p:nvSpPr>
        <p:spPr/>
        <p:txBody>
          <a:bodyPr/>
          <a:lstStyle/>
          <a:p>
            <a:r>
              <a:rPr lang="en-US" dirty="0"/>
              <a:t>Embedded Methods</a:t>
            </a:r>
          </a:p>
        </p:txBody>
      </p:sp>
      <p:sp>
        <p:nvSpPr>
          <p:cNvPr id="3" name="Content Placeholder 2">
            <a:extLst>
              <a:ext uri="{FF2B5EF4-FFF2-40B4-BE49-F238E27FC236}">
                <a16:creationId xmlns:a16="http://schemas.microsoft.com/office/drawing/2014/main" id="{5DB45EAE-7CFE-0B33-4B70-ACF4F9627516}"/>
              </a:ext>
            </a:extLst>
          </p:cNvPr>
          <p:cNvSpPr>
            <a:spLocks noGrp="1"/>
          </p:cNvSpPr>
          <p:nvPr>
            <p:ph idx="1"/>
          </p:nvPr>
        </p:nvSpPr>
        <p:spPr/>
        <p:txBody>
          <a:bodyPr/>
          <a:lstStyle/>
          <a:p>
            <a:r>
              <a:rPr lang="en-US" dirty="0"/>
              <a:t>Embedded methods </a:t>
            </a:r>
            <a:r>
              <a:rPr lang="en-US" dirty="0">
                <a:solidFill>
                  <a:srgbClr val="C00000"/>
                </a:solidFill>
              </a:rPr>
              <a:t>perform feature selection as part of the model training </a:t>
            </a:r>
            <a:r>
              <a:rPr lang="en-US" dirty="0"/>
              <a:t>process.</a:t>
            </a:r>
          </a:p>
          <a:p>
            <a:r>
              <a:rPr lang="en-US" dirty="0"/>
              <a:t>They combine the advantages of </a:t>
            </a:r>
            <a:r>
              <a:rPr lang="en-US" dirty="0">
                <a:solidFill>
                  <a:srgbClr val="C00000"/>
                </a:solidFill>
              </a:rPr>
              <a:t>filter and wrapper methods by considering feature importance during model training.</a:t>
            </a:r>
          </a:p>
          <a:p>
            <a:r>
              <a:rPr lang="en-US" dirty="0"/>
              <a:t>Uses model coefficients or </a:t>
            </a:r>
            <a:r>
              <a:rPr lang="en-US" dirty="0">
                <a:solidFill>
                  <a:srgbClr val="C00000"/>
                </a:solidFill>
              </a:rPr>
              <a:t>importance scores to select features</a:t>
            </a:r>
            <a:r>
              <a:rPr lang="en-US" dirty="0"/>
              <a:t>. </a:t>
            </a:r>
          </a:p>
          <a:p>
            <a:r>
              <a:rPr lang="en-US" dirty="0"/>
              <a:t>These methods are often </a:t>
            </a:r>
            <a:r>
              <a:rPr lang="en-US" dirty="0">
                <a:solidFill>
                  <a:srgbClr val="C00000"/>
                </a:solidFill>
              </a:rPr>
              <a:t>based on regularization techniques</a:t>
            </a:r>
            <a:r>
              <a:rPr lang="en-US" dirty="0"/>
              <a:t>.</a:t>
            </a:r>
          </a:p>
          <a:p>
            <a:r>
              <a:rPr lang="en-US" dirty="0"/>
              <a:t>Lasso (L1 regularization):</a:t>
            </a:r>
          </a:p>
          <a:p>
            <a:pPr lvl="1"/>
            <a:r>
              <a:rPr lang="en-US" dirty="0"/>
              <a:t>Adds a penalty term to the loss function, </a:t>
            </a:r>
            <a:r>
              <a:rPr lang="en-US" dirty="0">
                <a:solidFill>
                  <a:srgbClr val="C00000"/>
                </a:solidFill>
              </a:rPr>
              <a:t>forcing some feature coefficients to zero</a:t>
            </a:r>
            <a:r>
              <a:rPr lang="en-US" dirty="0"/>
              <a:t>.</a:t>
            </a:r>
          </a:p>
          <a:p>
            <a:r>
              <a:rPr lang="en-US" dirty="0"/>
              <a:t>Ridge (L2 regularization): </a:t>
            </a:r>
          </a:p>
          <a:p>
            <a:pPr lvl="1"/>
            <a:r>
              <a:rPr lang="en-US" dirty="0"/>
              <a:t>Shrinks feature coefficients </a:t>
            </a:r>
            <a:r>
              <a:rPr lang="en-US" dirty="0">
                <a:solidFill>
                  <a:srgbClr val="C00000"/>
                </a:solidFill>
              </a:rPr>
              <a:t>but does not eliminate them.</a:t>
            </a:r>
          </a:p>
          <a:p>
            <a:pPr lvl="1"/>
            <a:endParaRPr lang="en-US" dirty="0"/>
          </a:p>
        </p:txBody>
      </p:sp>
    </p:spTree>
    <p:extLst>
      <p:ext uri="{BB962C8B-B14F-4D97-AF65-F5344CB8AC3E}">
        <p14:creationId xmlns:p14="http://schemas.microsoft.com/office/powerpoint/2010/main" val="262445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F0743-7097-D3D2-1A3F-DFA978AA956E}"/>
              </a:ext>
            </a:extLst>
          </p:cNvPr>
          <p:cNvSpPr>
            <a:spLocks noGrp="1"/>
          </p:cNvSpPr>
          <p:nvPr>
            <p:ph type="title"/>
          </p:nvPr>
        </p:nvSpPr>
        <p:spPr/>
        <p:txBody>
          <a:bodyPr/>
          <a:lstStyle/>
          <a:p>
            <a:r>
              <a:rPr lang="en-US" dirty="0"/>
              <a:t>Filter vs Wrapper vs Embedded</a:t>
            </a:r>
          </a:p>
        </p:txBody>
      </p:sp>
      <p:graphicFrame>
        <p:nvGraphicFramePr>
          <p:cNvPr id="4" name="Table 3">
            <a:extLst>
              <a:ext uri="{FF2B5EF4-FFF2-40B4-BE49-F238E27FC236}">
                <a16:creationId xmlns:a16="http://schemas.microsoft.com/office/drawing/2014/main" id="{3572B7A1-4D69-B5D0-82EF-5CF4F099C1F2}"/>
              </a:ext>
            </a:extLst>
          </p:cNvPr>
          <p:cNvGraphicFramePr>
            <a:graphicFrameLocks noGrp="1"/>
          </p:cNvGraphicFramePr>
          <p:nvPr>
            <p:extLst>
              <p:ext uri="{D42A27DB-BD31-4B8C-83A1-F6EECF244321}">
                <p14:modId xmlns:p14="http://schemas.microsoft.com/office/powerpoint/2010/main" val="3167108462"/>
              </p:ext>
            </p:extLst>
          </p:nvPr>
        </p:nvGraphicFramePr>
        <p:xfrm>
          <a:off x="349956" y="936979"/>
          <a:ext cx="10555111" cy="2810604"/>
        </p:xfrm>
        <a:graphic>
          <a:graphicData uri="http://schemas.openxmlformats.org/drawingml/2006/table">
            <a:tbl>
              <a:tblPr firstRow="1" bandRow="1">
                <a:tableStyleId>{69012ECD-51FC-41F1-AA8D-1B2483CD663E}</a:tableStyleId>
              </a:tblPr>
              <a:tblGrid>
                <a:gridCol w="3706491">
                  <a:extLst>
                    <a:ext uri="{9D8B030D-6E8A-4147-A177-3AD203B41FA5}">
                      <a16:colId xmlns:a16="http://schemas.microsoft.com/office/drawing/2014/main" val="3567681047"/>
                    </a:ext>
                  </a:extLst>
                </a:gridCol>
                <a:gridCol w="3424310">
                  <a:extLst>
                    <a:ext uri="{9D8B030D-6E8A-4147-A177-3AD203B41FA5}">
                      <a16:colId xmlns:a16="http://schemas.microsoft.com/office/drawing/2014/main" val="2631472704"/>
                    </a:ext>
                  </a:extLst>
                </a:gridCol>
                <a:gridCol w="3424310">
                  <a:extLst>
                    <a:ext uri="{9D8B030D-6E8A-4147-A177-3AD203B41FA5}">
                      <a16:colId xmlns:a16="http://schemas.microsoft.com/office/drawing/2014/main" val="3675975174"/>
                    </a:ext>
                  </a:extLst>
                </a:gridCol>
              </a:tblGrid>
              <a:tr h="2578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Filter</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accent1">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Wrapper</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accent1">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Embedded</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917919435"/>
                  </a:ext>
                </a:extLst>
              </a:tr>
              <a:tr h="451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Not depend on model</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Depend on model.</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Depend on model.</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1253241952"/>
                  </a:ext>
                </a:extLst>
              </a:tr>
              <a:tr h="451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Computational cost is low.</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Computational cost is </a:t>
                      </a:r>
                      <a:r>
                        <a:rPr lang="en-IN" sz="1800" b="0" i="0" u="none" strike="noStrike" kern="1200" dirty="0">
                          <a:solidFill>
                            <a:schemeClr val="tx1"/>
                          </a:solidFill>
                          <a:effectLst/>
                          <a:latin typeface="+mn-lt"/>
                          <a:ea typeface="+mn-ea"/>
                          <a:cs typeface="+mn-cs"/>
                        </a:rPr>
                        <a:t>High</a:t>
                      </a:r>
                      <a:r>
                        <a:rPr lang="en-US" dirty="0">
                          <a:solidFill>
                            <a:schemeClr val="tx1"/>
                          </a:solidFill>
                          <a:latin typeface="+mn-lt"/>
                        </a:rPr>
                        <a:t>.</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Computational cost is Moderate.</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1174340821"/>
                  </a:ext>
                </a:extLst>
              </a:tr>
              <a:tr h="451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Feature Interactions ignored</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Feature Interactions Considered</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Feature Interactions Considered</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2624289412"/>
                  </a:ext>
                </a:extLst>
              </a:tr>
              <a:tr h="451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Good for preprocessing</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High (optimal subsets)</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High (efficient and effective)</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2870135346"/>
                  </a:ext>
                </a:extLst>
              </a:tr>
              <a:tr h="4511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Example: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Correlation, Chi-square</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Example: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Forward selection</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Example: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mn-lt"/>
                        </a:rPr>
                        <a:t>Lasso</a:t>
                      </a:r>
                    </a:p>
                  </a:txBody>
                  <a:tcPr anchor="ct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extLst>
                  <a:ext uri="{0D108BD9-81ED-4DB2-BD59-A6C34878D82A}">
                    <a16:rowId xmlns:a16="http://schemas.microsoft.com/office/drawing/2014/main" val="638650014"/>
                  </a:ext>
                </a:extLst>
              </a:tr>
            </a:tbl>
          </a:graphicData>
        </a:graphic>
      </p:graphicFrame>
    </p:spTree>
    <p:extLst>
      <p:ext uri="{BB962C8B-B14F-4D97-AF65-F5344CB8AC3E}">
        <p14:creationId xmlns:p14="http://schemas.microsoft.com/office/powerpoint/2010/main" val="230987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7139B-302F-3860-BE79-5F82AA1180AF}"/>
              </a:ext>
            </a:extLst>
          </p:cNvPr>
          <p:cNvSpPr>
            <a:spLocks noGrp="1"/>
          </p:cNvSpPr>
          <p:nvPr>
            <p:ph type="title"/>
          </p:nvPr>
        </p:nvSpPr>
        <p:spPr/>
        <p:txBody>
          <a:bodyPr/>
          <a:lstStyle/>
          <a:p>
            <a:r>
              <a:rPr lang="en-US" dirty="0"/>
              <a:t>Feature Extraction</a:t>
            </a:r>
          </a:p>
        </p:txBody>
      </p:sp>
      <p:sp>
        <p:nvSpPr>
          <p:cNvPr id="3" name="Content Placeholder 2">
            <a:extLst>
              <a:ext uri="{FF2B5EF4-FFF2-40B4-BE49-F238E27FC236}">
                <a16:creationId xmlns:a16="http://schemas.microsoft.com/office/drawing/2014/main" id="{E93FC6C9-C136-C7FF-9E2F-0C0E0A960EC7}"/>
              </a:ext>
            </a:extLst>
          </p:cNvPr>
          <p:cNvSpPr>
            <a:spLocks noGrp="1"/>
          </p:cNvSpPr>
          <p:nvPr>
            <p:ph idx="1"/>
          </p:nvPr>
        </p:nvSpPr>
        <p:spPr/>
        <p:txBody>
          <a:bodyPr/>
          <a:lstStyle/>
          <a:p>
            <a:r>
              <a:rPr lang="en-US" dirty="0"/>
              <a:t>Feature extraction is a </a:t>
            </a:r>
            <a:r>
              <a:rPr lang="en-US" dirty="0">
                <a:solidFill>
                  <a:srgbClr val="C00000"/>
                </a:solidFill>
              </a:rPr>
              <a:t>process of transforming raw data into a reduced set of features that capture the most important information for a given task.</a:t>
            </a:r>
          </a:p>
          <a:p>
            <a:r>
              <a:rPr lang="en-US" dirty="0"/>
              <a:t>Unlike feature selection, </a:t>
            </a:r>
            <a:r>
              <a:rPr lang="en-US" dirty="0">
                <a:solidFill>
                  <a:srgbClr val="C00000"/>
                </a:solidFill>
              </a:rPr>
              <a:t>which selects a subset of existing features, feature extraction creates new features by combining or transforming the original ones.</a:t>
            </a:r>
          </a:p>
          <a:p>
            <a:r>
              <a:rPr lang="en-US" dirty="0"/>
              <a:t>This is particularly useful </a:t>
            </a:r>
            <a:r>
              <a:rPr lang="en-US" dirty="0">
                <a:solidFill>
                  <a:srgbClr val="C00000"/>
                </a:solidFill>
              </a:rPr>
              <a:t>for high-dimensional data, such as images, text, or signals, where the number of features can be very large.</a:t>
            </a:r>
          </a:p>
        </p:txBody>
      </p:sp>
    </p:spTree>
    <p:extLst>
      <p:ext uri="{BB962C8B-B14F-4D97-AF65-F5344CB8AC3E}">
        <p14:creationId xmlns:p14="http://schemas.microsoft.com/office/powerpoint/2010/main" val="104692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DAEB6-AE96-FDFB-337C-A84FE2F4D2B6}"/>
              </a:ext>
            </a:extLst>
          </p:cNvPr>
          <p:cNvSpPr>
            <a:spLocks noGrp="1"/>
          </p:cNvSpPr>
          <p:nvPr>
            <p:ph type="title"/>
          </p:nvPr>
        </p:nvSpPr>
        <p:spPr/>
        <p:txBody>
          <a:bodyPr/>
          <a:lstStyle/>
          <a:p>
            <a:r>
              <a:rPr lang="en-US" dirty="0"/>
              <a:t>Curse of Dimensionality</a:t>
            </a:r>
          </a:p>
        </p:txBody>
      </p:sp>
      <p:cxnSp>
        <p:nvCxnSpPr>
          <p:cNvPr id="4" name="Straight Arrow Connector 3">
            <a:extLst>
              <a:ext uri="{FF2B5EF4-FFF2-40B4-BE49-F238E27FC236}">
                <a16:creationId xmlns:a16="http://schemas.microsoft.com/office/drawing/2014/main" id="{8262908C-4B9F-E607-1DC4-6C8B31502D9C}"/>
              </a:ext>
            </a:extLst>
          </p:cNvPr>
          <p:cNvCxnSpPr>
            <a:cxnSpLocks/>
          </p:cNvCxnSpPr>
          <p:nvPr/>
        </p:nvCxnSpPr>
        <p:spPr>
          <a:xfrm flipV="1">
            <a:off x="914402" y="1240027"/>
            <a:ext cx="0" cy="3781778"/>
          </a:xfrm>
          <a:prstGeom prst="straightConnector1">
            <a:avLst/>
          </a:prstGeom>
          <a:ln>
            <a:solidFill>
              <a:schemeClr val="tx2">
                <a:lumMod val="75000"/>
              </a:schemeClr>
            </a:solidFill>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a:extLst>
              <a:ext uri="{FF2B5EF4-FFF2-40B4-BE49-F238E27FC236}">
                <a16:creationId xmlns:a16="http://schemas.microsoft.com/office/drawing/2014/main" id="{7D37A009-8759-0636-83A8-BCF4980871F5}"/>
              </a:ext>
            </a:extLst>
          </p:cNvPr>
          <p:cNvCxnSpPr>
            <a:cxnSpLocks/>
          </p:cNvCxnSpPr>
          <p:nvPr/>
        </p:nvCxnSpPr>
        <p:spPr>
          <a:xfrm>
            <a:off x="519290" y="4654916"/>
            <a:ext cx="4989689" cy="0"/>
          </a:xfrm>
          <a:prstGeom prst="straightConnector1">
            <a:avLst/>
          </a:prstGeom>
          <a:ln>
            <a:solidFill>
              <a:schemeClr val="tx2">
                <a:lumMod val="75000"/>
              </a:schemeClr>
            </a:solidFill>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A1967B2F-46D8-5BC4-E6A8-7E43DA82AB6B}"/>
              </a:ext>
            </a:extLst>
          </p:cNvPr>
          <p:cNvSpPr txBox="1"/>
          <p:nvPr/>
        </p:nvSpPr>
        <p:spPr>
          <a:xfrm>
            <a:off x="1952978" y="4741333"/>
            <a:ext cx="3416320" cy="369332"/>
          </a:xfrm>
          <a:prstGeom prst="rect">
            <a:avLst/>
          </a:prstGeom>
          <a:noFill/>
        </p:spPr>
        <p:txBody>
          <a:bodyPr wrap="none" rtlCol="0">
            <a:spAutoFit/>
          </a:bodyPr>
          <a:lstStyle/>
          <a:p>
            <a:r>
              <a:rPr lang="en-US" dirty="0"/>
              <a:t>Dimensionality(number of features)</a:t>
            </a:r>
          </a:p>
        </p:txBody>
      </p:sp>
      <p:sp>
        <p:nvSpPr>
          <p:cNvPr id="8" name="TextBox 7">
            <a:extLst>
              <a:ext uri="{FF2B5EF4-FFF2-40B4-BE49-F238E27FC236}">
                <a16:creationId xmlns:a16="http://schemas.microsoft.com/office/drawing/2014/main" id="{C8F7322A-E494-C096-FA9E-3A474DDF3DA7}"/>
              </a:ext>
            </a:extLst>
          </p:cNvPr>
          <p:cNvSpPr txBox="1"/>
          <p:nvPr/>
        </p:nvSpPr>
        <p:spPr>
          <a:xfrm rot="16200000">
            <a:off x="-285257" y="2675268"/>
            <a:ext cx="1978427" cy="369332"/>
          </a:xfrm>
          <a:prstGeom prst="rect">
            <a:avLst/>
          </a:prstGeom>
          <a:noFill/>
        </p:spPr>
        <p:txBody>
          <a:bodyPr wrap="none" rtlCol="0">
            <a:spAutoFit/>
          </a:bodyPr>
          <a:lstStyle/>
          <a:p>
            <a:r>
              <a:rPr lang="en-US" dirty="0"/>
              <a:t>Model Performance</a:t>
            </a:r>
          </a:p>
        </p:txBody>
      </p:sp>
      <p:sp>
        <p:nvSpPr>
          <p:cNvPr id="9" name="Freeform 8">
            <a:extLst>
              <a:ext uri="{FF2B5EF4-FFF2-40B4-BE49-F238E27FC236}">
                <a16:creationId xmlns:a16="http://schemas.microsoft.com/office/drawing/2014/main" id="{22933ED6-0049-EB63-84F4-CF5DA35BCBD2}"/>
              </a:ext>
            </a:extLst>
          </p:cNvPr>
          <p:cNvSpPr/>
          <p:nvPr/>
        </p:nvSpPr>
        <p:spPr>
          <a:xfrm>
            <a:off x="1162756" y="1873740"/>
            <a:ext cx="4662286" cy="2690057"/>
          </a:xfrm>
          <a:custGeom>
            <a:avLst/>
            <a:gdLst>
              <a:gd name="connsiteX0" fmla="*/ 0 w 4052711"/>
              <a:gd name="connsiteY0" fmla="*/ 2607949 h 2690057"/>
              <a:gd name="connsiteX1" fmla="*/ 530577 w 4052711"/>
              <a:gd name="connsiteY1" fmla="*/ 216 h 2690057"/>
              <a:gd name="connsiteX2" fmla="*/ 1230488 w 4052711"/>
              <a:gd name="connsiteY2" fmla="*/ 2461193 h 2690057"/>
              <a:gd name="connsiteX3" fmla="*/ 4052711 w 4052711"/>
              <a:gd name="connsiteY3" fmla="*/ 2585371 h 2690057"/>
            </a:gdLst>
            <a:ahLst/>
            <a:cxnLst>
              <a:cxn ang="0">
                <a:pos x="connsiteX0" y="connsiteY0"/>
              </a:cxn>
              <a:cxn ang="0">
                <a:pos x="connsiteX1" y="connsiteY1"/>
              </a:cxn>
              <a:cxn ang="0">
                <a:pos x="connsiteX2" y="connsiteY2"/>
              </a:cxn>
              <a:cxn ang="0">
                <a:pos x="connsiteX3" y="connsiteY3"/>
              </a:cxn>
            </a:cxnLst>
            <a:rect l="l" t="t" r="r" b="b"/>
            <a:pathLst>
              <a:path w="4052711" h="2690057">
                <a:moveTo>
                  <a:pt x="0" y="2607949"/>
                </a:moveTo>
                <a:cubicBezTo>
                  <a:pt x="162748" y="1316312"/>
                  <a:pt x="325496" y="24675"/>
                  <a:pt x="530577" y="216"/>
                </a:cubicBezTo>
                <a:cubicBezTo>
                  <a:pt x="735658" y="-24243"/>
                  <a:pt x="643466" y="2030334"/>
                  <a:pt x="1230488" y="2461193"/>
                </a:cubicBezTo>
                <a:cubicBezTo>
                  <a:pt x="1817510" y="2892052"/>
                  <a:pt x="3586104" y="2581608"/>
                  <a:pt x="4052711" y="258537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94CDB5F4-0C6C-9FB1-7346-5D2850A5FB8B}"/>
              </a:ext>
            </a:extLst>
          </p:cNvPr>
          <p:cNvCxnSpPr>
            <a:cxnSpLocks/>
            <a:stCxn id="9" idx="1"/>
          </p:cNvCxnSpPr>
          <p:nvPr/>
        </p:nvCxnSpPr>
        <p:spPr>
          <a:xfrm flipH="1">
            <a:off x="1724183" y="1873956"/>
            <a:ext cx="48955" cy="314784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4E07CAE2-4BA5-9B7D-0178-CCECEC4A9CC0}"/>
              </a:ext>
            </a:extLst>
          </p:cNvPr>
          <p:cNvSpPr txBox="1"/>
          <p:nvPr/>
        </p:nvSpPr>
        <p:spPr>
          <a:xfrm>
            <a:off x="1136976" y="5110665"/>
            <a:ext cx="1531188" cy="646331"/>
          </a:xfrm>
          <a:prstGeom prst="rect">
            <a:avLst/>
          </a:prstGeom>
          <a:noFill/>
        </p:spPr>
        <p:txBody>
          <a:bodyPr wrap="none" rtlCol="0">
            <a:spAutoFit/>
          </a:bodyPr>
          <a:lstStyle/>
          <a:p>
            <a:r>
              <a:rPr lang="en-US" dirty="0"/>
              <a:t>Optimal no. of </a:t>
            </a:r>
          </a:p>
          <a:p>
            <a:r>
              <a:rPr lang="en-US" dirty="0"/>
              <a:t>features</a:t>
            </a:r>
          </a:p>
        </p:txBody>
      </p:sp>
    </p:spTree>
    <p:extLst>
      <p:ext uri="{BB962C8B-B14F-4D97-AF65-F5344CB8AC3E}">
        <p14:creationId xmlns:p14="http://schemas.microsoft.com/office/powerpoint/2010/main" val="300668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2"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4DAE8-A2C9-4441-09AB-D473D5BD4957}"/>
              </a:ext>
            </a:extLst>
          </p:cNvPr>
          <p:cNvSpPr>
            <a:spLocks noGrp="1"/>
          </p:cNvSpPr>
          <p:nvPr>
            <p:ph type="title"/>
          </p:nvPr>
        </p:nvSpPr>
        <p:spPr/>
        <p:txBody>
          <a:bodyPr>
            <a:normAutofit/>
          </a:bodyPr>
          <a:lstStyle/>
          <a:p>
            <a:r>
              <a:rPr lang="en-US" dirty="0"/>
              <a:t>Dimensionality Reduction Techniques - PCA</a:t>
            </a:r>
          </a:p>
        </p:txBody>
      </p:sp>
      <p:sp>
        <p:nvSpPr>
          <p:cNvPr id="3" name="Content Placeholder 2">
            <a:extLst>
              <a:ext uri="{FF2B5EF4-FFF2-40B4-BE49-F238E27FC236}">
                <a16:creationId xmlns:a16="http://schemas.microsoft.com/office/drawing/2014/main" id="{805ACA43-065A-3F9B-C338-7AD5DDA1E1D1}"/>
              </a:ext>
            </a:extLst>
          </p:cNvPr>
          <p:cNvSpPr>
            <a:spLocks noGrp="1"/>
          </p:cNvSpPr>
          <p:nvPr>
            <p:ph idx="1"/>
          </p:nvPr>
        </p:nvSpPr>
        <p:spPr/>
        <p:txBody>
          <a:bodyPr/>
          <a:lstStyle/>
          <a:p>
            <a:r>
              <a:rPr lang="en-US" dirty="0"/>
              <a:t>PCA is an </a:t>
            </a:r>
            <a:r>
              <a:rPr lang="en-US" dirty="0">
                <a:solidFill>
                  <a:srgbClr val="C00000"/>
                </a:solidFill>
              </a:rPr>
              <a:t>unsupervised machine learning </a:t>
            </a:r>
            <a:r>
              <a:rPr lang="en-US" dirty="0"/>
              <a:t>technique.</a:t>
            </a:r>
          </a:p>
          <a:p>
            <a:r>
              <a:rPr lang="en-US" dirty="0"/>
              <a:t>It is used for </a:t>
            </a:r>
            <a:r>
              <a:rPr lang="en-US" dirty="0">
                <a:solidFill>
                  <a:srgbClr val="C00000"/>
                </a:solidFill>
              </a:rPr>
              <a:t>dimensionality reduction </a:t>
            </a:r>
            <a:r>
              <a:rPr lang="en-US" dirty="0"/>
              <a:t>and feature extraction.</a:t>
            </a:r>
          </a:p>
          <a:p>
            <a:r>
              <a:rPr lang="en-US" dirty="0"/>
              <a:t>PCA finds </a:t>
            </a:r>
            <a:r>
              <a:rPr lang="en-US" dirty="0">
                <a:solidFill>
                  <a:srgbClr val="C00000"/>
                </a:solidFill>
              </a:rPr>
              <a:t>new principal components that capture </a:t>
            </a:r>
            <a:r>
              <a:rPr lang="en-US" dirty="0"/>
              <a:t>the most variance in data.</a:t>
            </a:r>
          </a:p>
          <a:p>
            <a:r>
              <a:rPr lang="en-US" dirty="0"/>
              <a:t>Helps in </a:t>
            </a:r>
            <a:r>
              <a:rPr lang="en-US" dirty="0">
                <a:solidFill>
                  <a:srgbClr val="C00000"/>
                </a:solidFill>
              </a:rPr>
              <a:t>visualization and speeding up computations</a:t>
            </a:r>
            <a:r>
              <a:rPr lang="en-US" dirty="0"/>
              <a:t>.</a:t>
            </a:r>
          </a:p>
          <a:p>
            <a:r>
              <a:rPr lang="en-US" dirty="0"/>
              <a:t>Simplify data while retaining maximum variance (information).</a:t>
            </a:r>
          </a:p>
          <a:p>
            <a:r>
              <a:rPr lang="en-US" dirty="0"/>
              <a:t>Why PCA?</a:t>
            </a:r>
          </a:p>
          <a:p>
            <a:pPr lvl="1"/>
            <a:r>
              <a:rPr lang="en-US" dirty="0"/>
              <a:t>Reduces complexity in high-dimensional data.</a:t>
            </a:r>
          </a:p>
          <a:p>
            <a:pPr lvl="1"/>
            <a:r>
              <a:rPr lang="en-US" dirty="0"/>
              <a:t>Reducing dimensions removes redundancy while keeping essential information.</a:t>
            </a:r>
          </a:p>
          <a:p>
            <a:pPr lvl="1"/>
            <a:r>
              <a:rPr lang="en-US" dirty="0"/>
              <a:t>Data compression</a:t>
            </a:r>
          </a:p>
          <a:p>
            <a:pPr lvl="1"/>
            <a:r>
              <a:rPr lang="en-US" dirty="0"/>
              <a:t>Noise reduction</a:t>
            </a:r>
          </a:p>
          <a:p>
            <a:pPr lvl="1"/>
            <a:r>
              <a:rPr lang="en-US" dirty="0"/>
              <a:t>Faster machine learning models</a:t>
            </a:r>
          </a:p>
          <a:p>
            <a:pPr lvl="1"/>
            <a:endParaRPr lang="en-US" dirty="0"/>
          </a:p>
        </p:txBody>
      </p:sp>
    </p:spTree>
    <p:extLst>
      <p:ext uri="{BB962C8B-B14F-4D97-AF65-F5344CB8AC3E}">
        <p14:creationId xmlns:p14="http://schemas.microsoft.com/office/powerpoint/2010/main" val="390929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B736-FB4A-7D2A-8DD9-CD025179A527}"/>
              </a:ext>
            </a:extLst>
          </p:cNvPr>
          <p:cNvSpPr>
            <a:spLocks noGrp="1"/>
          </p:cNvSpPr>
          <p:nvPr>
            <p:ph type="title"/>
          </p:nvPr>
        </p:nvSpPr>
        <p:spPr/>
        <p:txBody>
          <a:bodyPr/>
          <a:lstStyle/>
          <a:p>
            <a:r>
              <a:rPr lang="en-US" dirty="0"/>
              <a:t>Steps in PCA</a:t>
            </a:r>
          </a:p>
        </p:txBody>
      </p:sp>
      <p:sp>
        <p:nvSpPr>
          <p:cNvPr id="3" name="Content Placeholder 2">
            <a:extLst>
              <a:ext uri="{FF2B5EF4-FFF2-40B4-BE49-F238E27FC236}">
                <a16:creationId xmlns:a16="http://schemas.microsoft.com/office/drawing/2014/main" id="{798A1ECC-4D2A-FB5B-A761-441B80AF66F7}"/>
              </a:ext>
            </a:extLst>
          </p:cNvPr>
          <p:cNvSpPr>
            <a:spLocks noGrp="1"/>
          </p:cNvSpPr>
          <p:nvPr>
            <p:ph idx="1"/>
          </p:nvPr>
        </p:nvSpPr>
        <p:spPr/>
        <p:txBody>
          <a:bodyPr/>
          <a:lstStyle/>
          <a:p>
            <a:r>
              <a:rPr lang="en-US" dirty="0"/>
              <a:t>1) Standardize the Data</a:t>
            </a:r>
          </a:p>
          <a:p>
            <a:pPr lvl="1"/>
            <a:r>
              <a:rPr lang="en-US" dirty="0">
                <a:solidFill>
                  <a:srgbClr val="C00000"/>
                </a:solidFill>
              </a:rPr>
              <a:t>Mean center each feature </a:t>
            </a:r>
            <a:r>
              <a:rPr lang="en-US" dirty="0"/>
              <a:t>(subtract mean from each value).</a:t>
            </a:r>
          </a:p>
          <a:p>
            <a:pPr lvl="1"/>
            <a:r>
              <a:rPr lang="en-US" dirty="0"/>
              <a:t>Scale data </a:t>
            </a:r>
            <a:r>
              <a:rPr lang="en-US" dirty="0">
                <a:solidFill>
                  <a:srgbClr val="C00000"/>
                </a:solidFill>
              </a:rPr>
              <a:t>to unit variance</a:t>
            </a:r>
            <a:r>
              <a:rPr lang="en-US" dirty="0"/>
              <a:t>.</a:t>
            </a:r>
          </a:p>
          <a:p>
            <a:pPr lvl="1"/>
            <a:r>
              <a:rPr lang="en-US" dirty="0"/>
              <a:t>Standardized data ensures </a:t>
            </a:r>
            <a:r>
              <a:rPr lang="en-US" dirty="0">
                <a:solidFill>
                  <a:srgbClr val="C00000"/>
                </a:solidFill>
              </a:rPr>
              <a:t>fair comparison across features</a:t>
            </a:r>
            <a:r>
              <a:rPr lang="en-US" dirty="0"/>
              <a:t>.</a:t>
            </a:r>
          </a:p>
          <a:p>
            <a:r>
              <a:rPr lang="en-US" dirty="0"/>
              <a:t>2) Compute Covariance Matrix</a:t>
            </a:r>
          </a:p>
          <a:p>
            <a:pPr lvl="1"/>
            <a:r>
              <a:rPr lang="en-US" dirty="0"/>
              <a:t>This matrix shows how the </a:t>
            </a:r>
            <a:r>
              <a:rPr lang="en-US" dirty="0">
                <a:solidFill>
                  <a:srgbClr val="C00000"/>
                </a:solidFill>
              </a:rPr>
              <a:t>variables in our data set vary</a:t>
            </a:r>
            <a:r>
              <a:rPr lang="en-US" dirty="0"/>
              <a:t>. </a:t>
            </a:r>
          </a:p>
          <a:p>
            <a:pPr lvl="1"/>
            <a:r>
              <a:rPr lang="en-US" dirty="0"/>
              <a:t>It helps us </a:t>
            </a:r>
            <a:r>
              <a:rPr lang="en-US" dirty="0">
                <a:solidFill>
                  <a:srgbClr val="C00000"/>
                </a:solidFill>
              </a:rPr>
              <a:t>understand the relationships between different features</a:t>
            </a:r>
            <a:r>
              <a:rPr lang="en-US" dirty="0"/>
              <a:t>.</a:t>
            </a:r>
          </a:p>
          <a:p>
            <a:r>
              <a:rPr lang="en-US" dirty="0"/>
              <a:t>3) Calculate Eigenvalues and Eigenvectors</a:t>
            </a:r>
          </a:p>
          <a:p>
            <a:pPr lvl="1"/>
            <a:r>
              <a:rPr lang="en-US" dirty="0"/>
              <a:t>We then calculate the </a:t>
            </a:r>
            <a:r>
              <a:rPr lang="en-US" dirty="0">
                <a:solidFill>
                  <a:srgbClr val="C00000"/>
                </a:solidFill>
              </a:rPr>
              <a:t>eigenvalues and eigenvectors </a:t>
            </a:r>
            <a:r>
              <a:rPr lang="en-US" dirty="0"/>
              <a:t>of the covariance matrix. </a:t>
            </a:r>
          </a:p>
          <a:p>
            <a:pPr lvl="1"/>
            <a:r>
              <a:rPr lang="en-US" dirty="0"/>
              <a:t>Eigenvalues indicate the </a:t>
            </a:r>
            <a:r>
              <a:rPr lang="en-US" dirty="0">
                <a:solidFill>
                  <a:srgbClr val="C00000"/>
                </a:solidFill>
              </a:rPr>
              <a:t>amount of variance captured by each principal component</a:t>
            </a:r>
            <a:r>
              <a:rPr lang="en-US" dirty="0"/>
              <a:t>. </a:t>
            </a:r>
          </a:p>
          <a:p>
            <a:pPr lvl="1"/>
            <a:r>
              <a:rPr lang="en-US" dirty="0"/>
              <a:t>Eigenvectors </a:t>
            </a:r>
            <a:r>
              <a:rPr lang="en-US" dirty="0">
                <a:solidFill>
                  <a:srgbClr val="C00000"/>
                </a:solidFill>
              </a:rPr>
              <a:t>determine the direction of these components</a:t>
            </a:r>
            <a:r>
              <a:rPr lang="en-US" dirty="0"/>
              <a:t>.</a:t>
            </a:r>
          </a:p>
          <a:p>
            <a:r>
              <a:rPr lang="en-US" dirty="0"/>
              <a:t>4) Sort Eigenvalues</a:t>
            </a:r>
          </a:p>
          <a:p>
            <a:pPr lvl="1"/>
            <a:r>
              <a:rPr lang="en-IN" dirty="0">
                <a:effectLst/>
              </a:rPr>
              <a:t>The eigenvalues are </a:t>
            </a:r>
            <a:r>
              <a:rPr lang="en-IN" dirty="0">
                <a:solidFill>
                  <a:srgbClr val="C00000"/>
                </a:solidFill>
                <a:effectLst/>
              </a:rPr>
              <a:t>sorted in descending order</a:t>
            </a:r>
            <a:r>
              <a:rPr lang="en-IN" dirty="0">
                <a:effectLst/>
              </a:rPr>
              <a:t>. </a:t>
            </a:r>
          </a:p>
          <a:p>
            <a:pPr lvl="1"/>
            <a:r>
              <a:rPr lang="en-IN" dirty="0">
                <a:effectLst/>
              </a:rPr>
              <a:t>We select the top eigenvalues and their </a:t>
            </a:r>
            <a:r>
              <a:rPr lang="en-IN" dirty="0">
                <a:solidFill>
                  <a:srgbClr val="C00000"/>
                </a:solidFill>
                <a:effectLst/>
              </a:rPr>
              <a:t>corresponding eigenvectors as our principal components</a:t>
            </a:r>
            <a:r>
              <a:rPr lang="en-IN" dirty="0">
                <a:effectLst/>
              </a:rPr>
              <a:t>. </a:t>
            </a:r>
          </a:p>
        </p:txBody>
      </p:sp>
    </p:spTree>
    <p:extLst>
      <p:ext uri="{BB962C8B-B14F-4D97-AF65-F5344CB8AC3E}">
        <p14:creationId xmlns:p14="http://schemas.microsoft.com/office/powerpoint/2010/main" val="253531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3CBA2-2E0C-F96D-8CE8-9D524777F6A8}"/>
              </a:ext>
            </a:extLst>
          </p:cNvPr>
          <p:cNvSpPr>
            <a:spLocks noGrp="1"/>
          </p:cNvSpPr>
          <p:nvPr>
            <p:ph type="title"/>
          </p:nvPr>
        </p:nvSpPr>
        <p:spPr/>
        <p:txBody>
          <a:bodyPr/>
          <a:lstStyle/>
          <a:p>
            <a:r>
              <a:rPr lang="en-US" dirty="0"/>
              <a:t>Steps in PCA</a:t>
            </a:r>
          </a:p>
        </p:txBody>
      </p:sp>
      <p:sp>
        <p:nvSpPr>
          <p:cNvPr id="3" name="Content Placeholder 2">
            <a:extLst>
              <a:ext uri="{FF2B5EF4-FFF2-40B4-BE49-F238E27FC236}">
                <a16:creationId xmlns:a16="http://schemas.microsoft.com/office/drawing/2014/main" id="{A98668CA-AFB3-CE08-8C76-3A1AED1AFABE}"/>
              </a:ext>
            </a:extLst>
          </p:cNvPr>
          <p:cNvSpPr>
            <a:spLocks noGrp="1"/>
          </p:cNvSpPr>
          <p:nvPr>
            <p:ph idx="1"/>
          </p:nvPr>
        </p:nvSpPr>
        <p:spPr/>
        <p:txBody>
          <a:bodyPr/>
          <a:lstStyle/>
          <a:p>
            <a:pPr lvl="1"/>
            <a:r>
              <a:rPr lang="en-IN" dirty="0">
                <a:effectLst/>
                <a:latin typeface="Helvetica" pitchFamily="2" charset="0"/>
              </a:rPr>
              <a:t>These components capture the most significant variance in the data.</a:t>
            </a:r>
            <a:endParaRPr lang="en-US" dirty="0"/>
          </a:p>
          <a:p>
            <a:r>
              <a:rPr lang="en-US" dirty="0"/>
              <a:t>5) Construct the principal component matrix.</a:t>
            </a:r>
          </a:p>
          <a:p>
            <a:pPr lvl="1"/>
            <a:r>
              <a:rPr lang="en-US" dirty="0"/>
              <a:t>Using the </a:t>
            </a:r>
            <a:r>
              <a:rPr lang="en-US" dirty="0">
                <a:solidFill>
                  <a:srgbClr val="C00000"/>
                </a:solidFill>
              </a:rPr>
              <a:t>selected eigenvectors, we construct the principal component matrix</a:t>
            </a:r>
            <a:r>
              <a:rPr lang="en-US" dirty="0"/>
              <a:t>. </a:t>
            </a:r>
          </a:p>
          <a:p>
            <a:pPr lvl="1"/>
            <a:r>
              <a:rPr lang="en-US" dirty="0"/>
              <a:t>This matrix transforms the original data </a:t>
            </a:r>
            <a:r>
              <a:rPr lang="en-US" dirty="0">
                <a:solidFill>
                  <a:srgbClr val="C00000"/>
                </a:solidFill>
              </a:rPr>
              <a:t>into a new coordinate system defined by the principal components.</a:t>
            </a:r>
          </a:p>
          <a:p>
            <a:r>
              <a:rPr lang="en-US" dirty="0"/>
              <a:t>6) Transform the original data:</a:t>
            </a:r>
          </a:p>
          <a:p>
            <a:pPr lvl="1"/>
            <a:r>
              <a:rPr lang="en-US" dirty="0"/>
              <a:t>This step transforms the </a:t>
            </a:r>
            <a:r>
              <a:rPr lang="en-US" dirty="0">
                <a:solidFill>
                  <a:srgbClr val="C00000"/>
                </a:solidFill>
              </a:rPr>
              <a:t>original data using the principal component matrix</a:t>
            </a:r>
            <a:r>
              <a:rPr lang="en-US" dirty="0"/>
              <a:t>. </a:t>
            </a:r>
          </a:p>
          <a:p>
            <a:pPr lvl="1"/>
            <a:r>
              <a:rPr lang="en-US" dirty="0"/>
              <a:t>It creates a new data set </a:t>
            </a:r>
            <a:r>
              <a:rPr lang="en-US" dirty="0">
                <a:solidFill>
                  <a:srgbClr val="C00000"/>
                </a:solidFill>
              </a:rPr>
              <a:t>with reduced dimensions </a:t>
            </a:r>
            <a:r>
              <a:rPr lang="en-US" dirty="0"/>
              <a:t>but retains most of the original variance.</a:t>
            </a:r>
          </a:p>
          <a:p>
            <a:pPr lvl="1"/>
            <a:endParaRPr lang="en-US" dirty="0"/>
          </a:p>
          <a:p>
            <a:endParaRPr lang="en-US" dirty="0"/>
          </a:p>
        </p:txBody>
      </p:sp>
    </p:spTree>
    <p:extLst>
      <p:ext uri="{BB962C8B-B14F-4D97-AF65-F5344CB8AC3E}">
        <p14:creationId xmlns:p14="http://schemas.microsoft.com/office/powerpoint/2010/main" val="2896513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7E856-2D70-F5A8-7B99-045030DF410F}"/>
              </a:ext>
            </a:extLst>
          </p:cNvPr>
          <p:cNvSpPr>
            <a:spLocks noGrp="1"/>
          </p:cNvSpPr>
          <p:nvPr>
            <p:ph type="title"/>
          </p:nvPr>
        </p:nvSpPr>
        <p:spPr/>
        <p:txBody>
          <a:bodyPr/>
          <a:lstStyle/>
          <a:p>
            <a:r>
              <a:rPr lang="en-US" dirty="0"/>
              <a:t>PCA Example</a:t>
            </a:r>
          </a:p>
        </p:txBody>
      </p:sp>
      <p:graphicFrame>
        <p:nvGraphicFramePr>
          <p:cNvPr id="4" name="Table 3">
            <a:extLst>
              <a:ext uri="{FF2B5EF4-FFF2-40B4-BE49-F238E27FC236}">
                <a16:creationId xmlns:a16="http://schemas.microsoft.com/office/drawing/2014/main" id="{CDD197BD-CBF0-A39E-AC7B-73ECBCA1C797}"/>
              </a:ext>
            </a:extLst>
          </p:cNvPr>
          <p:cNvGraphicFramePr>
            <a:graphicFrameLocks noGrp="1"/>
          </p:cNvGraphicFramePr>
          <p:nvPr>
            <p:extLst>
              <p:ext uri="{D42A27DB-BD31-4B8C-83A1-F6EECF244321}">
                <p14:modId xmlns:p14="http://schemas.microsoft.com/office/powerpoint/2010/main" val="4142395229"/>
              </p:ext>
            </p:extLst>
          </p:nvPr>
        </p:nvGraphicFramePr>
        <p:xfrm>
          <a:off x="378178" y="1450621"/>
          <a:ext cx="4859868" cy="1879600"/>
        </p:xfrm>
        <a:graphic>
          <a:graphicData uri="http://schemas.openxmlformats.org/drawingml/2006/table">
            <a:tbl>
              <a:tblPr firstRow="1" bandRow="1">
                <a:tableStyleId>{69012ECD-51FC-41F1-AA8D-1B2483CD663E}</a:tableStyleId>
              </a:tblPr>
              <a:tblGrid>
                <a:gridCol w="1619956">
                  <a:extLst>
                    <a:ext uri="{9D8B030D-6E8A-4147-A177-3AD203B41FA5}">
                      <a16:colId xmlns:a16="http://schemas.microsoft.com/office/drawing/2014/main" val="20000"/>
                    </a:ext>
                  </a:extLst>
                </a:gridCol>
                <a:gridCol w="1619956">
                  <a:extLst>
                    <a:ext uri="{9D8B030D-6E8A-4147-A177-3AD203B41FA5}">
                      <a16:colId xmlns:a16="http://schemas.microsoft.com/office/drawing/2014/main" val="20001"/>
                    </a:ext>
                  </a:extLst>
                </a:gridCol>
                <a:gridCol w="1619956">
                  <a:extLst>
                    <a:ext uri="{9D8B030D-6E8A-4147-A177-3AD203B41FA5}">
                      <a16:colId xmlns:a16="http://schemas.microsoft.com/office/drawing/2014/main" val="20002"/>
                    </a:ext>
                  </a:extLst>
                </a:gridCol>
              </a:tblGrid>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Student</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Math</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Science</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9900">
                <a:tc>
                  <a:txBody>
                    <a:bodyPr/>
                    <a:lstStyle/>
                    <a:p>
                      <a:pPr algn="ct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9900">
                <a:tc>
                  <a:txBody>
                    <a:bodyPr/>
                    <a:lstStyle/>
                    <a:p>
                      <a:pPr algn="ct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9900">
                <a:tc>
                  <a:txBody>
                    <a:bodyPr/>
                    <a:lstStyle/>
                    <a:p>
                      <a:pPr algn="ctr"/>
                      <a:r>
                        <a:rPr lang="en-IN"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91B76E31-D308-37C6-9BF0-399189533994}"/>
              </a:ext>
            </a:extLst>
          </p:cNvPr>
          <p:cNvSpPr txBox="1"/>
          <p:nvPr/>
        </p:nvSpPr>
        <p:spPr>
          <a:xfrm>
            <a:off x="5520267" y="976488"/>
            <a:ext cx="2353529" cy="369332"/>
          </a:xfrm>
          <a:prstGeom prst="rect">
            <a:avLst/>
          </a:prstGeom>
          <a:noFill/>
        </p:spPr>
        <p:txBody>
          <a:bodyPr wrap="none" rtlCol="0">
            <a:spAutoFit/>
          </a:bodyPr>
          <a:lstStyle/>
          <a:p>
            <a:r>
              <a:rPr lang="en-US" b="1" dirty="0">
                <a:solidFill>
                  <a:srgbClr val="C00000"/>
                </a:solidFill>
              </a:rPr>
              <a:t>1) Standardize the Data</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83E2DAF-303F-B001-5C44-06DCCA4A96E3}"/>
                  </a:ext>
                </a:extLst>
              </p:cNvPr>
              <p:cNvSpPr txBox="1"/>
              <p:nvPr/>
            </p:nvSpPr>
            <p:spPr>
              <a:xfrm>
                <a:off x="5870222" y="1625600"/>
                <a:ext cx="1346010" cy="10105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bar>
                        <m:barPr>
                          <m:pos m:val="top"/>
                          <m:ctrlPr>
                            <a:rPr lang="en-US" i="1" smtClean="0">
                              <a:latin typeface="Cambria Math" panose="02040503050406030204" pitchFamily="18" charset="0"/>
                            </a:rPr>
                          </m:ctrlPr>
                        </m:barPr>
                        <m:e>
                          <m:r>
                            <a:rPr lang="en-US" b="0" i="1" smtClean="0">
                              <a:latin typeface="Cambria Math" panose="02040503050406030204" pitchFamily="18" charset="0"/>
                            </a:rPr>
                            <m:t>𝑋</m:t>
                          </m:r>
                        </m:e>
                      </m:bar>
                      <m:r>
                        <a:rPr lang="en-US" i="1">
                          <a:latin typeface="Cambria Math" panose="02040503050406030204" pitchFamily="18" charset="0"/>
                        </a:rPr>
                        <m:t>=73.33</m:t>
                      </m:r>
                    </m:oMath>
                  </m:oMathPara>
                </a14:m>
                <a:endParaRPr lang="en-US" dirty="0"/>
              </a:p>
              <a:p>
                <a:pPr/>
                <a14:m>
                  <m:oMathPara xmlns:m="http://schemas.openxmlformats.org/officeDocument/2006/math">
                    <m:oMathParaPr>
                      <m:jc m:val="centerGroup"/>
                    </m:oMathParaPr>
                    <m:oMath xmlns:m="http://schemas.openxmlformats.org/officeDocument/2006/math">
                      <m:bar>
                        <m:barPr>
                          <m:pos m:val="top"/>
                          <m:ctrlPr>
                            <a:rPr lang="en-US" i="1" smtClean="0">
                              <a:latin typeface="Cambria Math" panose="02040503050406030204" pitchFamily="18" charset="0"/>
                            </a:rPr>
                          </m:ctrlPr>
                        </m:barPr>
                        <m:e>
                          <m:r>
                            <a:rPr lang="en-US" b="0" i="1" smtClean="0">
                              <a:latin typeface="Cambria Math" panose="02040503050406030204" pitchFamily="18" charset="0"/>
                            </a:rPr>
                            <m:t>𝑌</m:t>
                          </m:r>
                        </m:e>
                      </m:bar>
                      <m:r>
                        <a:rPr lang="en-US" i="1">
                          <a:latin typeface="Cambria Math" panose="02040503050406030204" pitchFamily="18" charset="0"/>
                        </a:rPr>
                        <m:t>=7</m:t>
                      </m:r>
                      <m:r>
                        <a:rPr lang="en-US" b="0" i="1" smtClean="0">
                          <a:latin typeface="Cambria Math" panose="02040503050406030204" pitchFamily="18" charset="0"/>
                        </a:rPr>
                        <m:t>4</m:t>
                      </m:r>
                      <m:r>
                        <a:rPr lang="en-US" i="1">
                          <a:latin typeface="Cambria Math" panose="02040503050406030204" pitchFamily="18" charset="0"/>
                        </a:rPr>
                        <m:t>.33</m:t>
                      </m:r>
                    </m:oMath>
                  </m:oMathPara>
                </a14:m>
                <a:endParaRPr lang="en-US" dirty="0"/>
              </a:p>
              <a:p>
                <a:endParaRPr lang="en-US" dirty="0"/>
              </a:p>
            </p:txBody>
          </p:sp>
        </mc:Choice>
        <mc:Fallback xmlns="">
          <p:sp>
            <p:nvSpPr>
              <p:cNvPr id="6" name="TextBox 5">
                <a:extLst>
                  <a:ext uri="{FF2B5EF4-FFF2-40B4-BE49-F238E27FC236}">
                    <a16:creationId xmlns:a16="http://schemas.microsoft.com/office/drawing/2014/main" id="{283E2DAF-303F-B001-5C44-06DCCA4A96E3}"/>
                  </a:ext>
                </a:extLst>
              </p:cNvPr>
              <p:cNvSpPr txBox="1">
                <a:spLocks noRot="1" noChangeAspect="1" noMove="1" noResize="1" noEditPoints="1" noAdjustHandles="1" noChangeArrowheads="1" noChangeShapeType="1" noTextEdit="1"/>
              </p:cNvSpPr>
              <p:nvPr/>
            </p:nvSpPr>
            <p:spPr>
              <a:xfrm>
                <a:off x="5870222" y="1625600"/>
                <a:ext cx="1346010" cy="101059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7ED2C85F-FADD-1136-E0CE-43651D9BA13D}"/>
                  </a:ext>
                </a:extLst>
              </p:cNvPr>
              <p:cNvGraphicFramePr>
                <a:graphicFrameLocks noGrp="1"/>
              </p:cNvGraphicFramePr>
              <p:nvPr>
                <p:extLst>
                  <p:ext uri="{D42A27DB-BD31-4B8C-83A1-F6EECF244321}">
                    <p14:modId xmlns:p14="http://schemas.microsoft.com/office/powerpoint/2010/main" val="3747214530"/>
                  </p:ext>
                </p:extLst>
              </p:nvPr>
            </p:nvGraphicFramePr>
            <p:xfrm>
              <a:off x="5520267" y="2737798"/>
              <a:ext cx="6524975" cy="2219960"/>
            </p:xfrm>
            <a:graphic>
              <a:graphicData uri="http://schemas.openxmlformats.org/drawingml/2006/table">
                <a:tbl>
                  <a:tblPr firstRow="1" bandRow="1">
                    <a:tableStyleId>{69012ECD-51FC-41F1-AA8D-1B2483CD663E}</a:tableStyleId>
                  </a:tblPr>
                  <a:tblGrid>
                    <a:gridCol w="1049866">
                      <a:extLst>
                        <a:ext uri="{9D8B030D-6E8A-4147-A177-3AD203B41FA5}">
                          <a16:colId xmlns:a16="http://schemas.microsoft.com/office/drawing/2014/main" val="20000"/>
                        </a:ext>
                      </a:extLst>
                    </a:gridCol>
                    <a:gridCol w="778933">
                      <a:extLst>
                        <a:ext uri="{9D8B030D-6E8A-4147-A177-3AD203B41FA5}">
                          <a16:colId xmlns:a16="http://schemas.microsoft.com/office/drawing/2014/main" val="20001"/>
                        </a:ext>
                      </a:extLst>
                    </a:gridCol>
                    <a:gridCol w="1704623">
                      <a:extLst>
                        <a:ext uri="{9D8B030D-6E8A-4147-A177-3AD203B41FA5}">
                          <a16:colId xmlns:a16="http://schemas.microsoft.com/office/drawing/2014/main" val="778060006"/>
                        </a:ext>
                      </a:extLst>
                    </a:gridCol>
                    <a:gridCol w="801511">
                      <a:extLst>
                        <a:ext uri="{9D8B030D-6E8A-4147-A177-3AD203B41FA5}">
                          <a16:colId xmlns:a16="http://schemas.microsoft.com/office/drawing/2014/main" val="20002"/>
                        </a:ext>
                      </a:extLst>
                    </a:gridCol>
                    <a:gridCol w="2190042">
                      <a:extLst>
                        <a:ext uri="{9D8B030D-6E8A-4147-A177-3AD203B41FA5}">
                          <a16:colId xmlns:a16="http://schemas.microsoft.com/office/drawing/2014/main" val="3855604232"/>
                        </a:ext>
                      </a:extLst>
                    </a:gridCol>
                  </a:tblGrid>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Student</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Math</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r>
                                  <a:rPr lang="en-US" b="1" i="1" smtClean="0">
                                    <a:latin typeface="Cambria Math" panose="02040503050406030204" pitchFamily="18" charset="0"/>
                                  </a:rPr>
                                  <m:t>−</m:t>
                                </m:r>
                                <m:bar>
                                  <m:barPr>
                                    <m:pos m:val="top"/>
                                    <m:ctrlPr>
                                      <a:rPr lang="en-US" i="1" smtClean="0">
                                        <a:latin typeface="Cambria Math" panose="02040503050406030204" pitchFamily="18" charset="0"/>
                                      </a:rPr>
                                    </m:ctrlPr>
                                  </m:barPr>
                                  <m:e>
                                    <m:r>
                                      <a:rPr lang="en-US" b="0" i="1" smtClean="0">
                                        <a:latin typeface="Cambria Math" panose="02040503050406030204" pitchFamily="18" charset="0"/>
                                      </a:rPr>
                                      <m:t>𝑋</m:t>
                                    </m:r>
                                  </m:e>
                                </m:bar>
                              </m:oMath>
                            </m:oMathPara>
                          </a14:m>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Science</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Y</a:t>
                          </a:r>
                          <a14:m>
                            <m:oMath xmlns:m="http://schemas.openxmlformats.org/officeDocument/2006/math">
                              <m:r>
                                <a:rPr lang="ar-AE" b="1" i="1" smtClean="0">
                                  <a:latin typeface="Cambria Math" panose="02040503050406030204" pitchFamily="18" charset="0"/>
                                </a:rPr>
                                <m:t>−</m:t>
                              </m:r>
                              <m:bar>
                                <m:barPr>
                                  <m:pos m:val="top"/>
                                  <m:ctrlPr>
                                    <a:rPr lang="ar-AE" i="1" smtClean="0">
                                      <a:latin typeface="Cambria Math" panose="02040503050406030204" pitchFamily="18" charset="0"/>
                                    </a:rPr>
                                  </m:ctrlPr>
                                </m:barPr>
                                <m:e>
                                  <m:r>
                                    <a:rPr lang="en-US" b="0" i="1" smtClean="0">
                                      <a:latin typeface="Cambria Math" panose="02040503050406030204" pitchFamily="18" charset="0"/>
                                    </a:rPr>
                                    <m:t>𝑌</m:t>
                                  </m:r>
                                </m:e>
                              </m:bar>
                            </m:oMath>
                          </a14:m>
                          <a:endParaRPr lang="ar-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9900">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90−73.33=16.67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85−74.33=10.67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80−73.33=6.67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78−74.33=3.67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9900">
                    <a:tc>
                      <a:txBody>
                        <a:bodyPr/>
                        <a:lstStyle/>
                        <a:p>
                          <a:pPr algn="ctr"/>
                          <a:r>
                            <a:rPr lang="en-IN" sz="1800" b="0" i="0" u="none" strike="noStrike" kern="1200" dirty="0">
                              <a:solidFill>
                                <a:schemeClr val="tx1"/>
                              </a:solidFill>
                              <a:effectLst/>
                              <a:latin typeface="+mn-lt"/>
                              <a:ea typeface="+mn-ea"/>
                              <a:cs typeface="+mn-cs"/>
                            </a:rPr>
                            <a: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50−73.33=−23.33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60−74.33=−14.33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7" name="Table 6">
                <a:extLst>
                  <a:ext uri="{FF2B5EF4-FFF2-40B4-BE49-F238E27FC236}">
                    <a16:creationId xmlns:a16="http://schemas.microsoft.com/office/drawing/2014/main" id="{7ED2C85F-FADD-1136-E0CE-43651D9BA13D}"/>
                  </a:ext>
                </a:extLst>
              </p:cNvPr>
              <p:cNvGraphicFramePr>
                <a:graphicFrameLocks noGrp="1"/>
              </p:cNvGraphicFramePr>
              <p:nvPr>
                <p:extLst>
                  <p:ext uri="{D42A27DB-BD31-4B8C-83A1-F6EECF244321}">
                    <p14:modId xmlns:p14="http://schemas.microsoft.com/office/powerpoint/2010/main" val="3747214530"/>
                  </p:ext>
                </p:extLst>
              </p:nvPr>
            </p:nvGraphicFramePr>
            <p:xfrm>
              <a:off x="5520267" y="2737798"/>
              <a:ext cx="6524975" cy="2219960"/>
            </p:xfrm>
            <a:graphic>
              <a:graphicData uri="http://schemas.openxmlformats.org/drawingml/2006/table">
                <a:tbl>
                  <a:tblPr firstRow="1" bandRow="1">
                    <a:tableStyleId>{69012ECD-51FC-41F1-AA8D-1B2483CD663E}</a:tableStyleId>
                  </a:tblPr>
                  <a:tblGrid>
                    <a:gridCol w="1049866">
                      <a:extLst>
                        <a:ext uri="{9D8B030D-6E8A-4147-A177-3AD203B41FA5}">
                          <a16:colId xmlns:a16="http://schemas.microsoft.com/office/drawing/2014/main" val="20000"/>
                        </a:ext>
                      </a:extLst>
                    </a:gridCol>
                    <a:gridCol w="778933">
                      <a:extLst>
                        <a:ext uri="{9D8B030D-6E8A-4147-A177-3AD203B41FA5}">
                          <a16:colId xmlns:a16="http://schemas.microsoft.com/office/drawing/2014/main" val="20001"/>
                        </a:ext>
                      </a:extLst>
                    </a:gridCol>
                    <a:gridCol w="1704623">
                      <a:extLst>
                        <a:ext uri="{9D8B030D-6E8A-4147-A177-3AD203B41FA5}">
                          <a16:colId xmlns:a16="http://schemas.microsoft.com/office/drawing/2014/main" val="778060006"/>
                        </a:ext>
                      </a:extLst>
                    </a:gridCol>
                    <a:gridCol w="801511">
                      <a:extLst>
                        <a:ext uri="{9D8B030D-6E8A-4147-A177-3AD203B41FA5}">
                          <a16:colId xmlns:a16="http://schemas.microsoft.com/office/drawing/2014/main" val="20002"/>
                        </a:ext>
                      </a:extLst>
                    </a:gridCol>
                    <a:gridCol w="2190042">
                      <a:extLst>
                        <a:ext uri="{9D8B030D-6E8A-4147-A177-3AD203B41FA5}">
                          <a16:colId xmlns:a16="http://schemas.microsoft.com/office/drawing/2014/main" val="3855604232"/>
                        </a:ext>
                      </a:extLst>
                    </a:gridCol>
                  </a:tblGrid>
                  <a:tr h="6400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Student</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Math</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7407" t="-3922" r="-175556" b="-258824"/>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Science</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8266" t="-3922" r="-578" b="-258824"/>
                          </a:stretch>
                        </a:blipFill>
                      </a:tcPr>
                    </a:tc>
                    <a:extLst>
                      <a:ext uri="{0D108BD9-81ED-4DB2-BD59-A6C34878D82A}">
                        <a16:rowId xmlns:a16="http://schemas.microsoft.com/office/drawing/2014/main" val="10000"/>
                      </a:ext>
                    </a:extLst>
                  </a:tr>
                  <a:tr h="469900">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90−73.33=16.67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85−74.33=10.67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80−73.33=6.67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78−74.33=3.67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algn="ctr"/>
                          <a:r>
                            <a:rPr lang="en-IN" sz="1800" b="0" i="0" u="none" strike="noStrike" kern="1200" dirty="0">
                              <a:solidFill>
                                <a:schemeClr val="tx1"/>
                              </a:solidFill>
                              <a:effectLst/>
                              <a:latin typeface="+mn-lt"/>
                              <a:ea typeface="+mn-ea"/>
                              <a:cs typeface="+mn-cs"/>
                            </a:rPr>
                            <a: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50−73.33=−23.33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60−74.33=−14.33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8" name="TextBox 7">
            <a:extLst>
              <a:ext uri="{FF2B5EF4-FFF2-40B4-BE49-F238E27FC236}">
                <a16:creationId xmlns:a16="http://schemas.microsoft.com/office/drawing/2014/main" id="{DCC4B556-B0BC-3695-A506-960414C2576A}"/>
              </a:ext>
            </a:extLst>
          </p:cNvPr>
          <p:cNvSpPr txBox="1"/>
          <p:nvPr/>
        </p:nvSpPr>
        <p:spPr>
          <a:xfrm>
            <a:off x="378178" y="913421"/>
            <a:ext cx="1176925" cy="369332"/>
          </a:xfrm>
          <a:prstGeom prst="rect">
            <a:avLst/>
          </a:prstGeom>
          <a:noFill/>
        </p:spPr>
        <p:txBody>
          <a:bodyPr wrap="none" rtlCol="0">
            <a:spAutoFit/>
          </a:bodyPr>
          <a:lstStyle/>
          <a:p>
            <a:r>
              <a:rPr lang="en-US" b="1" dirty="0"/>
              <a:t>Given Data</a:t>
            </a:r>
          </a:p>
        </p:txBody>
      </p:sp>
    </p:spTree>
    <p:extLst>
      <p:ext uri="{BB962C8B-B14F-4D97-AF65-F5344CB8AC3E}">
        <p14:creationId xmlns:p14="http://schemas.microsoft.com/office/powerpoint/2010/main" val="193420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2797F-B145-6696-DF11-EA94C3C04A47}"/>
              </a:ext>
            </a:extLst>
          </p:cNvPr>
          <p:cNvSpPr>
            <a:spLocks noGrp="1"/>
          </p:cNvSpPr>
          <p:nvPr>
            <p:ph type="title"/>
          </p:nvPr>
        </p:nvSpPr>
        <p:spPr/>
        <p:txBody>
          <a:bodyPr/>
          <a:lstStyle/>
          <a:p>
            <a:r>
              <a:rPr lang="en-US" dirty="0"/>
              <a:t>PCA Example</a:t>
            </a:r>
          </a:p>
        </p:txBody>
      </p:sp>
      <p:sp>
        <p:nvSpPr>
          <p:cNvPr id="4" name="TextBox 3">
            <a:extLst>
              <a:ext uri="{FF2B5EF4-FFF2-40B4-BE49-F238E27FC236}">
                <a16:creationId xmlns:a16="http://schemas.microsoft.com/office/drawing/2014/main" id="{0BB8DDB2-78C5-AF48-A601-7ADBF58ECD51}"/>
              </a:ext>
            </a:extLst>
          </p:cNvPr>
          <p:cNvSpPr txBox="1"/>
          <p:nvPr/>
        </p:nvSpPr>
        <p:spPr>
          <a:xfrm>
            <a:off x="214489" y="874888"/>
            <a:ext cx="3337773" cy="369332"/>
          </a:xfrm>
          <a:prstGeom prst="rect">
            <a:avLst/>
          </a:prstGeom>
          <a:noFill/>
        </p:spPr>
        <p:txBody>
          <a:bodyPr wrap="none" rtlCol="0">
            <a:spAutoFit/>
          </a:bodyPr>
          <a:lstStyle/>
          <a:p>
            <a:r>
              <a:rPr lang="en-US" b="1" dirty="0">
                <a:solidFill>
                  <a:srgbClr val="C00000"/>
                </a:solidFill>
              </a:rPr>
              <a:t>2) Compute the Covariance Matrix</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7238093-36BC-30B4-156B-480F74D998B2}"/>
                  </a:ext>
                </a:extLst>
              </p:cNvPr>
              <p:cNvSpPr txBox="1"/>
              <p:nvPr/>
            </p:nvSpPr>
            <p:spPr>
              <a:xfrm>
                <a:off x="3714045" y="874888"/>
                <a:ext cx="6311087" cy="484941"/>
              </a:xfrm>
              <a:prstGeom prst="rect">
                <a:avLst/>
              </a:prstGeom>
              <a:noFill/>
            </p:spPr>
            <p:txBody>
              <a:bodyPr wrap="none" rtlCol="0">
                <a:spAutoFit/>
              </a:bodyPr>
              <a:lstStyle/>
              <a:p>
                <a:r>
                  <a:rPr lang="en-US" b="0" dirty="0"/>
                  <a:t>Covarianc</a:t>
                </a:r>
                <a:r>
                  <a:rPr lang="en-US" dirty="0"/>
                  <a:t>e of two column  = </a:t>
                </a:r>
                <a14:m>
                  <m:oMath xmlns:m="http://schemas.openxmlformats.org/officeDocument/2006/math">
                    <m:r>
                      <a:rPr lang="en-US" b="0" i="1" smtClean="0">
                        <a:latin typeface="Cambria Math" panose="02040503050406030204" pitchFamily="18" charset="0"/>
                      </a:rPr>
                      <m:t>𝐶𝑜𝑣</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r>
                          <a:rPr lang="en-US" b="0" i="1" smtClean="0">
                            <a:latin typeface="Cambria Math" panose="02040503050406030204" pitchFamily="18" charset="0"/>
                          </a:rPr>
                          <m:t>−1</m:t>
                        </m:r>
                      </m:den>
                    </m:f>
                    <m:nary>
                      <m:naryPr>
                        <m:chr m:val="∑"/>
                        <m:subHide m:val="on"/>
                        <m:supHide m:val="on"/>
                        <m:ctrlPr>
                          <a:rPr lang="en-US" b="0" i="1" smtClean="0">
                            <a:latin typeface="Cambria Math" panose="02040503050406030204" pitchFamily="18" charset="0"/>
                          </a:rPr>
                        </m:ctrlPr>
                      </m:naryPr>
                      <m:sub/>
                      <m:sup/>
                      <m:e>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bar>
                              <m:barPr>
                                <m:pos m:val="top"/>
                                <m:ctrlPr>
                                  <a:rPr lang="en-US" b="0" i="1" smtClean="0">
                                    <a:latin typeface="Cambria Math" panose="02040503050406030204" pitchFamily="18" charset="0"/>
                                  </a:rPr>
                                </m:ctrlPr>
                              </m:barPr>
                              <m:e>
                                <m:r>
                                  <a:rPr lang="en-US" b="0" i="1" smtClean="0">
                                    <a:latin typeface="Cambria Math" panose="02040503050406030204" pitchFamily="18" charset="0"/>
                                  </a:rPr>
                                  <m:t>𝑋</m:t>
                                </m:r>
                              </m:e>
                            </m:bar>
                          </m:e>
                        </m:d>
                        <m:r>
                          <a:rPr lang="en-US" b="0" i="1" smtClean="0">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𝑌</m:t>
                        </m:r>
                        <m:r>
                          <a:rPr lang="en-US" i="1">
                            <a:latin typeface="Cambria Math" panose="02040503050406030204" pitchFamily="18" charset="0"/>
                          </a:rPr>
                          <m:t>−</m:t>
                        </m:r>
                        <m:bar>
                          <m:barPr>
                            <m:pos m:val="top"/>
                            <m:ctrlPr>
                              <a:rPr lang="en-US" i="1">
                                <a:latin typeface="Cambria Math" panose="02040503050406030204" pitchFamily="18" charset="0"/>
                              </a:rPr>
                            </m:ctrlPr>
                          </m:barPr>
                          <m:e>
                            <m:r>
                              <a:rPr lang="en-US" b="0" i="1" smtClean="0">
                                <a:latin typeface="Cambria Math" panose="02040503050406030204" pitchFamily="18" charset="0"/>
                              </a:rPr>
                              <m:t>𝑌</m:t>
                            </m:r>
                          </m:e>
                        </m:bar>
                        <m:r>
                          <a:rPr lang="en-US" i="1">
                            <a:latin typeface="Cambria Math" panose="02040503050406030204" pitchFamily="18" charset="0"/>
                          </a:rPr>
                          <m:t>)</m:t>
                        </m:r>
                      </m:e>
                    </m:nary>
                  </m:oMath>
                </a14:m>
                <a:endParaRPr lang="en-US" dirty="0"/>
              </a:p>
            </p:txBody>
          </p:sp>
        </mc:Choice>
        <mc:Fallback xmlns="">
          <p:sp>
            <p:nvSpPr>
              <p:cNvPr id="5" name="TextBox 4">
                <a:extLst>
                  <a:ext uri="{FF2B5EF4-FFF2-40B4-BE49-F238E27FC236}">
                    <a16:creationId xmlns:a16="http://schemas.microsoft.com/office/drawing/2014/main" id="{07238093-36BC-30B4-156B-480F74D998B2}"/>
                  </a:ext>
                </a:extLst>
              </p:cNvPr>
              <p:cNvSpPr txBox="1">
                <a:spLocks noRot="1" noChangeAspect="1" noMove="1" noResize="1" noEditPoints="1" noAdjustHandles="1" noChangeArrowheads="1" noChangeShapeType="1" noTextEdit="1"/>
              </p:cNvSpPr>
              <p:nvPr/>
            </p:nvSpPr>
            <p:spPr>
              <a:xfrm>
                <a:off x="3714045" y="874888"/>
                <a:ext cx="6311087" cy="484941"/>
              </a:xfrm>
              <a:prstGeom prst="rect">
                <a:avLst/>
              </a:prstGeom>
              <a:blipFill>
                <a:blip r:embed="rId2"/>
                <a:stretch>
                  <a:fillRect l="-803" t="-76923" r="-201" b="-11538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1D96DF4-09F9-1966-85FD-92D066375729}"/>
              </a:ext>
            </a:extLst>
          </p:cNvPr>
          <p:cNvSpPr txBox="1"/>
          <p:nvPr/>
        </p:nvSpPr>
        <p:spPr>
          <a:xfrm>
            <a:off x="3714045" y="1392094"/>
            <a:ext cx="1887055" cy="369332"/>
          </a:xfrm>
          <a:prstGeom prst="rect">
            <a:avLst/>
          </a:prstGeom>
          <a:noFill/>
        </p:spPr>
        <p:txBody>
          <a:bodyPr wrap="none" rtlCol="0">
            <a:spAutoFit/>
          </a:bodyPr>
          <a:lstStyle/>
          <a:p>
            <a:r>
              <a:rPr lang="en-US" b="0" dirty="0"/>
              <a:t>Covarianc</a:t>
            </a:r>
            <a:r>
              <a:rPr lang="en-US" dirty="0"/>
              <a:t>e Matrix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B8A1C05-03F7-F419-9E8B-DC87A8AB1DE7}"/>
                  </a:ext>
                </a:extLst>
              </p:cNvPr>
              <p:cNvSpPr txBox="1"/>
              <p:nvPr/>
            </p:nvSpPr>
            <p:spPr>
              <a:xfrm>
                <a:off x="3804355" y="1902177"/>
                <a:ext cx="2886559" cy="5517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𝐶</m:t>
                                </m:r>
                                <m:r>
                                  <a:rPr lang="en-US" b="0" i="1" smtClean="0">
                                    <a:latin typeface="Cambria Math" panose="02040503050406030204" pitchFamily="18" charset="0"/>
                                  </a:rPr>
                                  <m:t>𝑜𝑣</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e>
                                <m:r>
                                  <a:rPr lang="en-US" b="0" i="1" smtClean="0">
                                    <a:latin typeface="Cambria Math" panose="02040503050406030204" pitchFamily="18" charset="0"/>
                                  </a:rPr>
                                  <m:t>𝐶𝑜𝑣</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e>
                            </m:mr>
                            <m:mr>
                              <m:e>
                                <m:r>
                                  <a:rPr lang="en-US" i="1">
                                    <a:latin typeface="Cambria Math" panose="02040503050406030204" pitchFamily="18" charset="0"/>
                                  </a:rPr>
                                  <m:t>𝐶𝑜𝑣</m:t>
                                </m:r>
                                <m:r>
                                  <a:rPr lang="en-US" i="1">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rPr>
                                  <m:t>)</m:t>
                                </m:r>
                              </m:e>
                              <m:e>
                                <m:r>
                                  <a:rPr lang="en-US" i="1">
                                    <a:latin typeface="Cambria Math" panose="02040503050406030204" pitchFamily="18" charset="0"/>
                                  </a:rPr>
                                  <m:t>𝐶𝑜𝑣</m:t>
                                </m:r>
                                <m:r>
                                  <a:rPr lang="en-US" i="1">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e>
                            </m:mr>
                          </m:m>
                        </m:e>
                      </m:d>
                    </m:oMath>
                  </m:oMathPara>
                </a14:m>
                <a:endParaRPr lang="en-US" dirty="0"/>
              </a:p>
            </p:txBody>
          </p:sp>
        </mc:Choice>
        <mc:Fallback xmlns="">
          <p:sp>
            <p:nvSpPr>
              <p:cNvPr id="8" name="TextBox 7">
                <a:extLst>
                  <a:ext uri="{FF2B5EF4-FFF2-40B4-BE49-F238E27FC236}">
                    <a16:creationId xmlns:a16="http://schemas.microsoft.com/office/drawing/2014/main" id="{6B8A1C05-03F7-F419-9E8B-DC87A8AB1DE7}"/>
                  </a:ext>
                </a:extLst>
              </p:cNvPr>
              <p:cNvSpPr txBox="1">
                <a:spLocks noRot="1" noChangeAspect="1" noMove="1" noResize="1" noEditPoints="1" noAdjustHandles="1" noChangeArrowheads="1" noChangeShapeType="1" noTextEdit="1"/>
              </p:cNvSpPr>
              <p:nvPr/>
            </p:nvSpPr>
            <p:spPr>
              <a:xfrm>
                <a:off x="3804355" y="1902177"/>
                <a:ext cx="2886559" cy="551754"/>
              </a:xfrm>
              <a:prstGeom prst="rect">
                <a:avLst/>
              </a:prstGeom>
              <a:blipFill>
                <a:blip r:embed="rId3"/>
                <a:stretch>
                  <a:fillRect l="-437" t="-4444"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FB708967-0A51-FC59-2F7E-BEDD71739CA5}"/>
                  </a:ext>
                </a:extLst>
              </p:cNvPr>
              <p:cNvGraphicFramePr>
                <a:graphicFrameLocks noGrp="1"/>
              </p:cNvGraphicFramePr>
              <p:nvPr>
                <p:extLst>
                  <p:ext uri="{D42A27DB-BD31-4B8C-83A1-F6EECF244321}">
                    <p14:modId xmlns:p14="http://schemas.microsoft.com/office/powerpoint/2010/main" val="399039933"/>
                  </p:ext>
                </p:extLst>
              </p:nvPr>
            </p:nvGraphicFramePr>
            <p:xfrm>
              <a:off x="289774" y="2782954"/>
              <a:ext cx="6524975" cy="2049780"/>
            </p:xfrm>
            <a:graphic>
              <a:graphicData uri="http://schemas.openxmlformats.org/drawingml/2006/table">
                <a:tbl>
                  <a:tblPr firstRow="1" bandRow="1">
                    <a:tableStyleId>{69012ECD-51FC-41F1-AA8D-1B2483CD663E}</a:tableStyleId>
                  </a:tblPr>
                  <a:tblGrid>
                    <a:gridCol w="1049866">
                      <a:extLst>
                        <a:ext uri="{9D8B030D-6E8A-4147-A177-3AD203B41FA5}">
                          <a16:colId xmlns:a16="http://schemas.microsoft.com/office/drawing/2014/main" val="20000"/>
                        </a:ext>
                      </a:extLst>
                    </a:gridCol>
                    <a:gridCol w="778933">
                      <a:extLst>
                        <a:ext uri="{9D8B030D-6E8A-4147-A177-3AD203B41FA5}">
                          <a16:colId xmlns:a16="http://schemas.microsoft.com/office/drawing/2014/main" val="20001"/>
                        </a:ext>
                      </a:extLst>
                    </a:gridCol>
                    <a:gridCol w="1809960">
                      <a:extLst>
                        <a:ext uri="{9D8B030D-6E8A-4147-A177-3AD203B41FA5}">
                          <a16:colId xmlns:a16="http://schemas.microsoft.com/office/drawing/2014/main" val="778060006"/>
                        </a:ext>
                      </a:extLst>
                    </a:gridCol>
                    <a:gridCol w="696174">
                      <a:extLst>
                        <a:ext uri="{9D8B030D-6E8A-4147-A177-3AD203B41FA5}">
                          <a16:colId xmlns:a16="http://schemas.microsoft.com/office/drawing/2014/main" val="20002"/>
                        </a:ext>
                      </a:extLst>
                    </a:gridCol>
                    <a:gridCol w="2190042">
                      <a:extLst>
                        <a:ext uri="{9D8B030D-6E8A-4147-A177-3AD203B41FA5}">
                          <a16:colId xmlns:a16="http://schemas.microsoft.com/office/drawing/2014/main" val="3855604232"/>
                        </a:ext>
                      </a:extLst>
                    </a:gridCol>
                  </a:tblGrid>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Student</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Math</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r>
                                  <a:rPr lang="en-US" b="1" i="1" smtClean="0">
                                    <a:latin typeface="Cambria Math" panose="02040503050406030204" pitchFamily="18" charset="0"/>
                                  </a:rPr>
                                  <m:t>−</m:t>
                                </m:r>
                                <m:bar>
                                  <m:barPr>
                                    <m:pos m:val="top"/>
                                    <m:ctrlPr>
                                      <a:rPr lang="en-US" i="1" smtClean="0">
                                        <a:latin typeface="Cambria Math" panose="02040503050406030204" pitchFamily="18" charset="0"/>
                                      </a:rPr>
                                    </m:ctrlPr>
                                  </m:barPr>
                                  <m:e>
                                    <m:r>
                                      <a:rPr lang="en-US" b="0" i="1" smtClean="0">
                                        <a:latin typeface="Cambria Math" panose="02040503050406030204" pitchFamily="18" charset="0"/>
                                      </a:rPr>
                                      <m:t>𝑋</m:t>
                                    </m:r>
                                  </m:e>
                                </m:bar>
                              </m:oMath>
                            </m:oMathPara>
                          </a14:m>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Science</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Y</a:t>
                          </a:r>
                          <a14:m>
                            <m:oMath xmlns:m="http://schemas.openxmlformats.org/officeDocument/2006/math">
                              <m:r>
                                <a:rPr lang="ar-AE" b="1" i="1" smtClean="0">
                                  <a:latin typeface="Cambria Math" panose="02040503050406030204" pitchFamily="18" charset="0"/>
                                </a:rPr>
                                <m:t>−</m:t>
                              </m:r>
                              <m:bar>
                                <m:barPr>
                                  <m:pos m:val="top"/>
                                  <m:ctrlPr>
                                    <a:rPr lang="ar-AE" i="1" smtClean="0">
                                      <a:latin typeface="Cambria Math" panose="02040503050406030204" pitchFamily="18" charset="0"/>
                                    </a:rPr>
                                  </m:ctrlPr>
                                </m:barPr>
                                <m:e>
                                  <m:r>
                                    <a:rPr lang="en-US" b="0" i="1" smtClean="0">
                                      <a:latin typeface="Cambria Math" panose="02040503050406030204" pitchFamily="18" charset="0"/>
                                    </a:rPr>
                                    <m:t>𝑌</m:t>
                                  </m:r>
                                </m:e>
                              </m:bar>
                            </m:oMath>
                          </a14:m>
                          <a:endParaRPr lang="ar-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9900">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90−73.33=16.67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85−74.33=10.67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80−73.33=6.67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78−74.33=3.67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9900">
                    <a:tc>
                      <a:txBody>
                        <a:bodyPr/>
                        <a:lstStyle/>
                        <a:p>
                          <a:pPr algn="ctr"/>
                          <a:r>
                            <a:rPr lang="en-IN" sz="1800" b="0" i="0" u="none" strike="noStrike" kern="1200" dirty="0">
                              <a:solidFill>
                                <a:schemeClr val="tx1"/>
                              </a:solidFill>
                              <a:effectLst/>
                              <a:latin typeface="+mn-lt"/>
                              <a:ea typeface="+mn-ea"/>
                              <a:cs typeface="+mn-cs"/>
                            </a:rPr>
                            <a: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50−73.33=−23.33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60−74.33=−14.33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10" name="Table 9">
                <a:extLst>
                  <a:ext uri="{FF2B5EF4-FFF2-40B4-BE49-F238E27FC236}">
                    <a16:creationId xmlns:a16="http://schemas.microsoft.com/office/drawing/2014/main" id="{FB708967-0A51-FC59-2F7E-BEDD71739CA5}"/>
                  </a:ext>
                </a:extLst>
              </p:cNvPr>
              <p:cNvGraphicFramePr>
                <a:graphicFrameLocks noGrp="1"/>
              </p:cNvGraphicFramePr>
              <p:nvPr>
                <p:extLst>
                  <p:ext uri="{D42A27DB-BD31-4B8C-83A1-F6EECF244321}">
                    <p14:modId xmlns:p14="http://schemas.microsoft.com/office/powerpoint/2010/main" val="399039933"/>
                  </p:ext>
                </p:extLst>
              </p:nvPr>
            </p:nvGraphicFramePr>
            <p:xfrm>
              <a:off x="289774" y="2782954"/>
              <a:ext cx="6524975" cy="2049780"/>
            </p:xfrm>
            <a:graphic>
              <a:graphicData uri="http://schemas.openxmlformats.org/drawingml/2006/table">
                <a:tbl>
                  <a:tblPr firstRow="1" bandRow="1">
                    <a:tableStyleId>{69012ECD-51FC-41F1-AA8D-1B2483CD663E}</a:tableStyleId>
                  </a:tblPr>
                  <a:tblGrid>
                    <a:gridCol w="1049866">
                      <a:extLst>
                        <a:ext uri="{9D8B030D-6E8A-4147-A177-3AD203B41FA5}">
                          <a16:colId xmlns:a16="http://schemas.microsoft.com/office/drawing/2014/main" val="20000"/>
                        </a:ext>
                      </a:extLst>
                    </a:gridCol>
                    <a:gridCol w="778933">
                      <a:extLst>
                        <a:ext uri="{9D8B030D-6E8A-4147-A177-3AD203B41FA5}">
                          <a16:colId xmlns:a16="http://schemas.microsoft.com/office/drawing/2014/main" val="20001"/>
                        </a:ext>
                      </a:extLst>
                    </a:gridCol>
                    <a:gridCol w="1809960">
                      <a:extLst>
                        <a:ext uri="{9D8B030D-6E8A-4147-A177-3AD203B41FA5}">
                          <a16:colId xmlns:a16="http://schemas.microsoft.com/office/drawing/2014/main" val="778060006"/>
                        </a:ext>
                      </a:extLst>
                    </a:gridCol>
                    <a:gridCol w="696174">
                      <a:extLst>
                        <a:ext uri="{9D8B030D-6E8A-4147-A177-3AD203B41FA5}">
                          <a16:colId xmlns:a16="http://schemas.microsoft.com/office/drawing/2014/main" val="20002"/>
                        </a:ext>
                      </a:extLst>
                    </a:gridCol>
                    <a:gridCol w="2190042">
                      <a:extLst>
                        <a:ext uri="{9D8B030D-6E8A-4147-A177-3AD203B41FA5}">
                          <a16:colId xmlns:a16="http://schemas.microsoft.com/office/drawing/2014/main" val="3855604232"/>
                        </a:ext>
                      </a:extLst>
                    </a:gridCol>
                  </a:tblGrid>
                  <a:tr h="6400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Student</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Math</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99" t="-5882" r="-160140" b="-223529"/>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Science</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7688" t="-5882" r="-578" b="-223529"/>
                          </a:stretch>
                        </a:blipFill>
                      </a:tcPr>
                    </a:tc>
                    <a:extLst>
                      <a:ext uri="{0D108BD9-81ED-4DB2-BD59-A6C34878D82A}">
                        <a16:rowId xmlns:a16="http://schemas.microsoft.com/office/drawing/2014/main" val="10000"/>
                      </a:ext>
                    </a:extLst>
                  </a:tr>
                  <a:tr h="469900">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90−73.33=16.67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85−74.33=10.67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80−73.33=6.67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78−74.33=3.67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9900">
                    <a:tc>
                      <a:txBody>
                        <a:bodyPr/>
                        <a:lstStyle/>
                        <a:p>
                          <a:pPr algn="ctr"/>
                          <a:r>
                            <a:rPr lang="en-IN" sz="1800" b="0" i="0" u="none" strike="noStrike" kern="1200" dirty="0">
                              <a:solidFill>
                                <a:schemeClr val="tx1"/>
                              </a:solidFill>
                              <a:effectLst/>
                              <a:latin typeface="+mn-lt"/>
                              <a:ea typeface="+mn-ea"/>
                              <a:cs typeface="+mn-cs"/>
                            </a:rPr>
                            <a: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50−73.33=−23.33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60−74.33=−14.33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2D70943-44D2-8C30-6DAB-FA622A92D4AA}"/>
                  </a:ext>
                </a:extLst>
              </p:cNvPr>
              <p:cNvSpPr txBox="1"/>
              <p:nvPr/>
            </p:nvSpPr>
            <p:spPr>
              <a:xfrm>
                <a:off x="6953956" y="2401439"/>
                <a:ext cx="5129096" cy="10400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𝐶𝑜𝑣</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subHide m:val="on"/>
                          <m:supHide m:val="on"/>
                          <m:ctrlPr>
                            <a:rPr lang="en-US" b="0" i="1" smtClean="0">
                              <a:latin typeface="Cambria Math" panose="02040503050406030204" pitchFamily="18" charset="0"/>
                            </a:rPr>
                          </m:ctrlPr>
                        </m:naryPr>
                        <m:sub/>
                        <m:sup/>
                        <m:e>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16</m:t>
                                  </m:r>
                                  <m:r>
                                    <a:rPr lang="en-US" b="0" i="1" smtClean="0">
                                      <a:latin typeface="Cambria Math" panose="02040503050406030204" pitchFamily="18" charset="0"/>
                                    </a:rPr>
                                    <m:t>.</m:t>
                                  </m:r>
                                  <m:r>
                                    <a:rPr lang="en-US" b="0" i="1" smtClean="0">
                                      <a:latin typeface="Cambria Math" panose="02040503050406030204" pitchFamily="18" charset="0"/>
                                    </a:rPr>
                                    <m:t>67</m:t>
                                  </m:r>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6</m:t>
                                  </m:r>
                                  <m:r>
                                    <a:rPr lang="en-US" b="0" i="1" smtClean="0">
                                      <a:latin typeface="Cambria Math" panose="02040503050406030204" pitchFamily="18" charset="0"/>
                                    </a:rPr>
                                    <m:t>.</m:t>
                                  </m:r>
                                  <m:r>
                                    <a:rPr lang="en-US" b="0" i="1" smtClean="0">
                                      <a:latin typeface="Cambria Math" panose="02040503050406030204" pitchFamily="18" charset="0"/>
                                    </a:rPr>
                                    <m:t>67</m:t>
                                  </m:r>
                                  <m:r>
                                    <a:rPr lang="en-US" i="1">
                                      <a:latin typeface="Cambria Math" panose="02040503050406030204" pitchFamily="18" charset="0"/>
                                    </a:rPr>
                                    <m:t>)</m:t>
                                  </m:r>
                                </m:e>
                                <m:sup>
                                  <m:r>
                                    <a:rPr lang="en-US" i="1">
                                      <a:latin typeface="Cambria Math" panose="02040503050406030204" pitchFamily="18" charset="0"/>
                                    </a:rPr>
                                    <m:t>2</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23</m:t>
                                  </m:r>
                                  <m:r>
                                    <a:rPr lang="en-US" i="1">
                                      <a:latin typeface="Cambria Math" panose="02040503050406030204" pitchFamily="18" charset="0"/>
                                    </a:rPr>
                                    <m:t>.</m:t>
                                  </m:r>
                                  <m:r>
                                    <a:rPr lang="en-US" b="0" i="1" smtClean="0">
                                      <a:latin typeface="Cambria Math" panose="02040503050406030204" pitchFamily="18" charset="0"/>
                                    </a:rPr>
                                    <m:t>33</m:t>
                                  </m:r>
                                  <m:r>
                                    <a:rPr lang="en-US" i="1">
                                      <a:latin typeface="Cambria Math" panose="02040503050406030204" pitchFamily="18" charset="0"/>
                                    </a:rPr>
                                    <m:t>)</m:t>
                                  </m:r>
                                </m:e>
                                <m:sup>
                                  <m:r>
                                    <a:rPr lang="en-US" i="1">
                                      <a:latin typeface="Cambria Math" panose="02040503050406030204" pitchFamily="18" charset="0"/>
                                    </a:rPr>
                                    <m:t>2</m:t>
                                  </m:r>
                                </m:sup>
                              </m:sSup>
                            </m:e>
                          </m:d>
                        </m:e>
                      </m:nary>
                    </m:oMath>
                  </m:oMathPara>
                </a14:m>
                <a:endParaRPr lang="en-US" dirty="0"/>
              </a:p>
              <a:p>
                <a:r>
                  <a:rPr lang="en-US" dirty="0"/>
                  <a:t>	   = 433.44</a:t>
                </a:r>
              </a:p>
            </p:txBody>
          </p:sp>
        </mc:Choice>
        <mc:Fallback xmlns="">
          <p:sp>
            <p:nvSpPr>
              <p:cNvPr id="12" name="TextBox 11">
                <a:extLst>
                  <a:ext uri="{FF2B5EF4-FFF2-40B4-BE49-F238E27FC236}">
                    <a16:creationId xmlns:a16="http://schemas.microsoft.com/office/drawing/2014/main" id="{32D70943-44D2-8C30-6DAB-FA622A92D4AA}"/>
                  </a:ext>
                </a:extLst>
              </p:cNvPr>
              <p:cNvSpPr txBox="1">
                <a:spLocks noRot="1" noChangeAspect="1" noMove="1" noResize="1" noEditPoints="1" noAdjustHandles="1" noChangeArrowheads="1" noChangeShapeType="1" noTextEdit="1"/>
              </p:cNvSpPr>
              <p:nvPr/>
            </p:nvSpPr>
            <p:spPr>
              <a:xfrm>
                <a:off x="6953956" y="2401439"/>
                <a:ext cx="5129096" cy="1040028"/>
              </a:xfrm>
              <a:prstGeom prst="rect">
                <a:avLst/>
              </a:prstGeom>
              <a:blipFill>
                <a:blip r:embed="rId5"/>
                <a:stretch>
                  <a:fillRect t="-90361" b="-97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8929659-EE4C-8852-256F-6474BAE22A5E}"/>
                  </a:ext>
                </a:extLst>
              </p:cNvPr>
              <p:cNvSpPr txBox="1"/>
              <p:nvPr/>
            </p:nvSpPr>
            <p:spPr>
              <a:xfrm>
                <a:off x="6953956" y="3441467"/>
                <a:ext cx="2163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𝐶𝑜𝑣</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i="1">
                          <a:latin typeface="Cambria Math" panose="02040503050406030204" pitchFamily="18" charset="0"/>
                        </a:rPr>
                        <m:t>268</m:t>
                      </m:r>
                      <m:r>
                        <a:rPr lang="en-US" i="1">
                          <a:latin typeface="Cambria Math" panose="02040503050406030204" pitchFamily="18" charset="0"/>
                        </a:rPr>
                        <m:t>.</m:t>
                      </m:r>
                      <m:r>
                        <a:rPr lang="en-US" i="1">
                          <a:latin typeface="Cambria Math" panose="02040503050406030204" pitchFamily="18" charset="0"/>
                        </a:rPr>
                        <m:t>39</m:t>
                      </m:r>
                    </m:oMath>
                  </m:oMathPara>
                </a14:m>
                <a:endParaRPr lang="en-US" dirty="0"/>
              </a:p>
            </p:txBody>
          </p:sp>
        </mc:Choice>
        <mc:Fallback xmlns="">
          <p:sp>
            <p:nvSpPr>
              <p:cNvPr id="13" name="TextBox 12">
                <a:extLst>
                  <a:ext uri="{FF2B5EF4-FFF2-40B4-BE49-F238E27FC236}">
                    <a16:creationId xmlns:a16="http://schemas.microsoft.com/office/drawing/2014/main" id="{78929659-EE4C-8852-256F-6474BAE22A5E}"/>
                  </a:ext>
                </a:extLst>
              </p:cNvPr>
              <p:cNvSpPr txBox="1">
                <a:spLocks noRot="1" noChangeAspect="1" noMove="1" noResize="1" noEditPoints="1" noAdjustHandles="1" noChangeArrowheads="1" noChangeShapeType="1" noTextEdit="1"/>
              </p:cNvSpPr>
              <p:nvPr/>
            </p:nvSpPr>
            <p:spPr>
              <a:xfrm>
                <a:off x="6953956" y="3441467"/>
                <a:ext cx="2163669" cy="369332"/>
              </a:xfrm>
              <a:prstGeom prst="rect">
                <a:avLst/>
              </a:prstGeom>
              <a:blipFill>
                <a:blip r:embed="rId6"/>
                <a:stretch>
                  <a:fillRect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7454889-31DE-8FC5-A9C8-C6099287AB5F}"/>
                  </a:ext>
                </a:extLst>
              </p:cNvPr>
              <p:cNvSpPr txBox="1"/>
              <p:nvPr/>
            </p:nvSpPr>
            <p:spPr>
              <a:xfrm>
                <a:off x="6953956" y="3866688"/>
                <a:ext cx="2163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𝐶𝑜𝑣</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i="1">
                          <a:latin typeface="Cambria Math" panose="02040503050406030204" pitchFamily="18" charset="0"/>
                        </a:rPr>
                        <m:t>268</m:t>
                      </m:r>
                      <m:r>
                        <a:rPr lang="en-US" i="1">
                          <a:latin typeface="Cambria Math" panose="02040503050406030204" pitchFamily="18" charset="0"/>
                        </a:rPr>
                        <m:t>.</m:t>
                      </m:r>
                      <m:r>
                        <a:rPr lang="en-US" i="1">
                          <a:latin typeface="Cambria Math" panose="02040503050406030204" pitchFamily="18" charset="0"/>
                        </a:rPr>
                        <m:t>39</m:t>
                      </m:r>
                    </m:oMath>
                  </m:oMathPara>
                </a14:m>
                <a:endParaRPr lang="en-US" dirty="0"/>
              </a:p>
            </p:txBody>
          </p:sp>
        </mc:Choice>
        <mc:Fallback xmlns="">
          <p:sp>
            <p:nvSpPr>
              <p:cNvPr id="14" name="TextBox 13">
                <a:extLst>
                  <a:ext uri="{FF2B5EF4-FFF2-40B4-BE49-F238E27FC236}">
                    <a16:creationId xmlns:a16="http://schemas.microsoft.com/office/drawing/2014/main" id="{47454889-31DE-8FC5-A9C8-C6099287AB5F}"/>
                  </a:ext>
                </a:extLst>
              </p:cNvPr>
              <p:cNvSpPr txBox="1">
                <a:spLocks noRot="1" noChangeAspect="1" noMove="1" noResize="1" noEditPoints="1" noAdjustHandles="1" noChangeArrowheads="1" noChangeShapeType="1" noTextEdit="1"/>
              </p:cNvSpPr>
              <p:nvPr/>
            </p:nvSpPr>
            <p:spPr>
              <a:xfrm>
                <a:off x="6953956" y="3866688"/>
                <a:ext cx="2163669" cy="369332"/>
              </a:xfrm>
              <a:prstGeom prst="rect">
                <a:avLst/>
              </a:prstGeom>
              <a:blipFill>
                <a:blip r:embed="rId7"/>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D7B77C8-DDA4-DA3B-A79F-72B2126A006C}"/>
                  </a:ext>
                </a:extLst>
              </p:cNvPr>
              <p:cNvSpPr txBox="1"/>
              <p:nvPr/>
            </p:nvSpPr>
            <p:spPr>
              <a:xfrm>
                <a:off x="6953955" y="4291909"/>
                <a:ext cx="216706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𝐶𝑜𝑣</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i="1">
                          <a:latin typeface="Cambria Math" panose="02040503050406030204" pitchFamily="18" charset="0"/>
                        </a:rPr>
                        <m:t>166</m:t>
                      </m:r>
                      <m:r>
                        <a:rPr lang="en-US" i="1">
                          <a:latin typeface="Cambria Math" panose="02040503050406030204" pitchFamily="18" charset="0"/>
                        </a:rPr>
                        <m:t>.</m:t>
                      </m:r>
                      <m:r>
                        <a:rPr lang="en-US" i="1">
                          <a:latin typeface="Cambria Math" panose="02040503050406030204" pitchFamily="18" charset="0"/>
                        </a:rPr>
                        <m:t>41</m:t>
                      </m:r>
                    </m:oMath>
                  </m:oMathPara>
                </a14:m>
                <a:endParaRPr lang="en-US" dirty="0"/>
              </a:p>
            </p:txBody>
          </p:sp>
        </mc:Choice>
        <mc:Fallback xmlns="">
          <p:sp>
            <p:nvSpPr>
              <p:cNvPr id="15" name="TextBox 14">
                <a:extLst>
                  <a:ext uri="{FF2B5EF4-FFF2-40B4-BE49-F238E27FC236}">
                    <a16:creationId xmlns:a16="http://schemas.microsoft.com/office/drawing/2014/main" id="{FD7B77C8-DDA4-DA3B-A79F-72B2126A006C}"/>
                  </a:ext>
                </a:extLst>
              </p:cNvPr>
              <p:cNvSpPr txBox="1">
                <a:spLocks noRot="1" noChangeAspect="1" noMove="1" noResize="1" noEditPoints="1" noAdjustHandles="1" noChangeArrowheads="1" noChangeShapeType="1" noTextEdit="1"/>
              </p:cNvSpPr>
              <p:nvPr/>
            </p:nvSpPr>
            <p:spPr>
              <a:xfrm>
                <a:off x="6953955" y="4291909"/>
                <a:ext cx="2167068" cy="369332"/>
              </a:xfrm>
              <a:prstGeom prst="rect">
                <a:avLst/>
              </a:prstGeom>
              <a:blipFill>
                <a:blip r:embed="rId8"/>
                <a:stretch>
                  <a:fillRect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DE42547-0E89-E785-DDA1-DE857B7459F3}"/>
                  </a:ext>
                </a:extLst>
              </p:cNvPr>
              <p:cNvSpPr txBox="1"/>
              <p:nvPr/>
            </p:nvSpPr>
            <p:spPr>
              <a:xfrm>
                <a:off x="6869588" y="5142351"/>
                <a:ext cx="2331600"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i="1">
                                    <a:latin typeface="Cambria Math" panose="02040503050406030204" pitchFamily="18" charset="0"/>
                                  </a:rPr>
                                  <m:t>4</m:t>
                                </m:r>
                                <m:r>
                                  <a:rPr lang="en-US" i="1">
                                    <a:latin typeface="Cambria Math" panose="02040503050406030204" pitchFamily="18" charset="0"/>
                                  </a:rPr>
                                  <m:t>33</m:t>
                                </m:r>
                                <m:r>
                                  <a:rPr lang="en-US" i="1">
                                    <a:latin typeface="Cambria Math" panose="02040503050406030204" pitchFamily="18" charset="0"/>
                                  </a:rPr>
                                  <m:t>.</m:t>
                                </m:r>
                                <m:r>
                                  <a:rPr lang="en-US" i="1">
                                    <a:latin typeface="Cambria Math" panose="02040503050406030204" pitchFamily="18" charset="0"/>
                                  </a:rPr>
                                  <m:t>44</m:t>
                                </m:r>
                              </m:e>
                              <m:e>
                                <m:r>
                                  <a:rPr lang="en-US" i="1">
                                    <a:latin typeface="Cambria Math" panose="02040503050406030204" pitchFamily="18" charset="0"/>
                                  </a:rPr>
                                  <m:t>268</m:t>
                                </m:r>
                                <m:r>
                                  <a:rPr lang="en-US" i="1">
                                    <a:latin typeface="Cambria Math" panose="02040503050406030204" pitchFamily="18" charset="0"/>
                                  </a:rPr>
                                  <m:t>.</m:t>
                                </m:r>
                                <m:r>
                                  <a:rPr lang="en-US" i="1">
                                    <a:latin typeface="Cambria Math" panose="02040503050406030204" pitchFamily="18" charset="0"/>
                                  </a:rPr>
                                  <m:t>30</m:t>
                                </m:r>
                              </m:e>
                            </m:mr>
                            <m:mr>
                              <m:e>
                                <m:r>
                                  <a:rPr lang="en-US" i="1">
                                    <a:latin typeface="Cambria Math" panose="02040503050406030204" pitchFamily="18" charset="0"/>
                                  </a:rPr>
                                  <m:t>268</m:t>
                                </m:r>
                                <m:r>
                                  <a:rPr lang="en-US" i="1">
                                    <a:latin typeface="Cambria Math" panose="02040503050406030204" pitchFamily="18" charset="0"/>
                                  </a:rPr>
                                  <m:t>.</m:t>
                                </m:r>
                                <m:r>
                                  <a:rPr lang="en-US" i="1">
                                    <a:latin typeface="Cambria Math" panose="02040503050406030204" pitchFamily="18" charset="0"/>
                                  </a:rPr>
                                  <m:t>30</m:t>
                                </m:r>
                              </m:e>
                              <m:e>
                                <m:r>
                                  <a:rPr lang="en-US" i="1">
                                    <a:latin typeface="Cambria Math" panose="02040503050406030204" pitchFamily="18" charset="0"/>
                                  </a:rPr>
                                  <m:t>166</m:t>
                                </m:r>
                                <m:r>
                                  <a:rPr lang="en-US" i="1">
                                    <a:latin typeface="Cambria Math" panose="02040503050406030204" pitchFamily="18" charset="0"/>
                                  </a:rPr>
                                  <m:t>.</m:t>
                                </m:r>
                                <m:r>
                                  <a:rPr lang="en-US" i="1">
                                    <a:latin typeface="Cambria Math" panose="02040503050406030204" pitchFamily="18" charset="0"/>
                                  </a:rPr>
                                  <m:t>41</m:t>
                                </m:r>
                              </m:e>
                            </m:mr>
                          </m:m>
                        </m:e>
                      </m:d>
                    </m:oMath>
                  </m:oMathPara>
                </a14:m>
                <a:endParaRPr lang="en-US" dirty="0"/>
              </a:p>
            </p:txBody>
          </p:sp>
        </mc:Choice>
        <mc:Fallback xmlns="">
          <p:sp>
            <p:nvSpPr>
              <p:cNvPr id="16" name="TextBox 15">
                <a:extLst>
                  <a:ext uri="{FF2B5EF4-FFF2-40B4-BE49-F238E27FC236}">
                    <a16:creationId xmlns:a16="http://schemas.microsoft.com/office/drawing/2014/main" id="{CDE42547-0E89-E785-DDA1-DE857B7459F3}"/>
                  </a:ext>
                </a:extLst>
              </p:cNvPr>
              <p:cNvSpPr txBox="1">
                <a:spLocks noRot="1" noChangeAspect="1" noMove="1" noResize="1" noEditPoints="1" noAdjustHandles="1" noChangeArrowheads="1" noChangeShapeType="1" noTextEdit="1"/>
              </p:cNvSpPr>
              <p:nvPr/>
            </p:nvSpPr>
            <p:spPr>
              <a:xfrm>
                <a:off x="6869588" y="5142351"/>
                <a:ext cx="2331600" cy="461921"/>
              </a:xfrm>
              <a:prstGeom prst="rect">
                <a:avLst/>
              </a:prstGeom>
              <a:blipFill>
                <a:blip r:embed="rId9"/>
                <a:stretch>
                  <a:fillRect l="-1622" t="-2703" b="-13514"/>
                </a:stretch>
              </a:blipFill>
            </p:spPr>
            <p:txBody>
              <a:bodyPr/>
              <a:lstStyle/>
              <a:p>
                <a:r>
                  <a:rPr lang="en-US">
                    <a:noFill/>
                  </a:rPr>
                  <a:t> </a:t>
                </a:r>
              </a:p>
            </p:txBody>
          </p:sp>
        </mc:Fallback>
      </mc:AlternateContent>
    </p:spTree>
    <p:extLst>
      <p:ext uri="{BB962C8B-B14F-4D97-AF65-F5344CB8AC3E}">
        <p14:creationId xmlns:p14="http://schemas.microsoft.com/office/powerpoint/2010/main" val="145498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12" grpId="0"/>
      <p:bldP spid="13" grpId="0"/>
      <p:bldP spid="14" grpId="0"/>
      <p:bldP spid="15" grpId="0"/>
      <p:bldP spid="16"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73537-0870-69AB-7481-B6FE02E3A4BA}"/>
              </a:ext>
            </a:extLst>
          </p:cNvPr>
          <p:cNvSpPr>
            <a:spLocks noGrp="1"/>
          </p:cNvSpPr>
          <p:nvPr>
            <p:ph type="title"/>
          </p:nvPr>
        </p:nvSpPr>
        <p:spPr/>
        <p:txBody>
          <a:bodyPr/>
          <a:lstStyle/>
          <a:p>
            <a:r>
              <a:rPr lang="en-US" dirty="0"/>
              <a:t>PCA Example</a:t>
            </a:r>
          </a:p>
        </p:txBody>
      </p:sp>
      <p:sp>
        <p:nvSpPr>
          <p:cNvPr id="4" name="TextBox 3">
            <a:extLst>
              <a:ext uri="{FF2B5EF4-FFF2-40B4-BE49-F238E27FC236}">
                <a16:creationId xmlns:a16="http://schemas.microsoft.com/office/drawing/2014/main" id="{7938DD6F-8BFF-8A82-B979-FD37A6BF4CF2}"/>
              </a:ext>
            </a:extLst>
          </p:cNvPr>
          <p:cNvSpPr txBox="1"/>
          <p:nvPr/>
        </p:nvSpPr>
        <p:spPr>
          <a:xfrm>
            <a:off x="214489" y="874888"/>
            <a:ext cx="4062331" cy="369332"/>
          </a:xfrm>
          <a:prstGeom prst="rect">
            <a:avLst/>
          </a:prstGeom>
          <a:noFill/>
        </p:spPr>
        <p:txBody>
          <a:bodyPr wrap="none" rtlCol="0">
            <a:spAutoFit/>
          </a:bodyPr>
          <a:lstStyle/>
          <a:p>
            <a:r>
              <a:rPr lang="en-US" b="1" dirty="0">
                <a:solidFill>
                  <a:srgbClr val="C00000"/>
                </a:solidFill>
              </a:rPr>
              <a:t>3) Compute Eigenvalues and Eigenvectors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8C9D161-F845-D647-AC82-6D11DC0CD834}"/>
                  </a:ext>
                </a:extLst>
              </p:cNvPr>
              <p:cNvSpPr txBox="1"/>
              <p:nvPr/>
            </p:nvSpPr>
            <p:spPr>
              <a:xfrm>
                <a:off x="508000" y="1244220"/>
                <a:ext cx="9689640" cy="369332"/>
              </a:xfrm>
              <a:prstGeom prst="rect">
                <a:avLst/>
              </a:prstGeom>
              <a:noFill/>
            </p:spPr>
            <p:txBody>
              <a:bodyPr wrap="none" rtlCol="0">
                <a:spAutoFit/>
              </a:bodyPr>
              <a:lstStyle/>
              <a:p>
                <a:r>
                  <a:rPr lang="en-US" dirty="0"/>
                  <a:t>The vector x is an eigenvector of the matrix C with eigenvalue </a:t>
                </a:r>
                <a14:m>
                  <m:oMath xmlns:m="http://schemas.openxmlformats.org/officeDocument/2006/math">
                    <m:r>
                      <a:rPr lang="en-US" i="1" smtClean="0">
                        <a:latin typeface="Cambria Math" panose="02040503050406030204" pitchFamily="18" charset="0"/>
                        <a:ea typeface="Cambria Math" panose="02040503050406030204" pitchFamily="18" charset="0"/>
                      </a:rPr>
                      <m:t>𝜆</m:t>
                    </m:r>
                  </m:oMath>
                </a14:m>
                <a:r>
                  <a:rPr lang="en-US" dirty="0"/>
                  <a:t> (lambda) if the following equation holds:</a:t>
                </a:r>
              </a:p>
            </p:txBody>
          </p:sp>
        </mc:Choice>
        <mc:Fallback xmlns="">
          <p:sp>
            <p:nvSpPr>
              <p:cNvPr id="6" name="TextBox 5">
                <a:extLst>
                  <a:ext uri="{FF2B5EF4-FFF2-40B4-BE49-F238E27FC236}">
                    <a16:creationId xmlns:a16="http://schemas.microsoft.com/office/drawing/2014/main" id="{C8C9D161-F845-D647-AC82-6D11DC0CD834}"/>
                  </a:ext>
                </a:extLst>
              </p:cNvPr>
              <p:cNvSpPr txBox="1">
                <a:spLocks noRot="1" noChangeAspect="1" noMove="1" noResize="1" noEditPoints="1" noAdjustHandles="1" noChangeArrowheads="1" noChangeShapeType="1" noTextEdit="1"/>
              </p:cNvSpPr>
              <p:nvPr/>
            </p:nvSpPr>
            <p:spPr>
              <a:xfrm>
                <a:off x="508000" y="1244220"/>
                <a:ext cx="9689640" cy="369332"/>
              </a:xfrm>
              <a:prstGeom prst="rect">
                <a:avLst/>
              </a:prstGeom>
              <a:blipFill>
                <a:blip r:embed="rId2"/>
                <a:stretch>
                  <a:fillRect l="-392" t="-3226" b="-19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74D5738-3002-942A-0A42-D03C4CFC790A}"/>
                  </a:ext>
                </a:extLst>
              </p:cNvPr>
              <p:cNvSpPr txBox="1"/>
              <p:nvPr/>
            </p:nvSpPr>
            <p:spPr>
              <a:xfrm>
                <a:off x="587022" y="1659718"/>
                <a:ext cx="7184403" cy="369332"/>
              </a:xfrm>
              <a:prstGeom prst="rect">
                <a:avLst/>
              </a:prstGeom>
              <a:noFill/>
            </p:spPr>
            <p:txBody>
              <a:bodyPr wrap="none" rtlCol="0">
                <a:spAutoFit/>
              </a:bodyPr>
              <a:lstStyle/>
              <a:p>
                <a:r>
                  <a:rPr lang="en-US" b="0" dirty="0"/>
                  <a:t>C</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𝐶𝑥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𝑜𝑟</m:t>
                    </m:r>
                    <m:r>
                      <a:rPr lang="en-US" b="0" i="1" smtClean="0">
                        <a:latin typeface="Cambria Math" panose="02040503050406030204" pitchFamily="18" charset="0"/>
                        <a:ea typeface="Cambria Math" panose="02040503050406030204" pitchFamily="18" charset="0"/>
                      </a:rPr>
                      <m:t>,</m:t>
                    </m:r>
                  </m:oMath>
                </a14:m>
                <a:r>
                  <a:rPr lang="en-US" dirty="0"/>
                  <a:t> C</a:t>
                </a:r>
                <a14:m>
                  <m:oMath xmlns:m="http://schemas.openxmlformats.org/officeDocument/2006/math">
                    <m:r>
                      <a:rPr lang="en-US" i="1">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𝜆</m:t>
                    </m:r>
                    <m:r>
                      <a:rPr lang="en-US" i="1">
                        <a:latin typeface="Cambria Math" panose="02040503050406030204" pitchFamily="18" charset="0"/>
                        <a:ea typeface="Cambria Math" panose="02040503050406030204" pitchFamily="18" charset="0"/>
                      </a:rPr>
                      <m:t>𝑥</m:t>
                    </m:r>
                  </m:oMath>
                </a14:m>
                <a:r>
                  <a:rPr lang="en-US" dirty="0"/>
                  <a:t> = 0 or, </a:t>
                </a:r>
                <a14:m>
                  <m:oMath xmlns:m="http://schemas.openxmlformats.org/officeDocument/2006/math">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𝝀</m:t>
                        </m:r>
                        <m:r>
                          <a:rPr lang="en-US" b="1" i="1" smtClean="0">
                            <a:solidFill>
                              <a:schemeClr val="tx1"/>
                            </a:solidFill>
                            <a:latin typeface="Cambria Math" panose="02040503050406030204" pitchFamily="18" charset="0"/>
                            <a:ea typeface="Cambria Math" panose="02040503050406030204" pitchFamily="18" charset="0"/>
                          </a:rPr>
                          <m:t>𝑰</m:t>
                        </m:r>
                      </m:e>
                    </m:d>
                    <m:r>
                      <a:rPr lang="en-US" b="1" i="1" smtClean="0">
                        <a:solidFill>
                          <a:schemeClr val="tx1"/>
                        </a:solidFill>
                        <a:latin typeface="Cambria Math" panose="02040503050406030204" pitchFamily="18" charset="0"/>
                      </a:rPr>
                      <m:t>𝒙</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𝟎</m:t>
                    </m:r>
                    <m:r>
                      <a:rPr lang="en-US" b="1"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𝐼</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𝑖𝑑𝑒𝑛𝑡𝑖𝑡𝑦</m:t>
                    </m:r>
                    <m:r>
                      <a:rPr lang="en-US" b="0" i="1" smtClean="0">
                        <a:latin typeface="Cambria Math" panose="02040503050406030204" pitchFamily="18" charset="0"/>
                      </a:rPr>
                      <m:t> </m:t>
                    </m:r>
                    <m:r>
                      <a:rPr lang="en-US" b="0" i="1" smtClean="0">
                        <a:latin typeface="Cambria Math" panose="02040503050406030204" pitchFamily="18" charset="0"/>
                      </a:rPr>
                      <m:t>𝑚𝑎𝑡𝑟𝑖𝑥</m:t>
                    </m:r>
                    <m:r>
                      <a:rPr lang="en-US" b="0" i="1" smtClean="0">
                        <a:latin typeface="Cambria Math" panose="02040503050406030204" pitchFamily="18" charset="0"/>
                      </a:rPr>
                      <m:t>.</m:t>
                    </m:r>
                  </m:oMath>
                </a14:m>
                <a:endParaRPr lang="en-US" dirty="0"/>
              </a:p>
            </p:txBody>
          </p:sp>
        </mc:Choice>
        <mc:Fallback xmlns="">
          <p:sp>
            <p:nvSpPr>
              <p:cNvPr id="7" name="TextBox 6">
                <a:extLst>
                  <a:ext uri="{FF2B5EF4-FFF2-40B4-BE49-F238E27FC236}">
                    <a16:creationId xmlns:a16="http://schemas.microsoft.com/office/drawing/2014/main" id="{E74D5738-3002-942A-0A42-D03C4CFC790A}"/>
                  </a:ext>
                </a:extLst>
              </p:cNvPr>
              <p:cNvSpPr txBox="1">
                <a:spLocks noRot="1" noChangeAspect="1" noMove="1" noResize="1" noEditPoints="1" noAdjustHandles="1" noChangeArrowheads="1" noChangeShapeType="1" noTextEdit="1"/>
              </p:cNvSpPr>
              <p:nvPr/>
            </p:nvSpPr>
            <p:spPr>
              <a:xfrm>
                <a:off x="587022" y="1659718"/>
                <a:ext cx="7184403" cy="369332"/>
              </a:xfrm>
              <a:prstGeom prst="rect">
                <a:avLst/>
              </a:prstGeom>
              <a:blipFill>
                <a:blip r:embed="rId3"/>
                <a:stretch>
                  <a:fillRect l="-707"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1742FA7-3F7B-4AD9-BB56-24992C51732B}"/>
                  </a:ext>
                </a:extLst>
              </p:cNvPr>
              <p:cNvSpPr txBox="1"/>
              <p:nvPr/>
            </p:nvSpPr>
            <p:spPr>
              <a:xfrm>
                <a:off x="9578921" y="1617678"/>
                <a:ext cx="2331600"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i="1">
                                    <a:latin typeface="Cambria Math" panose="02040503050406030204" pitchFamily="18" charset="0"/>
                                  </a:rPr>
                                  <m:t>4</m:t>
                                </m:r>
                                <m:r>
                                  <a:rPr lang="en-US" i="1">
                                    <a:latin typeface="Cambria Math" panose="02040503050406030204" pitchFamily="18" charset="0"/>
                                  </a:rPr>
                                  <m:t>33.44</m:t>
                                </m:r>
                              </m:e>
                              <m:e>
                                <m:r>
                                  <a:rPr lang="en-US" i="1">
                                    <a:latin typeface="Cambria Math" panose="02040503050406030204" pitchFamily="18" charset="0"/>
                                  </a:rPr>
                                  <m:t>268.3</m:t>
                                </m:r>
                                <m:r>
                                  <a:rPr lang="en-US" b="0" i="1" smtClean="0">
                                    <a:latin typeface="Cambria Math" panose="02040503050406030204" pitchFamily="18" charset="0"/>
                                  </a:rPr>
                                  <m:t>0</m:t>
                                </m:r>
                              </m:e>
                            </m:mr>
                            <m:mr>
                              <m:e>
                                <m:r>
                                  <a:rPr lang="en-US" i="1">
                                    <a:latin typeface="Cambria Math" panose="02040503050406030204" pitchFamily="18" charset="0"/>
                                  </a:rPr>
                                  <m:t>268.3</m:t>
                                </m:r>
                                <m:r>
                                  <a:rPr lang="en-US" b="0" i="1" smtClean="0">
                                    <a:latin typeface="Cambria Math" panose="02040503050406030204" pitchFamily="18" charset="0"/>
                                  </a:rPr>
                                  <m:t>0</m:t>
                                </m:r>
                              </m:e>
                              <m:e>
                                <m:r>
                                  <a:rPr lang="en-US" i="1">
                                    <a:latin typeface="Cambria Math" panose="02040503050406030204" pitchFamily="18" charset="0"/>
                                  </a:rPr>
                                  <m:t>166.41</m:t>
                                </m:r>
                              </m:e>
                            </m:mr>
                          </m:m>
                        </m:e>
                      </m:d>
                    </m:oMath>
                  </m:oMathPara>
                </a14:m>
                <a:endParaRPr lang="en-US" dirty="0"/>
              </a:p>
            </p:txBody>
          </p:sp>
        </mc:Choice>
        <mc:Fallback xmlns="">
          <p:sp>
            <p:nvSpPr>
              <p:cNvPr id="9" name="TextBox 8">
                <a:extLst>
                  <a:ext uri="{FF2B5EF4-FFF2-40B4-BE49-F238E27FC236}">
                    <a16:creationId xmlns:a16="http://schemas.microsoft.com/office/drawing/2014/main" id="{A1742FA7-3F7B-4AD9-BB56-24992C51732B}"/>
                  </a:ext>
                </a:extLst>
              </p:cNvPr>
              <p:cNvSpPr txBox="1">
                <a:spLocks noRot="1" noChangeAspect="1" noMove="1" noResize="1" noEditPoints="1" noAdjustHandles="1" noChangeArrowheads="1" noChangeShapeType="1" noTextEdit="1"/>
              </p:cNvSpPr>
              <p:nvPr/>
            </p:nvSpPr>
            <p:spPr>
              <a:xfrm>
                <a:off x="9578921" y="1617678"/>
                <a:ext cx="2331600" cy="461921"/>
              </a:xfrm>
              <a:prstGeom prst="rect">
                <a:avLst/>
              </a:prstGeom>
              <a:blipFill>
                <a:blip r:embed="rId4"/>
                <a:stretch>
                  <a:fillRect l="-2174" t="-2703"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172028-1906-EBD8-8E2F-84CB3F8D0B62}"/>
                  </a:ext>
                </a:extLst>
              </p:cNvPr>
              <p:cNvSpPr txBox="1"/>
              <p:nvPr/>
            </p:nvSpPr>
            <p:spPr>
              <a:xfrm>
                <a:off x="5141693" y="2380353"/>
                <a:ext cx="2733377" cy="4675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i="1">
                                    <a:latin typeface="Cambria Math" panose="02040503050406030204" pitchFamily="18" charset="0"/>
                                  </a:rPr>
                                  <m:t>4</m:t>
                                </m:r>
                                <m:r>
                                  <a:rPr lang="en-US" i="1">
                                    <a:latin typeface="Cambria Math" panose="02040503050406030204" pitchFamily="18" charset="0"/>
                                  </a:rPr>
                                  <m:t>33.44</m:t>
                                </m:r>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𝜆</m:t>
                                </m:r>
                              </m:e>
                              <m:e>
                                <m:r>
                                  <a:rPr lang="en-US" i="1">
                                    <a:latin typeface="Cambria Math" panose="02040503050406030204" pitchFamily="18" charset="0"/>
                                  </a:rPr>
                                  <m:t>268.3</m:t>
                                </m:r>
                                <m:r>
                                  <a:rPr lang="en-US" b="0" i="1" smtClean="0">
                                    <a:latin typeface="Cambria Math" panose="02040503050406030204" pitchFamily="18" charset="0"/>
                                  </a:rPr>
                                  <m:t>0</m:t>
                                </m:r>
                              </m:e>
                            </m:mr>
                            <m:mr>
                              <m:e>
                                <m:r>
                                  <a:rPr lang="en-US" i="1">
                                    <a:latin typeface="Cambria Math" panose="02040503050406030204" pitchFamily="18" charset="0"/>
                                  </a:rPr>
                                  <m:t>268.3</m:t>
                                </m:r>
                                <m:r>
                                  <a:rPr lang="en-US" b="0" i="1" smtClean="0">
                                    <a:latin typeface="Cambria Math" panose="02040503050406030204" pitchFamily="18" charset="0"/>
                                  </a:rPr>
                                  <m:t>0</m:t>
                                </m:r>
                              </m:e>
                              <m:e>
                                <m:r>
                                  <a:rPr lang="en-US" i="1">
                                    <a:latin typeface="Cambria Math" panose="02040503050406030204" pitchFamily="18" charset="0"/>
                                  </a:rPr>
                                  <m:t>166.41</m:t>
                                </m:r>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𝜆</m:t>
                                </m:r>
                              </m:e>
                            </m:mr>
                          </m:m>
                        </m:e>
                      </m:d>
                    </m:oMath>
                  </m:oMathPara>
                </a14:m>
                <a:endParaRPr lang="en-US" dirty="0"/>
              </a:p>
            </p:txBody>
          </p:sp>
        </mc:Choice>
        <mc:Fallback xmlns="">
          <p:sp>
            <p:nvSpPr>
              <p:cNvPr id="10" name="TextBox 9">
                <a:extLst>
                  <a:ext uri="{FF2B5EF4-FFF2-40B4-BE49-F238E27FC236}">
                    <a16:creationId xmlns:a16="http://schemas.microsoft.com/office/drawing/2014/main" id="{31172028-1906-EBD8-8E2F-84CB3F8D0B62}"/>
                  </a:ext>
                </a:extLst>
              </p:cNvPr>
              <p:cNvSpPr txBox="1">
                <a:spLocks noRot="1" noChangeAspect="1" noMove="1" noResize="1" noEditPoints="1" noAdjustHandles="1" noChangeArrowheads="1" noChangeShapeType="1" noTextEdit="1"/>
              </p:cNvSpPr>
              <p:nvPr/>
            </p:nvSpPr>
            <p:spPr>
              <a:xfrm>
                <a:off x="5141693" y="2380353"/>
                <a:ext cx="2733377" cy="467564"/>
              </a:xfrm>
              <a:prstGeom prst="rect">
                <a:avLst/>
              </a:prstGeom>
              <a:blipFill>
                <a:blip r:embed="rId5"/>
                <a:stretch>
                  <a:fillRect t="-7895" b="-3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62AE02-3387-4003-B9C9-91152F3EB24A}"/>
                  </a:ext>
                </a:extLst>
              </p:cNvPr>
              <p:cNvSpPr txBox="1"/>
              <p:nvPr/>
            </p:nvSpPr>
            <p:spPr>
              <a:xfrm>
                <a:off x="753045" y="2380353"/>
                <a:ext cx="2365071" cy="485774"/>
              </a:xfrm>
              <a:prstGeom prst="rect">
                <a:avLst/>
              </a:prstGeom>
              <a:noFill/>
            </p:spPr>
            <p:txBody>
              <a:bodyPr wrap="none" lIns="0" tIns="0" rIns="0" bIns="0" rtlCol="0">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𝝀</m:t>
                    </m:r>
                    <m:r>
                      <a:rPr lang="en-US" b="1" i="1" smtClean="0">
                        <a:latin typeface="Cambria Math" panose="02040503050406030204" pitchFamily="18" charset="0"/>
                        <a:ea typeface="Cambria Math" panose="02040503050406030204" pitchFamily="18" charset="0"/>
                      </a:rPr>
                      <m:t>𝑰</m:t>
                    </m:r>
                    <m:r>
                      <a:rPr lang="en-US" b="0"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𝝀</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a14:m>
                <a:r>
                  <a:rPr lang="en-US" dirty="0"/>
                  <a:t> =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n-US" b="1" i="1">
                                  <a:latin typeface="Cambria Math" panose="02040503050406030204" pitchFamily="18" charset="0"/>
                                  <a:ea typeface="Cambria Math" panose="02040503050406030204" pitchFamily="18" charset="0"/>
                                </a:rPr>
                                <m:t>𝝀</m:t>
                              </m:r>
                            </m:e>
                            <m:e>
                              <m:r>
                                <a:rPr lang="en-US" i="1">
                                  <a:latin typeface="Cambria Math" panose="02040503050406030204" pitchFamily="18" charset="0"/>
                                </a:rPr>
                                <m:t>0</m:t>
                              </m:r>
                            </m:e>
                          </m:mr>
                          <m:mr>
                            <m:e>
                              <m:r>
                                <a:rPr lang="en-US" i="1">
                                  <a:latin typeface="Cambria Math" panose="02040503050406030204" pitchFamily="18" charset="0"/>
                                </a:rPr>
                                <m:t>0</m:t>
                              </m:r>
                            </m:e>
                            <m:e>
                              <m:r>
                                <a:rPr lang="en-US" b="1" i="1">
                                  <a:latin typeface="Cambria Math" panose="02040503050406030204" pitchFamily="18" charset="0"/>
                                  <a:ea typeface="Cambria Math" panose="02040503050406030204" pitchFamily="18" charset="0"/>
                                </a:rPr>
                                <m:t>𝝀</m:t>
                              </m:r>
                            </m:e>
                          </m:mr>
                        </m:m>
                      </m:e>
                    </m:d>
                  </m:oMath>
                </a14:m>
                <a:r>
                  <a:rPr lang="en-US" dirty="0"/>
                  <a:t> </a:t>
                </a:r>
              </a:p>
            </p:txBody>
          </p:sp>
        </mc:Choice>
        <mc:Fallback xmlns="">
          <p:sp>
            <p:nvSpPr>
              <p:cNvPr id="11" name="TextBox 10">
                <a:extLst>
                  <a:ext uri="{FF2B5EF4-FFF2-40B4-BE49-F238E27FC236}">
                    <a16:creationId xmlns:a16="http://schemas.microsoft.com/office/drawing/2014/main" id="{8B62AE02-3387-4003-B9C9-91152F3EB24A}"/>
                  </a:ext>
                </a:extLst>
              </p:cNvPr>
              <p:cNvSpPr txBox="1">
                <a:spLocks noRot="1" noChangeAspect="1" noMove="1" noResize="1" noEditPoints="1" noAdjustHandles="1" noChangeArrowheads="1" noChangeShapeType="1" noTextEdit="1"/>
              </p:cNvSpPr>
              <p:nvPr/>
            </p:nvSpPr>
            <p:spPr>
              <a:xfrm>
                <a:off x="753045" y="2380353"/>
                <a:ext cx="2365071" cy="485774"/>
              </a:xfrm>
              <a:prstGeom prst="rect">
                <a:avLst/>
              </a:prstGeom>
              <a:blipFill>
                <a:blip r:embed="rId6"/>
                <a:stretch>
                  <a:fillRect l="-3743" b="-128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B6742FD-8C31-C9EC-AA8A-61568BCC43CB}"/>
                  </a:ext>
                </a:extLst>
              </p:cNvPr>
              <p:cNvSpPr txBox="1"/>
              <p:nvPr/>
            </p:nvSpPr>
            <p:spPr>
              <a:xfrm>
                <a:off x="3951111" y="2438400"/>
                <a:ext cx="1190582" cy="369332"/>
              </a:xfrm>
              <a:prstGeom prst="rect">
                <a:avLst/>
              </a:prstGeom>
              <a:noFill/>
            </p:spPr>
            <p:txBody>
              <a:bodyPr wrap="none" rtlCol="0">
                <a:spAutoFit/>
              </a:bodyPr>
              <a:lstStyle/>
              <a:p>
                <a14:m>
                  <m:oMath xmlns:m="http://schemas.openxmlformats.org/officeDocument/2006/math">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𝝀</m:t>
                        </m:r>
                        <m:r>
                          <a:rPr lang="en-US" b="1" i="1" smtClean="0">
                            <a:solidFill>
                              <a:schemeClr val="tx1"/>
                            </a:solidFill>
                            <a:latin typeface="Cambria Math" panose="02040503050406030204" pitchFamily="18" charset="0"/>
                            <a:ea typeface="Cambria Math" panose="02040503050406030204" pitchFamily="18" charset="0"/>
                          </a:rPr>
                          <m:t>𝑰</m:t>
                        </m:r>
                      </m:e>
                    </m:d>
                  </m:oMath>
                </a14:m>
                <a:r>
                  <a:rPr lang="en-US" dirty="0"/>
                  <a:t> =</a:t>
                </a:r>
              </a:p>
            </p:txBody>
          </p:sp>
        </mc:Choice>
        <mc:Fallback xmlns="">
          <p:sp>
            <p:nvSpPr>
              <p:cNvPr id="12" name="TextBox 11">
                <a:extLst>
                  <a:ext uri="{FF2B5EF4-FFF2-40B4-BE49-F238E27FC236}">
                    <a16:creationId xmlns:a16="http://schemas.microsoft.com/office/drawing/2014/main" id="{6B6742FD-8C31-C9EC-AA8A-61568BCC43CB}"/>
                  </a:ext>
                </a:extLst>
              </p:cNvPr>
              <p:cNvSpPr txBox="1">
                <a:spLocks noRot="1" noChangeAspect="1" noMove="1" noResize="1" noEditPoints="1" noAdjustHandles="1" noChangeArrowheads="1" noChangeShapeType="1" noTextEdit="1"/>
              </p:cNvSpPr>
              <p:nvPr/>
            </p:nvSpPr>
            <p:spPr>
              <a:xfrm>
                <a:off x="3951111" y="2438400"/>
                <a:ext cx="1190582" cy="369332"/>
              </a:xfrm>
              <a:prstGeom prst="rect">
                <a:avLst/>
              </a:prstGeom>
              <a:blipFill>
                <a:blip r:embed="rId7"/>
                <a:stretch>
                  <a:fillRect t="-6667" r="-4255" b="-23333"/>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A9BF8450-4DB1-6BEE-9980-88DE4A0D3AEC}"/>
              </a:ext>
            </a:extLst>
          </p:cNvPr>
          <p:cNvSpPr txBox="1"/>
          <p:nvPr/>
        </p:nvSpPr>
        <p:spPr>
          <a:xfrm>
            <a:off x="914400" y="3454400"/>
            <a:ext cx="3520516" cy="369332"/>
          </a:xfrm>
          <a:prstGeom prst="rect">
            <a:avLst/>
          </a:prstGeom>
          <a:noFill/>
        </p:spPr>
        <p:txBody>
          <a:bodyPr wrap="square" rtlCol="0">
            <a:spAutoFit/>
          </a:bodyPr>
          <a:lstStyle/>
          <a:p>
            <a:r>
              <a:rPr lang="en-US" dirty="0"/>
              <a:t>Compute the </a:t>
            </a:r>
            <a:r>
              <a:rPr lang="en-IN" b="0" i="0" u="none" strike="noStrike" dirty="0">
                <a:solidFill>
                  <a:srgbClr val="000000"/>
                </a:solidFill>
                <a:effectLst/>
                <a:latin typeface="-webkit-standard"/>
              </a:rPr>
              <a:t>Determinant</a:t>
            </a:r>
            <a:r>
              <a:rPr lang="en-US" dirty="0"/>
              <a:t> of matrix </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B03CF5C-6D84-9519-37EE-4FB72580B794}"/>
                  </a:ext>
                </a:extLst>
              </p:cNvPr>
              <p:cNvSpPr txBox="1"/>
              <p:nvPr/>
            </p:nvSpPr>
            <p:spPr>
              <a:xfrm>
                <a:off x="4276820" y="3403600"/>
                <a:ext cx="2562881" cy="5598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𝑎</m:t>
                                </m:r>
                              </m:e>
                              <m:e>
                                <m:r>
                                  <a:rPr lang="en-US" b="0" i="1" smtClean="0">
                                    <a:latin typeface="Cambria Math" panose="02040503050406030204" pitchFamily="18" charset="0"/>
                                  </a:rPr>
                                  <m:t>𝑏</m:t>
                                </m:r>
                              </m:e>
                            </m:mr>
                            <m:mr>
                              <m:e>
                                <m:r>
                                  <a:rPr lang="en-US" b="0" i="1" smtClean="0">
                                    <a:latin typeface="Cambria Math" panose="02040503050406030204" pitchFamily="18" charset="0"/>
                                  </a:rPr>
                                  <m:t>𝑐</m:t>
                                </m:r>
                              </m:e>
                              <m:e>
                                <m:r>
                                  <a:rPr lang="en-US" b="0" i="1" smtClean="0">
                                    <a:latin typeface="Cambria Math" panose="02040503050406030204" pitchFamily="18" charset="0"/>
                                  </a:rPr>
                                  <m:t>𝑑</m:t>
                                </m:r>
                              </m:e>
                            </m:mr>
                          </m:m>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𝑑</m:t>
                          </m:r>
                        </m:e>
                      </m:d>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CB03CF5C-6D84-9519-37EE-4FB72580B794}"/>
                  </a:ext>
                </a:extLst>
              </p:cNvPr>
              <p:cNvSpPr txBox="1">
                <a:spLocks noRot="1" noChangeAspect="1" noMove="1" noResize="1" noEditPoints="1" noAdjustHandles="1" noChangeArrowheads="1" noChangeShapeType="1" noTextEdit="1"/>
              </p:cNvSpPr>
              <p:nvPr/>
            </p:nvSpPr>
            <p:spPr>
              <a:xfrm>
                <a:off x="4276820" y="3403600"/>
                <a:ext cx="2562881" cy="559833"/>
              </a:xfrm>
              <a:prstGeom prst="rect">
                <a:avLst/>
              </a:prstGeom>
              <a:blipFill>
                <a:blip r:embed="rId8"/>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7FB23FD-EDE8-729F-8EDE-E7642870C2D9}"/>
                  </a:ext>
                </a:extLst>
              </p:cNvPr>
              <p:cNvSpPr txBox="1"/>
              <p:nvPr/>
            </p:nvSpPr>
            <p:spPr>
              <a:xfrm>
                <a:off x="2743200" y="4267200"/>
                <a:ext cx="5554341" cy="6699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𝒅𝒆𝒕</m:t>
                      </m:r>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𝝀</m:t>
                          </m:r>
                          <m:r>
                            <a:rPr lang="en-US" b="1" i="1" smtClean="0">
                              <a:solidFill>
                                <a:schemeClr val="tx1"/>
                              </a:solidFill>
                              <a:latin typeface="Cambria Math" panose="02040503050406030204" pitchFamily="18" charset="0"/>
                              <a:ea typeface="Cambria Math" panose="02040503050406030204" pitchFamily="18" charset="0"/>
                            </a:rPr>
                            <m:t>𝑰</m:t>
                          </m:r>
                        </m:e>
                      </m:d>
                      <m:r>
                        <a:rPr lang="en-US" b="1" i="1" smtClean="0">
                          <a:solidFill>
                            <a:schemeClr val="tx1"/>
                          </a:solidFill>
                          <a:latin typeface="Cambria Math" panose="02040503050406030204" pitchFamily="18" charset="0"/>
                          <a:ea typeface="Cambria Math" panose="02040503050406030204" pitchFamily="18" charset="0"/>
                        </a:rPr>
                        <m:t>=</m:t>
                      </m:r>
                      <m:r>
                        <m:rPr>
                          <m:nor/>
                        </m:rPr>
                        <a:rPr lang="el-GR"/>
                        <m:t>(433.49−</m:t>
                      </m:r>
                      <m:r>
                        <a:rPr lang="en-US" b="1" i="1">
                          <a:latin typeface="Cambria Math" panose="02040503050406030204" pitchFamily="18" charset="0"/>
                          <a:ea typeface="Cambria Math" panose="02040503050406030204" pitchFamily="18" charset="0"/>
                        </a:rPr>
                        <m:t>𝝀</m:t>
                      </m:r>
                      <m:r>
                        <m:rPr>
                          <m:nor/>
                        </m:rPr>
                        <a:rPr lang="el-GR"/>
                        <m:t>)(166.41−</m:t>
                      </m:r>
                      <m:r>
                        <a:rPr lang="en-US" b="1" i="1">
                          <a:latin typeface="Cambria Math" panose="02040503050406030204" pitchFamily="18" charset="0"/>
                          <a:ea typeface="Cambria Math" panose="02040503050406030204" pitchFamily="18" charset="0"/>
                        </a:rPr>
                        <m:t>𝝀</m:t>
                      </m:r>
                      <m:r>
                        <m:rPr>
                          <m:nor/>
                        </m:rPr>
                        <a:rPr lang="el-GR"/>
                        <m:t>)−(268.30×268.30)</m:t>
                      </m:r>
                    </m:oMath>
                  </m:oMathPara>
                </a14:m>
                <a:endParaRPr lang="en-US" dirty="0"/>
              </a:p>
              <a:p>
                <a:r>
                  <a:rPr lang="en-US" dirty="0"/>
                  <a:t>	         =</a:t>
                </a:r>
                <a14:m>
                  <m:oMath xmlns:m="http://schemas.openxmlformats.org/officeDocument/2006/math">
                    <m:sSup>
                      <m:sSupPr>
                        <m:ctrlPr>
                          <a:rPr lang="en-US" i="1" smtClean="0">
                            <a:latin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𝝀</m:t>
                        </m:r>
                      </m:e>
                      <m:sup>
                        <m:r>
                          <a:rPr lang="en-US" b="0" i="1" smtClean="0">
                            <a:latin typeface="Cambria Math" panose="02040503050406030204" pitchFamily="18" charset="0"/>
                          </a:rPr>
                          <m:t>2</m:t>
                        </m:r>
                      </m:sup>
                    </m:sSup>
                  </m:oMath>
                </a14:m>
                <a:r>
                  <a:rPr lang="el-GR" b="0" i="0" u="none" strike="noStrike" dirty="0">
                    <a:solidFill>
                      <a:srgbClr val="000000"/>
                    </a:solidFill>
                    <a:effectLst/>
                  </a:rPr>
                  <a:t>−599.90</a:t>
                </a:r>
                <a:r>
                  <a:rPr lang="en-US" b="1" dirty="0">
                    <a:ea typeface="Cambria Math" panose="020405030504060302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𝝀</m:t>
                    </m:r>
                    <m:r>
                      <a:rPr lang="en-US" b="1" i="1">
                        <a:latin typeface="Cambria Math" panose="02040503050406030204" pitchFamily="18" charset="0"/>
                        <a:ea typeface="Cambria Math" panose="02040503050406030204" pitchFamily="18" charset="0"/>
                      </a:rPr>
                      <m:t> </m:t>
                    </m:r>
                  </m:oMath>
                </a14:m>
                <a:r>
                  <a:rPr lang="el-GR" b="0" i="0" u="none" strike="noStrike" dirty="0">
                    <a:solidFill>
                      <a:srgbClr val="000000"/>
                    </a:solidFill>
                    <a:effectLst/>
                  </a:rPr>
                  <a:t>+</a:t>
                </a:r>
                <a:r>
                  <a:rPr lang="en-US" b="0" i="0" u="none" strike="noStrike" dirty="0">
                    <a:solidFill>
                      <a:srgbClr val="000000"/>
                    </a:solidFill>
                    <a:effectLst/>
                  </a:rPr>
                  <a:t>2118.23 = 0</a:t>
                </a:r>
                <a:r>
                  <a:rPr lang="el-GR" b="0" i="0" u="none" strike="noStrike" dirty="0">
                    <a:solidFill>
                      <a:srgbClr val="000000"/>
                    </a:solidFill>
                    <a:effectLst/>
                  </a:rPr>
                  <a:t> </a:t>
                </a:r>
                <a:r>
                  <a:rPr lang="en-US" dirty="0"/>
                  <a:t>	</a:t>
                </a:r>
              </a:p>
            </p:txBody>
          </p:sp>
        </mc:Choice>
        <mc:Fallback xmlns="">
          <p:sp>
            <p:nvSpPr>
              <p:cNvPr id="15" name="TextBox 14">
                <a:extLst>
                  <a:ext uri="{FF2B5EF4-FFF2-40B4-BE49-F238E27FC236}">
                    <a16:creationId xmlns:a16="http://schemas.microsoft.com/office/drawing/2014/main" id="{C7FB23FD-EDE8-729F-8EDE-E7642870C2D9}"/>
                  </a:ext>
                </a:extLst>
              </p:cNvPr>
              <p:cNvSpPr txBox="1">
                <a:spLocks noRot="1" noChangeAspect="1" noMove="1" noResize="1" noEditPoints="1" noAdjustHandles="1" noChangeArrowheads="1" noChangeShapeType="1" noTextEdit="1"/>
              </p:cNvSpPr>
              <p:nvPr/>
            </p:nvSpPr>
            <p:spPr>
              <a:xfrm>
                <a:off x="2743200" y="4267200"/>
                <a:ext cx="5554341" cy="669992"/>
              </a:xfrm>
              <a:prstGeom prst="rect">
                <a:avLst/>
              </a:prstGeom>
              <a:blipFill>
                <a:blip r:embed="rId9"/>
                <a:stretch>
                  <a:fillRect b="-94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23E7A63-AF9C-4203-1AC3-8EA92F010E52}"/>
                  </a:ext>
                </a:extLst>
              </p:cNvPr>
              <p:cNvSpPr txBox="1"/>
              <p:nvPr/>
            </p:nvSpPr>
            <p:spPr>
              <a:xfrm>
                <a:off x="465227" y="5013615"/>
                <a:ext cx="3149600" cy="1200329"/>
              </a:xfrm>
              <a:prstGeom prst="rect">
                <a:avLst/>
              </a:prstGeom>
              <a:noFill/>
            </p:spPr>
            <p:txBody>
              <a:bodyPr wrap="square" rtlCol="0">
                <a:spAutoFit/>
              </a:bodyPr>
              <a:lstStyle/>
              <a:p>
                <a:r>
                  <a:rPr lang="en-IN" b="0" i="0" u="none" strike="noStrike" dirty="0">
                    <a:solidFill>
                      <a:srgbClr val="000000"/>
                    </a:solidFill>
                    <a:effectLst/>
                    <a:latin typeface="-webkit-standard"/>
                  </a:rPr>
                  <a:t>The </a:t>
                </a:r>
                <a:r>
                  <a:rPr lang="en-IN" b="1" i="0" u="none" strike="noStrike" dirty="0">
                    <a:solidFill>
                      <a:srgbClr val="000000"/>
                    </a:solidFill>
                    <a:effectLst/>
                  </a:rPr>
                  <a:t>quadratic formula</a:t>
                </a:r>
                <a:r>
                  <a:rPr lang="en-IN" b="0" i="0" u="none" strike="noStrike" dirty="0">
                    <a:solidFill>
                      <a:srgbClr val="000000"/>
                    </a:solidFill>
                    <a:effectLst/>
                    <a:latin typeface="-webkit-standard"/>
                  </a:rPr>
                  <a:t> is used to find the roots (solutions) of a quadratic equation of the form:</a:t>
                </a:r>
              </a:p>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𝑎𝑥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𝑏𝑥</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=0</m:t>
                      </m:r>
                    </m:oMath>
                  </m:oMathPara>
                </a14:m>
                <a:endParaRPr lang="en-US" dirty="0"/>
              </a:p>
            </p:txBody>
          </p:sp>
        </mc:Choice>
        <mc:Fallback xmlns="">
          <p:sp>
            <p:nvSpPr>
              <p:cNvPr id="16" name="TextBox 15">
                <a:extLst>
                  <a:ext uri="{FF2B5EF4-FFF2-40B4-BE49-F238E27FC236}">
                    <a16:creationId xmlns:a16="http://schemas.microsoft.com/office/drawing/2014/main" id="{423E7A63-AF9C-4203-1AC3-8EA92F010E52}"/>
                  </a:ext>
                </a:extLst>
              </p:cNvPr>
              <p:cNvSpPr txBox="1">
                <a:spLocks noRot="1" noChangeAspect="1" noMove="1" noResize="1" noEditPoints="1" noAdjustHandles="1" noChangeArrowheads="1" noChangeShapeType="1" noTextEdit="1"/>
              </p:cNvSpPr>
              <p:nvPr/>
            </p:nvSpPr>
            <p:spPr>
              <a:xfrm>
                <a:off x="465227" y="5013615"/>
                <a:ext cx="3149600" cy="1200329"/>
              </a:xfrm>
              <a:prstGeom prst="rect">
                <a:avLst/>
              </a:prstGeom>
              <a:blipFill>
                <a:blip r:embed="rId10"/>
                <a:stretch>
                  <a:fillRect l="-1606" t="-2083" r="-321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8B972B7-B703-FD5B-7656-DAA23695D273}"/>
              </a:ext>
            </a:extLst>
          </p:cNvPr>
          <p:cNvSpPr txBox="1"/>
          <p:nvPr/>
        </p:nvSpPr>
        <p:spPr>
          <a:xfrm>
            <a:off x="4172061" y="5013615"/>
            <a:ext cx="6124222" cy="646331"/>
          </a:xfrm>
          <a:prstGeom prst="rect">
            <a:avLst/>
          </a:prstGeom>
          <a:noFill/>
        </p:spPr>
        <p:txBody>
          <a:bodyPr wrap="square">
            <a:spAutoFit/>
          </a:bodyPr>
          <a:lstStyle/>
          <a:p>
            <a:r>
              <a:rPr lang="en-IN" b="0" i="0" u="none" strike="noStrike" dirty="0">
                <a:solidFill>
                  <a:srgbClr val="000000"/>
                </a:solidFill>
                <a:effectLst/>
                <a:latin typeface="-webkit-standard"/>
              </a:rPr>
              <a:t>The solutions for </a:t>
            </a:r>
            <a:r>
              <a:rPr lang="en-IN" b="0" i="0" u="none" strike="noStrike" dirty="0">
                <a:solidFill>
                  <a:srgbClr val="000000"/>
                </a:solidFill>
                <a:effectLst/>
              </a:rPr>
              <a:t>x</a:t>
            </a:r>
            <a:r>
              <a:rPr lang="en-IN" b="0" i="0" u="none" strike="noStrike" dirty="0">
                <a:solidFill>
                  <a:srgbClr val="000000"/>
                </a:solidFill>
                <a:effectLst/>
                <a:latin typeface="-webkit-standard"/>
              </a:rPr>
              <a:t> (also called the </a:t>
            </a:r>
            <a:r>
              <a:rPr lang="en-IN" b="1" i="0" u="none" strike="noStrike" dirty="0">
                <a:solidFill>
                  <a:srgbClr val="000000"/>
                </a:solidFill>
                <a:effectLst/>
              </a:rPr>
              <a:t>roots</a:t>
            </a:r>
            <a:r>
              <a:rPr lang="en-IN" b="0" i="0" u="none" strike="noStrike" dirty="0">
                <a:solidFill>
                  <a:srgbClr val="000000"/>
                </a:solidFill>
                <a:effectLst/>
                <a:latin typeface="-webkit-standard"/>
              </a:rPr>
              <a:t> of the equation) are given by:</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2E7267C-DD49-2B0D-5FA7-75C15D61EE04}"/>
                  </a:ext>
                </a:extLst>
              </p:cNvPr>
              <p:cNvSpPr txBox="1"/>
              <p:nvPr/>
            </p:nvSpPr>
            <p:spPr>
              <a:xfrm>
                <a:off x="4956653" y="5721686"/>
                <a:ext cx="2438745" cy="683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 ± </m:t>
                          </m:r>
                          <m:rad>
                            <m:radPr>
                              <m:degHide m:val="on"/>
                              <m:ctrlPr>
                                <a:rPr lang="en-US" b="0" i="1" smtClean="0">
                                  <a:latin typeface="Cambria Math" panose="02040503050406030204" pitchFamily="18" charset="0"/>
                                  <a:ea typeface="Cambria Math" panose="02040503050406030204" pitchFamily="18" charset="0"/>
                                </a:rPr>
                              </m:ctrlPr>
                            </m:radPr>
                            <m:deg/>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𝑏</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𝑎𝑐</m:t>
                              </m:r>
                            </m:e>
                          </m:rad>
                        </m:num>
                        <m:den>
                          <m:r>
                            <a:rPr lang="en-US" b="0" i="1" smtClean="0">
                              <a:latin typeface="Cambria Math" panose="02040503050406030204" pitchFamily="18" charset="0"/>
                            </a:rPr>
                            <m:t>2</m:t>
                          </m:r>
                          <m:r>
                            <a:rPr lang="en-US" b="0" i="1" smtClean="0">
                              <a:latin typeface="Cambria Math" panose="02040503050406030204" pitchFamily="18" charset="0"/>
                            </a:rPr>
                            <m:t>𝑎</m:t>
                          </m:r>
                        </m:den>
                      </m:f>
                    </m:oMath>
                  </m:oMathPara>
                </a14:m>
                <a:endParaRPr lang="en-US" dirty="0"/>
              </a:p>
            </p:txBody>
          </p:sp>
        </mc:Choice>
        <mc:Fallback xmlns="">
          <p:sp>
            <p:nvSpPr>
              <p:cNvPr id="17" name="TextBox 16">
                <a:extLst>
                  <a:ext uri="{FF2B5EF4-FFF2-40B4-BE49-F238E27FC236}">
                    <a16:creationId xmlns:a16="http://schemas.microsoft.com/office/drawing/2014/main" id="{72E7267C-DD49-2B0D-5FA7-75C15D61EE04}"/>
                  </a:ext>
                </a:extLst>
              </p:cNvPr>
              <p:cNvSpPr txBox="1">
                <a:spLocks noRot="1" noChangeAspect="1" noMove="1" noResize="1" noEditPoints="1" noAdjustHandles="1" noChangeArrowheads="1" noChangeShapeType="1" noTextEdit="1"/>
              </p:cNvSpPr>
              <p:nvPr/>
            </p:nvSpPr>
            <p:spPr>
              <a:xfrm>
                <a:off x="4956653" y="5721686"/>
                <a:ext cx="2438745" cy="683329"/>
              </a:xfrm>
              <a:prstGeom prst="rect">
                <a:avLst/>
              </a:prstGeom>
              <a:blipFill>
                <a:blip r:embed="rId11"/>
                <a:stretch>
                  <a:fillRect b="-3636"/>
                </a:stretch>
              </a:blipFill>
            </p:spPr>
            <p:txBody>
              <a:bodyPr/>
              <a:lstStyle/>
              <a:p>
                <a:r>
                  <a:rPr lang="en-US">
                    <a:noFill/>
                  </a:rPr>
                  <a:t> </a:t>
                </a:r>
              </a:p>
            </p:txBody>
          </p:sp>
        </mc:Fallback>
      </mc:AlternateContent>
    </p:spTree>
    <p:extLst>
      <p:ext uri="{BB962C8B-B14F-4D97-AF65-F5344CB8AC3E}">
        <p14:creationId xmlns:p14="http://schemas.microsoft.com/office/powerpoint/2010/main" val="414637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p:bldP spid="10" grpId="0"/>
      <p:bldP spid="11" grpId="0"/>
      <p:bldP spid="12" grpId="0"/>
      <p:bldP spid="13" grpId="0"/>
      <p:bldP spid="14" grpId="0"/>
      <p:bldP spid="15" grpId="0"/>
      <p:bldP spid="16" grpId="0"/>
      <p:bldP spid="5" grpId="0"/>
      <p:bldP spid="1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F5372-1302-B684-B687-20C10304B133}"/>
              </a:ext>
            </a:extLst>
          </p:cNvPr>
          <p:cNvSpPr>
            <a:spLocks noGrp="1"/>
          </p:cNvSpPr>
          <p:nvPr>
            <p:ph type="title"/>
          </p:nvPr>
        </p:nvSpPr>
        <p:spPr/>
        <p:txBody>
          <a:bodyPr/>
          <a:lstStyle/>
          <a:p>
            <a:r>
              <a:rPr lang="en-US" dirty="0"/>
              <a:t>PCA Example</a:t>
            </a:r>
          </a:p>
        </p:txBody>
      </p:sp>
      <p:sp>
        <p:nvSpPr>
          <p:cNvPr id="4" name="TextBox 3">
            <a:extLst>
              <a:ext uri="{FF2B5EF4-FFF2-40B4-BE49-F238E27FC236}">
                <a16:creationId xmlns:a16="http://schemas.microsoft.com/office/drawing/2014/main" id="{16B5D2E4-43F9-6E0F-3BB6-BA203CECA2AC}"/>
              </a:ext>
            </a:extLst>
          </p:cNvPr>
          <p:cNvSpPr txBox="1"/>
          <p:nvPr/>
        </p:nvSpPr>
        <p:spPr>
          <a:xfrm>
            <a:off x="214489" y="874888"/>
            <a:ext cx="4062331" cy="369332"/>
          </a:xfrm>
          <a:prstGeom prst="rect">
            <a:avLst/>
          </a:prstGeom>
          <a:noFill/>
        </p:spPr>
        <p:txBody>
          <a:bodyPr wrap="none" rtlCol="0">
            <a:spAutoFit/>
          </a:bodyPr>
          <a:lstStyle/>
          <a:p>
            <a:r>
              <a:rPr lang="en-US" b="1" dirty="0">
                <a:solidFill>
                  <a:srgbClr val="C00000"/>
                </a:solidFill>
              </a:rPr>
              <a:t>3) Compute Eigenvalues and Eigenvectors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2CF255D-18ED-C03E-A768-A55D33F58FA2}"/>
                  </a:ext>
                </a:extLst>
              </p:cNvPr>
              <p:cNvSpPr txBox="1"/>
              <p:nvPr/>
            </p:nvSpPr>
            <p:spPr>
              <a:xfrm>
                <a:off x="1231320" y="1407907"/>
                <a:ext cx="2438745" cy="683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 ± </m:t>
                          </m:r>
                          <m:rad>
                            <m:radPr>
                              <m:degHide m:val="on"/>
                              <m:ctrlPr>
                                <a:rPr lang="en-US" b="0" i="1" smtClean="0">
                                  <a:latin typeface="Cambria Math" panose="02040503050406030204" pitchFamily="18" charset="0"/>
                                  <a:ea typeface="Cambria Math" panose="02040503050406030204" pitchFamily="18" charset="0"/>
                                </a:rPr>
                              </m:ctrlPr>
                            </m:radPr>
                            <m:deg/>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𝑏</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𝑎𝑐</m:t>
                              </m:r>
                            </m:e>
                          </m:rad>
                        </m:num>
                        <m:den>
                          <m:r>
                            <a:rPr lang="en-US" b="0" i="1" smtClean="0">
                              <a:latin typeface="Cambria Math" panose="02040503050406030204" pitchFamily="18" charset="0"/>
                            </a:rPr>
                            <m:t>2</m:t>
                          </m:r>
                          <m:r>
                            <a:rPr lang="en-US" b="0" i="1" smtClean="0">
                              <a:latin typeface="Cambria Math" panose="02040503050406030204" pitchFamily="18" charset="0"/>
                            </a:rPr>
                            <m:t>𝑎</m:t>
                          </m:r>
                        </m:den>
                      </m:f>
                    </m:oMath>
                  </m:oMathPara>
                </a14:m>
                <a:endParaRPr lang="en-US" dirty="0"/>
              </a:p>
            </p:txBody>
          </p:sp>
        </mc:Choice>
        <mc:Fallback xmlns="">
          <p:sp>
            <p:nvSpPr>
              <p:cNvPr id="5" name="TextBox 4">
                <a:extLst>
                  <a:ext uri="{FF2B5EF4-FFF2-40B4-BE49-F238E27FC236}">
                    <a16:creationId xmlns:a16="http://schemas.microsoft.com/office/drawing/2014/main" id="{E2CF255D-18ED-C03E-A768-A55D33F58FA2}"/>
                  </a:ext>
                </a:extLst>
              </p:cNvPr>
              <p:cNvSpPr txBox="1">
                <a:spLocks noRot="1" noChangeAspect="1" noMove="1" noResize="1" noEditPoints="1" noAdjustHandles="1" noChangeArrowheads="1" noChangeShapeType="1" noTextEdit="1"/>
              </p:cNvSpPr>
              <p:nvPr/>
            </p:nvSpPr>
            <p:spPr>
              <a:xfrm>
                <a:off x="1231320" y="1407907"/>
                <a:ext cx="2438745" cy="683329"/>
              </a:xfrm>
              <a:prstGeom prst="rect">
                <a:avLst/>
              </a:prstGeom>
              <a:blipFill>
                <a:blip r:embed="rId2"/>
                <a:stretch>
                  <a:fillRect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DAEB550-644C-CEC7-0658-5EF2F4265951}"/>
                  </a:ext>
                </a:extLst>
              </p:cNvPr>
              <p:cNvSpPr txBox="1"/>
              <p:nvPr/>
            </p:nvSpPr>
            <p:spPr>
              <a:xfrm>
                <a:off x="4276820" y="1407907"/>
                <a:ext cx="2519091" cy="369332"/>
              </a:xfrm>
              <a:prstGeom prst="rect">
                <a:avLst/>
              </a:prstGeom>
              <a:noFill/>
            </p:spPr>
            <p:txBody>
              <a:bodyPr wrap="square">
                <a:spAutoFit/>
              </a:bodyPr>
              <a:lstStyle/>
              <a:p>
                <a14:m>
                  <m:oMath xmlns:m="http://schemas.openxmlformats.org/officeDocument/2006/math">
                    <m:sSup>
                      <m:sSupPr>
                        <m:ctrlPr>
                          <a:rPr lang="en-US" i="1" smtClean="0">
                            <a:latin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𝝀</m:t>
                        </m:r>
                      </m:e>
                      <m:sup>
                        <m:r>
                          <a:rPr lang="en-US" b="0" i="1" smtClean="0">
                            <a:latin typeface="Cambria Math" panose="02040503050406030204" pitchFamily="18" charset="0"/>
                          </a:rPr>
                          <m:t>2</m:t>
                        </m:r>
                      </m:sup>
                    </m:sSup>
                  </m:oMath>
                </a14:m>
                <a:r>
                  <a:rPr lang="el-GR" b="0" i="0" u="none" strike="noStrike" dirty="0">
                    <a:solidFill>
                      <a:srgbClr val="000000"/>
                    </a:solidFill>
                    <a:effectLst/>
                  </a:rPr>
                  <a:t>−599.90</a:t>
                </a:r>
                <a:r>
                  <a:rPr lang="en-US" b="1" dirty="0">
                    <a:ea typeface="Cambria Math" panose="020405030504060302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𝝀</m:t>
                    </m:r>
                    <m:r>
                      <a:rPr lang="en-US" b="1" i="1">
                        <a:latin typeface="Cambria Math" panose="02040503050406030204" pitchFamily="18" charset="0"/>
                        <a:ea typeface="Cambria Math" panose="02040503050406030204" pitchFamily="18" charset="0"/>
                      </a:rPr>
                      <m:t> </m:t>
                    </m:r>
                  </m:oMath>
                </a14:m>
                <a:r>
                  <a:rPr lang="el-GR" dirty="0">
                    <a:solidFill>
                      <a:srgbClr val="000000"/>
                    </a:solidFill>
                  </a:rPr>
                  <a:t>+ 2118.23=0 </a:t>
                </a:r>
                <a:endParaRPr lang="en-US" dirty="0"/>
              </a:p>
            </p:txBody>
          </p:sp>
        </mc:Choice>
        <mc:Fallback xmlns="">
          <p:sp>
            <p:nvSpPr>
              <p:cNvPr id="7" name="TextBox 6">
                <a:extLst>
                  <a:ext uri="{FF2B5EF4-FFF2-40B4-BE49-F238E27FC236}">
                    <a16:creationId xmlns:a16="http://schemas.microsoft.com/office/drawing/2014/main" id="{FDAEB550-644C-CEC7-0658-5EF2F4265951}"/>
                  </a:ext>
                </a:extLst>
              </p:cNvPr>
              <p:cNvSpPr txBox="1">
                <a:spLocks noRot="1" noChangeAspect="1" noMove="1" noResize="1" noEditPoints="1" noAdjustHandles="1" noChangeArrowheads="1" noChangeShapeType="1" noTextEdit="1"/>
              </p:cNvSpPr>
              <p:nvPr/>
            </p:nvSpPr>
            <p:spPr>
              <a:xfrm>
                <a:off x="4276820" y="1407907"/>
                <a:ext cx="2519091" cy="369332"/>
              </a:xfrm>
              <a:prstGeom prst="rect">
                <a:avLst/>
              </a:prstGeom>
              <a:blipFill>
                <a:blip r:embed="rId3"/>
                <a:stretch>
                  <a:fillRect t="-6452" r="-3500" b="-19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2B9405F-91AD-6979-397F-7105827524AB}"/>
                  </a:ext>
                </a:extLst>
              </p:cNvPr>
              <p:cNvSpPr txBox="1"/>
              <p:nvPr/>
            </p:nvSpPr>
            <p:spPr>
              <a:xfrm>
                <a:off x="3409244" y="2167467"/>
                <a:ext cx="4359527" cy="7419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599.90</m:t>
                          </m:r>
                          <m:r>
                            <a:rPr lang="en-US" i="1">
                              <a:latin typeface="Cambria Math" panose="02040503050406030204" pitchFamily="18" charset="0"/>
                            </a:rPr>
                            <m:t> ± </m:t>
                          </m:r>
                          <m:rad>
                            <m:radPr>
                              <m:degHide m:val="on"/>
                              <m:ctrlPr>
                                <a:rPr lang="en-US" i="1">
                                  <a:latin typeface="Cambria Math" panose="02040503050406030204" pitchFamily="18" charset="0"/>
                                  <a:ea typeface="Cambria Math" panose="02040503050406030204" pitchFamily="18" charset="0"/>
                                </a:rPr>
                              </m:ctrlPr>
                            </m:radPr>
                            <m:deg/>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rPr>
                                    <m:t>599.90</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(1)(</m:t>
                              </m:r>
                              <m:r>
                                <m:rPr>
                                  <m:nor/>
                                </m:rPr>
                                <a:rPr lang="en-IN"/>
                                <m:t>2118.23</m:t>
                              </m:r>
                              <m:r>
                                <a:rPr lang="en-US" b="0" i="1" smtClean="0">
                                  <a:latin typeface="Cambria Math" panose="02040503050406030204" pitchFamily="18" charset="0"/>
                                  <a:ea typeface="Cambria Math" panose="02040503050406030204" pitchFamily="18" charset="0"/>
                                </a:rPr>
                                <m:t>)</m:t>
                              </m:r>
                            </m:e>
                          </m:rad>
                        </m:num>
                        <m:den>
                          <m:r>
                            <a:rPr lang="en-US" i="1">
                              <a:latin typeface="Cambria Math" panose="02040503050406030204" pitchFamily="18" charset="0"/>
                            </a:rPr>
                            <m:t>2</m:t>
                          </m:r>
                          <m:r>
                            <a:rPr lang="en-US" b="0" i="1" smtClean="0">
                              <a:latin typeface="Cambria Math" panose="02040503050406030204" pitchFamily="18" charset="0"/>
                            </a:rPr>
                            <m:t>(1)</m:t>
                          </m:r>
                        </m:den>
                      </m:f>
                    </m:oMath>
                  </m:oMathPara>
                </a14:m>
                <a:endParaRPr lang="en-US" dirty="0"/>
              </a:p>
            </p:txBody>
          </p:sp>
        </mc:Choice>
        <mc:Fallback xmlns="">
          <p:sp>
            <p:nvSpPr>
              <p:cNvPr id="9" name="TextBox 8">
                <a:extLst>
                  <a:ext uri="{FF2B5EF4-FFF2-40B4-BE49-F238E27FC236}">
                    <a16:creationId xmlns:a16="http://schemas.microsoft.com/office/drawing/2014/main" id="{92B9405F-91AD-6979-397F-7105827524AB}"/>
                  </a:ext>
                </a:extLst>
              </p:cNvPr>
              <p:cNvSpPr txBox="1">
                <a:spLocks noRot="1" noChangeAspect="1" noMove="1" noResize="1" noEditPoints="1" noAdjustHandles="1" noChangeArrowheads="1" noChangeShapeType="1" noTextEdit="1"/>
              </p:cNvSpPr>
              <p:nvPr/>
            </p:nvSpPr>
            <p:spPr>
              <a:xfrm>
                <a:off x="3409244" y="2167467"/>
                <a:ext cx="4359527" cy="741998"/>
              </a:xfrm>
              <a:prstGeom prst="rect">
                <a:avLst/>
              </a:prstGeom>
              <a:blipFill>
                <a:blip r:embed="rId4"/>
                <a:stretch>
                  <a:fillRect b="-101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7583584-5A0F-2CBD-5579-3F2F7417D33F}"/>
                  </a:ext>
                </a:extLst>
              </p:cNvPr>
              <p:cNvSpPr txBox="1"/>
              <p:nvPr/>
            </p:nvSpPr>
            <p:spPr>
              <a:xfrm>
                <a:off x="3409244" y="2862506"/>
                <a:ext cx="2368725" cy="616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599.90</m:t>
                          </m:r>
                          <m:r>
                            <a:rPr lang="en-US" i="1">
                              <a:latin typeface="Cambria Math" panose="02040503050406030204" pitchFamily="18" charset="0"/>
                            </a:rPr>
                            <m:t> ±</m:t>
                          </m:r>
                          <m:r>
                            <a:rPr lang="en-US" b="0" i="1" smtClean="0">
                              <a:latin typeface="Cambria Math" panose="02040503050406030204" pitchFamily="18" charset="0"/>
                            </a:rPr>
                            <m:t>538.27</m:t>
                          </m:r>
                        </m:num>
                        <m:den>
                          <m:r>
                            <a:rPr lang="en-US" i="1">
                              <a:latin typeface="Cambria Math" panose="02040503050406030204" pitchFamily="18" charset="0"/>
                            </a:rPr>
                            <m:t>2</m:t>
                          </m:r>
                        </m:den>
                      </m:f>
                    </m:oMath>
                  </m:oMathPara>
                </a14:m>
                <a:endParaRPr lang="en-US" dirty="0"/>
              </a:p>
            </p:txBody>
          </p:sp>
        </mc:Choice>
        <mc:Fallback xmlns="">
          <p:sp>
            <p:nvSpPr>
              <p:cNvPr id="10" name="TextBox 9">
                <a:extLst>
                  <a:ext uri="{FF2B5EF4-FFF2-40B4-BE49-F238E27FC236}">
                    <a16:creationId xmlns:a16="http://schemas.microsoft.com/office/drawing/2014/main" id="{27583584-5A0F-2CBD-5579-3F2F7417D33F}"/>
                  </a:ext>
                </a:extLst>
              </p:cNvPr>
              <p:cNvSpPr txBox="1">
                <a:spLocks noRot="1" noChangeAspect="1" noMove="1" noResize="1" noEditPoints="1" noAdjustHandles="1" noChangeArrowheads="1" noChangeShapeType="1" noTextEdit="1"/>
              </p:cNvSpPr>
              <p:nvPr/>
            </p:nvSpPr>
            <p:spPr>
              <a:xfrm>
                <a:off x="3409244" y="2862506"/>
                <a:ext cx="2368725" cy="616515"/>
              </a:xfrm>
              <a:prstGeom prst="rect">
                <a:avLst/>
              </a:prstGeom>
              <a:blipFill>
                <a:blip r:embed="rId5"/>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545A1B-0F5E-157E-965D-3628C87CB3B4}"/>
                  </a:ext>
                </a:extLst>
              </p:cNvPr>
              <p:cNvSpPr txBox="1"/>
              <p:nvPr/>
            </p:nvSpPr>
            <p:spPr>
              <a:xfrm>
                <a:off x="6096000" y="2806625"/>
                <a:ext cx="3277885" cy="616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599.90</m:t>
                          </m:r>
                          <m:r>
                            <a:rPr lang="en-US" b="0" i="1" smtClean="0">
                              <a:latin typeface="Cambria Math" panose="02040503050406030204" pitchFamily="18" charset="0"/>
                            </a:rPr>
                            <m:t>+</m:t>
                          </m:r>
                          <m:r>
                            <a:rPr lang="en-US" i="1">
                              <a:latin typeface="Cambria Math" panose="02040503050406030204" pitchFamily="18" charset="0"/>
                            </a:rPr>
                            <m:t>538.27</m:t>
                          </m:r>
                        </m:num>
                        <m:den>
                          <m:r>
                            <a:rPr lang="en-US" i="1">
                              <a:latin typeface="Cambria Math" panose="02040503050406030204" pitchFamily="18" charset="0"/>
                            </a:rPr>
                            <m:t>2</m:t>
                          </m:r>
                        </m:den>
                      </m:f>
                      <m:r>
                        <a:rPr lang="en-US" b="0" i="1" smtClean="0">
                          <a:latin typeface="Cambria Math" panose="02040503050406030204" pitchFamily="18" charset="0"/>
                        </a:rPr>
                        <m:t>=569.0</m:t>
                      </m:r>
                    </m:oMath>
                  </m:oMathPara>
                </a14:m>
                <a:endParaRPr lang="en-US" dirty="0"/>
              </a:p>
            </p:txBody>
          </p:sp>
        </mc:Choice>
        <mc:Fallback xmlns="">
          <p:sp>
            <p:nvSpPr>
              <p:cNvPr id="11" name="TextBox 10">
                <a:extLst>
                  <a:ext uri="{FF2B5EF4-FFF2-40B4-BE49-F238E27FC236}">
                    <a16:creationId xmlns:a16="http://schemas.microsoft.com/office/drawing/2014/main" id="{0D545A1B-0F5E-157E-965D-3628C87CB3B4}"/>
                  </a:ext>
                </a:extLst>
              </p:cNvPr>
              <p:cNvSpPr txBox="1">
                <a:spLocks noRot="1" noChangeAspect="1" noMove="1" noResize="1" noEditPoints="1" noAdjustHandles="1" noChangeArrowheads="1" noChangeShapeType="1" noTextEdit="1"/>
              </p:cNvSpPr>
              <p:nvPr/>
            </p:nvSpPr>
            <p:spPr>
              <a:xfrm>
                <a:off x="6096000" y="2806625"/>
                <a:ext cx="3277885" cy="616515"/>
              </a:xfrm>
              <a:prstGeom prst="rect">
                <a:avLst/>
              </a:prstGeom>
              <a:blipFill>
                <a:blip r:embed="rId6"/>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DB568D1-FC0A-696D-8855-C5266BACC4F3}"/>
                  </a:ext>
                </a:extLst>
              </p:cNvPr>
              <p:cNvSpPr txBox="1"/>
              <p:nvPr/>
            </p:nvSpPr>
            <p:spPr>
              <a:xfrm>
                <a:off x="9222144" y="2806624"/>
                <a:ext cx="2670346" cy="487954"/>
              </a:xfrm>
              <a:prstGeom prst="rect">
                <a:avLst/>
              </a:prstGeom>
              <a:noFill/>
            </p:spPr>
            <p:txBody>
              <a:bodyPr wrap="none" rtlCol="0">
                <a:spAutoFit/>
              </a:bodyPr>
              <a:lstStyle/>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599.90</m:t>
                        </m:r>
                        <m:r>
                          <a:rPr lang="en-US" b="0" i="1" smtClean="0">
                            <a:latin typeface="Cambria Math" panose="02040503050406030204" pitchFamily="18" charset="0"/>
                          </a:rPr>
                          <m:t> − </m:t>
                        </m:r>
                        <m:r>
                          <a:rPr lang="en-US" i="1">
                            <a:latin typeface="Cambria Math" panose="02040503050406030204" pitchFamily="18" charset="0"/>
                          </a:rPr>
                          <m:t>538.27</m:t>
                        </m:r>
                      </m:num>
                      <m:den>
                        <m:r>
                          <a:rPr lang="en-US" i="1">
                            <a:latin typeface="Cambria Math" panose="02040503050406030204" pitchFamily="18" charset="0"/>
                          </a:rPr>
                          <m:t>2</m:t>
                        </m:r>
                      </m:den>
                    </m:f>
                  </m:oMath>
                </a14:m>
                <a:r>
                  <a:rPr lang="en-US" dirty="0"/>
                  <a:t> = 30.82</a:t>
                </a:r>
              </a:p>
            </p:txBody>
          </p:sp>
        </mc:Choice>
        <mc:Fallback xmlns="">
          <p:sp>
            <p:nvSpPr>
              <p:cNvPr id="12" name="TextBox 11">
                <a:extLst>
                  <a:ext uri="{FF2B5EF4-FFF2-40B4-BE49-F238E27FC236}">
                    <a16:creationId xmlns:a16="http://schemas.microsoft.com/office/drawing/2014/main" id="{DDB568D1-FC0A-696D-8855-C5266BACC4F3}"/>
                  </a:ext>
                </a:extLst>
              </p:cNvPr>
              <p:cNvSpPr txBox="1">
                <a:spLocks noRot="1" noChangeAspect="1" noMove="1" noResize="1" noEditPoints="1" noAdjustHandles="1" noChangeArrowheads="1" noChangeShapeType="1" noTextEdit="1"/>
              </p:cNvSpPr>
              <p:nvPr/>
            </p:nvSpPr>
            <p:spPr>
              <a:xfrm>
                <a:off x="9222144" y="2806624"/>
                <a:ext cx="2670346" cy="487954"/>
              </a:xfrm>
              <a:prstGeom prst="rect">
                <a:avLst/>
              </a:prstGeom>
              <a:blipFill>
                <a:blip r:embed="rId7"/>
                <a:stretch>
                  <a:fillRect r="-948" b="-50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40C3E64C-5008-0B01-6CE2-E9DD505C2AEB}"/>
              </a:ext>
            </a:extLst>
          </p:cNvPr>
          <p:cNvSpPr txBox="1"/>
          <p:nvPr/>
        </p:nvSpPr>
        <p:spPr>
          <a:xfrm>
            <a:off x="699911" y="4052711"/>
            <a:ext cx="1383712" cy="369332"/>
          </a:xfrm>
          <a:prstGeom prst="rect">
            <a:avLst/>
          </a:prstGeom>
          <a:noFill/>
        </p:spPr>
        <p:txBody>
          <a:bodyPr wrap="none" rtlCol="0">
            <a:spAutoFit/>
          </a:bodyPr>
          <a:lstStyle/>
          <a:p>
            <a:r>
              <a:rPr lang="en-US" b="1" dirty="0">
                <a:solidFill>
                  <a:srgbClr val="C00000"/>
                </a:solidFill>
              </a:rPr>
              <a:t>Eigenvectors</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95607C8-A6F0-11A3-EC9C-AEC35DF34A7C}"/>
                  </a:ext>
                </a:extLst>
              </p:cNvPr>
              <p:cNvSpPr txBox="1"/>
              <p:nvPr/>
            </p:nvSpPr>
            <p:spPr>
              <a:xfrm>
                <a:off x="2245654" y="4062298"/>
                <a:ext cx="164901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𝝀</m:t>
                          </m:r>
                          <m:r>
                            <a:rPr lang="en-US" b="1" i="1" smtClean="0">
                              <a:solidFill>
                                <a:schemeClr val="tx1"/>
                              </a:solidFill>
                              <a:latin typeface="Cambria Math" panose="02040503050406030204" pitchFamily="18" charset="0"/>
                              <a:ea typeface="Cambria Math" panose="02040503050406030204" pitchFamily="18" charset="0"/>
                            </a:rPr>
                            <m:t>𝑰</m:t>
                          </m:r>
                        </m:e>
                      </m:d>
                      <m:r>
                        <a:rPr lang="en-US" b="1" i="1" smtClean="0">
                          <a:solidFill>
                            <a:schemeClr val="tx1"/>
                          </a:solidFill>
                          <a:latin typeface="Cambria Math" panose="02040503050406030204" pitchFamily="18" charset="0"/>
                        </a:rPr>
                        <m:t>𝒙</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𝟎</m:t>
                      </m:r>
                    </m:oMath>
                  </m:oMathPara>
                </a14:m>
                <a:endParaRPr lang="en-US" dirty="0"/>
              </a:p>
            </p:txBody>
          </p:sp>
        </mc:Choice>
        <mc:Fallback xmlns="">
          <p:sp>
            <p:nvSpPr>
              <p:cNvPr id="17" name="TextBox 16">
                <a:extLst>
                  <a:ext uri="{FF2B5EF4-FFF2-40B4-BE49-F238E27FC236}">
                    <a16:creationId xmlns:a16="http://schemas.microsoft.com/office/drawing/2014/main" id="{995607C8-A6F0-11A3-EC9C-AEC35DF34A7C}"/>
                  </a:ext>
                </a:extLst>
              </p:cNvPr>
              <p:cNvSpPr txBox="1">
                <a:spLocks noRot="1" noChangeAspect="1" noMove="1" noResize="1" noEditPoints="1" noAdjustHandles="1" noChangeArrowheads="1" noChangeShapeType="1" noTextEdit="1"/>
              </p:cNvSpPr>
              <p:nvPr/>
            </p:nvSpPr>
            <p:spPr>
              <a:xfrm>
                <a:off x="2245654" y="4062298"/>
                <a:ext cx="1649013" cy="369332"/>
              </a:xfrm>
              <a:prstGeom prst="rect">
                <a:avLst/>
              </a:prstGeom>
              <a:blipFill>
                <a:blip r:embed="rId8"/>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64C72B8E-E5F2-03D6-1E63-25B28AAD826C}"/>
              </a:ext>
            </a:extLst>
          </p:cNvPr>
          <p:cNvSpPr txBox="1"/>
          <p:nvPr/>
        </p:nvSpPr>
        <p:spPr>
          <a:xfrm>
            <a:off x="214489" y="4582099"/>
            <a:ext cx="1649013" cy="369332"/>
          </a:xfrm>
          <a:prstGeom prst="rect">
            <a:avLst/>
          </a:prstGeom>
          <a:noFill/>
        </p:spPr>
        <p:txBody>
          <a:bodyPr wrap="square">
            <a:spAutoFit/>
          </a:bodyPr>
          <a:lstStyle/>
          <a:p>
            <a:r>
              <a:rPr lang="en-IN" b="0" i="0" u="none" strike="noStrike" dirty="0">
                <a:solidFill>
                  <a:srgbClr val="000000"/>
                </a:solidFill>
                <a:effectLst/>
                <a:latin typeface="-webkit-standard"/>
              </a:rPr>
              <a:t>For </a:t>
            </a:r>
            <a:r>
              <a:rPr lang="el-GR" b="1" i="0" u="none" strike="noStrike" dirty="0">
                <a:solidFill>
                  <a:srgbClr val="000000"/>
                </a:solidFill>
                <a:effectLst/>
              </a:rPr>
              <a:t>λ = 569.08</a:t>
            </a: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CE5818F-6E34-A2BD-6DC4-DFCE5D68A026}"/>
                  </a:ext>
                </a:extLst>
              </p:cNvPr>
              <p:cNvSpPr txBox="1"/>
              <p:nvPr/>
            </p:nvSpPr>
            <p:spPr>
              <a:xfrm>
                <a:off x="792463" y="4951431"/>
                <a:ext cx="2877601" cy="578107"/>
              </a:xfrm>
              <a:prstGeom prst="rect">
                <a:avLst/>
              </a:prstGeom>
              <a:noFill/>
            </p:spPr>
            <p:txBody>
              <a:bodyPr wrap="square">
                <a:spAutoFit/>
              </a:bodyPr>
              <a:lstStyle/>
              <a:p>
                <a14:m>
                  <m:oMath xmlns:m="http://schemas.openxmlformats.org/officeDocument/2006/math">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nor/>
                                </m:rPr>
                                <a:rPr lang="en-IN"/>
                                <m:t>−135.59</m:t>
                              </m:r>
                            </m:e>
                            <m:e>
                              <m:r>
                                <m:rPr>
                                  <m:nor/>
                                </m:rPr>
                                <a:rPr lang="en-IN"/>
                                <m:t>268.30</m:t>
                              </m:r>
                            </m:e>
                          </m:mr>
                          <m:mr>
                            <m:e>
                              <m:r>
                                <a:rPr lang="en-US" b="0" i="1" smtClean="0">
                                  <a:latin typeface="Cambria Math" panose="02040503050406030204" pitchFamily="18" charset="0"/>
                                </a:rPr>
                                <m:t>268.30</m:t>
                              </m:r>
                            </m:e>
                            <m:e>
                              <m:r>
                                <a:rPr lang="en-US" b="0" i="1" smtClean="0">
                                  <a:latin typeface="Cambria Math" panose="02040503050406030204" pitchFamily="18" charset="0"/>
                                </a:rPr>
                                <m:t>−402.67</m:t>
                              </m:r>
                            </m:e>
                          </m:mr>
                        </m:m>
                      </m:e>
                    </m:d>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𝑥</m:t>
                              </m:r>
                              <m:r>
                                <a:rPr lang="en-US" b="0" i="1" smtClean="0">
                                  <a:latin typeface="Cambria Math" panose="02040503050406030204" pitchFamily="18" charset="0"/>
                                </a:rPr>
                                <m:t>1</m:t>
                              </m:r>
                            </m:e>
                          </m:mr>
                          <m:mr>
                            <m:e>
                              <m:r>
                                <a:rPr lang="en-US" b="0" i="1" smtClean="0">
                                  <a:latin typeface="Cambria Math" panose="02040503050406030204" pitchFamily="18" charset="0"/>
                                </a:rPr>
                                <m:t>𝑥</m:t>
                              </m:r>
                              <m:r>
                                <a:rPr lang="en-US" b="0" i="1" smtClean="0">
                                  <a:latin typeface="Cambria Math" panose="02040503050406030204" pitchFamily="18" charset="0"/>
                                </a:rPr>
                                <m:t>2</m:t>
                              </m:r>
                            </m:e>
                          </m:mr>
                        </m:m>
                      </m:e>
                    </m:d>
                  </m:oMath>
                </a14:m>
                <a:r>
                  <a:rPr lang="en-US" dirty="0"/>
                  <a:t> </a:t>
                </a:r>
              </a:p>
            </p:txBody>
          </p:sp>
        </mc:Choice>
        <mc:Fallback xmlns="">
          <p:sp>
            <p:nvSpPr>
              <p:cNvPr id="21" name="TextBox 20">
                <a:extLst>
                  <a:ext uri="{FF2B5EF4-FFF2-40B4-BE49-F238E27FC236}">
                    <a16:creationId xmlns:a16="http://schemas.microsoft.com/office/drawing/2014/main" id="{9CE5818F-6E34-A2BD-6DC4-DFCE5D68A026}"/>
                  </a:ext>
                </a:extLst>
              </p:cNvPr>
              <p:cNvSpPr txBox="1">
                <a:spLocks noRot="1" noChangeAspect="1" noMove="1" noResize="1" noEditPoints="1" noAdjustHandles="1" noChangeArrowheads="1" noChangeShapeType="1" noTextEdit="1"/>
              </p:cNvSpPr>
              <p:nvPr/>
            </p:nvSpPr>
            <p:spPr>
              <a:xfrm>
                <a:off x="792463" y="4951431"/>
                <a:ext cx="2877601" cy="578107"/>
              </a:xfrm>
              <a:prstGeom prst="rect">
                <a:avLst/>
              </a:prstGeom>
              <a:blipFill>
                <a:blip r:embed="rId9"/>
                <a:stretch>
                  <a:fillRect b="-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D6AC404-4720-1585-FFCF-9DC02EB074A1}"/>
                  </a:ext>
                </a:extLst>
              </p:cNvPr>
              <p:cNvSpPr txBox="1"/>
              <p:nvPr/>
            </p:nvSpPr>
            <p:spPr>
              <a:xfrm>
                <a:off x="316089" y="5556484"/>
                <a:ext cx="1260986" cy="5598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 </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.85</m:t>
                                </m:r>
                              </m:e>
                            </m:mr>
                            <m:mr>
                              <m:e>
                                <m:r>
                                  <a:rPr lang="en-US" b="0" i="1" smtClean="0">
                                    <a:latin typeface="Cambria Math" panose="02040503050406030204" pitchFamily="18" charset="0"/>
                                  </a:rPr>
                                  <m:t>0.52</m:t>
                                </m:r>
                              </m:e>
                            </m:mr>
                          </m:m>
                        </m:e>
                      </m:d>
                    </m:oMath>
                  </m:oMathPara>
                </a14:m>
                <a:endParaRPr lang="en-US" dirty="0"/>
              </a:p>
            </p:txBody>
          </p:sp>
        </mc:Choice>
        <mc:Fallback xmlns="">
          <p:sp>
            <p:nvSpPr>
              <p:cNvPr id="22" name="TextBox 21">
                <a:extLst>
                  <a:ext uri="{FF2B5EF4-FFF2-40B4-BE49-F238E27FC236}">
                    <a16:creationId xmlns:a16="http://schemas.microsoft.com/office/drawing/2014/main" id="{CD6AC404-4720-1585-FFCF-9DC02EB074A1}"/>
                  </a:ext>
                </a:extLst>
              </p:cNvPr>
              <p:cNvSpPr txBox="1">
                <a:spLocks noRot="1" noChangeAspect="1" noMove="1" noResize="1" noEditPoints="1" noAdjustHandles="1" noChangeArrowheads="1" noChangeShapeType="1" noTextEdit="1"/>
              </p:cNvSpPr>
              <p:nvPr/>
            </p:nvSpPr>
            <p:spPr>
              <a:xfrm>
                <a:off x="316089" y="5556484"/>
                <a:ext cx="1260986" cy="559897"/>
              </a:xfrm>
              <a:prstGeom prst="rect">
                <a:avLst/>
              </a:prstGeom>
              <a:blipFill>
                <a:blip r:embed="rId10"/>
                <a:stretch>
                  <a:fillRect b="-8889"/>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3BBD1555-2E24-B2D9-E218-CC0A5B17D52D}"/>
              </a:ext>
            </a:extLst>
          </p:cNvPr>
          <p:cNvSpPr txBox="1"/>
          <p:nvPr/>
        </p:nvSpPr>
        <p:spPr>
          <a:xfrm>
            <a:off x="4446987" y="4582099"/>
            <a:ext cx="1649013" cy="369332"/>
          </a:xfrm>
          <a:prstGeom prst="rect">
            <a:avLst/>
          </a:prstGeom>
          <a:noFill/>
        </p:spPr>
        <p:txBody>
          <a:bodyPr wrap="square">
            <a:spAutoFit/>
          </a:bodyPr>
          <a:lstStyle/>
          <a:p>
            <a:r>
              <a:rPr lang="en-IN" b="0" i="0" u="none" strike="noStrike" dirty="0">
                <a:solidFill>
                  <a:srgbClr val="000000"/>
                </a:solidFill>
                <a:effectLst/>
                <a:latin typeface="-webkit-standard"/>
              </a:rPr>
              <a:t>For </a:t>
            </a:r>
            <a:r>
              <a:rPr lang="el-GR" b="1" i="0" u="none" strike="noStrike" dirty="0">
                <a:solidFill>
                  <a:srgbClr val="000000"/>
                </a:solidFill>
                <a:effectLst/>
              </a:rPr>
              <a:t>λ = </a:t>
            </a:r>
            <a:r>
              <a:rPr lang="en-US" b="1" dirty="0">
                <a:solidFill>
                  <a:srgbClr val="000000"/>
                </a:solidFill>
              </a:rPr>
              <a:t>30</a:t>
            </a:r>
            <a:r>
              <a:rPr lang="el-GR" b="1" i="0" u="none" strike="noStrike" dirty="0">
                <a:solidFill>
                  <a:srgbClr val="000000"/>
                </a:solidFill>
                <a:effectLst/>
              </a:rPr>
              <a:t>.</a:t>
            </a:r>
            <a:r>
              <a:rPr lang="en-US" b="1" i="0" u="none" strike="noStrike" dirty="0">
                <a:solidFill>
                  <a:srgbClr val="000000"/>
                </a:solidFill>
                <a:effectLst/>
              </a:rPr>
              <a:t>82</a:t>
            </a:r>
            <a:endParaRPr lang="en-US"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108EAD8-5233-B948-C6E4-B8B0BE98284E}"/>
                  </a:ext>
                </a:extLst>
              </p:cNvPr>
              <p:cNvSpPr txBox="1"/>
              <p:nvPr/>
            </p:nvSpPr>
            <p:spPr>
              <a:xfrm>
                <a:off x="5024961" y="4951431"/>
                <a:ext cx="2877601" cy="578107"/>
              </a:xfrm>
              <a:prstGeom prst="rect">
                <a:avLst/>
              </a:prstGeom>
              <a:noFill/>
            </p:spPr>
            <p:txBody>
              <a:bodyPr wrap="square">
                <a:spAutoFit/>
              </a:bodyPr>
              <a:lstStyle/>
              <a:p>
                <a14:m>
                  <m:oMath xmlns:m="http://schemas.openxmlformats.org/officeDocument/2006/math">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nor/>
                                </m:rPr>
                                <a:rPr lang="en-IN"/>
                                <m:t>402.67</m:t>
                              </m:r>
                            </m:e>
                            <m:e>
                              <m:r>
                                <m:rPr>
                                  <m:nor/>
                                </m:rPr>
                                <a:rPr lang="en-IN"/>
                                <m:t>268.30</m:t>
                              </m:r>
                            </m:e>
                          </m:mr>
                          <m:mr>
                            <m:e>
                              <m:r>
                                <a:rPr lang="en-US" b="0" i="1" smtClean="0">
                                  <a:latin typeface="Cambria Math" panose="02040503050406030204" pitchFamily="18" charset="0"/>
                                </a:rPr>
                                <m:t>268.30</m:t>
                              </m:r>
                            </m:e>
                            <m:e>
                              <m:r>
                                <a:rPr lang="en-US" b="0" i="1" smtClean="0">
                                  <a:latin typeface="Cambria Math" panose="02040503050406030204" pitchFamily="18" charset="0"/>
                                </a:rPr>
                                <m:t>135.59</m:t>
                              </m:r>
                            </m:e>
                          </m:mr>
                        </m:m>
                      </m:e>
                    </m:d>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𝑥</m:t>
                              </m:r>
                              <m:r>
                                <a:rPr lang="en-US" b="0" i="1" smtClean="0">
                                  <a:latin typeface="Cambria Math" panose="02040503050406030204" pitchFamily="18" charset="0"/>
                                </a:rPr>
                                <m:t>1</m:t>
                              </m:r>
                            </m:e>
                          </m:mr>
                          <m:mr>
                            <m:e>
                              <m:r>
                                <a:rPr lang="en-US" b="0" i="1" smtClean="0">
                                  <a:latin typeface="Cambria Math" panose="02040503050406030204" pitchFamily="18" charset="0"/>
                                </a:rPr>
                                <m:t>𝑥</m:t>
                              </m:r>
                              <m:r>
                                <a:rPr lang="en-US" b="0" i="1" smtClean="0">
                                  <a:latin typeface="Cambria Math" panose="02040503050406030204" pitchFamily="18" charset="0"/>
                                </a:rPr>
                                <m:t>2</m:t>
                              </m:r>
                            </m:e>
                          </m:mr>
                        </m:m>
                      </m:e>
                    </m:d>
                  </m:oMath>
                </a14:m>
                <a:r>
                  <a:rPr lang="en-US" dirty="0"/>
                  <a:t> </a:t>
                </a:r>
              </a:p>
            </p:txBody>
          </p:sp>
        </mc:Choice>
        <mc:Fallback xmlns="">
          <p:sp>
            <p:nvSpPr>
              <p:cNvPr id="24" name="TextBox 23">
                <a:extLst>
                  <a:ext uri="{FF2B5EF4-FFF2-40B4-BE49-F238E27FC236}">
                    <a16:creationId xmlns:a16="http://schemas.microsoft.com/office/drawing/2014/main" id="{1108EAD8-5233-B948-C6E4-B8B0BE98284E}"/>
                  </a:ext>
                </a:extLst>
              </p:cNvPr>
              <p:cNvSpPr txBox="1">
                <a:spLocks noRot="1" noChangeAspect="1" noMove="1" noResize="1" noEditPoints="1" noAdjustHandles="1" noChangeArrowheads="1" noChangeShapeType="1" noTextEdit="1"/>
              </p:cNvSpPr>
              <p:nvPr/>
            </p:nvSpPr>
            <p:spPr>
              <a:xfrm>
                <a:off x="5024961" y="4951431"/>
                <a:ext cx="2877601" cy="578107"/>
              </a:xfrm>
              <a:prstGeom prst="rect">
                <a:avLst/>
              </a:prstGeom>
              <a:blipFill>
                <a:blip r:embed="rId11"/>
                <a:stretch>
                  <a:fillRect b="-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FBC83E1-26A7-0A48-8EE0-77C880F1D90B}"/>
                  </a:ext>
                </a:extLst>
              </p:cNvPr>
              <p:cNvSpPr txBox="1"/>
              <p:nvPr/>
            </p:nvSpPr>
            <p:spPr>
              <a:xfrm>
                <a:off x="4548587" y="5556484"/>
                <a:ext cx="1434111" cy="5598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 </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0.52</m:t>
                                </m:r>
                              </m:e>
                            </m:mr>
                            <m:mr>
                              <m:e>
                                <m:r>
                                  <a:rPr lang="en-US" b="0" i="1" smtClean="0">
                                    <a:latin typeface="Cambria Math" panose="02040503050406030204" pitchFamily="18" charset="0"/>
                                  </a:rPr>
                                  <m:t>0.85</m:t>
                                </m:r>
                              </m:e>
                            </m:mr>
                          </m:m>
                        </m:e>
                      </m:d>
                    </m:oMath>
                  </m:oMathPara>
                </a14:m>
                <a:endParaRPr lang="en-US" dirty="0"/>
              </a:p>
            </p:txBody>
          </p:sp>
        </mc:Choice>
        <mc:Fallback xmlns="">
          <p:sp>
            <p:nvSpPr>
              <p:cNvPr id="25" name="TextBox 24">
                <a:extLst>
                  <a:ext uri="{FF2B5EF4-FFF2-40B4-BE49-F238E27FC236}">
                    <a16:creationId xmlns:a16="http://schemas.microsoft.com/office/drawing/2014/main" id="{FFBC83E1-26A7-0A48-8EE0-77C880F1D90B}"/>
                  </a:ext>
                </a:extLst>
              </p:cNvPr>
              <p:cNvSpPr txBox="1">
                <a:spLocks noRot="1" noChangeAspect="1" noMove="1" noResize="1" noEditPoints="1" noAdjustHandles="1" noChangeArrowheads="1" noChangeShapeType="1" noTextEdit="1"/>
              </p:cNvSpPr>
              <p:nvPr/>
            </p:nvSpPr>
            <p:spPr>
              <a:xfrm>
                <a:off x="4548587" y="5556484"/>
                <a:ext cx="1434111" cy="559897"/>
              </a:xfrm>
              <a:prstGeom prst="rect">
                <a:avLst/>
              </a:prstGeom>
              <a:blipFill>
                <a:blip r:embed="rId12"/>
                <a:stretch>
                  <a:fillRect b="-8889"/>
                </a:stretch>
              </a:blipFill>
            </p:spPr>
            <p:txBody>
              <a:bodyPr/>
              <a:lstStyle/>
              <a:p>
                <a:r>
                  <a:rPr lang="en-US">
                    <a:noFill/>
                  </a:rPr>
                  <a:t> </a:t>
                </a:r>
              </a:p>
            </p:txBody>
          </p:sp>
        </mc:Fallback>
      </mc:AlternateContent>
    </p:spTree>
    <p:extLst>
      <p:ext uri="{BB962C8B-B14F-4D97-AF65-F5344CB8AC3E}">
        <p14:creationId xmlns:p14="http://schemas.microsoft.com/office/powerpoint/2010/main" val="382534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P spid="10" grpId="0"/>
      <p:bldP spid="11" grpId="0"/>
      <p:bldP spid="12" grpId="0"/>
      <p:bldP spid="13" grpId="0"/>
      <p:bldP spid="17" grpId="0"/>
      <p:bldP spid="19" grpId="0"/>
      <p:bldP spid="21" grpId="0"/>
      <p:bldP spid="22" grpId="0"/>
      <p:bldP spid="23" grpId="0"/>
      <p:bldP spid="24" grpId="0"/>
      <p:bldP spid="2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FD99F-6393-4439-76D1-F787D2EFE7BA}"/>
              </a:ext>
            </a:extLst>
          </p:cNvPr>
          <p:cNvSpPr>
            <a:spLocks noGrp="1"/>
          </p:cNvSpPr>
          <p:nvPr>
            <p:ph type="title"/>
          </p:nvPr>
        </p:nvSpPr>
        <p:spPr/>
        <p:txBody>
          <a:bodyPr/>
          <a:lstStyle/>
          <a:p>
            <a:r>
              <a:rPr lang="en-US" dirty="0"/>
              <a:t>PCA Example</a:t>
            </a:r>
          </a:p>
        </p:txBody>
      </p:sp>
      <p:sp>
        <p:nvSpPr>
          <p:cNvPr id="4" name="TextBox 3">
            <a:extLst>
              <a:ext uri="{FF2B5EF4-FFF2-40B4-BE49-F238E27FC236}">
                <a16:creationId xmlns:a16="http://schemas.microsoft.com/office/drawing/2014/main" id="{68C3C681-8413-7431-B753-B6B5095B7E28}"/>
              </a:ext>
            </a:extLst>
          </p:cNvPr>
          <p:cNvSpPr txBox="1"/>
          <p:nvPr/>
        </p:nvSpPr>
        <p:spPr>
          <a:xfrm>
            <a:off x="214489" y="874888"/>
            <a:ext cx="10560904" cy="369332"/>
          </a:xfrm>
          <a:prstGeom prst="rect">
            <a:avLst/>
          </a:prstGeom>
          <a:noFill/>
        </p:spPr>
        <p:txBody>
          <a:bodyPr wrap="none" rtlCol="0">
            <a:spAutoFit/>
          </a:bodyPr>
          <a:lstStyle/>
          <a:p>
            <a:r>
              <a:rPr lang="en-US" b="1" dirty="0">
                <a:solidFill>
                  <a:srgbClr val="C00000"/>
                </a:solidFill>
              </a:rPr>
              <a:t>4) Sort Eigenvalues – </a:t>
            </a:r>
            <a:r>
              <a:rPr lang="en-IN" dirty="0">
                <a:effectLst/>
              </a:rPr>
              <a:t>We select the top 569.08 and their </a:t>
            </a:r>
            <a:r>
              <a:rPr lang="en-IN" dirty="0">
                <a:solidFill>
                  <a:srgbClr val="C00000"/>
                </a:solidFill>
                <a:effectLst/>
              </a:rPr>
              <a:t>corresponding eigenvectors as our principal components</a:t>
            </a:r>
            <a:endParaRPr lang="en-US" b="1" dirty="0">
              <a:solidFill>
                <a:srgbClr val="C00000"/>
              </a:solidFill>
            </a:endParaRPr>
          </a:p>
        </p:txBody>
      </p:sp>
      <p:sp>
        <p:nvSpPr>
          <p:cNvPr id="6" name="TextBox 5">
            <a:extLst>
              <a:ext uri="{FF2B5EF4-FFF2-40B4-BE49-F238E27FC236}">
                <a16:creationId xmlns:a16="http://schemas.microsoft.com/office/drawing/2014/main" id="{1B2D33F0-9C60-AF8F-91AE-6D4A46D8CA3D}"/>
              </a:ext>
            </a:extLst>
          </p:cNvPr>
          <p:cNvSpPr txBox="1"/>
          <p:nvPr/>
        </p:nvSpPr>
        <p:spPr>
          <a:xfrm>
            <a:off x="214489" y="1407907"/>
            <a:ext cx="6124222" cy="369332"/>
          </a:xfrm>
          <a:prstGeom prst="rect">
            <a:avLst/>
          </a:prstGeom>
          <a:noFill/>
        </p:spPr>
        <p:txBody>
          <a:bodyPr wrap="square">
            <a:spAutoFit/>
          </a:bodyPr>
          <a:lstStyle/>
          <a:p>
            <a:r>
              <a:rPr lang="en-US" b="1" dirty="0">
                <a:solidFill>
                  <a:srgbClr val="C00000"/>
                </a:solidFill>
              </a:rPr>
              <a:t>5) Transform the original data</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27129A-F759-7B86-AE02-E3346E169667}"/>
                  </a:ext>
                </a:extLst>
              </p:cNvPr>
              <p:cNvSpPr txBox="1"/>
              <p:nvPr/>
            </p:nvSpPr>
            <p:spPr>
              <a:xfrm>
                <a:off x="3739444" y="1777239"/>
                <a:ext cx="1893712" cy="369332"/>
              </a:xfrm>
              <a:prstGeom prst="rect">
                <a:avLst/>
              </a:prstGeom>
              <a:noFill/>
            </p:spPr>
            <p:txBody>
              <a:bodyPr wrap="square">
                <a:spAutoFit/>
              </a:bodyPr>
              <a:lstStyle/>
              <a:p>
                <a:r>
                  <a:rPr lang="en-IN" b="0" i="0" u="none" strike="noStrike" dirty="0">
                    <a:solidFill>
                      <a:srgbClr val="000000"/>
                    </a:solidFill>
                    <a:effectLst/>
                  </a:rPr>
                  <a:t>Z=</a:t>
                </a:r>
                <a14:m>
                  <m:oMath xmlns:m="http://schemas.openxmlformats.org/officeDocument/2006/math">
                    <m:sSub>
                      <m:sSubPr>
                        <m:ctrlPr>
                          <a:rPr lang="en-IN" b="0" i="1" u="none" strike="noStrike" smtClean="0">
                            <a:solidFill>
                              <a:srgbClr val="000000"/>
                            </a:solidFill>
                            <a:effectLst/>
                            <a:latin typeface="Cambria Math" panose="02040503050406030204" pitchFamily="18" charset="0"/>
                          </a:rPr>
                        </m:ctrlPr>
                      </m:sSubPr>
                      <m:e>
                        <m:r>
                          <a:rPr lang="en-US" b="0" i="1" u="none" strike="noStrike" smtClean="0">
                            <a:solidFill>
                              <a:srgbClr val="000000"/>
                            </a:solidFill>
                            <a:effectLst/>
                            <a:latin typeface="Cambria Math" panose="02040503050406030204" pitchFamily="18" charset="0"/>
                          </a:rPr>
                          <m:t>𝑋</m:t>
                        </m:r>
                      </m:e>
                      <m:sub>
                        <m:r>
                          <a:rPr lang="en-US" b="0" i="1" u="none" strike="noStrike" smtClean="0">
                            <a:solidFill>
                              <a:srgbClr val="000000"/>
                            </a:solidFill>
                            <a:effectLst/>
                            <a:latin typeface="Cambria Math" panose="02040503050406030204" pitchFamily="18" charset="0"/>
                          </a:rPr>
                          <m:t>𝑐𝑒𝑛𝑡𝑒𝑟𝑒𝑑</m:t>
                        </m:r>
                      </m:sub>
                    </m:sSub>
                    <m:r>
                      <a:rPr lang="en-US" b="0" i="1" u="none" strike="noStrike" smtClean="0">
                        <a:solidFill>
                          <a:srgbClr val="000000"/>
                        </a:solidFill>
                        <a:effectLst/>
                        <a:latin typeface="Cambria Math" panose="02040503050406030204" pitchFamily="18" charset="0"/>
                      </a:rPr>
                      <m:t> ∗ </m:t>
                    </m:r>
                    <m:sSub>
                      <m:sSubPr>
                        <m:ctrlPr>
                          <a:rPr lang="en-US" b="0" i="1" u="none" strike="noStrike" smtClean="0">
                            <a:solidFill>
                              <a:srgbClr val="000000"/>
                            </a:solidFill>
                            <a:effectLst/>
                            <a:latin typeface="Cambria Math" panose="02040503050406030204" pitchFamily="18" charset="0"/>
                          </a:rPr>
                        </m:ctrlPr>
                      </m:sSubPr>
                      <m:e>
                        <m:r>
                          <a:rPr lang="en-US" b="0" i="1" u="none" strike="noStrike" smtClean="0">
                            <a:solidFill>
                              <a:srgbClr val="000000"/>
                            </a:solidFill>
                            <a:effectLst/>
                            <a:latin typeface="Cambria Math" panose="02040503050406030204" pitchFamily="18" charset="0"/>
                          </a:rPr>
                          <m:t>𝑉</m:t>
                        </m:r>
                      </m:e>
                      <m:sub>
                        <m:r>
                          <a:rPr lang="en-US" b="0" i="1" u="none" strike="noStrike" smtClean="0">
                            <a:solidFill>
                              <a:srgbClr val="000000"/>
                            </a:solidFill>
                            <a:effectLst/>
                            <a:latin typeface="Cambria Math" panose="02040503050406030204" pitchFamily="18" charset="0"/>
                          </a:rPr>
                          <m:t>1</m:t>
                        </m:r>
                      </m:sub>
                    </m:sSub>
                  </m:oMath>
                </a14:m>
                <a:endParaRPr lang="en-US" dirty="0"/>
              </a:p>
            </p:txBody>
          </p:sp>
        </mc:Choice>
        <mc:Fallback xmlns="">
          <p:sp>
            <p:nvSpPr>
              <p:cNvPr id="8" name="TextBox 7">
                <a:extLst>
                  <a:ext uri="{FF2B5EF4-FFF2-40B4-BE49-F238E27FC236}">
                    <a16:creationId xmlns:a16="http://schemas.microsoft.com/office/drawing/2014/main" id="{DF27129A-F759-7B86-AE02-E3346E169667}"/>
                  </a:ext>
                </a:extLst>
              </p:cNvPr>
              <p:cNvSpPr txBox="1">
                <a:spLocks noRot="1" noChangeAspect="1" noMove="1" noResize="1" noEditPoints="1" noAdjustHandles="1" noChangeArrowheads="1" noChangeShapeType="1" noTextEdit="1"/>
              </p:cNvSpPr>
              <p:nvPr/>
            </p:nvSpPr>
            <p:spPr>
              <a:xfrm>
                <a:off x="3739444" y="1777239"/>
                <a:ext cx="1893712" cy="369332"/>
              </a:xfrm>
              <a:prstGeom prst="rect">
                <a:avLst/>
              </a:prstGeom>
              <a:blipFill>
                <a:blip r:embed="rId2"/>
                <a:stretch>
                  <a:fillRect l="-2667" t="-10345" b="-241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4BD35333-6292-6543-5FAA-F5B6D9ECAE87}"/>
                  </a:ext>
                </a:extLst>
              </p:cNvPr>
              <p:cNvGraphicFramePr>
                <a:graphicFrameLocks noGrp="1"/>
              </p:cNvGraphicFramePr>
              <p:nvPr>
                <p:extLst>
                  <p:ext uri="{D42A27DB-BD31-4B8C-83A1-F6EECF244321}">
                    <p14:modId xmlns:p14="http://schemas.microsoft.com/office/powerpoint/2010/main" val="1255297540"/>
                  </p:ext>
                </p:extLst>
              </p:nvPr>
            </p:nvGraphicFramePr>
            <p:xfrm>
              <a:off x="338667" y="2515903"/>
              <a:ext cx="6524975" cy="2219960"/>
            </p:xfrm>
            <a:graphic>
              <a:graphicData uri="http://schemas.openxmlformats.org/drawingml/2006/table">
                <a:tbl>
                  <a:tblPr firstRow="1" bandRow="1">
                    <a:tableStyleId>{69012ECD-51FC-41F1-AA8D-1B2483CD663E}</a:tableStyleId>
                  </a:tblPr>
                  <a:tblGrid>
                    <a:gridCol w="1049866">
                      <a:extLst>
                        <a:ext uri="{9D8B030D-6E8A-4147-A177-3AD203B41FA5}">
                          <a16:colId xmlns:a16="http://schemas.microsoft.com/office/drawing/2014/main" val="20000"/>
                        </a:ext>
                      </a:extLst>
                    </a:gridCol>
                    <a:gridCol w="778933">
                      <a:extLst>
                        <a:ext uri="{9D8B030D-6E8A-4147-A177-3AD203B41FA5}">
                          <a16:colId xmlns:a16="http://schemas.microsoft.com/office/drawing/2014/main" val="20001"/>
                        </a:ext>
                      </a:extLst>
                    </a:gridCol>
                    <a:gridCol w="1704623">
                      <a:extLst>
                        <a:ext uri="{9D8B030D-6E8A-4147-A177-3AD203B41FA5}">
                          <a16:colId xmlns:a16="http://schemas.microsoft.com/office/drawing/2014/main" val="778060006"/>
                        </a:ext>
                      </a:extLst>
                    </a:gridCol>
                    <a:gridCol w="801511">
                      <a:extLst>
                        <a:ext uri="{9D8B030D-6E8A-4147-A177-3AD203B41FA5}">
                          <a16:colId xmlns:a16="http://schemas.microsoft.com/office/drawing/2014/main" val="20002"/>
                        </a:ext>
                      </a:extLst>
                    </a:gridCol>
                    <a:gridCol w="2190042">
                      <a:extLst>
                        <a:ext uri="{9D8B030D-6E8A-4147-A177-3AD203B41FA5}">
                          <a16:colId xmlns:a16="http://schemas.microsoft.com/office/drawing/2014/main" val="3855604232"/>
                        </a:ext>
                      </a:extLst>
                    </a:gridCol>
                  </a:tblGrid>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Student</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Math</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r>
                                  <a:rPr lang="en-US" b="1" i="1" smtClean="0">
                                    <a:latin typeface="Cambria Math" panose="02040503050406030204" pitchFamily="18" charset="0"/>
                                  </a:rPr>
                                  <m:t>−</m:t>
                                </m:r>
                                <m:bar>
                                  <m:barPr>
                                    <m:pos m:val="top"/>
                                    <m:ctrlPr>
                                      <a:rPr lang="en-US" i="1" smtClean="0">
                                        <a:latin typeface="Cambria Math" panose="02040503050406030204" pitchFamily="18" charset="0"/>
                                      </a:rPr>
                                    </m:ctrlPr>
                                  </m:barPr>
                                  <m:e>
                                    <m:r>
                                      <a:rPr lang="en-US" b="0" i="1" smtClean="0">
                                        <a:latin typeface="Cambria Math" panose="02040503050406030204" pitchFamily="18" charset="0"/>
                                      </a:rPr>
                                      <m:t>𝑋</m:t>
                                    </m:r>
                                  </m:e>
                                </m:bar>
                              </m:oMath>
                            </m:oMathPara>
                          </a14:m>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Science</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Y</a:t>
                          </a:r>
                          <a14:m>
                            <m:oMath xmlns:m="http://schemas.openxmlformats.org/officeDocument/2006/math">
                              <m:r>
                                <a:rPr lang="ar-AE" b="1" i="1" smtClean="0">
                                  <a:latin typeface="Cambria Math" panose="02040503050406030204" pitchFamily="18" charset="0"/>
                                </a:rPr>
                                <m:t>−</m:t>
                              </m:r>
                              <m:bar>
                                <m:barPr>
                                  <m:pos m:val="top"/>
                                  <m:ctrlPr>
                                    <a:rPr lang="ar-AE" i="1" smtClean="0">
                                      <a:latin typeface="Cambria Math" panose="02040503050406030204" pitchFamily="18" charset="0"/>
                                    </a:rPr>
                                  </m:ctrlPr>
                                </m:barPr>
                                <m:e>
                                  <m:r>
                                    <a:rPr lang="en-US" b="0" i="1" smtClean="0">
                                      <a:latin typeface="Cambria Math" panose="02040503050406030204" pitchFamily="18" charset="0"/>
                                    </a:rPr>
                                    <m:t>𝑌</m:t>
                                  </m:r>
                                </m:e>
                              </m:bar>
                            </m:oMath>
                          </a14:m>
                          <a:endParaRPr lang="ar-A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9900">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90−73.33=16.67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85−74.33=10.67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80−73.33=6.67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78−74.33=3.67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9900">
                    <a:tc>
                      <a:txBody>
                        <a:bodyPr/>
                        <a:lstStyle/>
                        <a:p>
                          <a:pPr algn="ctr"/>
                          <a:r>
                            <a:rPr lang="en-IN" sz="1800" b="0" i="0" u="none" strike="noStrike" kern="1200" dirty="0">
                              <a:solidFill>
                                <a:schemeClr val="tx1"/>
                              </a:solidFill>
                              <a:effectLst/>
                              <a:latin typeface="+mn-lt"/>
                              <a:ea typeface="+mn-ea"/>
                              <a:cs typeface="+mn-cs"/>
                            </a:rPr>
                            <a: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50−73.33=−23.33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60−74.33=−14.33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9" name="Table 8">
                <a:extLst>
                  <a:ext uri="{FF2B5EF4-FFF2-40B4-BE49-F238E27FC236}">
                    <a16:creationId xmlns:a16="http://schemas.microsoft.com/office/drawing/2014/main" id="{4BD35333-6292-6543-5FAA-F5B6D9ECAE87}"/>
                  </a:ext>
                </a:extLst>
              </p:cNvPr>
              <p:cNvGraphicFramePr>
                <a:graphicFrameLocks noGrp="1"/>
              </p:cNvGraphicFramePr>
              <p:nvPr>
                <p:extLst>
                  <p:ext uri="{D42A27DB-BD31-4B8C-83A1-F6EECF244321}">
                    <p14:modId xmlns:p14="http://schemas.microsoft.com/office/powerpoint/2010/main" val="1255297540"/>
                  </p:ext>
                </p:extLst>
              </p:nvPr>
            </p:nvGraphicFramePr>
            <p:xfrm>
              <a:off x="338667" y="2515903"/>
              <a:ext cx="6524975" cy="2219960"/>
            </p:xfrm>
            <a:graphic>
              <a:graphicData uri="http://schemas.openxmlformats.org/drawingml/2006/table">
                <a:tbl>
                  <a:tblPr firstRow="1" bandRow="1">
                    <a:tableStyleId>{69012ECD-51FC-41F1-AA8D-1B2483CD663E}</a:tableStyleId>
                  </a:tblPr>
                  <a:tblGrid>
                    <a:gridCol w="1049866">
                      <a:extLst>
                        <a:ext uri="{9D8B030D-6E8A-4147-A177-3AD203B41FA5}">
                          <a16:colId xmlns:a16="http://schemas.microsoft.com/office/drawing/2014/main" val="20000"/>
                        </a:ext>
                      </a:extLst>
                    </a:gridCol>
                    <a:gridCol w="778933">
                      <a:extLst>
                        <a:ext uri="{9D8B030D-6E8A-4147-A177-3AD203B41FA5}">
                          <a16:colId xmlns:a16="http://schemas.microsoft.com/office/drawing/2014/main" val="20001"/>
                        </a:ext>
                      </a:extLst>
                    </a:gridCol>
                    <a:gridCol w="1704623">
                      <a:extLst>
                        <a:ext uri="{9D8B030D-6E8A-4147-A177-3AD203B41FA5}">
                          <a16:colId xmlns:a16="http://schemas.microsoft.com/office/drawing/2014/main" val="778060006"/>
                        </a:ext>
                      </a:extLst>
                    </a:gridCol>
                    <a:gridCol w="801511">
                      <a:extLst>
                        <a:ext uri="{9D8B030D-6E8A-4147-A177-3AD203B41FA5}">
                          <a16:colId xmlns:a16="http://schemas.microsoft.com/office/drawing/2014/main" val="20002"/>
                        </a:ext>
                      </a:extLst>
                    </a:gridCol>
                    <a:gridCol w="2190042">
                      <a:extLst>
                        <a:ext uri="{9D8B030D-6E8A-4147-A177-3AD203B41FA5}">
                          <a16:colId xmlns:a16="http://schemas.microsoft.com/office/drawing/2014/main" val="3855604232"/>
                        </a:ext>
                      </a:extLst>
                    </a:gridCol>
                  </a:tblGrid>
                  <a:tr h="6400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Student</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Math</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7407" t="-6000" r="-175556" b="-266000"/>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Science</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8266" t="-6000" r="-578" b="-266000"/>
                          </a:stretch>
                        </a:blipFill>
                      </a:tcPr>
                    </a:tc>
                    <a:extLst>
                      <a:ext uri="{0D108BD9-81ED-4DB2-BD59-A6C34878D82A}">
                        <a16:rowId xmlns:a16="http://schemas.microsoft.com/office/drawing/2014/main" val="10000"/>
                      </a:ext>
                    </a:extLst>
                  </a:tr>
                  <a:tr h="469900">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90−73.33=16.67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85−74.33=10.67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80−73.33=6.67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78−74.33=3.67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algn="ctr"/>
                          <a:r>
                            <a:rPr lang="en-IN" sz="1800" b="0" i="0" u="none" strike="noStrike" kern="1200" dirty="0">
                              <a:solidFill>
                                <a:schemeClr val="tx1"/>
                              </a:solidFill>
                              <a:effectLst/>
                              <a:latin typeface="+mn-lt"/>
                              <a:ea typeface="+mn-ea"/>
                              <a:cs typeface="+mn-cs"/>
                            </a:rPr>
                            <a: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50−73.33=−23.33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60−74.33=−14.33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10" name="TextBox 9">
            <a:extLst>
              <a:ext uri="{FF2B5EF4-FFF2-40B4-BE49-F238E27FC236}">
                <a16:creationId xmlns:a16="http://schemas.microsoft.com/office/drawing/2014/main" id="{80279220-86EE-0A4A-A8A8-E644B3C9D48A}"/>
              </a:ext>
            </a:extLst>
          </p:cNvPr>
          <p:cNvSpPr txBox="1"/>
          <p:nvPr/>
        </p:nvSpPr>
        <p:spPr>
          <a:xfrm>
            <a:off x="7699022" y="2246489"/>
            <a:ext cx="3964547" cy="923330"/>
          </a:xfrm>
          <a:prstGeom prst="rect">
            <a:avLst/>
          </a:prstGeom>
          <a:noFill/>
        </p:spPr>
        <p:txBody>
          <a:bodyPr wrap="none" rtlCol="0">
            <a:spAutoFit/>
          </a:bodyPr>
          <a:lstStyle/>
          <a:p>
            <a:r>
              <a:rPr lang="en-IN" b="0" i="0" u="none" strike="noStrike" dirty="0">
                <a:solidFill>
                  <a:srgbClr val="000000"/>
                </a:solidFill>
                <a:effectLst/>
              </a:rPr>
              <a:t>Z1​=(16.67×0.85)+(10.67×0.52)=19.94</a:t>
            </a:r>
          </a:p>
          <a:p>
            <a:r>
              <a:rPr lang="en-IN" b="0" i="0" u="none" strike="noStrike" dirty="0">
                <a:solidFill>
                  <a:srgbClr val="000000"/>
                </a:solidFill>
                <a:effectLst/>
              </a:rPr>
              <a:t>Z2​=(6.67×0.85)+(3.67×0.52)=8.02</a:t>
            </a:r>
            <a:endParaRPr lang="en-IN" dirty="0">
              <a:solidFill>
                <a:srgbClr val="000000"/>
              </a:solidFill>
            </a:endParaRPr>
          </a:p>
          <a:p>
            <a:r>
              <a:rPr lang="en-IN" b="0" i="0" u="none" strike="noStrike" dirty="0">
                <a:solidFill>
                  <a:srgbClr val="000000"/>
                </a:solidFill>
                <a:effectLst/>
              </a:rPr>
              <a:t>Z3​=(−23.33×0.85)+(−14.33×0.52)=−27.96</a:t>
            </a:r>
            <a:endParaRPr lang="en-US" dirty="0"/>
          </a:p>
        </p:txBody>
      </p:sp>
      <p:graphicFrame>
        <p:nvGraphicFramePr>
          <p:cNvPr id="11" name="Table 10">
            <a:extLst>
              <a:ext uri="{FF2B5EF4-FFF2-40B4-BE49-F238E27FC236}">
                <a16:creationId xmlns:a16="http://schemas.microsoft.com/office/drawing/2014/main" id="{3E110756-C4E2-1E56-C342-CDAD41A6846D}"/>
              </a:ext>
            </a:extLst>
          </p:cNvPr>
          <p:cNvGraphicFramePr>
            <a:graphicFrameLocks noGrp="1"/>
          </p:cNvGraphicFramePr>
          <p:nvPr>
            <p:extLst>
              <p:ext uri="{D42A27DB-BD31-4B8C-83A1-F6EECF244321}">
                <p14:modId xmlns:p14="http://schemas.microsoft.com/office/powerpoint/2010/main" val="2741708324"/>
              </p:ext>
            </p:extLst>
          </p:nvPr>
        </p:nvGraphicFramePr>
        <p:xfrm>
          <a:off x="7961489" y="3429000"/>
          <a:ext cx="1828799" cy="2049780"/>
        </p:xfrm>
        <a:graphic>
          <a:graphicData uri="http://schemas.openxmlformats.org/drawingml/2006/table">
            <a:tbl>
              <a:tblPr firstRow="1" bandRow="1">
                <a:tableStyleId>{69012ECD-51FC-41F1-AA8D-1B2483CD663E}</a:tableStyleId>
              </a:tblPr>
              <a:tblGrid>
                <a:gridCol w="1049866">
                  <a:extLst>
                    <a:ext uri="{9D8B030D-6E8A-4147-A177-3AD203B41FA5}">
                      <a16:colId xmlns:a16="http://schemas.microsoft.com/office/drawing/2014/main" val="1384811108"/>
                    </a:ext>
                  </a:extLst>
                </a:gridCol>
                <a:gridCol w="778933">
                  <a:extLst>
                    <a:ext uri="{9D8B030D-6E8A-4147-A177-3AD203B41FA5}">
                      <a16:colId xmlns:a16="http://schemas.microsoft.com/office/drawing/2014/main" val="118282347"/>
                    </a:ext>
                  </a:extLst>
                </a:gridCol>
              </a:tblGrid>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Student</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PCA Value</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004190"/>
                  </a:ext>
                </a:extLst>
              </a:tr>
              <a:tr h="469900">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19.94</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3757635"/>
                  </a:ext>
                </a:extLst>
              </a:tr>
              <a:tr h="4699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8.02</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6043315"/>
                  </a:ext>
                </a:extLst>
              </a:tr>
              <a:tr h="469900">
                <a:tc>
                  <a:txBody>
                    <a:bodyPr/>
                    <a:lstStyle/>
                    <a:p>
                      <a:pPr algn="ctr"/>
                      <a:r>
                        <a:rPr lang="en-IN" sz="1800" b="0" i="0" u="none" strike="noStrike" kern="1200" dirty="0">
                          <a:solidFill>
                            <a:schemeClr val="tx1"/>
                          </a:solidFill>
                          <a:effectLst/>
                          <a:latin typeface="+mn-lt"/>
                          <a:ea typeface="+mn-ea"/>
                          <a:cs typeface="+mn-cs"/>
                        </a:rPr>
                        <a: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0" i="0" u="none" strike="noStrike" kern="1200" dirty="0">
                          <a:solidFill>
                            <a:schemeClr val="tx1"/>
                          </a:solidFill>
                          <a:effectLst/>
                          <a:latin typeface="+mn-lt"/>
                          <a:ea typeface="+mn-ea"/>
                          <a:cs typeface="+mn-cs"/>
                        </a:rPr>
                        <a:t>-27.96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884510"/>
                  </a:ext>
                </a:extLst>
              </a:tr>
            </a:tbl>
          </a:graphicData>
        </a:graphic>
      </p:graphicFrame>
    </p:spTree>
    <p:extLst>
      <p:ext uri="{BB962C8B-B14F-4D97-AF65-F5344CB8AC3E}">
        <p14:creationId xmlns:p14="http://schemas.microsoft.com/office/powerpoint/2010/main" val="298725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E3E0D-C76B-76EF-E6D1-3EEFA2E96119}"/>
              </a:ext>
            </a:extLst>
          </p:cNvPr>
          <p:cNvSpPr>
            <a:spLocks noGrp="1"/>
          </p:cNvSpPr>
          <p:nvPr>
            <p:ph type="title"/>
          </p:nvPr>
        </p:nvSpPr>
        <p:spPr/>
        <p:txBody>
          <a:bodyPr>
            <a:normAutofit/>
          </a:bodyPr>
          <a:lstStyle/>
          <a:p>
            <a:r>
              <a:rPr lang="en-US" dirty="0"/>
              <a:t>LDA(Linear Discriminant Analysis)</a:t>
            </a:r>
          </a:p>
        </p:txBody>
      </p:sp>
      <p:sp>
        <p:nvSpPr>
          <p:cNvPr id="3" name="Content Placeholder 2">
            <a:extLst>
              <a:ext uri="{FF2B5EF4-FFF2-40B4-BE49-F238E27FC236}">
                <a16:creationId xmlns:a16="http://schemas.microsoft.com/office/drawing/2014/main" id="{2F33E043-3A06-77EE-47F5-116A2F7C7CC7}"/>
              </a:ext>
            </a:extLst>
          </p:cNvPr>
          <p:cNvSpPr>
            <a:spLocks noGrp="1"/>
          </p:cNvSpPr>
          <p:nvPr>
            <p:ph idx="1"/>
          </p:nvPr>
        </p:nvSpPr>
        <p:spPr/>
        <p:txBody>
          <a:bodyPr/>
          <a:lstStyle/>
          <a:p>
            <a:r>
              <a:rPr lang="en-US" dirty="0"/>
              <a:t>It is </a:t>
            </a:r>
            <a:r>
              <a:rPr lang="en-US" dirty="0">
                <a:solidFill>
                  <a:schemeClr val="accent6"/>
                </a:solidFill>
              </a:rPr>
              <a:t>also know as Normal Discriminant Analysis or Discriminant function Analysis</a:t>
            </a:r>
            <a:r>
              <a:rPr lang="en-US" dirty="0"/>
              <a:t>.</a:t>
            </a:r>
          </a:p>
          <a:p>
            <a:r>
              <a:rPr lang="en-US" dirty="0"/>
              <a:t>Linear discriminant analysis (LDA) is </a:t>
            </a:r>
            <a:r>
              <a:rPr lang="en-US" dirty="0">
                <a:solidFill>
                  <a:schemeClr val="accent6"/>
                </a:solidFill>
              </a:rPr>
              <a:t>an approach used in supervised machine learning to solve multi-class classification problems. </a:t>
            </a:r>
          </a:p>
          <a:p>
            <a:r>
              <a:rPr lang="en-US" dirty="0"/>
              <a:t>It is used to project the features </a:t>
            </a:r>
            <a:r>
              <a:rPr lang="en-US" dirty="0">
                <a:solidFill>
                  <a:schemeClr val="accent6"/>
                </a:solidFill>
              </a:rPr>
              <a:t>in higher dimension space into a lower dimension space.</a:t>
            </a:r>
          </a:p>
          <a:p>
            <a:r>
              <a:rPr lang="en-US" dirty="0"/>
              <a:t>LDA separates multiple </a:t>
            </a:r>
            <a:r>
              <a:rPr lang="en-US" dirty="0">
                <a:solidFill>
                  <a:schemeClr val="accent6"/>
                </a:solidFill>
              </a:rPr>
              <a:t>classes with multiple features through data dimensionality reduction</a:t>
            </a:r>
            <a:r>
              <a:rPr lang="en-US" dirty="0"/>
              <a:t>. </a:t>
            </a:r>
          </a:p>
          <a:p>
            <a:r>
              <a:rPr lang="en-US" dirty="0"/>
              <a:t>This technique is </a:t>
            </a:r>
            <a:r>
              <a:rPr lang="en-US" dirty="0">
                <a:solidFill>
                  <a:schemeClr val="accent6"/>
                </a:solidFill>
              </a:rPr>
              <a:t>important in data science as it helps optimize machine learning models</a:t>
            </a:r>
            <a:r>
              <a:rPr lang="en-US" dirty="0"/>
              <a:t>.</a:t>
            </a:r>
          </a:p>
          <a:p>
            <a:r>
              <a:rPr lang="en-US" dirty="0"/>
              <a:t>To create this new axis and reduce dimensionality, LDA follows these criteria:</a:t>
            </a:r>
          </a:p>
          <a:p>
            <a:pPr lvl="1"/>
            <a:r>
              <a:rPr lang="en-US" dirty="0">
                <a:solidFill>
                  <a:schemeClr val="accent6"/>
                </a:solidFill>
              </a:rPr>
              <a:t>Maximize</a:t>
            </a:r>
            <a:r>
              <a:rPr lang="en-US" dirty="0"/>
              <a:t> the distance </a:t>
            </a:r>
            <a:r>
              <a:rPr lang="en-US" dirty="0">
                <a:solidFill>
                  <a:schemeClr val="accent6"/>
                </a:solidFill>
              </a:rPr>
              <a:t>between the means of two classes</a:t>
            </a:r>
            <a:r>
              <a:rPr lang="en-US" dirty="0"/>
              <a:t>.</a:t>
            </a:r>
          </a:p>
          <a:p>
            <a:pPr lvl="1"/>
            <a:r>
              <a:rPr lang="en-US" dirty="0">
                <a:solidFill>
                  <a:schemeClr val="accent6"/>
                </a:solidFill>
              </a:rPr>
              <a:t>Minimize</a:t>
            </a:r>
            <a:r>
              <a:rPr lang="en-US" dirty="0"/>
              <a:t> the variance </a:t>
            </a:r>
            <a:r>
              <a:rPr lang="en-US" dirty="0">
                <a:solidFill>
                  <a:schemeClr val="accent6"/>
                </a:solidFill>
              </a:rPr>
              <a:t>within individual classes</a:t>
            </a:r>
            <a:r>
              <a:rPr lang="en-US" dirty="0"/>
              <a:t>.</a:t>
            </a:r>
          </a:p>
          <a:p>
            <a:endParaRPr lang="en-US" dirty="0"/>
          </a:p>
        </p:txBody>
      </p:sp>
    </p:spTree>
    <p:extLst>
      <p:ext uri="{BB962C8B-B14F-4D97-AF65-F5344CB8AC3E}">
        <p14:creationId xmlns:p14="http://schemas.microsoft.com/office/powerpoint/2010/main" val="112701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CAB4-669C-0C5B-CF39-3A91644FE39E}"/>
              </a:ext>
            </a:extLst>
          </p:cNvPr>
          <p:cNvSpPr>
            <a:spLocks noGrp="1"/>
          </p:cNvSpPr>
          <p:nvPr>
            <p:ph type="title"/>
          </p:nvPr>
        </p:nvSpPr>
        <p:spPr/>
        <p:txBody>
          <a:bodyPr/>
          <a:lstStyle/>
          <a:p>
            <a:r>
              <a:rPr lang="en-US" dirty="0"/>
              <a:t>LDA(Linear Discriminant Analysis)</a:t>
            </a:r>
          </a:p>
        </p:txBody>
      </p:sp>
      <p:sp>
        <p:nvSpPr>
          <p:cNvPr id="3" name="Content Placeholder 2">
            <a:extLst>
              <a:ext uri="{FF2B5EF4-FFF2-40B4-BE49-F238E27FC236}">
                <a16:creationId xmlns:a16="http://schemas.microsoft.com/office/drawing/2014/main" id="{F6E6B545-2D29-EC89-5B76-A4421C6BB179}"/>
              </a:ext>
            </a:extLst>
          </p:cNvPr>
          <p:cNvSpPr>
            <a:spLocks noGrp="1"/>
          </p:cNvSpPr>
          <p:nvPr>
            <p:ph idx="1"/>
          </p:nvPr>
        </p:nvSpPr>
        <p:spPr/>
        <p:txBody>
          <a:bodyPr/>
          <a:lstStyle/>
          <a:p>
            <a:r>
              <a:rPr lang="en-US" dirty="0"/>
              <a:t>1) </a:t>
            </a:r>
            <a:r>
              <a:rPr lang="en-IN" b="0" i="0" u="none" strike="noStrike" dirty="0">
                <a:solidFill>
                  <a:srgbClr val="000000"/>
                </a:solidFill>
                <a:effectLst/>
              </a:rPr>
              <a:t>Compute the class </a:t>
            </a:r>
            <a:r>
              <a:rPr lang="en-IN" b="0" i="0" u="none" strike="noStrike" dirty="0">
                <a:solidFill>
                  <a:schemeClr val="accent6"/>
                </a:solidFill>
                <a:effectLst/>
              </a:rPr>
              <a:t>means of dependent variable</a:t>
            </a:r>
            <a:r>
              <a:rPr lang="en-IN" b="0" i="0" u="none" strike="noStrike" dirty="0">
                <a:solidFill>
                  <a:srgbClr val="000000"/>
                </a:solidFill>
                <a:effectLst/>
              </a:rPr>
              <a:t>.</a:t>
            </a:r>
          </a:p>
          <a:p>
            <a:r>
              <a:rPr lang="en-IN" dirty="0">
                <a:solidFill>
                  <a:srgbClr val="000000"/>
                </a:solidFill>
              </a:rPr>
              <a:t>2) Derive the </a:t>
            </a:r>
            <a:r>
              <a:rPr lang="en-IN" dirty="0">
                <a:solidFill>
                  <a:schemeClr val="accent6"/>
                </a:solidFill>
              </a:rPr>
              <a:t>covariance matrix </a:t>
            </a:r>
            <a:r>
              <a:rPr lang="en-IN" dirty="0">
                <a:solidFill>
                  <a:srgbClr val="000000"/>
                </a:solidFill>
              </a:rPr>
              <a:t>of the class variable.</a:t>
            </a:r>
          </a:p>
          <a:p>
            <a:r>
              <a:rPr lang="en-IN" b="0" i="0" u="none" strike="noStrike" dirty="0">
                <a:solidFill>
                  <a:srgbClr val="000000"/>
                </a:solidFill>
                <a:effectLst/>
              </a:rPr>
              <a:t>3) Compute the within class – </a:t>
            </a:r>
            <a:r>
              <a:rPr lang="en-IN" b="0" i="0" u="none" strike="noStrike" dirty="0">
                <a:solidFill>
                  <a:schemeClr val="accent6"/>
                </a:solidFill>
                <a:effectLst/>
              </a:rPr>
              <a:t>Scatter Matrix</a:t>
            </a:r>
          </a:p>
          <a:p>
            <a:r>
              <a:rPr lang="en-IN" dirty="0">
                <a:solidFill>
                  <a:srgbClr val="000000"/>
                </a:solidFill>
              </a:rPr>
              <a:t>4) Compute between </a:t>
            </a:r>
            <a:r>
              <a:rPr lang="en-IN" dirty="0">
                <a:solidFill>
                  <a:schemeClr val="accent6"/>
                </a:solidFill>
              </a:rPr>
              <a:t>class scatter matrix</a:t>
            </a:r>
          </a:p>
          <a:p>
            <a:r>
              <a:rPr lang="en-IN" b="0" i="0" u="none" strike="noStrike" dirty="0">
                <a:solidFill>
                  <a:srgbClr val="000000"/>
                </a:solidFill>
                <a:effectLst/>
              </a:rPr>
              <a:t>5) Compute</a:t>
            </a:r>
            <a:r>
              <a:rPr lang="en-IN" dirty="0">
                <a:solidFill>
                  <a:srgbClr val="000000"/>
                </a:solidFill>
              </a:rPr>
              <a:t> the </a:t>
            </a:r>
            <a:r>
              <a:rPr lang="en-IN" dirty="0">
                <a:solidFill>
                  <a:schemeClr val="accent6"/>
                </a:solidFill>
              </a:rPr>
              <a:t>eigen values and eigen vector </a:t>
            </a:r>
            <a:r>
              <a:rPr lang="en-IN" dirty="0">
                <a:solidFill>
                  <a:srgbClr val="000000"/>
                </a:solidFill>
              </a:rPr>
              <a:t>from </a:t>
            </a:r>
            <a:r>
              <a:rPr lang="en-IN" b="0" i="0" u="none" strike="noStrike" dirty="0">
                <a:solidFill>
                  <a:srgbClr val="000000"/>
                </a:solidFill>
                <a:effectLst/>
              </a:rPr>
              <a:t>within class and </a:t>
            </a:r>
            <a:r>
              <a:rPr lang="en-IN" dirty="0">
                <a:solidFill>
                  <a:srgbClr val="000000"/>
                </a:solidFill>
              </a:rPr>
              <a:t>between class scatter matrix.</a:t>
            </a:r>
          </a:p>
          <a:p>
            <a:r>
              <a:rPr lang="en-IN" b="0" i="0" u="none" strike="noStrike" dirty="0">
                <a:solidFill>
                  <a:srgbClr val="000000"/>
                </a:solidFill>
                <a:effectLst/>
              </a:rPr>
              <a:t>6) Sort </a:t>
            </a:r>
            <a:r>
              <a:rPr lang="en-IN" dirty="0">
                <a:solidFill>
                  <a:schemeClr val="accent6"/>
                </a:solidFill>
              </a:rPr>
              <a:t>eigen values and select the top </a:t>
            </a:r>
            <a:r>
              <a:rPr lang="en-IN" dirty="0">
                <a:solidFill>
                  <a:srgbClr val="000000"/>
                </a:solidFill>
              </a:rPr>
              <a:t>most.</a:t>
            </a:r>
          </a:p>
          <a:p>
            <a:r>
              <a:rPr lang="en-IN" b="0" i="0" u="none" strike="noStrike" dirty="0">
                <a:solidFill>
                  <a:srgbClr val="000000"/>
                </a:solidFill>
                <a:effectLst/>
              </a:rPr>
              <a:t>7) Find the eigen vector </a:t>
            </a:r>
            <a:r>
              <a:rPr lang="en-IN" b="0" i="0" u="none" strike="noStrike" dirty="0">
                <a:solidFill>
                  <a:schemeClr val="accent6"/>
                </a:solidFill>
                <a:effectLst/>
              </a:rPr>
              <a:t>correspond to the top k eigen vectors</a:t>
            </a:r>
            <a:r>
              <a:rPr lang="en-IN" b="0" i="0" u="none" strike="noStrike" dirty="0">
                <a:solidFill>
                  <a:srgbClr val="000000"/>
                </a:solidFill>
                <a:effectLst/>
              </a:rPr>
              <a:t>.</a:t>
            </a:r>
          </a:p>
          <a:p>
            <a:r>
              <a:rPr lang="en-IN" dirty="0">
                <a:solidFill>
                  <a:srgbClr val="000000"/>
                </a:solidFill>
              </a:rPr>
              <a:t>8) Obtain LDA by taking </a:t>
            </a:r>
            <a:r>
              <a:rPr lang="en-IN" dirty="0">
                <a:solidFill>
                  <a:schemeClr val="accent6"/>
                </a:solidFill>
              </a:rPr>
              <a:t>dot product of eigen vector </a:t>
            </a:r>
            <a:r>
              <a:rPr lang="en-IN" dirty="0">
                <a:solidFill>
                  <a:srgbClr val="000000"/>
                </a:solidFill>
              </a:rPr>
              <a:t>and original data.</a:t>
            </a:r>
            <a:endParaRPr lang="en-IN" b="0" i="0" u="none" strike="noStrike" dirty="0">
              <a:solidFill>
                <a:srgbClr val="000000"/>
              </a:solidFill>
              <a:effectLst/>
            </a:endParaRPr>
          </a:p>
        </p:txBody>
      </p:sp>
    </p:spTree>
    <p:extLst>
      <p:ext uri="{BB962C8B-B14F-4D97-AF65-F5344CB8AC3E}">
        <p14:creationId xmlns:p14="http://schemas.microsoft.com/office/powerpoint/2010/main" val="3022266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B00A4-4BDB-324C-C3AA-FCF20DFC19FD}"/>
              </a:ext>
            </a:extLst>
          </p:cNvPr>
          <p:cNvSpPr>
            <a:spLocks noGrp="1"/>
          </p:cNvSpPr>
          <p:nvPr>
            <p:ph type="title"/>
          </p:nvPr>
        </p:nvSpPr>
        <p:spPr/>
        <p:txBody>
          <a:bodyPr/>
          <a:lstStyle/>
          <a:p>
            <a:r>
              <a:rPr lang="en-US" dirty="0"/>
              <a:t>LDA - Example</a:t>
            </a:r>
          </a:p>
        </p:txBody>
      </p:sp>
      <p:graphicFrame>
        <p:nvGraphicFramePr>
          <p:cNvPr id="10" name="Table 9">
            <a:extLst>
              <a:ext uri="{FF2B5EF4-FFF2-40B4-BE49-F238E27FC236}">
                <a16:creationId xmlns:a16="http://schemas.microsoft.com/office/drawing/2014/main" id="{A6257E86-F28A-69D6-6DE9-464AF0C4169D}"/>
              </a:ext>
            </a:extLst>
          </p:cNvPr>
          <p:cNvGraphicFramePr>
            <a:graphicFrameLocks noGrp="1"/>
          </p:cNvGraphicFramePr>
          <p:nvPr>
            <p:extLst>
              <p:ext uri="{D42A27DB-BD31-4B8C-83A1-F6EECF244321}">
                <p14:modId xmlns:p14="http://schemas.microsoft.com/office/powerpoint/2010/main" val="488103804"/>
              </p:ext>
            </p:extLst>
          </p:nvPr>
        </p:nvGraphicFramePr>
        <p:xfrm>
          <a:off x="378178" y="1450621"/>
          <a:ext cx="3268134" cy="2194560"/>
        </p:xfrm>
        <a:graphic>
          <a:graphicData uri="http://schemas.openxmlformats.org/drawingml/2006/table">
            <a:tbl>
              <a:tblPr firstRow="1" bandRow="1">
                <a:tableStyleId>{69012ECD-51FC-41F1-AA8D-1B2483CD663E}</a:tableStyleId>
              </a:tblPr>
              <a:tblGrid>
                <a:gridCol w="1089378">
                  <a:extLst>
                    <a:ext uri="{9D8B030D-6E8A-4147-A177-3AD203B41FA5}">
                      <a16:colId xmlns:a16="http://schemas.microsoft.com/office/drawing/2014/main" val="20000"/>
                    </a:ext>
                  </a:extLst>
                </a:gridCol>
                <a:gridCol w="1089378">
                  <a:extLst>
                    <a:ext uri="{9D8B030D-6E8A-4147-A177-3AD203B41FA5}">
                      <a16:colId xmlns:a16="http://schemas.microsoft.com/office/drawing/2014/main" val="20001"/>
                    </a:ext>
                  </a:extLst>
                </a:gridCol>
                <a:gridCol w="1089378">
                  <a:extLst>
                    <a:ext uri="{9D8B030D-6E8A-4147-A177-3AD203B41FA5}">
                      <a16:colId xmlns:a16="http://schemas.microsoft.com/office/drawing/2014/main" val="20002"/>
                    </a:ext>
                  </a:extLst>
                </a:gridCol>
              </a:tblGrid>
              <a:tr h="3297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Feature 1</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Feature 2</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Class</a:t>
                      </a:r>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9730">
                <a:tc>
                  <a:txBody>
                    <a:bodyPr/>
                    <a:lstStyle/>
                    <a:p>
                      <a:pPr algn="ctr"/>
                      <a:r>
                        <a:rPr lang="en-IN"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9730">
                <a:tc>
                  <a:txBody>
                    <a:bodyPr/>
                    <a:lstStyle/>
                    <a:p>
                      <a:pPr algn="ct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9730">
                <a:tc>
                  <a:txBody>
                    <a:bodyPr/>
                    <a:lstStyle/>
                    <a:p>
                      <a:pPr algn="ctr"/>
                      <a:r>
                        <a:rPr lang="en-IN" dirty="0"/>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29730">
                <a:tc>
                  <a:txBody>
                    <a:bodyPr/>
                    <a:lstStyle/>
                    <a:p>
                      <a:pPr algn="ctr"/>
                      <a:r>
                        <a:rPr lang="en-IN"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138325"/>
                  </a:ext>
                </a:extLst>
              </a:tr>
              <a:tr h="329730">
                <a:tc>
                  <a:txBody>
                    <a:bodyPr/>
                    <a:lstStyle/>
                    <a:p>
                      <a:pPr algn="ctr"/>
                      <a:r>
                        <a:rPr lang="en-IN" dirty="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2853579"/>
                  </a:ext>
                </a:extLst>
              </a:tr>
            </a:tbl>
          </a:graphicData>
        </a:graphic>
      </p:graphicFrame>
      <p:sp>
        <p:nvSpPr>
          <p:cNvPr id="11" name="TextBox 10">
            <a:extLst>
              <a:ext uri="{FF2B5EF4-FFF2-40B4-BE49-F238E27FC236}">
                <a16:creationId xmlns:a16="http://schemas.microsoft.com/office/drawing/2014/main" id="{CD70482A-97CC-4B6E-E1C6-05800073BACD}"/>
              </a:ext>
            </a:extLst>
          </p:cNvPr>
          <p:cNvSpPr txBox="1"/>
          <p:nvPr/>
        </p:nvSpPr>
        <p:spPr>
          <a:xfrm>
            <a:off x="378178" y="913421"/>
            <a:ext cx="1176925" cy="369332"/>
          </a:xfrm>
          <a:prstGeom prst="rect">
            <a:avLst/>
          </a:prstGeom>
          <a:noFill/>
        </p:spPr>
        <p:txBody>
          <a:bodyPr wrap="none" rtlCol="0">
            <a:spAutoFit/>
          </a:bodyPr>
          <a:lstStyle/>
          <a:p>
            <a:r>
              <a:rPr lang="en-US" b="1" dirty="0"/>
              <a:t>Given Data</a:t>
            </a:r>
          </a:p>
        </p:txBody>
      </p:sp>
      <p:sp>
        <p:nvSpPr>
          <p:cNvPr id="12" name="TextBox 11">
            <a:extLst>
              <a:ext uri="{FF2B5EF4-FFF2-40B4-BE49-F238E27FC236}">
                <a16:creationId xmlns:a16="http://schemas.microsoft.com/office/drawing/2014/main" id="{8DD879B1-E005-6070-1D7B-B8F4116662F4}"/>
              </a:ext>
            </a:extLst>
          </p:cNvPr>
          <p:cNvSpPr txBox="1"/>
          <p:nvPr/>
        </p:nvSpPr>
        <p:spPr>
          <a:xfrm>
            <a:off x="4007556" y="1023866"/>
            <a:ext cx="2481770" cy="369332"/>
          </a:xfrm>
          <a:prstGeom prst="rect">
            <a:avLst/>
          </a:prstGeom>
          <a:noFill/>
        </p:spPr>
        <p:txBody>
          <a:bodyPr wrap="none" rtlCol="0">
            <a:spAutoFit/>
          </a:bodyPr>
          <a:lstStyle/>
          <a:p>
            <a:r>
              <a:rPr lang="en-US" b="1" dirty="0">
                <a:solidFill>
                  <a:srgbClr val="C00000"/>
                </a:solidFill>
              </a:rPr>
              <a:t>1) Compute Class Means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B520125-017A-AA8E-43C9-7FBDB76A13D5}"/>
                  </a:ext>
                </a:extLst>
              </p:cNvPr>
              <p:cNvSpPr txBox="1"/>
              <p:nvPr/>
            </p:nvSpPr>
            <p:spPr>
              <a:xfrm>
                <a:off x="5610578" y="1546578"/>
                <a:ext cx="1811009" cy="6485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sub>
                        <m:sup/>
                        <m:e>
                          <m:r>
                            <a:rPr lang="en-US" b="0" i="1" smtClean="0">
                              <a:latin typeface="Cambria Math" panose="02040503050406030204" pitchFamily="18" charset="0"/>
                            </a:rPr>
                            <m:t>𝑥</m:t>
                          </m:r>
                        </m:e>
                      </m:nary>
                    </m:oMath>
                  </m:oMathPara>
                </a14:m>
                <a:endParaRPr lang="en-US" dirty="0"/>
              </a:p>
            </p:txBody>
          </p:sp>
        </mc:Choice>
        <mc:Fallback xmlns="">
          <p:sp>
            <p:nvSpPr>
              <p:cNvPr id="13" name="TextBox 12">
                <a:extLst>
                  <a:ext uri="{FF2B5EF4-FFF2-40B4-BE49-F238E27FC236}">
                    <a16:creationId xmlns:a16="http://schemas.microsoft.com/office/drawing/2014/main" id="{BB520125-017A-AA8E-43C9-7FBDB76A13D5}"/>
                  </a:ext>
                </a:extLst>
              </p:cNvPr>
              <p:cNvSpPr txBox="1">
                <a:spLocks noRot="1" noChangeAspect="1" noMove="1" noResize="1" noEditPoints="1" noAdjustHandles="1" noChangeArrowheads="1" noChangeShapeType="1" noTextEdit="1"/>
              </p:cNvSpPr>
              <p:nvPr/>
            </p:nvSpPr>
            <p:spPr>
              <a:xfrm>
                <a:off x="5610578" y="1546578"/>
                <a:ext cx="1811009" cy="648575"/>
              </a:xfrm>
              <a:prstGeom prst="rect">
                <a:avLst/>
              </a:prstGeom>
              <a:blipFill>
                <a:blip r:embed="rId2"/>
                <a:stretch>
                  <a:fillRect t="-144231" b="-2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B1C460D-4306-7D71-402A-0C5DC72DDCBC}"/>
                  </a:ext>
                </a:extLst>
              </p:cNvPr>
              <p:cNvSpPr txBox="1"/>
              <p:nvPr/>
            </p:nvSpPr>
            <p:spPr>
              <a:xfrm>
                <a:off x="7783689" y="1485728"/>
                <a:ext cx="1819857" cy="6485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𝐵</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sub>
                        <m:sup/>
                        <m:e>
                          <m:r>
                            <a:rPr lang="en-US" b="0" i="1" smtClean="0">
                              <a:latin typeface="Cambria Math" panose="02040503050406030204" pitchFamily="18" charset="0"/>
                            </a:rPr>
                            <m:t>𝑥</m:t>
                          </m:r>
                        </m:e>
                      </m:nary>
                    </m:oMath>
                  </m:oMathPara>
                </a14:m>
                <a:endParaRPr lang="en-US" dirty="0"/>
              </a:p>
            </p:txBody>
          </p:sp>
        </mc:Choice>
        <mc:Fallback xmlns="">
          <p:sp>
            <p:nvSpPr>
              <p:cNvPr id="14" name="TextBox 13">
                <a:extLst>
                  <a:ext uri="{FF2B5EF4-FFF2-40B4-BE49-F238E27FC236}">
                    <a16:creationId xmlns:a16="http://schemas.microsoft.com/office/drawing/2014/main" id="{CB1C460D-4306-7D71-402A-0C5DC72DDCBC}"/>
                  </a:ext>
                </a:extLst>
              </p:cNvPr>
              <p:cNvSpPr txBox="1">
                <a:spLocks noRot="1" noChangeAspect="1" noMove="1" noResize="1" noEditPoints="1" noAdjustHandles="1" noChangeArrowheads="1" noChangeShapeType="1" noTextEdit="1"/>
              </p:cNvSpPr>
              <p:nvPr/>
            </p:nvSpPr>
            <p:spPr>
              <a:xfrm>
                <a:off x="7783689" y="1485728"/>
                <a:ext cx="1819857" cy="648575"/>
              </a:xfrm>
              <a:prstGeom prst="rect">
                <a:avLst/>
              </a:prstGeom>
              <a:blipFill>
                <a:blip r:embed="rId3"/>
                <a:stretch>
                  <a:fillRect t="-149020" b="-2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0C2C019-6AAA-2703-68CA-F85B0C131A90}"/>
                  </a:ext>
                </a:extLst>
              </p:cNvPr>
              <p:cNvSpPr txBox="1"/>
              <p:nvPr/>
            </p:nvSpPr>
            <p:spPr>
              <a:xfrm>
                <a:off x="4342936" y="2560431"/>
                <a:ext cx="3953326"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4</m:t>
                                    </m:r>
                                  </m:e>
                                </m:mr>
                                <m:mr>
                                  <m:e>
                                    <m:r>
                                      <a:rPr lang="en-US" i="1">
                                        <a:latin typeface="Cambria Math" panose="02040503050406030204" pitchFamily="18" charset="0"/>
                                      </a:rPr>
                                      <m:t>2</m:t>
                                    </m:r>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2</m:t>
                                    </m:r>
                                  </m:e>
                                </m:mr>
                                <m:mr>
                                  <m:e>
                                    <m:r>
                                      <a:rPr lang="en-US" i="1">
                                        <a:latin typeface="Cambria Math" panose="02040503050406030204" pitchFamily="18" charset="0"/>
                                      </a:rPr>
                                      <m:t>3</m:t>
                                    </m:r>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5</m:t>
                                    </m:r>
                                    <m:r>
                                      <a:rPr lang="en-US" i="1">
                                        <a:latin typeface="Cambria Math" panose="02040503050406030204" pitchFamily="18" charset="0"/>
                                      </a:rPr>
                                      <m:t>.0</m:t>
                                    </m:r>
                                  </m:e>
                                </m:mr>
                                <m:mr>
                                  <m:e>
                                    <m:r>
                                      <a:rPr lang="en-US" i="1">
                                        <a:latin typeface="Cambria Math" panose="02040503050406030204" pitchFamily="18" charset="0"/>
                                      </a:rPr>
                                      <m:t>3.5</m:t>
                                    </m:r>
                                  </m:e>
                                </m:mr>
                              </m:m>
                            </m:e>
                          </m:d>
                        </m:e>
                      </m:d>
                      <m:r>
                        <a:rPr lang="en-US" b="0" i="1" smtClean="0">
                          <a:latin typeface="Cambria Math" panose="02040503050406030204" pitchFamily="18" charset="0"/>
                        </a:rPr>
                        <m:t> = </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3</m:t>
                                </m:r>
                                <m:r>
                                  <a:rPr lang="en-US" b="0" i="1" smtClean="0">
                                    <a:latin typeface="Cambria Math" panose="02040503050406030204" pitchFamily="18" charset="0"/>
                                  </a:rPr>
                                  <m:t>.67</m:t>
                                </m:r>
                              </m:e>
                            </m:mr>
                            <m:mr>
                              <m:e>
                                <m:r>
                                  <a:rPr lang="en-US" b="0" i="1" smtClean="0">
                                    <a:latin typeface="Cambria Math" panose="02040503050406030204" pitchFamily="18" charset="0"/>
                                  </a:rPr>
                                  <m:t>2.83</m:t>
                                </m:r>
                              </m:e>
                            </m:mr>
                          </m:m>
                        </m:e>
                      </m:d>
                    </m:oMath>
                  </m:oMathPara>
                </a14:m>
                <a:endParaRPr lang="en-US" dirty="0"/>
              </a:p>
            </p:txBody>
          </p:sp>
        </mc:Choice>
        <mc:Fallback xmlns="">
          <p:sp>
            <p:nvSpPr>
              <p:cNvPr id="17" name="TextBox 16">
                <a:extLst>
                  <a:ext uri="{FF2B5EF4-FFF2-40B4-BE49-F238E27FC236}">
                    <a16:creationId xmlns:a16="http://schemas.microsoft.com/office/drawing/2014/main" id="{80C2C019-6AAA-2703-68CA-F85B0C131A90}"/>
                  </a:ext>
                </a:extLst>
              </p:cNvPr>
              <p:cNvSpPr txBox="1">
                <a:spLocks noRot="1" noChangeAspect="1" noMove="1" noResize="1" noEditPoints="1" noAdjustHandles="1" noChangeArrowheads="1" noChangeShapeType="1" noTextEdit="1"/>
              </p:cNvSpPr>
              <p:nvPr/>
            </p:nvSpPr>
            <p:spPr>
              <a:xfrm>
                <a:off x="4342936" y="2560431"/>
                <a:ext cx="3953326" cy="612732"/>
              </a:xfrm>
              <a:prstGeom prst="rect">
                <a:avLst/>
              </a:prstGeom>
              <a:blipFill>
                <a:blip r:embed="rId4"/>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092BCA2-43E5-D137-3E79-36846BD46F31}"/>
                  </a:ext>
                </a:extLst>
              </p:cNvPr>
              <p:cNvSpPr txBox="1"/>
              <p:nvPr/>
            </p:nvSpPr>
            <p:spPr>
              <a:xfrm>
                <a:off x="4372290" y="3378472"/>
                <a:ext cx="3458896"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𝐵</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3</m:t>
                                    </m:r>
                                    <m:r>
                                      <a:rPr lang="en-US" i="1">
                                        <a:latin typeface="Cambria Math" panose="02040503050406030204" pitchFamily="18" charset="0"/>
                                      </a:rPr>
                                      <m:t>.5</m:t>
                                    </m:r>
                                  </m:e>
                                </m:mr>
                                <m:mr>
                                  <m:e>
                                    <m:r>
                                      <a:rPr lang="en-US" i="1">
                                        <a:latin typeface="Cambria Math" panose="02040503050406030204" pitchFamily="18" charset="0"/>
                                      </a:rPr>
                                      <m:t>1.5</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3</m:t>
                                    </m:r>
                                    <m:r>
                                      <a:rPr lang="en-US" i="1">
                                        <a:latin typeface="Cambria Math" panose="02040503050406030204" pitchFamily="18" charset="0"/>
                                      </a:rPr>
                                      <m:t>.0</m:t>
                                    </m:r>
                                  </m:e>
                                </m:mr>
                                <m:mr>
                                  <m:e>
                                    <m:r>
                                      <a:rPr lang="en-US" i="1">
                                        <a:latin typeface="Cambria Math" panose="02040503050406030204" pitchFamily="18" charset="0"/>
                                      </a:rPr>
                                      <m:t>4.0</m:t>
                                    </m:r>
                                  </m:e>
                                </m:mr>
                              </m:m>
                            </m:e>
                          </m:d>
                        </m:e>
                      </m:d>
                      <m:r>
                        <a:rPr lang="en-US" b="0" i="1" smtClean="0">
                          <a:latin typeface="Cambria Math" panose="02040503050406030204" pitchFamily="18" charset="0"/>
                        </a:rPr>
                        <m:t> = </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3</m:t>
                                </m:r>
                                <m:r>
                                  <a:rPr lang="en-US" b="0" i="1" smtClean="0">
                                    <a:latin typeface="Cambria Math" panose="02040503050406030204" pitchFamily="18" charset="0"/>
                                  </a:rPr>
                                  <m:t>.25</m:t>
                                </m:r>
                              </m:e>
                            </m:mr>
                            <m:mr>
                              <m:e>
                                <m:r>
                                  <a:rPr lang="en-US" b="0" i="1" smtClean="0">
                                    <a:latin typeface="Cambria Math" panose="02040503050406030204" pitchFamily="18" charset="0"/>
                                  </a:rPr>
                                  <m:t>2.75</m:t>
                                </m:r>
                              </m:e>
                            </m:mr>
                          </m:m>
                        </m:e>
                      </m:d>
                    </m:oMath>
                  </m:oMathPara>
                </a14:m>
                <a:endParaRPr lang="en-US" dirty="0"/>
              </a:p>
            </p:txBody>
          </p:sp>
        </mc:Choice>
        <mc:Fallback xmlns="">
          <p:sp>
            <p:nvSpPr>
              <p:cNvPr id="18" name="TextBox 17">
                <a:extLst>
                  <a:ext uri="{FF2B5EF4-FFF2-40B4-BE49-F238E27FC236}">
                    <a16:creationId xmlns:a16="http://schemas.microsoft.com/office/drawing/2014/main" id="{C092BCA2-43E5-D137-3E79-36846BD46F31}"/>
                  </a:ext>
                </a:extLst>
              </p:cNvPr>
              <p:cNvSpPr txBox="1">
                <a:spLocks noRot="1" noChangeAspect="1" noMove="1" noResize="1" noEditPoints="1" noAdjustHandles="1" noChangeArrowheads="1" noChangeShapeType="1" noTextEdit="1"/>
              </p:cNvSpPr>
              <p:nvPr/>
            </p:nvSpPr>
            <p:spPr>
              <a:xfrm>
                <a:off x="4372290" y="3378472"/>
                <a:ext cx="3458896" cy="610936"/>
              </a:xfrm>
              <a:prstGeom prst="rect">
                <a:avLst/>
              </a:prstGeom>
              <a:blipFill>
                <a:blip r:embed="rId5"/>
                <a:stretch>
                  <a:fillRect b="-6122"/>
                </a:stretch>
              </a:blipFill>
            </p:spPr>
            <p:txBody>
              <a:bodyPr/>
              <a:lstStyle/>
              <a:p>
                <a:r>
                  <a:rPr lang="en-US">
                    <a:noFill/>
                  </a:rPr>
                  <a:t> </a:t>
                </a:r>
              </a:p>
            </p:txBody>
          </p:sp>
        </mc:Fallback>
      </mc:AlternateContent>
    </p:spTree>
    <p:extLst>
      <p:ext uri="{BB962C8B-B14F-4D97-AF65-F5344CB8AC3E}">
        <p14:creationId xmlns:p14="http://schemas.microsoft.com/office/powerpoint/2010/main" val="300595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7" grpId="0"/>
      <p:bldP spid="1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A7329-EC49-CB8E-711E-86817C3929D0}"/>
              </a:ext>
            </a:extLst>
          </p:cNvPr>
          <p:cNvSpPr>
            <a:spLocks noGrp="1"/>
          </p:cNvSpPr>
          <p:nvPr>
            <p:ph type="title"/>
          </p:nvPr>
        </p:nvSpPr>
        <p:spPr/>
        <p:txBody>
          <a:bodyPr/>
          <a:lstStyle/>
          <a:p>
            <a:r>
              <a:rPr lang="en-US" dirty="0"/>
              <a:t>LDA - Example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49915B1-9C2A-8583-951A-AB68B961DAC9}"/>
                  </a:ext>
                </a:extLst>
              </p:cNvPr>
              <p:cNvSpPr txBox="1"/>
              <p:nvPr/>
            </p:nvSpPr>
            <p:spPr>
              <a:xfrm>
                <a:off x="248356" y="888399"/>
                <a:ext cx="4283480" cy="369332"/>
              </a:xfrm>
              <a:prstGeom prst="rect">
                <a:avLst/>
              </a:prstGeom>
              <a:noFill/>
            </p:spPr>
            <p:txBody>
              <a:bodyPr wrap="none" rtlCol="0">
                <a:spAutoFit/>
              </a:bodyPr>
              <a:lstStyle/>
              <a:p>
                <a:r>
                  <a:rPr lang="en-US" b="1" dirty="0">
                    <a:solidFill>
                      <a:srgbClr val="C00000"/>
                    </a:solidFill>
                  </a:rPr>
                  <a:t>2) Compute Within-Class Scatter Matrix </a:t>
                </a:r>
                <a14:m>
                  <m:oMath xmlns:m="http://schemas.openxmlformats.org/officeDocument/2006/math">
                    <m:sSub>
                      <m:sSubPr>
                        <m:ctrlPr>
                          <a:rPr lang="en-US" b="1" i="1" smtClean="0">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𝒔</m:t>
                        </m:r>
                      </m:e>
                      <m:sub>
                        <m:r>
                          <a:rPr lang="en-US" b="1" i="1" smtClean="0">
                            <a:solidFill>
                              <a:srgbClr val="C00000"/>
                            </a:solidFill>
                            <a:latin typeface="Cambria Math" panose="02040503050406030204" pitchFamily="18" charset="0"/>
                          </a:rPr>
                          <m:t>𝒘</m:t>
                        </m:r>
                      </m:sub>
                    </m:sSub>
                  </m:oMath>
                </a14:m>
                <a:r>
                  <a:rPr lang="en-US" b="1" dirty="0">
                    <a:solidFill>
                      <a:srgbClr val="C00000"/>
                    </a:solidFill>
                  </a:rPr>
                  <a:t>​</a:t>
                </a:r>
              </a:p>
            </p:txBody>
          </p:sp>
        </mc:Choice>
        <mc:Fallback xmlns="">
          <p:sp>
            <p:nvSpPr>
              <p:cNvPr id="4" name="TextBox 3">
                <a:extLst>
                  <a:ext uri="{FF2B5EF4-FFF2-40B4-BE49-F238E27FC236}">
                    <a16:creationId xmlns:a16="http://schemas.microsoft.com/office/drawing/2014/main" id="{B49915B1-9C2A-8583-951A-AB68B961DAC9}"/>
                  </a:ext>
                </a:extLst>
              </p:cNvPr>
              <p:cNvSpPr txBox="1">
                <a:spLocks noRot="1" noChangeAspect="1" noMove="1" noResize="1" noEditPoints="1" noAdjustHandles="1" noChangeArrowheads="1" noChangeShapeType="1" noTextEdit="1"/>
              </p:cNvSpPr>
              <p:nvPr/>
            </p:nvSpPr>
            <p:spPr>
              <a:xfrm>
                <a:off x="248356" y="888399"/>
                <a:ext cx="4283480" cy="369332"/>
              </a:xfrm>
              <a:prstGeom prst="rect">
                <a:avLst/>
              </a:prstGeom>
              <a:blipFill>
                <a:blip r:embed="rId2"/>
                <a:stretch>
                  <a:fillRect l="-1183" t="-10345" b="-241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D03588-9376-CF70-9834-B89479BDFBBC}"/>
                  </a:ext>
                </a:extLst>
              </p:cNvPr>
              <p:cNvSpPr txBox="1"/>
              <p:nvPr/>
            </p:nvSpPr>
            <p:spPr>
              <a:xfrm>
                <a:off x="5414659" y="1257731"/>
                <a:ext cx="1362681" cy="369332"/>
              </a:xfrm>
              <a:prstGeom prst="rect">
                <a:avLst/>
              </a:prstGeom>
              <a:noFill/>
            </p:spPr>
            <p:txBody>
              <a:bodyPr wrap="none" rtlCol="0">
                <a:spAutoFit/>
              </a:bodyPr>
              <a:lstStyle/>
              <a:p>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𝒔</m:t>
                        </m:r>
                      </m:e>
                      <m:sub>
                        <m:r>
                          <a:rPr lang="en-US" b="1" i="1" smtClean="0">
                            <a:solidFill>
                              <a:schemeClr val="tx1"/>
                            </a:solidFill>
                            <a:latin typeface="Cambria Math" panose="02040503050406030204" pitchFamily="18" charset="0"/>
                          </a:rPr>
                          <m:t>𝒘</m:t>
                        </m:r>
                      </m:sub>
                    </m:sSub>
                  </m:oMath>
                </a14:m>
                <a:r>
                  <a:rPr lang="en-US" b="1" dirty="0">
                    <a:solidFill>
                      <a:schemeClr val="tx1"/>
                    </a:solidFill>
                  </a:rPr>
                  <a:t>​ = </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𝒔</m:t>
                        </m:r>
                      </m:e>
                      <m:sub>
                        <m:r>
                          <a:rPr lang="en-US" b="1" i="1" smtClean="0">
                            <a:solidFill>
                              <a:schemeClr val="tx1"/>
                            </a:solidFill>
                            <a:latin typeface="Cambria Math" panose="02040503050406030204" pitchFamily="18" charset="0"/>
                          </a:rPr>
                          <m:t>𝑨</m:t>
                        </m:r>
                      </m:sub>
                    </m:sSub>
                  </m:oMath>
                </a14:m>
                <a:r>
                  <a:rPr lang="en-US" b="1" dirty="0">
                    <a:solidFill>
                      <a:schemeClr val="tx1"/>
                    </a:solidFill>
                  </a:rPr>
                  <a:t>​ +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𝒔</m:t>
                        </m:r>
                      </m:e>
                      <m:sub>
                        <m:r>
                          <a:rPr lang="en-US" b="1" i="1" smtClean="0">
                            <a:solidFill>
                              <a:schemeClr val="tx1"/>
                            </a:solidFill>
                            <a:latin typeface="Cambria Math" panose="02040503050406030204" pitchFamily="18" charset="0"/>
                          </a:rPr>
                          <m:t>𝑩</m:t>
                        </m:r>
                      </m:sub>
                    </m:sSub>
                  </m:oMath>
                </a14:m>
                <a:r>
                  <a:rPr lang="en-US" b="1" dirty="0">
                    <a:solidFill>
                      <a:schemeClr val="tx1"/>
                    </a:solidFill>
                  </a:rPr>
                  <a:t>​</a:t>
                </a:r>
                <a:endParaRPr lang="en-US" dirty="0">
                  <a:solidFill>
                    <a:schemeClr val="tx1"/>
                  </a:solidFill>
                </a:endParaRPr>
              </a:p>
            </p:txBody>
          </p:sp>
        </mc:Choice>
        <mc:Fallback xmlns="">
          <p:sp>
            <p:nvSpPr>
              <p:cNvPr id="5" name="TextBox 4">
                <a:extLst>
                  <a:ext uri="{FF2B5EF4-FFF2-40B4-BE49-F238E27FC236}">
                    <a16:creationId xmlns:a16="http://schemas.microsoft.com/office/drawing/2014/main" id="{46D03588-9376-CF70-9834-B89479BDFBBC}"/>
                  </a:ext>
                </a:extLst>
              </p:cNvPr>
              <p:cNvSpPr txBox="1">
                <a:spLocks noRot="1" noChangeAspect="1" noMove="1" noResize="1" noEditPoints="1" noAdjustHandles="1" noChangeArrowheads="1" noChangeShapeType="1" noTextEdit="1"/>
              </p:cNvSpPr>
              <p:nvPr/>
            </p:nvSpPr>
            <p:spPr>
              <a:xfrm>
                <a:off x="5414659" y="1257731"/>
                <a:ext cx="1362681" cy="369332"/>
              </a:xfrm>
              <a:prstGeom prst="rect">
                <a:avLst/>
              </a:prstGeom>
              <a:blipFill>
                <a:blip r:embed="rId3"/>
                <a:stretch>
                  <a:fillRect t="-6452" r="-2778" b="-19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9A5354B-562C-AFB3-2338-57BE144A893B}"/>
                  </a:ext>
                </a:extLst>
              </p:cNvPr>
              <p:cNvSpPr txBox="1"/>
              <p:nvPr/>
            </p:nvSpPr>
            <p:spPr>
              <a:xfrm>
                <a:off x="623385" y="1873956"/>
                <a:ext cx="3533422" cy="375231"/>
              </a:xfrm>
              <a:prstGeom prst="rect">
                <a:avLst/>
              </a:prstGeom>
              <a:noFill/>
            </p:spPr>
            <p:txBody>
              <a:bodyPr wrap="square" rtlCol="0">
                <a:spAutoFit/>
              </a:bodyPr>
              <a:lstStyle/>
              <a:p>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𝒔</m:t>
                        </m:r>
                      </m:e>
                      <m:sub>
                        <m:r>
                          <a:rPr lang="en-US" b="1" i="1" smtClean="0">
                            <a:solidFill>
                              <a:schemeClr val="tx1"/>
                            </a:solidFill>
                            <a:latin typeface="Cambria Math" panose="02040503050406030204" pitchFamily="18" charset="0"/>
                          </a:rPr>
                          <m:t>𝑨</m:t>
                        </m:r>
                      </m:sub>
                    </m:sSub>
                  </m:oMath>
                </a14:m>
                <a:r>
                  <a:rPr lang="en-US" b="1" dirty="0">
                    <a:solidFill>
                      <a:schemeClr val="tx1"/>
                    </a:solidFill>
                  </a:rPr>
                  <a:t>​ =</a:t>
                </a:r>
                <a:r>
                  <a:rPr lang="en-US" dirty="0"/>
                  <a:t> </a:t>
                </a:r>
                <a14:m>
                  <m:oMath xmlns:m="http://schemas.openxmlformats.org/officeDocument/2006/math">
                    <m:nary>
                      <m:naryPr>
                        <m:chr m:val="∑"/>
                        <m:limLoc m:val="subSup"/>
                        <m:supHide m:val="on"/>
                        <m:ctrlPr>
                          <a:rPr lang="en-US" i="1">
                            <a:latin typeface="Cambria Math" panose="02040503050406030204" pitchFamily="18" charset="0"/>
                          </a:rPr>
                        </m:ctrlPr>
                      </m:naryPr>
                      <m:sub>
                        <m:r>
                          <m:rPr>
                            <m:brk m:alnAt="1"/>
                          </m:rPr>
                          <a:rPr lang="en-US" b="0" i="1" smtClean="0">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𝐴</m:t>
                        </m:r>
                      </m:sub>
                      <m:sup/>
                      <m:e>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r>
                          <a:rPr lang="en-US" b="0" i="1" smtClean="0">
                            <a:latin typeface="Cambria Math" panose="02040503050406030204" pitchFamily="18" charset="0"/>
                            <a:ea typeface="Cambria Math" panose="02040503050406030204" pitchFamily="18" charset="0"/>
                          </a:rPr>
                          <m:t>)</m:t>
                        </m:r>
                      </m:e>
                    </m:nary>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𝑇</m:t>
                        </m:r>
                      </m:sup>
                    </m:sSup>
                  </m:oMath>
                </a14:m>
                <a:r>
                  <a:rPr lang="en-US" b="1" dirty="0">
                    <a:solidFill>
                      <a:schemeClr val="tx1"/>
                    </a:solidFill>
                  </a:rPr>
                  <a:t> </a:t>
                </a:r>
                <a:endParaRPr lang="en-US" dirty="0"/>
              </a:p>
            </p:txBody>
          </p:sp>
        </mc:Choice>
        <mc:Fallback xmlns="">
          <p:sp>
            <p:nvSpPr>
              <p:cNvPr id="6" name="TextBox 5">
                <a:extLst>
                  <a:ext uri="{FF2B5EF4-FFF2-40B4-BE49-F238E27FC236}">
                    <a16:creationId xmlns:a16="http://schemas.microsoft.com/office/drawing/2014/main" id="{B9A5354B-562C-AFB3-2338-57BE144A893B}"/>
                  </a:ext>
                </a:extLst>
              </p:cNvPr>
              <p:cNvSpPr txBox="1">
                <a:spLocks noRot="1" noChangeAspect="1" noMove="1" noResize="1" noEditPoints="1" noAdjustHandles="1" noChangeArrowheads="1" noChangeShapeType="1" noTextEdit="1"/>
              </p:cNvSpPr>
              <p:nvPr/>
            </p:nvSpPr>
            <p:spPr>
              <a:xfrm>
                <a:off x="623385" y="1873956"/>
                <a:ext cx="3533422" cy="375231"/>
              </a:xfrm>
              <a:prstGeom prst="rect">
                <a:avLst/>
              </a:prstGeom>
              <a:blipFill>
                <a:blip r:embed="rId4"/>
                <a:stretch>
                  <a:fillRect t="-103226" b="-16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B998AD1-4840-A260-3A0E-6230DE3D7318}"/>
                  </a:ext>
                </a:extLst>
              </p:cNvPr>
              <p:cNvSpPr txBox="1"/>
              <p:nvPr/>
            </p:nvSpPr>
            <p:spPr>
              <a:xfrm>
                <a:off x="7907867" y="1873956"/>
                <a:ext cx="3533422" cy="375231"/>
              </a:xfrm>
              <a:prstGeom prst="rect">
                <a:avLst/>
              </a:prstGeom>
              <a:noFill/>
            </p:spPr>
            <p:txBody>
              <a:bodyPr wrap="square" rtlCol="0">
                <a:spAutoFit/>
              </a:bodyPr>
              <a:lstStyle/>
              <a:p>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𝒔</m:t>
                        </m:r>
                      </m:e>
                      <m:sub>
                        <m:r>
                          <a:rPr lang="en-US" b="1" i="1" smtClean="0">
                            <a:solidFill>
                              <a:schemeClr val="tx1"/>
                            </a:solidFill>
                            <a:latin typeface="Cambria Math" panose="02040503050406030204" pitchFamily="18" charset="0"/>
                          </a:rPr>
                          <m:t>𝑩</m:t>
                        </m:r>
                      </m:sub>
                    </m:sSub>
                  </m:oMath>
                </a14:m>
                <a:r>
                  <a:rPr lang="en-US" b="1" dirty="0">
                    <a:solidFill>
                      <a:schemeClr val="tx1"/>
                    </a:solidFill>
                  </a:rPr>
                  <a:t>​ =</a:t>
                </a:r>
                <a:r>
                  <a:rPr lang="en-US" dirty="0"/>
                  <a:t> </a:t>
                </a:r>
                <a14:m>
                  <m:oMath xmlns:m="http://schemas.openxmlformats.org/officeDocument/2006/math">
                    <m:nary>
                      <m:naryPr>
                        <m:chr m:val="∑"/>
                        <m:limLoc m:val="subSup"/>
                        <m:supHide m:val="on"/>
                        <m:ctrlPr>
                          <a:rPr lang="en-US" i="1">
                            <a:latin typeface="Cambria Math" panose="02040503050406030204" pitchFamily="18" charset="0"/>
                          </a:rPr>
                        </m:ctrlPr>
                      </m:naryPr>
                      <m:sub>
                        <m:r>
                          <m:rPr>
                            <m:brk m:alnAt="1"/>
                          </m:rPr>
                          <a:rPr lang="en-US" b="0" i="1" smtClean="0">
                            <a:latin typeface="Cambria Math" panose="02040503050406030204" pitchFamily="18" charset="0"/>
                          </a:rPr>
                          <m:t>𝑖</m:t>
                        </m:r>
                        <m:r>
                          <a:rPr lang="en-US" i="1">
                            <a:latin typeface="Cambria Math" panose="02040503050406030204" pitchFamily="18" charset="0"/>
                          </a:rPr>
                          <m:t> ∈</m:t>
                        </m:r>
                        <m:r>
                          <a:rPr lang="en-US" b="0" i="1" smtClean="0">
                            <a:latin typeface="Cambria Math" panose="02040503050406030204" pitchFamily="18" charset="0"/>
                          </a:rPr>
                          <m:t>𝐵</m:t>
                        </m:r>
                      </m:sub>
                      <m:sup/>
                      <m:e>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m:t>
                        </m:r>
                      </m:e>
                    </m:nary>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𝐵</m:t>
                            </m:r>
                          </m:sub>
                        </m:sSub>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𝑇</m:t>
                        </m:r>
                      </m:sup>
                    </m:sSup>
                  </m:oMath>
                </a14:m>
                <a:r>
                  <a:rPr lang="en-US" b="1" dirty="0">
                    <a:solidFill>
                      <a:schemeClr val="tx1"/>
                    </a:solidFill>
                  </a:rPr>
                  <a:t> </a:t>
                </a:r>
                <a:endParaRPr lang="en-US" dirty="0"/>
              </a:p>
            </p:txBody>
          </p:sp>
        </mc:Choice>
        <mc:Fallback xmlns="">
          <p:sp>
            <p:nvSpPr>
              <p:cNvPr id="7" name="TextBox 6">
                <a:extLst>
                  <a:ext uri="{FF2B5EF4-FFF2-40B4-BE49-F238E27FC236}">
                    <a16:creationId xmlns:a16="http://schemas.microsoft.com/office/drawing/2014/main" id="{1B998AD1-4840-A260-3A0E-6230DE3D7318}"/>
                  </a:ext>
                </a:extLst>
              </p:cNvPr>
              <p:cNvSpPr txBox="1">
                <a:spLocks noRot="1" noChangeAspect="1" noMove="1" noResize="1" noEditPoints="1" noAdjustHandles="1" noChangeArrowheads="1" noChangeShapeType="1" noTextEdit="1"/>
              </p:cNvSpPr>
              <p:nvPr/>
            </p:nvSpPr>
            <p:spPr>
              <a:xfrm>
                <a:off x="7907867" y="1873956"/>
                <a:ext cx="3533422" cy="375231"/>
              </a:xfrm>
              <a:prstGeom prst="rect">
                <a:avLst/>
              </a:prstGeom>
              <a:blipFill>
                <a:blip r:embed="rId5"/>
                <a:stretch>
                  <a:fillRect t="-103226" b="-16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1157C7C-6695-A3F1-5E10-B18616118164}"/>
                  </a:ext>
                </a:extLst>
              </p:cNvPr>
              <p:cNvSpPr txBox="1"/>
              <p:nvPr/>
            </p:nvSpPr>
            <p:spPr>
              <a:xfrm>
                <a:off x="0" y="2831850"/>
                <a:ext cx="1366336"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r>
                      <a:rPr lang="en-US" b="0" i="1" smtClean="0">
                        <a:latin typeface="Cambria Math" panose="02040503050406030204" pitchFamily="18" charset="0"/>
                        <a:ea typeface="Cambria Math" panose="02040503050406030204" pitchFamily="18" charset="0"/>
                      </a:rPr>
                      <m:t>)</m:t>
                    </m:r>
                  </m:oMath>
                </a14:m>
                <a:r>
                  <a:rPr lang="en-US" dirty="0"/>
                  <a:t> = </a:t>
                </a:r>
              </a:p>
            </p:txBody>
          </p:sp>
        </mc:Choice>
        <mc:Fallback xmlns="">
          <p:sp>
            <p:nvSpPr>
              <p:cNvPr id="8" name="TextBox 7">
                <a:extLst>
                  <a:ext uri="{FF2B5EF4-FFF2-40B4-BE49-F238E27FC236}">
                    <a16:creationId xmlns:a16="http://schemas.microsoft.com/office/drawing/2014/main" id="{11157C7C-6695-A3F1-5E10-B18616118164}"/>
                  </a:ext>
                </a:extLst>
              </p:cNvPr>
              <p:cNvSpPr txBox="1">
                <a:spLocks noRot="1" noChangeAspect="1" noMove="1" noResize="1" noEditPoints="1" noAdjustHandles="1" noChangeArrowheads="1" noChangeShapeType="1" noTextEdit="1"/>
              </p:cNvSpPr>
              <p:nvPr/>
            </p:nvSpPr>
            <p:spPr>
              <a:xfrm>
                <a:off x="0" y="2831850"/>
                <a:ext cx="1366336" cy="369332"/>
              </a:xfrm>
              <a:prstGeom prst="rect">
                <a:avLst/>
              </a:prstGeom>
              <a:blipFill>
                <a:blip r:embed="rId6"/>
                <a:stretch>
                  <a:fillRect l="-1852" t="-10000" r="-2778"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77C30ED-BE1E-6267-E4CA-2C9FEB27535E}"/>
                  </a:ext>
                </a:extLst>
              </p:cNvPr>
              <p:cNvSpPr txBox="1"/>
              <p:nvPr/>
            </p:nvSpPr>
            <p:spPr>
              <a:xfrm>
                <a:off x="1230488" y="2604031"/>
                <a:ext cx="4404796" cy="824969"/>
              </a:xfrm>
              <a:prstGeom prst="rect">
                <a:avLst/>
              </a:prstGeom>
              <a:noFill/>
            </p:spPr>
            <p:txBody>
              <a:bodyPr wrap="square" rtlCol="0">
                <a:spAutoFit/>
              </a:bodyPr>
              <a:lstStyle/>
              <a:p>
                <a14:m>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4</m:t>
                              </m:r>
                            </m:e>
                            <m:e>
                              <m:r>
                                <a:rPr lang="en-US" b="0" i="1" smtClean="0">
                                  <a:latin typeface="Cambria Math" panose="02040503050406030204" pitchFamily="18" charset="0"/>
                                </a:rPr>
                                <m:t>2</m:t>
                              </m:r>
                            </m:e>
                          </m:mr>
                          <m:mr>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5</m:t>
                              </m:r>
                            </m:e>
                            <m:e>
                              <m:r>
                                <a:rPr lang="en-US" b="0" i="1" smtClean="0">
                                  <a:latin typeface="Cambria Math" panose="02040503050406030204" pitchFamily="18" charset="0"/>
                                </a:rPr>
                                <m:t>3.5</m:t>
                              </m:r>
                            </m:e>
                          </m:mr>
                        </m:m>
                      </m:e>
                    </m:d>
                  </m:oMath>
                </a14:m>
                <a:r>
                  <a:rPr lang="en-US" dirty="0"/>
                  <a:t> -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3</m:t>
                              </m:r>
                              <m:r>
                                <a:rPr lang="en-US" b="0" i="1" smtClean="0">
                                  <a:latin typeface="Cambria Math" panose="02040503050406030204" pitchFamily="18" charset="0"/>
                                </a:rPr>
                                <m:t>.67</m:t>
                              </m:r>
                            </m:e>
                            <m:e>
                              <m:r>
                                <a:rPr lang="en-US" b="0" i="1" smtClean="0">
                                  <a:latin typeface="Cambria Math" panose="02040503050406030204" pitchFamily="18" charset="0"/>
                                </a:rPr>
                                <m:t>2.83</m:t>
                              </m:r>
                            </m:e>
                          </m:mr>
                          <m:mr>
                            <m:e>
                              <m:r>
                                <m:rPr>
                                  <m:brk m:alnAt="7"/>
                                </m:rPr>
                                <a:rPr lang="en-US" i="1">
                                  <a:latin typeface="Cambria Math" panose="02040503050406030204" pitchFamily="18" charset="0"/>
                                </a:rPr>
                                <m:t>3</m:t>
                              </m:r>
                              <m:r>
                                <a:rPr lang="en-US" i="1">
                                  <a:latin typeface="Cambria Math" panose="02040503050406030204" pitchFamily="18" charset="0"/>
                                </a:rPr>
                                <m:t>.67</m:t>
                              </m:r>
                            </m:e>
                            <m:e>
                              <m:r>
                                <a:rPr lang="en-US" i="1">
                                  <a:latin typeface="Cambria Math" panose="02040503050406030204" pitchFamily="18" charset="0"/>
                                </a:rPr>
                                <m:t>2.83</m:t>
                              </m:r>
                            </m:e>
                          </m:mr>
                          <m:mr>
                            <m:e>
                              <m:r>
                                <m:rPr>
                                  <m:brk m:alnAt="7"/>
                                </m:rPr>
                                <a:rPr lang="en-US" i="1">
                                  <a:latin typeface="Cambria Math" panose="02040503050406030204" pitchFamily="18" charset="0"/>
                                </a:rPr>
                                <m:t>3</m:t>
                              </m:r>
                              <m:r>
                                <a:rPr lang="en-US" i="1">
                                  <a:latin typeface="Cambria Math" panose="02040503050406030204" pitchFamily="18" charset="0"/>
                                </a:rPr>
                                <m:t>.67</m:t>
                              </m:r>
                            </m:e>
                            <m:e>
                              <m:r>
                                <a:rPr lang="en-US" i="1">
                                  <a:latin typeface="Cambria Math" panose="02040503050406030204" pitchFamily="18" charset="0"/>
                                </a:rPr>
                                <m:t>2.83</m:t>
                              </m:r>
                            </m:e>
                          </m:mr>
                        </m:m>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.33</m:t>
                              </m:r>
                            </m:e>
                            <m:e>
                              <m:r>
                                <a:rPr lang="en-US" b="0" i="1" smtClean="0">
                                  <a:latin typeface="Cambria Math" panose="02040503050406030204" pitchFamily="18" charset="0"/>
                                </a:rPr>
                                <m:t>−0.83</m:t>
                              </m:r>
                            </m:e>
                          </m:mr>
                          <m:mr>
                            <m:e>
                              <m:r>
                                <a:rPr lang="en-US" b="0" i="1" smtClean="0">
                                  <a:latin typeface="Cambria Math" panose="02040503050406030204" pitchFamily="18" charset="0"/>
                                </a:rPr>
                                <m:t>−1.67</m:t>
                              </m:r>
                            </m:e>
                            <m:e>
                              <m:r>
                                <a:rPr lang="en-US" b="0" i="1" smtClean="0">
                                  <a:latin typeface="Cambria Math" panose="02040503050406030204" pitchFamily="18" charset="0"/>
                                </a:rPr>
                                <m:t>0.17</m:t>
                              </m:r>
                            </m:e>
                          </m:mr>
                          <m:mr>
                            <m:e>
                              <m:r>
                                <a:rPr lang="en-US" b="0" i="1" smtClean="0">
                                  <a:latin typeface="Cambria Math" panose="02040503050406030204" pitchFamily="18" charset="0"/>
                                </a:rPr>
                                <m:t>1.33</m:t>
                              </m:r>
                            </m:e>
                            <m:e>
                              <m:r>
                                <a:rPr lang="en-US" b="0" i="1" smtClean="0">
                                  <a:latin typeface="Cambria Math" panose="02040503050406030204" pitchFamily="18" charset="0"/>
                                </a:rPr>
                                <m:t>0.67</m:t>
                              </m:r>
                            </m:e>
                          </m:mr>
                        </m:m>
                      </m:e>
                    </m:d>
                  </m:oMath>
                </a14:m>
                <a:endParaRPr lang="en-US" dirty="0"/>
              </a:p>
            </p:txBody>
          </p:sp>
        </mc:Choice>
        <mc:Fallback xmlns="">
          <p:sp>
            <p:nvSpPr>
              <p:cNvPr id="9" name="TextBox 8">
                <a:extLst>
                  <a:ext uri="{FF2B5EF4-FFF2-40B4-BE49-F238E27FC236}">
                    <a16:creationId xmlns:a16="http://schemas.microsoft.com/office/drawing/2014/main" id="{577C30ED-BE1E-6267-E4CA-2C9FEB27535E}"/>
                  </a:ext>
                </a:extLst>
              </p:cNvPr>
              <p:cNvSpPr txBox="1">
                <a:spLocks noRot="1" noChangeAspect="1" noMove="1" noResize="1" noEditPoints="1" noAdjustHandles="1" noChangeArrowheads="1" noChangeShapeType="1" noTextEdit="1"/>
              </p:cNvSpPr>
              <p:nvPr/>
            </p:nvSpPr>
            <p:spPr>
              <a:xfrm>
                <a:off x="1230488" y="2604031"/>
                <a:ext cx="4404796" cy="824969"/>
              </a:xfrm>
              <a:prstGeom prst="rect">
                <a:avLst/>
              </a:prstGeom>
              <a:blipFill>
                <a:blip r:embed="rId7"/>
                <a:stretch>
                  <a:fillRect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811F7C-903A-C89C-5068-2D344861E1C9}"/>
                  </a:ext>
                </a:extLst>
              </p:cNvPr>
              <p:cNvSpPr txBox="1"/>
              <p:nvPr/>
            </p:nvSpPr>
            <p:spPr>
              <a:xfrm>
                <a:off x="595970" y="3688774"/>
                <a:ext cx="643061" cy="369332"/>
              </a:xfrm>
              <a:prstGeom prst="rect">
                <a:avLst/>
              </a:prstGeom>
              <a:noFill/>
            </p:spPr>
            <p:txBody>
              <a:bodyPr wrap="none" rtlCol="0">
                <a:spAutoFit/>
              </a:bodyPr>
              <a:lstStyle/>
              <a:p>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𝒔</m:t>
                        </m:r>
                      </m:e>
                      <m:sub>
                        <m:r>
                          <a:rPr lang="en-US" b="1" i="1">
                            <a:latin typeface="Cambria Math" panose="02040503050406030204" pitchFamily="18" charset="0"/>
                          </a:rPr>
                          <m:t>𝑨</m:t>
                        </m:r>
                      </m:sub>
                    </m:sSub>
                  </m:oMath>
                </a14:m>
                <a:r>
                  <a:rPr lang="en-US" b="1" dirty="0"/>
                  <a:t> = ​</a:t>
                </a:r>
                <a:endParaRPr lang="en-US" dirty="0"/>
              </a:p>
            </p:txBody>
          </p:sp>
        </mc:Choice>
        <mc:Fallback xmlns="">
          <p:sp>
            <p:nvSpPr>
              <p:cNvPr id="10" name="TextBox 9">
                <a:extLst>
                  <a:ext uri="{FF2B5EF4-FFF2-40B4-BE49-F238E27FC236}">
                    <a16:creationId xmlns:a16="http://schemas.microsoft.com/office/drawing/2014/main" id="{E3811F7C-903A-C89C-5068-2D344861E1C9}"/>
                  </a:ext>
                </a:extLst>
              </p:cNvPr>
              <p:cNvSpPr txBox="1">
                <a:spLocks noRot="1" noChangeAspect="1" noMove="1" noResize="1" noEditPoints="1" noAdjustHandles="1" noChangeArrowheads="1" noChangeShapeType="1" noTextEdit="1"/>
              </p:cNvSpPr>
              <p:nvPr/>
            </p:nvSpPr>
            <p:spPr>
              <a:xfrm>
                <a:off x="595970" y="3688774"/>
                <a:ext cx="643061" cy="369332"/>
              </a:xfrm>
              <a:prstGeom prst="rect">
                <a:avLst/>
              </a:prstGeom>
              <a:blipFill>
                <a:blip r:embed="rId8"/>
                <a:stretch>
                  <a:fillRect t="-6667" r="-7843"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9022BF4-FF75-4B32-0ED1-FE65B602A91B}"/>
                  </a:ext>
                </a:extLst>
              </p:cNvPr>
              <p:cNvSpPr txBox="1"/>
              <p:nvPr/>
            </p:nvSpPr>
            <p:spPr>
              <a:xfrm>
                <a:off x="1185488" y="3453644"/>
                <a:ext cx="4229171" cy="8249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.33</m:t>
                                </m:r>
                              </m:e>
                              <m:e>
                                <m:r>
                                  <a:rPr lang="en-US" b="0" i="1" smtClean="0">
                                    <a:latin typeface="Cambria Math" panose="02040503050406030204" pitchFamily="18" charset="0"/>
                                  </a:rPr>
                                  <m:t>−0.83</m:t>
                                </m:r>
                              </m:e>
                            </m:mr>
                            <m:mr>
                              <m:e>
                                <m:r>
                                  <a:rPr lang="en-US" b="0" i="1" smtClean="0">
                                    <a:latin typeface="Cambria Math" panose="02040503050406030204" pitchFamily="18" charset="0"/>
                                  </a:rPr>
                                  <m:t>−1.67</m:t>
                                </m:r>
                              </m:e>
                              <m:e>
                                <m:r>
                                  <a:rPr lang="en-US" b="0" i="1" smtClean="0">
                                    <a:latin typeface="Cambria Math" panose="02040503050406030204" pitchFamily="18" charset="0"/>
                                  </a:rPr>
                                  <m:t>0.17</m:t>
                                </m:r>
                              </m:e>
                            </m:mr>
                            <m:mr>
                              <m:e>
                                <m:r>
                                  <a:rPr lang="en-US" b="0" i="1" smtClean="0">
                                    <a:latin typeface="Cambria Math" panose="02040503050406030204" pitchFamily="18" charset="0"/>
                                  </a:rPr>
                                  <m:t>1.33</m:t>
                                </m:r>
                              </m:e>
                              <m:e>
                                <m:r>
                                  <a:rPr lang="en-US" b="0" i="1" smtClean="0">
                                    <a:latin typeface="Cambria Math" panose="02040503050406030204" pitchFamily="18" charset="0"/>
                                  </a:rPr>
                                  <m:t>0.67</m:t>
                                </m:r>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.33</m:t>
                                </m:r>
                              </m:e>
                              <m:e>
                                <m:r>
                                  <a:rPr lang="en-US" b="0" i="1" smtClean="0">
                                    <a:latin typeface="Cambria Math" panose="02040503050406030204" pitchFamily="18" charset="0"/>
                                  </a:rPr>
                                  <m:t>−1.67</m:t>
                                </m:r>
                              </m:e>
                              <m:e>
                                <m:r>
                                  <a:rPr lang="en-US" b="0" i="1" smtClean="0">
                                    <a:latin typeface="Cambria Math" panose="02040503050406030204" pitchFamily="18" charset="0"/>
                                  </a:rPr>
                                  <m:t>1.33</m:t>
                                </m:r>
                              </m:e>
                            </m:mr>
                            <m:mr>
                              <m:e>
                                <m:r>
                                  <a:rPr lang="en-US" b="0" i="1" smtClean="0">
                                    <a:latin typeface="Cambria Math" panose="02040503050406030204" pitchFamily="18" charset="0"/>
                                  </a:rPr>
                                  <m:t>−0.83</m:t>
                                </m:r>
                              </m:e>
                              <m:e>
                                <m:r>
                                  <a:rPr lang="en-US" b="0" i="1" smtClean="0">
                                    <a:latin typeface="Cambria Math" panose="02040503050406030204" pitchFamily="18" charset="0"/>
                                  </a:rPr>
                                  <m:t>0.17</m:t>
                                </m:r>
                              </m:e>
                              <m:e>
                                <m:r>
                                  <a:rPr lang="en-US" b="0" i="1" smtClean="0">
                                    <a:latin typeface="Cambria Math" panose="02040503050406030204" pitchFamily="18" charset="0"/>
                                  </a:rPr>
                                  <m:t>0.67</m:t>
                                </m:r>
                              </m:e>
                            </m:mr>
                          </m:m>
                        </m:e>
                      </m:d>
                    </m:oMath>
                  </m:oMathPara>
                </a14:m>
                <a:endParaRPr lang="en-US" dirty="0"/>
              </a:p>
            </p:txBody>
          </p:sp>
        </mc:Choice>
        <mc:Fallback xmlns="">
          <p:sp>
            <p:nvSpPr>
              <p:cNvPr id="11" name="TextBox 10">
                <a:extLst>
                  <a:ext uri="{FF2B5EF4-FFF2-40B4-BE49-F238E27FC236}">
                    <a16:creationId xmlns:a16="http://schemas.microsoft.com/office/drawing/2014/main" id="{69022BF4-FF75-4B32-0ED1-FE65B602A91B}"/>
                  </a:ext>
                </a:extLst>
              </p:cNvPr>
              <p:cNvSpPr txBox="1">
                <a:spLocks noRot="1" noChangeAspect="1" noMove="1" noResize="1" noEditPoints="1" noAdjustHandles="1" noChangeArrowheads="1" noChangeShapeType="1" noTextEdit="1"/>
              </p:cNvSpPr>
              <p:nvPr/>
            </p:nvSpPr>
            <p:spPr>
              <a:xfrm>
                <a:off x="1185488" y="3453644"/>
                <a:ext cx="4229171" cy="824906"/>
              </a:xfrm>
              <a:prstGeom prst="rect">
                <a:avLst/>
              </a:prstGeom>
              <a:blipFill>
                <a:blip r:embed="rId9"/>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76960CE-58A5-59D2-83DD-02BD85858815}"/>
                  </a:ext>
                </a:extLst>
              </p:cNvPr>
              <p:cNvSpPr txBox="1"/>
              <p:nvPr/>
            </p:nvSpPr>
            <p:spPr>
              <a:xfrm>
                <a:off x="601411" y="4537196"/>
                <a:ext cx="643061" cy="369332"/>
              </a:xfrm>
              <a:prstGeom prst="rect">
                <a:avLst/>
              </a:prstGeom>
              <a:noFill/>
            </p:spPr>
            <p:txBody>
              <a:bodyPr wrap="none" rtlCol="0">
                <a:spAutoFit/>
              </a:bodyPr>
              <a:lstStyle/>
              <a:p>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𝒔</m:t>
                        </m:r>
                      </m:e>
                      <m:sub>
                        <m:r>
                          <a:rPr lang="en-US" b="1" i="1">
                            <a:latin typeface="Cambria Math" panose="02040503050406030204" pitchFamily="18" charset="0"/>
                          </a:rPr>
                          <m:t>𝑨</m:t>
                        </m:r>
                      </m:sub>
                    </m:sSub>
                  </m:oMath>
                </a14:m>
                <a:r>
                  <a:rPr lang="en-US" b="1" dirty="0"/>
                  <a:t> = ​</a:t>
                </a:r>
                <a:endParaRPr lang="en-US" dirty="0"/>
              </a:p>
            </p:txBody>
          </p:sp>
        </mc:Choice>
        <mc:Fallback xmlns="">
          <p:sp>
            <p:nvSpPr>
              <p:cNvPr id="12" name="TextBox 11">
                <a:extLst>
                  <a:ext uri="{FF2B5EF4-FFF2-40B4-BE49-F238E27FC236}">
                    <a16:creationId xmlns:a16="http://schemas.microsoft.com/office/drawing/2014/main" id="{C76960CE-58A5-59D2-83DD-02BD85858815}"/>
                  </a:ext>
                </a:extLst>
              </p:cNvPr>
              <p:cNvSpPr txBox="1">
                <a:spLocks noRot="1" noChangeAspect="1" noMove="1" noResize="1" noEditPoints="1" noAdjustHandles="1" noChangeArrowheads="1" noChangeShapeType="1" noTextEdit="1"/>
              </p:cNvSpPr>
              <p:nvPr/>
            </p:nvSpPr>
            <p:spPr>
              <a:xfrm>
                <a:off x="601411" y="4537196"/>
                <a:ext cx="643061" cy="369332"/>
              </a:xfrm>
              <a:prstGeom prst="rect">
                <a:avLst/>
              </a:prstGeom>
              <a:blipFill>
                <a:blip r:embed="rId10"/>
                <a:stretch>
                  <a:fillRect t="-6667" r="-7843"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A9C224E-8A5C-01BD-9ED7-B058EDFCAF61}"/>
                  </a:ext>
                </a:extLst>
              </p:cNvPr>
              <p:cNvSpPr txBox="1"/>
              <p:nvPr/>
            </p:nvSpPr>
            <p:spPr>
              <a:xfrm>
                <a:off x="1239031" y="4444735"/>
                <a:ext cx="1848904" cy="5542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4</m:t>
                                </m:r>
                                <m:r>
                                  <a:rPr lang="en-US" b="0" i="1" smtClean="0">
                                    <a:latin typeface="Cambria Math" panose="02040503050406030204" pitchFamily="18" charset="0"/>
                                  </a:rPr>
                                  <m:t>.67</m:t>
                                </m:r>
                              </m:e>
                              <m:e>
                                <m:r>
                                  <a:rPr lang="en-US" b="0" i="1" smtClean="0">
                                    <a:latin typeface="Cambria Math" panose="02040503050406030204" pitchFamily="18" charset="0"/>
                                  </a:rPr>
                                  <m:t>−0.40</m:t>
                                </m:r>
                              </m:e>
                            </m:mr>
                            <m:mr>
                              <m:e>
                                <m:r>
                                  <a:rPr lang="en-US" b="0" i="1" smtClean="0">
                                    <a:latin typeface="Cambria Math" panose="02040503050406030204" pitchFamily="18" charset="0"/>
                                  </a:rPr>
                                  <m:t>−0.40</m:t>
                                </m:r>
                              </m:e>
                              <m:e>
                                <m:r>
                                  <a:rPr lang="en-US" b="0" i="1" smtClean="0">
                                    <a:latin typeface="Cambria Math" panose="02040503050406030204" pitchFamily="18" charset="0"/>
                                  </a:rPr>
                                  <m:t>1.20</m:t>
                                </m:r>
                              </m:e>
                            </m:mr>
                          </m:m>
                        </m:e>
                      </m:d>
                    </m:oMath>
                  </m:oMathPara>
                </a14:m>
                <a:endParaRPr lang="en-US" dirty="0"/>
              </a:p>
            </p:txBody>
          </p:sp>
        </mc:Choice>
        <mc:Fallback xmlns="">
          <p:sp>
            <p:nvSpPr>
              <p:cNvPr id="14" name="TextBox 13">
                <a:extLst>
                  <a:ext uri="{FF2B5EF4-FFF2-40B4-BE49-F238E27FC236}">
                    <a16:creationId xmlns:a16="http://schemas.microsoft.com/office/drawing/2014/main" id="{1A9C224E-8A5C-01BD-9ED7-B058EDFCAF61}"/>
                  </a:ext>
                </a:extLst>
              </p:cNvPr>
              <p:cNvSpPr txBox="1">
                <a:spLocks noRot="1" noChangeAspect="1" noMove="1" noResize="1" noEditPoints="1" noAdjustHandles="1" noChangeArrowheads="1" noChangeShapeType="1" noTextEdit="1"/>
              </p:cNvSpPr>
              <p:nvPr/>
            </p:nvSpPr>
            <p:spPr>
              <a:xfrm>
                <a:off x="1239031" y="4444735"/>
                <a:ext cx="1848904" cy="554254"/>
              </a:xfrm>
              <a:prstGeom prst="rect">
                <a:avLst/>
              </a:prstGeom>
              <a:blipFill>
                <a:blip r:embed="rId11"/>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CD228D4-3DE6-4CBB-FD21-C6BBDDB6C4E1}"/>
                  </a:ext>
                </a:extLst>
              </p:cNvPr>
              <p:cNvSpPr txBox="1"/>
              <p:nvPr/>
            </p:nvSpPr>
            <p:spPr>
              <a:xfrm>
                <a:off x="6272904" y="2647184"/>
                <a:ext cx="1407950"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m:t>
                    </m:r>
                  </m:oMath>
                </a14:m>
                <a:r>
                  <a:rPr lang="en-US" dirty="0"/>
                  <a:t> = </a:t>
                </a:r>
              </a:p>
            </p:txBody>
          </p:sp>
        </mc:Choice>
        <mc:Fallback xmlns="">
          <p:sp>
            <p:nvSpPr>
              <p:cNvPr id="15" name="TextBox 14">
                <a:extLst>
                  <a:ext uri="{FF2B5EF4-FFF2-40B4-BE49-F238E27FC236}">
                    <a16:creationId xmlns:a16="http://schemas.microsoft.com/office/drawing/2014/main" id="{FCD228D4-3DE6-4CBB-FD21-C6BBDDB6C4E1}"/>
                  </a:ext>
                </a:extLst>
              </p:cNvPr>
              <p:cNvSpPr txBox="1">
                <a:spLocks noRot="1" noChangeAspect="1" noMove="1" noResize="1" noEditPoints="1" noAdjustHandles="1" noChangeArrowheads="1" noChangeShapeType="1" noTextEdit="1"/>
              </p:cNvSpPr>
              <p:nvPr/>
            </p:nvSpPr>
            <p:spPr>
              <a:xfrm>
                <a:off x="6272904" y="2647184"/>
                <a:ext cx="1407950" cy="369332"/>
              </a:xfrm>
              <a:prstGeom prst="rect">
                <a:avLst/>
              </a:prstGeom>
              <a:blipFill>
                <a:blip r:embed="rId12"/>
                <a:stretch>
                  <a:fillRect l="-893"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1BBDF0D-47DB-F7CA-AE6A-FF44601E717A}"/>
                  </a:ext>
                </a:extLst>
              </p:cNvPr>
              <p:cNvSpPr txBox="1"/>
              <p:nvPr/>
            </p:nvSpPr>
            <p:spPr>
              <a:xfrm>
                <a:off x="7503392" y="2419365"/>
                <a:ext cx="4688608" cy="576312"/>
              </a:xfrm>
              <a:prstGeom prst="rect">
                <a:avLst/>
              </a:prstGeom>
              <a:noFill/>
            </p:spPr>
            <p:txBody>
              <a:bodyPr wrap="square" rtlCol="0">
                <a:spAutoFit/>
              </a:bodyPr>
              <a:lstStyle/>
              <a:p>
                <a14:m>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3</m:t>
                              </m:r>
                              <m:r>
                                <a:rPr lang="en-US" b="0" i="1" smtClean="0">
                                  <a:latin typeface="Cambria Math" panose="02040503050406030204" pitchFamily="18" charset="0"/>
                                </a:rPr>
                                <m:t>.5</m:t>
                              </m:r>
                            </m:e>
                            <m:e>
                              <m:r>
                                <a:rPr lang="en-US" b="0" i="1" smtClean="0">
                                  <a:latin typeface="Cambria Math" panose="02040503050406030204" pitchFamily="18" charset="0"/>
                                </a:rPr>
                                <m:t>1.5</m:t>
                              </m:r>
                            </m:e>
                          </m:mr>
                          <m:mr>
                            <m:e>
                              <m:r>
                                <a:rPr lang="en-US" b="0" i="1" smtClean="0">
                                  <a:latin typeface="Cambria Math" panose="02040503050406030204" pitchFamily="18" charset="0"/>
                                </a:rPr>
                                <m:t>3.0</m:t>
                              </m:r>
                            </m:e>
                            <m:e>
                              <m:r>
                                <a:rPr lang="en-US" b="0" i="1" smtClean="0">
                                  <a:latin typeface="Cambria Math" panose="02040503050406030204" pitchFamily="18" charset="0"/>
                                </a:rPr>
                                <m:t>4.0</m:t>
                              </m:r>
                            </m:e>
                          </m:mr>
                        </m:m>
                      </m:e>
                    </m:d>
                  </m:oMath>
                </a14:m>
                <a:r>
                  <a:rPr lang="en-US" dirty="0"/>
                  <a:t> -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3</m:t>
                              </m:r>
                              <m:r>
                                <a:rPr lang="en-US" b="0" i="1" smtClean="0">
                                  <a:latin typeface="Cambria Math" panose="02040503050406030204" pitchFamily="18" charset="0"/>
                                </a:rPr>
                                <m:t>.25</m:t>
                              </m:r>
                            </m:e>
                            <m:e>
                              <m:r>
                                <a:rPr lang="en-US" b="0" i="1" smtClean="0">
                                  <a:latin typeface="Cambria Math" panose="02040503050406030204" pitchFamily="18" charset="0"/>
                                </a:rPr>
                                <m:t>2.75</m:t>
                              </m:r>
                            </m:e>
                          </m:mr>
                          <m:mr>
                            <m:e>
                              <m:r>
                                <a:rPr lang="en-US" b="0" i="1" smtClean="0">
                                  <a:latin typeface="Cambria Math" panose="02040503050406030204" pitchFamily="18" charset="0"/>
                                </a:rPr>
                                <m:t>3.25</m:t>
                              </m:r>
                            </m:e>
                            <m:e>
                              <m:r>
                                <a:rPr lang="en-US" b="0" i="1" smtClean="0">
                                  <a:latin typeface="Cambria Math" panose="02040503050406030204" pitchFamily="18" charset="0"/>
                                </a:rPr>
                                <m:t>2.75</m:t>
                              </m:r>
                            </m:e>
                          </m:mr>
                        </m:m>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.25</m:t>
                              </m:r>
                            </m:e>
                            <m:e>
                              <m:r>
                                <a:rPr lang="en-US" b="0" i="1" smtClean="0">
                                  <a:latin typeface="Cambria Math" panose="02040503050406030204" pitchFamily="18" charset="0"/>
                                </a:rPr>
                                <m:t>−1.25</m:t>
                              </m:r>
                            </m:e>
                          </m:mr>
                          <m:mr>
                            <m:e>
                              <m:r>
                                <a:rPr lang="en-US" b="0" i="1" smtClean="0">
                                  <a:latin typeface="Cambria Math" panose="02040503050406030204" pitchFamily="18" charset="0"/>
                                </a:rPr>
                                <m:t>−0.25</m:t>
                              </m:r>
                            </m:e>
                            <m:e>
                              <m:r>
                                <a:rPr lang="en-US" b="0" i="1" smtClean="0">
                                  <a:latin typeface="Cambria Math" panose="02040503050406030204" pitchFamily="18" charset="0"/>
                                </a:rPr>
                                <m:t>1.25</m:t>
                              </m:r>
                            </m:e>
                          </m:mr>
                        </m:m>
                      </m:e>
                    </m:d>
                  </m:oMath>
                </a14:m>
                <a:endParaRPr lang="en-US" dirty="0"/>
              </a:p>
            </p:txBody>
          </p:sp>
        </mc:Choice>
        <mc:Fallback xmlns="">
          <p:sp>
            <p:nvSpPr>
              <p:cNvPr id="16" name="TextBox 15">
                <a:extLst>
                  <a:ext uri="{FF2B5EF4-FFF2-40B4-BE49-F238E27FC236}">
                    <a16:creationId xmlns:a16="http://schemas.microsoft.com/office/drawing/2014/main" id="{71BBDF0D-47DB-F7CA-AE6A-FF44601E717A}"/>
                  </a:ext>
                </a:extLst>
              </p:cNvPr>
              <p:cNvSpPr txBox="1">
                <a:spLocks noRot="1" noChangeAspect="1" noMove="1" noResize="1" noEditPoints="1" noAdjustHandles="1" noChangeArrowheads="1" noChangeShapeType="1" noTextEdit="1"/>
              </p:cNvSpPr>
              <p:nvPr/>
            </p:nvSpPr>
            <p:spPr>
              <a:xfrm>
                <a:off x="7503392" y="2419365"/>
                <a:ext cx="4688608" cy="576312"/>
              </a:xfrm>
              <a:prstGeom prst="rect">
                <a:avLst/>
              </a:prstGeom>
              <a:blipFill>
                <a:blip r:embed="rId13"/>
                <a:stretch>
                  <a:fillRect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0C9C017-B197-275E-8306-8EA648C9887C}"/>
                  </a:ext>
                </a:extLst>
              </p:cNvPr>
              <p:cNvSpPr txBox="1"/>
              <p:nvPr/>
            </p:nvSpPr>
            <p:spPr>
              <a:xfrm>
                <a:off x="6868874" y="3504108"/>
                <a:ext cx="652679" cy="369332"/>
              </a:xfrm>
              <a:prstGeom prst="rect">
                <a:avLst/>
              </a:prstGeom>
              <a:noFill/>
            </p:spPr>
            <p:txBody>
              <a:bodyPr wrap="none" rtlCol="0">
                <a:spAutoFit/>
              </a:bodyPr>
              <a:lstStyle/>
              <a:p>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𝒔</m:t>
                        </m:r>
                      </m:e>
                      <m:sub>
                        <m:r>
                          <a:rPr lang="en-US" b="1" i="1" smtClean="0">
                            <a:latin typeface="Cambria Math" panose="02040503050406030204" pitchFamily="18" charset="0"/>
                          </a:rPr>
                          <m:t>𝑩</m:t>
                        </m:r>
                      </m:sub>
                    </m:sSub>
                  </m:oMath>
                </a14:m>
                <a:r>
                  <a:rPr lang="en-US" b="1" dirty="0"/>
                  <a:t> = ​</a:t>
                </a:r>
                <a:endParaRPr lang="en-US" dirty="0"/>
              </a:p>
            </p:txBody>
          </p:sp>
        </mc:Choice>
        <mc:Fallback xmlns="">
          <p:sp>
            <p:nvSpPr>
              <p:cNvPr id="17" name="TextBox 16">
                <a:extLst>
                  <a:ext uri="{FF2B5EF4-FFF2-40B4-BE49-F238E27FC236}">
                    <a16:creationId xmlns:a16="http://schemas.microsoft.com/office/drawing/2014/main" id="{D0C9C017-B197-275E-8306-8EA648C9887C}"/>
                  </a:ext>
                </a:extLst>
              </p:cNvPr>
              <p:cNvSpPr txBox="1">
                <a:spLocks noRot="1" noChangeAspect="1" noMove="1" noResize="1" noEditPoints="1" noAdjustHandles="1" noChangeArrowheads="1" noChangeShapeType="1" noTextEdit="1"/>
              </p:cNvSpPr>
              <p:nvPr/>
            </p:nvSpPr>
            <p:spPr>
              <a:xfrm>
                <a:off x="6868874" y="3504108"/>
                <a:ext cx="652679" cy="369332"/>
              </a:xfrm>
              <a:prstGeom prst="rect">
                <a:avLst/>
              </a:prstGeom>
              <a:blipFill>
                <a:blip r:embed="rId14"/>
                <a:stretch>
                  <a:fillRect t="-10345" r="-5660" b="-241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C8D6DC8-B4E0-A8DD-0CD2-0FBE424F2065}"/>
                  </a:ext>
                </a:extLst>
              </p:cNvPr>
              <p:cNvSpPr txBox="1"/>
              <p:nvPr/>
            </p:nvSpPr>
            <p:spPr>
              <a:xfrm>
                <a:off x="7458392" y="3268978"/>
                <a:ext cx="3550011" cy="5598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.25</m:t>
                                </m:r>
                              </m:e>
                              <m:e>
                                <m:r>
                                  <a:rPr lang="en-US" b="0" i="1" smtClean="0">
                                    <a:latin typeface="Cambria Math" panose="02040503050406030204" pitchFamily="18" charset="0"/>
                                  </a:rPr>
                                  <m:t>−1.25</m:t>
                                </m:r>
                              </m:e>
                            </m:mr>
                            <m:mr>
                              <m:e>
                                <m:r>
                                  <a:rPr lang="en-US" b="0" i="1" smtClean="0">
                                    <a:latin typeface="Cambria Math" panose="02040503050406030204" pitchFamily="18" charset="0"/>
                                  </a:rPr>
                                  <m:t>−0.25</m:t>
                                </m:r>
                              </m:e>
                              <m:e>
                                <m:r>
                                  <a:rPr lang="en-US" b="0" i="1" smtClean="0">
                                    <a:latin typeface="Cambria Math" panose="02040503050406030204" pitchFamily="18" charset="0"/>
                                  </a:rPr>
                                  <m:t>1.25</m:t>
                                </m:r>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.25</m:t>
                                </m:r>
                              </m:e>
                              <m:e>
                                <m:r>
                                  <a:rPr lang="en-US" b="0" i="1" smtClean="0">
                                    <a:latin typeface="Cambria Math" panose="02040503050406030204" pitchFamily="18" charset="0"/>
                                  </a:rPr>
                                  <m:t>−0.25</m:t>
                                </m:r>
                              </m:e>
                            </m:mr>
                            <m:mr>
                              <m:e>
                                <m:r>
                                  <a:rPr lang="en-US" b="0" i="1" smtClean="0">
                                    <a:latin typeface="Cambria Math" panose="02040503050406030204" pitchFamily="18" charset="0"/>
                                  </a:rPr>
                                  <m:t>−1.25</m:t>
                                </m:r>
                              </m:e>
                              <m:e>
                                <m:r>
                                  <a:rPr lang="en-US" b="0" i="1" smtClean="0">
                                    <a:latin typeface="Cambria Math" panose="02040503050406030204" pitchFamily="18" charset="0"/>
                                  </a:rPr>
                                  <m:t>1.25</m:t>
                                </m:r>
                              </m:e>
                            </m:mr>
                          </m:m>
                        </m:e>
                      </m:d>
                    </m:oMath>
                  </m:oMathPara>
                </a14:m>
                <a:endParaRPr lang="en-US" dirty="0"/>
              </a:p>
            </p:txBody>
          </p:sp>
        </mc:Choice>
        <mc:Fallback xmlns="">
          <p:sp>
            <p:nvSpPr>
              <p:cNvPr id="18" name="TextBox 17">
                <a:extLst>
                  <a:ext uri="{FF2B5EF4-FFF2-40B4-BE49-F238E27FC236}">
                    <a16:creationId xmlns:a16="http://schemas.microsoft.com/office/drawing/2014/main" id="{AC8D6DC8-B4E0-A8DD-0CD2-0FBE424F2065}"/>
                  </a:ext>
                </a:extLst>
              </p:cNvPr>
              <p:cNvSpPr txBox="1">
                <a:spLocks noRot="1" noChangeAspect="1" noMove="1" noResize="1" noEditPoints="1" noAdjustHandles="1" noChangeArrowheads="1" noChangeShapeType="1" noTextEdit="1"/>
              </p:cNvSpPr>
              <p:nvPr/>
            </p:nvSpPr>
            <p:spPr>
              <a:xfrm>
                <a:off x="7458392" y="3268978"/>
                <a:ext cx="3550011" cy="559897"/>
              </a:xfrm>
              <a:prstGeom prst="rect">
                <a:avLst/>
              </a:prstGeom>
              <a:blipFill>
                <a:blip r:embed="rId15"/>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C4EE2EF-5082-1F25-3FF0-4B581E4E58D1}"/>
                  </a:ext>
                </a:extLst>
              </p:cNvPr>
              <p:cNvSpPr txBox="1"/>
              <p:nvPr/>
            </p:nvSpPr>
            <p:spPr>
              <a:xfrm>
                <a:off x="6874315" y="4352530"/>
                <a:ext cx="652679" cy="369332"/>
              </a:xfrm>
              <a:prstGeom prst="rect">
                <a:avLst/>
              </a:prstGeom>
              <a:noFill/>
            </p:spPr>
            <p:txBody>
              <a:bodyPr wrap="none" rtlCol="0">
                <a:spAutoFit/>
              </a:bodyPr>
              <a:lstStyle/>
              <a:p>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𝒔</m:t>
                        </m:r>
                      </m:e>
                      <m:sub>
                        <m:r>
                          <a:rPr lang="en-US" b="1" i="1" smtClean="0">
                            <a:latin typeface="Cambria Math" panose="02040503050406030204" pitchFamily="18" charset="0"/>
                          </a:rPr>
                          <m:t>𝑩</m:t>
                        </m:r>
                      </m:sub>
                    </m:sSub>
                  </m:oMath>
                </a14:m>
                <a:r>
                  <a:rPr lang="en-US" b="1" dirty="0"/>
                  <a:t> = ​</a:t>
                </a:r>
                <a:endParaRPr lang="en-US" dirty="0"/>
              </a:p>
            </p:txBody>
          </p:sp>
        </mc:Choice>
        <mc:Fallback xmlns="">
          <p:sp>
            <p:nvSpPr>
              <p:cNvPr id="19" name="TextBox 18">
                <a:extLst>
                  <a:ext uri="{FF2B5EF4-FFF2-40B4-BE49-F238E27FC236}">
                    <a16:creationId xmlns:a16="http://schemas.microsoft.com/office/drawing/2014/main" id="{BC4EE2EF-5082-1F25-3FF0-4B581E4E58D1}"/>
                  </a:ext>
                </a:extLst>
              </p:cNvPr>
              <p:cNvSpPr txBox="1">
                <a:spLocks noRot="1" noChangeAspect="1" noMove="1" noResize="1" noEditPoints="1" noAdjustHandles="1" noChangeArrowheads="1" noChangeShapeType="1" noTextEdit="1"/>
              </p:cNvSpPr>
              <p:nvPr/>
            </p:nvSpPr>
            <p:spPr>
              <a:xfrm>
                <a:off x="6874315" y="4352530"/>
                <a:ext cx="652679" cy="369332"/>
              </a:xfrm>
              <a:prstGeom prst="rect">
                <a:avLst/>
              </a:prstGeom>
              <a:blipFill>
                <a:blip r:embed="rId16"/>
                <a:stretch>
                  <a:fillRect t="-6667" r="-7692"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49891E5-CF37-DB08-B4DD-631C5D4301F5}"/>
                  </a:ext>
                </a:extLst>
              </p:cNvPr>
              <p:cNvSpPr txBox="1"/>
              <p:nvPr/>
            </p:nvSpPr>
            <p:spPr>
              <a:xfrm>
                <a:off x="7511935" y="4260069"/>
                <a:ext cx="2105385" cy="5598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.125</m:t>
                                </m:r>
                              </m:e>
                              <m:e>
                                <m:r>
                                  <a:rPr lang="en-US" b="0" i="1" smtClean="0">
                                    <a:latin typeface="Cambria Math" panose="02040503050406030204" pitchFamily="18" charset="0"/>
                                  </a:rPr>
                                  <m:t>−0.625</m:t>
                                </m:r>
                              </m:e>
                            </m:mr>
                            <m:mr>
                              <m:e>
                                <m:r>
                                  <a:rPr lang="en-US" b="0" i="1" smtClean="0">
                                    <a:latin typeface="Cambria Math" panose="02040503050406030204" pitchFamily="18" charset="0"/>
                                  </a:rPr>
                                  <m:t>−0.625</m:t>
                                </m:r>
                              </m:e>
                              <m:e>
                                <m:r>
                                  <a:rPr lang="en-US" b="0" i="1" smtClean="0">
                                    <a:latin typeface="Cambria Math" panose="02040503050406030204" pitchFamily="18" charset="0"/>
                                  </a:rPr>
                                  <m:t>3.125</m:t>
                                </m:r>
                              </m:e>
                            </m:mr>
                          </m:m>
                        </m:e>
                      </m:d>
                    </m:oMath>
                  </m:oMathPara>
                </a14:m>
                <a:endParaRPr lang="en-US" dirty="0"/>
              </a:p>
            </p:txBody>
          </p:sp>
        </mc:Choice>
        <mc:Fallback xmlns="">
          <p:sp>
            <p:nvSpPr>
              <p:cNvPr id="20" name="TextBox 19">
                <a:extLst>
                  <a:ext uri="{FF2B5EF4-FFF2-40B4-BE49-F238E27FC236}">
                    <a16:creationId xmlns:a16="http://schemas.microsoft.com/office/drawing/2014/main" id="{149891E5-CF37-DB08-B4DD-631C5D4301F5}"/>
                  </a:ext>
                </a:extLst>
              </p:cNvPr>
              <p:cNvSpPr txBox="1">
                <a:spLocks noRot="1" noChangeAspect="1" noMove="1" noResize="1" noEditPoints="1" noAdjustHandles="1" noChangeArrowheads="1" noChangeShapeType="1" noTextEdit="1"/>
              </p:cNvSpPr>
              <p:nvPr/>
            </p:nvSpPr>
            <p:spPr>
              <a:xfrm>
                <a:off x="7511935" y="4260069"/>
                <a:ext cx="2105385" cy="559897"/>
              </a:xfrm>
              <a:prstGeom prst="rect">
                <a:avLst/>
              </a:prstGeom>
              <a:blipFill>
                <a:blip r:embed="rId17"/>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A2979BD-6A5D-8579-F17E-BE446F98A5C8}"/>
                  </a:ext>
                </a:extLst>
              </p:cNvPr>
              <p:cNvSpPr txBox="1"/>
              <p:nvPr/>
            </p:nvSpPr>
            <p:spPr>
              <a:xfrm>
                <a:off x="4531836" y="5362222"/>
                <a:ext cx="663900" cy="369332"/>
              </a:xfrm>
              <a:prstGeom prst="rect">
                <a:avLst/>
              </a:prstGeom>
              <a:noFill/>
            </p:spPr>
            <p:txBody>
              <a:bodyPr wrap="none" rtlCol="0">
                <a:spAutoFit/>
              </a:bodyPr>
              <a:lstStyle/>
              <a:p>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𝒔</m:t>
                        </m:r>
                      </m:e>
                      <m:sub>
                        <m:r>
                          <a:rPr lang="en-US" b="1" i="1" smtClean="0">
                            <a:solidFill>
                              <a:schemeClr val="tx1"/>
                            </a:solidFill>
                            <a:latin typeface="Cambria Math" panose="02040503050406030204" pitchFamily="18" charset="0"/>
                          </a:rPr>
                          <m:t>𝒘</m:t>
                        </m:r>
                      </m:sub>
                    </m:sSub>
                  </m:oMath>
                </a14:m>
                <a:r>
                  <a:rPr lang="en-US" b="1" dirty="0">
                    <a:solidFill>
                      <a:schemeClr val="tx1"/>
                    </a:solidFill>
                  </a:rPr>
                  <a:t>​ = </a:t>
                </a:r>
                <a:endParaRPr lang="en-US" dirty="0"/>
              </a:p>
            </p:txBody>
          </p:sp>
        </mc:Choice>
        <mc:Fallback xmlns="">
          <p:sp>
            <p:nvSpPr>
              <p:cNvPr id="22" name="TextBox 21">
                <a:extLst>
                  <a:ext uri="{FF2B5EF4-FFF2-40B4-BE49-F238E27FC236}">
                    <a16:creationId xmlns:a16="http://schemas.microsoft.com/office/drawing/2014/main" id="{9A2979BD-6A5D-8579-F17E-BE446F98A5C8}"/>
                  </a:ext>
                </a:extLst>
              </p:cNvPr>
              <p:cNvSpPr txBox="1">
                <a:spLocks noRot="1" noChangeAspect="1" noMove="1" noResize="1" noEditPoints="1" noAdjustHandles="1" noChangeArrowheads="1" noChangeShapeType="1" noTextEdit="1"/>
              </p:cNvSpPr>
              <p:nvPr/>
            </p:nvSpPr>
            <p:spPr>
              <a:xfrm>
                <a:off x="4531836" y="5362222"/>
                <a:ext cx="663900" cy="369332"/>
              </a:xfrm>
              <a:prstGeom prst="rect">
                <a:avLst/>
              </a:prstGeom>
              <a:blipFill>
                <a:blip r:embed="rId18"/>
                <a:stretch>
                  <a:fillRect t="-6667" r="-7547"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ADDEA23-DDEC-A043-F785-F5B476A9397A}"/>
                  </a:ext>
                </a:extLst>
              </p:cNvPr>
              <p:cNvSpPr txBox="1"/>
              <p:nvPr/>
            </p:nvSpPr>
            <p:spPr>
              <a:xfrm>
                <a:off x="5127975" y="5267269"/>
                <a:ext cx="3937938" cy="559897"/>
              </a:xfrm>
              <a:prstGeom prst="rect">
                <a:avLst/>
              </a:prstGeom>
              <a:noFill/>
            </p:spPr>
            <p:txBody>
              <a:bodyPr wrap="none" rtlCol="0">
                <a:spAutoFit/>
              </a:bodyPr>
              <a:lstStyle/>
              <a:p>
                <a14:m>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4</m:t>
                              </m:r>
                              <m:r>
                                <a:rPr lang="en-US" b="0" i="1" smtClean="0">
                                  <a:latin typeface="Cambria Math" panose="02040503050406030204" pitchFamily="18" charset="0"/>
                                </a:rPr>
                                <m:t>.67</m:t>
                              </m:r>
                            </m:e>
                            <m:e>
                              <m:r>
                                <a:rPr lang="en-US" b="0" i="1" smtClean="0">
                                  <a:latin typeface="Cambria Math" panose="02040503050406030204" pitchFamily="18" charset="0"/>
                                </a:rPr>
                                <m:t>−0.40</m:t>
                              </m:r>
                            </m:e>
                          </m:mr>
                          <m:mr>
                            <m:e>
                              <m:r>
                                <a:rPr lang="en-US" b="0" i="1" smtClean="0">
                                  <a:latin typeface="Cambria Math" panose="02040503050406030204" pitchFamily="18" charset="0"/>
                                </a:rPr>
                                <m:t>−0.40</m:t>
                              </m:r>
                            </m:e>
                            <m:e>
                              <m:r>
                                <a:rPr lang="en-US" b="0" i="1" smtClean="0">
                                  <a:latin typeface="Cambria Math" panose="02040503050406030204" pitchFamily="18" charset="0"/>
                                </a:rPr>
                                <m:t>1.20</m:t>
                              </m:r>
                            </m:e>
                          </m:mr>
                        </m:m>
                      </m:e>
                    </m:d>
                  </m:oMath>
                </a14:m>
                <a:r>
                  <a:rPr lang="en-US" dirty="0"/>
                  <a:t> +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r>
                                <a:rPr lang="en-US" i="1">
                                  <a:latin typeface="Cambria Math" panose="02040503050406030204" pitchFamily="18" charset="0"/>
                                </a:rPr>
                                <m:t>.125</m:t>
                              </m:r>
                            </m:e>
                            <m:e>
                              <m:r>
                                <a:rPr lang="en-US" i="1">
                                  <a:latin typeface="Cambria Math" panose="02040503050406030204" pitchFamily="18" charset="0"/>
                                </a:rPr>
                                <m:t>−0.625</m:t>
                              </m:r>
                            </m:e>
                          </m:mr>
                          <m:mr>
                            <m:e>
                              <m:r>
                                <a:rPr lang="en-US" i="1">
                                  <a:latin typeface="Cambria Math" panose="02040503050406030204" pitchFamily="18" charset="0"/>
                                </a:rPr>
                                <m:t>−0.625</m:t>
                              </m:r>
                            </m:e>
                            <m:e>
                              <m:r>
                                <a:rPr lang="en-US" i="1">
                                  <a:latin typeface="Cambria Math" panose="02040503050406030204" pitchFamily="18" charset="0"/>
                                </a:rPr>
                                <m:t>3.125</m:t>
                              </m:r>
                            </m:e>
                          </m:mr>
                        </m:m>
                      </m:e>
                    </m:d>
                  </m:oMath>
                </a14:m>
                <a:r>
                  <a:rPr lang="en-US" dirty="0"/>
                  <a:t> </a:t>
                </a:r>
              </a:p>
            </p:txBody>
          </p:sp>
        </mc:Choice>
        <mc:Fallback xmlns="">
          <p:sp>
            <p:nvSpPr>
              <p:cNvPr id="23" name="TextBox 22">
                <a:extLst>
                  <a:ext uri="{FF2B5EF4-FFF2-40B4-BE49-F238E27FC236}">
                    <a16:creationId xmlns:a16="http://schemas.microsoft.com/office/drawing/2014/main" id="{7ADDEA23-DDEC-A043-F785-F5B476A9397A}"/>
                  </a:ext>
                </a:extLst>
              </p:cNvPr>
              <p:cNvSpPr txBox="1">
                <a:spLocks noRot="1" noChangeAspect="1" noMove="1" noResize="1" noEditPoints="1" noAdjustHandles="1" noChangeArrowheads="1" noChangeShapeType="1" noTextEdit="1"/>
              </p:cNvSpPr>
              <p:nvPr/>
            </p:nvSpPr>
            <p:spPr>
              <a:xfrm>
                <a:off x="5127975" y="5267269"/>
                <a:ext cx="3937938" cy="559897"/>
              </a:xfrm>
              <a:prstGeom prst="rect">
                <a:avLst/>
              </a:prstGeom>
              <a:blipFill>
                <a:blip r:embed="rId19"/>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BF59614-FC60-0080-D8FA-69C0DABB6ED8}"/>
                  </a:ext>
                </a:extLst>
              </p:cNvPr>
              <p:cNvSpPr txBox="1"/>
              <p:nvPr/>
            </p:nvSpPr>
            <p:spPr>
              <a:xfrm>
                <a:off x="4545972" y="5954336"/>
                <a:ext cx="2637517" cy="559897"/>
              </a:xfrm>
              <a:prstGeom prst="rect">
                <a:avLst/>
              </a:prstGeom>
              <a:noFill/>
            </p:spPr>
            <p:txBody>
              <a:bodyPr wrap="none" rtlCol="0">
                <a:spAutoFit/>
              </a:bodyPr>
              <a:lstStyle/>
              <a:p>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𝒔</m:t>
                        </m:r>
                      </m:e>
                      <m:sub>
                        <m:r>
                          <a:rPr lang="en-US" b="1" i="1" smtClean="0">
                            <a:solidFill>
                              <a:schemeClr val="tx1"/>
                            </a:solidFill>
                            <a:latin typeface="Cambria Math" panose="02040503050406030204" pitchFamily="18" charset="0"/>
                          </a:rPr>
                          <m:t>𝒘</m:t>
                        </m:r>
                      </m:sub>
                    </m:sSub>
                  </m:oMath>
                </a14:m>
                <a:r>
                  <a:rPr lang="en-US" b="1" dirty="0">
                    <a:solidFill>
                      <a:schemeClr val="tx1"/>
                    </a:solidFill>
                  </a:rPr>
                  <a:t>​ =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4</m:t>
                              </m:r>
                              <m:r>
                                <a:rPr lang="en-US" i="1">
                                  <a:latin typeface="Cambria Math" panose="02040503050406030204" pitchFamily="18" charset="0"/>
                                </a:rPr>
                                <m:t>.</m:t>
                              </m:r>
                              <m:r>
                                <a:rPr lang="en-US" b="0" i="1" smtClean="0">
                                  <a:latin typeface="Cambria Math" panose="02040503050406030204" pitchFamily="18" charset="0"/>
                                </a:rPr>
                                <m:t>795</m:t>
                              </m:r>
                            </m:e>
                            <m:e>
                              <m:r>
                                <a:rPr lang="en-US" b="0" i="1" smtClean="0">
                                  <a:latin typeface="Cambria Math" panose="02040503050406030204" pitchFamily="18" charset="0"/>
                                </a:rPr>
                                <m:t>−1.025</m:t>
                              </m:r>
                            </m:e>
                          </m:mr>
                          <m:mr>
                            <m:e>
                              <m:r>
                                <a:rPr lang="en-US" b="0" i="1" smtClean="0">
                                  <a:latin typeface="Cambria Math" panose="02040503050406030204" pitchFamily="18" charset="0"/>
                                </a:rPr>
                                <m:t>−1.025</m:t>
                              </m:r>
                            </m:e>
                            <m:e>
                              <m:r>
                                <a:rPr lang="en-US" b="0" i="1" smtClean="0">
                                  <a:latin typeface="Cambria Math" panose="02040503050406030204" pitchFamily="18" charset="0"/>
                                </a:rPr>
                                <m:t>4.325</m:t>
                              </m:r>
                            </m:e>
                          </m:mr>
                        </m:m>
                      </m:e>
                    </m:d>
                  </m:oMath>
                </a14:m>
                <a:r>
                  <a:rPr lang="en-US" b="1" dirty="0">
                    <a:solidFill>
                      <a:schemeClr val="tx1"/>
                    </a:solidFill>
                  </a:rPr>
                  <a:t>  </a:t>
                </a:r>
                <a:endParaRPr lang="en-US" dirty="0"/>
              </a:p>
            </p:txBody>
          </p:sp>
        </mc:Choice>
        <mc:Fallback xmlns="">
          <p:sp>
            <p:nvSpPr>
              <p:cNvPr id="24" name="TextBox 23">
                <a:extLst>
                  <a:ext uri="{FF2B5EF4-FFF2-40B4-BE49-F238E27FC236}">
                    <a16:creationId xmlns:a16="http://schemas.microsoft.com/office/drawing/2014/main" id="{6BF59614-FC60-0080-D8FA-69C0DABB6ED8}"/>
                  </a:ext>
                </a:extLst>
              </p:cNvPr>
              <p:cNvSpPr txBox="1">
                <a:spLocks noRot="1" noChangeAspect="1" noMove="1" noResize="1" noEditPoints="1" noAdjustHandles="1" noChangeArrowheads="1" noChangeShapeType="1" noTextEdit="1"/>
              </p:cNvSpPr>
              <p:nvPr/>
            </p:nvSpPr>
            <p:spPr>
              <a:xfrm>
                <a:off x="4545972" y="5954336"/>
                <a:ext cx="2637517" cy="559897"/>
              </a:xfrm>
              <a:prstGeom prst="rect">
                <a:avLst/>
              </a:prstGeom>
              <a:blipFill>
                <a:blip r:embed="rId20"/>
                <a:stretch>
                  <a:fillRect b="-6522"/>
                </a:stretch>
              </a:blipFill>
            </p:spPr>
            <p:txBody>
              <a:bodyPr/>
              <a:lstStyle/>
              <a:p>
                <a:r>
                  <a:rPr lang="en-US">
                    <a:noFill/>
                  </a:rPr>
                  <a:t> </a:t>
                </a:r>
              </a:p>
            </p:txBody>
          </p:sp>
        </mc:Fallback>
      </mc:AlternateContent>
    </p:spTree>
    <p:extLst>
      <p:ext uri="{BB962C8B-B14F-4D97-AF65-F5344CB8AC3E}">
        <p14:creationId xmlns:p14="http://schemas.microsoft.com/office/powerpoint/2010/main" val="87151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4" grpId="0"/>
      <p:bldP spid="15" grpId="0"/>
      <p:bldP spid="16" grpId="0"/>
      <p:bldP spid="17" grpId="0"/>
      <p:bldP spid="18" grpId="0"/>
      <p:bldP spid="19" grpId="0"/>
      <p:bldP spid="20" grpId="0"/>
      <p:bldP spid="22" grpId="0"/>
      <p:bldP spid="23" grpId="0"/>
      <p:bldP spid="24"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8358-89A3-800B-5D37-2B90DF5AECBC}"/>
              </a:ext>
            </a:extLst>
          </p:cNvPr>
          <p:cNvSpPr>
            <a:spLocks noGrp="1"/>
          </p:cNvSpPr>
          <p:nvPr>
            <p:ph type="title"/>
          </p:nvPr>
        </p:nvSpPr>
        <p:spPr/>
        <p:txBody>
          <a:bodyPr/>
          <a:lstStyle/>
          <a:p>
            <a:r>
              <a:rPr lang="en-US" dirty="0"/>
              <a:t>LDA - Example</a:t>
            </a:r>
          </a:p>
        </p:txBody>
      </p:sp>
      <p:sp>
        <p:nvSpPr>
          <p:cNvPr id="4" name="TextBox 3">
            <a:extLst>
              <a:ext uri="{FF2B5EF4-FFF2-40B4-BE49-F238E27FC236}">
                <a16:creationId xmlns:a16="http://schemas.microsoft.com/office/drawing/2014/main" id="{983967EA-A453-5160-4E4C-BAD6546BADBE}"/>
              </a:ext>
            </a:extLst>
          </p:cNvPr>
          <p:cNvSpPr txBox="1"/>
          <p:nvPr/>
        </p:nvSpPr>
        <p:spPr>
          <a:xfrm>
            <a:off x="248356" y="888399"/>
            <a:ext cx="4394152" cy="369332"/>
          </a:xfrm>
          <a:prstGeom prst="rect">
            <a:avLst/>
          </a:prstGeom>
          <a:noFill/>
        </p:spPr>
        <p:txBody>
          <a:bodyPr wrap="none" rtlCol="0">
            <a:spAutoFit/>
          </a:bodyPr>
          <a:lstStyle/>
          <a:p>
            <a:r>
              <a:rPr lang="en-US" b="1" dirty="0">
                <a:solidFill>
                  <a:srgbClr val="C00000"/>
                </a:solidFill>
              </a:rPr>
              <a:t>3) Compute the Optimal Projection Vector w</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CD8D3AF-BCD8-BEF5-E255-251A24157EEE}"/>
                  </a:ext>
                </a:extLst>
              </p:cNvPr>
              <p:cNvSpPr txBox="1"/>
              <p:nvPr/>
            </p:nvSpPr>
            <p:spPr>
              <a:xfrm>
                <a:off x="495411" y="1292838"/>
                <a:ext cx="1950021" cy="369332"/>
              </a:xfrm>
              <a:prstGeom prst="rect">
                <a:avLst/>
              </a:prstGeom>
              <a:noFill/>
            </p:spPr>
            <p:txBody>
              <a:bodyPr wrap="none" rtlCol="0">
                <a:spAutoFit/>
              </a:bodyPr>
              <a:lstStyle/>
              <a:p>
                <a:r>
                  <a:rPr lang="en-US" dirty="0"/>
                  <a:t>W =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𝑆</m:t>
                        </m:r>
                      </m:e>
                      <m:sub>
                        <m:r>
                          <a:rPr lang="en-US" i="1">
                            <a:latin typeface="Cambria Math" panose="02040503050406030204" pitchFamily="18" charset="0"/>
                          </a:rPr>
                          <m:t>𝑤</m:t>
                        </m:r>
                      </m:sub>
                      <m:sup>
                        <m:r>
                          <a:rPr lang="en-US" i="1">
                            <a:latin typeface="Cambria Math" panose="02040503050406030204" pitchFamily="18" charset="0"/>
                          </a:rPr>
                          <m:t>−1</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𝐵</m:t>
                        </m:r>
                      </m:sub>
                    </m:sSub>
                    <m:r>
                      <a:rPr lang="en-US" i="1">
                        <a:latin typeface="Cambria Math" panose="02040503050406030204" pitchFamily="18" charset="0"/>
                      </a:rPr>
                      <m:t>)</m:t>
                    </m:r>
                  </m:oMath>
                </a14:m>
                <a:endParaRPr lang="en-US" dirty="0"/>
              </a:p>
            </p:txBody>
          </p:sp>
        </mc:Choice>
        <mc:Fallback xmlns="">
          <p:sp>
            <p:nvSpPr>
              <p:cNvPr id="5" name="TextBox 4">
                <a:extLst>
                  <a:ext uri="{FF2B5EF4-FFF2-40B4-BE49-F238E27FC236}">
                    <a16:creationId xmlns:a16="http://schemas.microsoft.com/office/drawing/2014/main" id="{3CD8D3AF-BCD8-BEF5-E255-251A24157EEE}"/>
                  </a:ext>
                </a:extLst>
              </p:cNvPr>
              <p:cNvSpPr txBox="1">
                <a:spLocks noRot="1" noChangeAspect="1" noMove="1" noResize="1" noEditPoints="1" noAdjustHandles="1" noChangeArrowheads="1" noChangeShapeType="1" noTextEdit="1"/>
              </p:cNvSpPr>
              <p:nvPr/>
            </p:nvSpPr>
            <p:spPr>
              <a:xfrm>
                <a:off x="495411" y="1292838"/>
                <a:ext cx="1950021" cy="369332"/>
              </a:xfrm>
              <a:prstGeom prst="rect">
                <a:avLst/>
              </a:prstGeom>
              <a:blipFill>
                <a:blip r:embed="rId2"/>
                <a:stretch>
                  <a:fillRect l="-1935" t="-6452" b="-19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B85C91C-D96C-5D3F-B748-9F04F5E1CA00}"/>
                  </a:ext>
                </a:extLst>
              </p:cNvPr>
              <p:cNvSpPr txBox="1"/>
              <p:nvPr/>
            </p:nvSpPr>
            <p:spPr>
              <a:xfrm>
                <a:off x="495411" y="1815550"/>
                <a:ext cx="2761653" cy="559897"/>
              </a:xfrm>
              <a:prstGeom prst="rect">
                <a:avLst/>
              </a:prstGeom>
              <a:noFill/>
            </p:spPr>
            <p:txBody>
              <a:bodyPr wrap="none" rtlCol="0">
                <a:spAutoFit/>
              </a:bodyPr>
              <a:lstStyle/>
              <a:p>
                <a:r>
                  <a:rPr lang="en-US" dirty="0"/>
                  <a:t>W = </a:t>
                </a:r>
                <a14:m>
                  <m:oMath xmlns:m="http://schemas.openxmlformats.org/officeDocument/2006/math">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3</m:t>
                              </m:r>
                              <m:r>
                                <a:rPr lang="en-US" b="0" i="1" smtClean="0">
                                  <a:latin typeface="Cambria Math" panose="02040503050406030204" pitchFamily="18" charset="0"/>
                                </a:rPr>
                                <m:t>.67</m:t>
                              </m:r>
                            </m:e>
                          </m:mr>
                          <m:mr>
                            <m:e>
                              <m:r>
                                <a:rPr lang="en-US" b="0" i="1" smtClean="0">
                                  <a:latin typeface="Cambria Math" panose="02040503050406030204" pitchFamily="18" charset="0"/>
                                </a:rPr>
                                <m:t>2.83</m:t>
                              </m:r>
                            </m:e>
                          </m:mr>
                        </m:m>
                      </m:e>
                    </m:d>
                  </m:oMath>
                </a14:m>
                <a:r>
                  <a:rPr lang="en-US" dirty="0"/>
                  <a:t> - </a:t>
                </a:r>
                <a14:m>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3</m:t>
                              </m:r>
                              <m:r>
                                <a:rPr lang="en-US" i="1">
                                  <a:latin typeface="Cambria Math" panose="02040503050406030204" pitchFamily="18" charset="0"/>
                                </a:rPr>
                                <m:t>.25</m:t>
                              </m:r>
                            </m:e>
                          </m:mr>
                          <m:mr>
                            <m:e>
                              <m:r>
                                <a:rPr lang="en-US" i="1">
                                  <a:latin typeface="Cambria Math" panose="02040503050406030204" pitchFamily="18" charset="0"/>
                                </a:rPr>
                                <m:t>2.75</m:t>
                              </m:r>
                            </m:e>
                          </m:mr>
                        </m:m>
                      </m:e>
                    </m:d>
                  </m:oMath>
                </a14:m>
                <a:r>
                  <a:rPr lang="en-US" dirty="0"/>
                  <a:t> = </a:t>
                </a: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.42</m:t>
                              </m:r>
                            </m:e>
                          </m:mr>
                          <m:mr>
                            <m:e>
                              <m:r>
                                <a:rPr lang="en-US" b="0" i="1" smtClean="0">
                                  <a:latin typeface="Cambria Math" panose="02040503050406030204" pitchFamily="18" charset="0"/>
                                </a:rPr>
                                <m:t>0.08</m:t>
                              </m:r>
                            </m:e>
                          </m:mr>
                        </m:m>
                      </m:e>
                    </m:d>
                  </m:oMath>
                </a14:m>
                <a:endParaRPr lang="en-US" dirty="0"/>
              </a:p>
            </p:txBody>
          </p:sp>
        </mc:Choice>
        <mc:Fallback xmlns="">
          <p:sp>
            <p:nvSpPr>
              <p:cNvPr id="6" name="TextBox 5">
                <a:extLst>
                  <a:ext uri="{FF2B5EF4-FFF2-40B4-BE49-F238E27FC236}">
                    <a16:creationId xmlns:a16="http://schemas.microsoft.com/office/drawing/2014/main" id="{9B85C91C-D96C-5D3F-B748-9F04F5E1CA00}"/>
                  </a:ext>
                </a:extLst>
              </p:cNvPr>
              <p:cNvSpPr txBox="1">
                <a:spLocks noRot="1" noChangeAspect="1" noMove="1" noResize="1" noEditPoints="1" noAdjustHandles="1" noChangeArrowheads="1" noChangeShapeType="1" noTextEdit="1"/>
              </p:cNvSpPr>
              <p:nvPr/>
            </p:nvSpPr>
            <p:spPr>
              <a:xfrm>
                <a:off x="495411" y="1815550"/>
                <a:ext cx="2761653" cy="559897"/>
              </a:xfrm>
              <a:prstGeom prst="rect">
                <a:avLst/>
              </a:prstGeom>
              <a:blipFill>
                <a:blip r:embed="rId3"/>
                <a:stretch>
                  <a:fillRect l="-1370"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7B36122-FFA8-5DA5-EE8A-D3E2735813EE}"/>
                  </a:ext>
                </a:extLst>
              </p:cNvPr>
              <p:cNvSpPr txBox="1"/>
              <p:nvPr/>
            </p:nvSpPr>
            <p:spPr>
              <a:xfrm>
                <a:off x="327704" y="2751760"/>
                <a:ext cx="2285434" cy="558038"/>
              </a:xfrm>
              <a:prstGeom prst="rect">
                <a:avLst/>
              </a:prstGeom>
              <a:noFill/>
            </p:spPr>
            <p:txBody>
              <a:bodyPr wrap="none"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𝑆</m:t>
                        </m:r>
                      </m:e>
                      <m:sub>
                        <m:r>
                          <a:rPr lang="en-US" i="1">
                            <a:latin typeface="Cambria Math" panose="02040503050406030204" pitchFamily="18" charset="0"/>
                          </a:rPr>
                          <m:t>𝑤</m:t>
                        </m:r>
                      </m:sub>
                      <m:sup>
                        <m:r>
                          <a:rPr lang="en-US" i="1">
                            <a:latin typeface="Cambria Math" panose="02040503050406030204" pitchFamily="18" charset="0"/>
                          </a:rPr>
                          <m:t>−1</m:t>
                        </m:r>
                      </m:sup>
                    </m:sSubSup>
                  </m:oMath>
                </a14:m>
                <a:r>
                  <a:rPr lang="en-US" dirty="0"/>
                  <a:t> = </a:t>
                </a:r>
                <a14:m>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.217</m:t>
                              </m:r>
                            </m:e>
                            <m:e>
                              <m:r>
                                <a:rPr lang="en-US" b="0" i="1" smtClean="0">
                                  <a:latin typeface="Cambria Math" panose="02040503050406030204" pitchFamily="18" charset="0"/>
                                </a:rPr>
                                <m:t>0.051</m:t>
                              </m:r>
                            </m:e>
                          </m:mr>
                          <m:mr>
                            <m:e>
                              <m:r>
                                <a:rPr lang="en-US" b="0" i="1" smtClean="0">
                                  <a:latin typeface="Cambria Math" panose="02040503050406030204" pitchFamily="18" charset="0"/>
                                </a:rPr>
                                <m:t>0.051</m:t>
                              </m:r>
                            </m:e>
                            <m:e>
                              <m:r>
                                <a:rPr lang="en-US" b="0" i="1" smtClean="0">
                                  <a:latin typeface="Cambria Math" panose="02040503050406030204" pitchFamily="18" charset="0"/>
                                </a:rPr>
                                <m:t>0.241</m:t>
                              </m:r>
                            </m:e>
                          </m:mr>
                        </m:m>
                      </m:e>
                    </m:d>
                  </m:oMath>
                </a14:m>
                <a:endParaRPr lang="en-US" dirty="0"/>
              </a:p>
            </p:txBody>
          </p:sp>
        </mc:Choice>
        <mc:Fallback xmlns="">
          <p:sp>
            <p:nvSpPr>
              <p:cNvPr id="7" name="TextBox 6">
                <a:extLst>
                  <a:ext uri="{FF2B5EF4-FFF2-40B4-BE49-F238E27FC236}">
                    <a16:creationId xmlns:a16="http://schemas.microsoft.com/office/drawing/2014/main" id="{87B36122-FFA8-5DA5-EE8A-D3E2735813EE}"/>
                  </a:ext>
                </a:extLst>
              </p:cNvPr>
              <p:cNvSpPr txBox="1">
                <a:spLocks noRot="1" noChangeAspect="1" noMove="1" noResize="1" noEditPoints="1" noAdjustHandles="1" noChangeArrowheads="1" noChangeShapeType="1" noTextEdit="1"/>
              </p:cNvSpPr>
              <p:nvPr/>
            </p:nvSpPr>
            <p:spPr>
              <a:xfrm>
                <a:off x="327704" y="2751760"/>
                <a:ext cx="2285434" cy="558038"/>
              </a:xfrm>
              <a:prstGeom prst="rect">
                <a:avLst/>
              </a:prstGeom>
              <a:blipFill>
                <a:blip r:embed="rId4"/>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5176D46-C93D-A301-5F6E-2BA28BC51F1F}"/>
                  </a:ext>
                </a:extLst>
              </p:cNvPr>
              <p:cNvSpPr txBox="1"/>
              <p:nvPr/>
            </p:nvSpPr>
            <p:spPr>
              <a:xfrm>
                <a:off x="327704" y="3639863"/>
                <a:ext cx="2753318" cy="559897"/>
              </a:xfrm>
              <a:prstGeom prst="rect">
                <a:avLst/>
              </a:prstGeom>
              <a:noFill/>
            </p:spPr>
            <p:txBody>
              <a:bodyPr wrap="none" rtlCol="0">
                <a:spAutoFit/>
              </a:bodyPr>
              <a:lstStyle/>
              <a:p>
                <a:r>
                  <a:rPr lang="en-US" dirty="0"/>
                  <a:t>W = </a:t>
                </a:r>
                <a14:m>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.217</m:t>
                              </m:r>
                            </m:e>
                            <m:e>
                              <m:r>
                                <a:rPr lang="en-US" b="0" i="1" smtClean="0">
                                  <a:latin typeface="Cambria Math" panose="02040503050406030204" pitchFamily="18" charset="0"/>
                                </a:rPr>
                                <m:t>0.051</m:t>
                              </m:r>
                            </m:e>
                          </m:mr>
                          <m:mr>
                            <m:e>
                              <m:r>
                                <a:rPr lang="en-US" b="0" i="1" smtClean="0">
                                  <a:latin typeface="Cambria Math" panose="02040503050406030204" pitchFamily="18" charset="0"/>
                                </a:rPr>
                                <m:t>0.051</m:t>
                              </m:r>
                            </m:e>
                            <m:e>
                              <m:r>
                                <a:rPr lang="en-US" b="0" i="1" smtClean="0">
                                  <a:latin typeface="Cambria Math" panose="02040503050406030204" pitchFamily="18" charset="0"/>
                                </a:rPr>
                                <m:t>0.241</m:t>
                              </m:r>
                            </m:e>
                          </m:mr>
                        </m:m>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r>
                                <a:rPr lang="en-US" i="1">
                                  <a:latin typeface="Cambria Math" panose="02040503050406030204" pitchFamily="18" charset="0"/>
                                </a:rPr>
                                <m:t>.42</m:t>
                              </m:r>
                            </m:e>
                          </m:mr>
                          <m:mr>
                            <m:e>
                              <m:r>
                                <a:rPr lang="en-US" i="1">
                                  <a:latin typeface="Cambria Math" panose="02040503050406030204" pitchFamily="18" charset="0"/>
                                </a:rPr>
                                <m:t>0.08</m:t>
                              </m:r>
                            </m:e>
                          </m:mr>
                        </m:m>
                      </m:e>
                    </m:d>
                  </m:oMath>
                </a14:m>
                <a:endParaRPr lang="en-US" dirty="0"/>
              </a:p>
            </p:txBody>
          </p:sp>
        </mc:Choice>
        <mc:Fallback xmlns="">
          <p:sp>
            <p:nvSpPr>
              <p:cNvPr id="8" name="TextBox 7">
                <a:extLst>
                  <a:ext uri="{FF2B5EF4-FFF2-40B4-BE49-F238E27FC236}">
                    <a16:creationId xmlns:a16="http://schemas.microsoft.com/office/drawing/2014/main" id="{35176D46-C93D-A301-5F6E-2BA28BC51F1F}"/>
                  </a:ext>
                </a:extLst>
              </p:cNvPr>
              <p:cNvSpPr txBox="1">
                <a:spLocks noRot="1" noChangeAspect="1" noMove="1" noResize="1" noEditPoints="1" noAdjustHandles="1" noChangeArrowheads="1" noChangeShapeType="1" noTextEdit="1"/>
              </p:cNvSpPr>
              <p:nvPr/>
            </p:nvSpPr>
            <p:spPr>
              <a:xfrm>
                <a:off x="327704" y="3639863"/>
                <a:ext cx="2753318" cy="559897"/>
              </a:xfrm>
              <a:prstGeom prst="rect">
                <a:avLst/>
              </a:prstGeom>
              <a:blipFill>
                <a:blip r:embed="rId5"/>
                <a:stretch>
                  <a:fillRect l="-1835"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1592C35-D87E-F52E-CB10-E907C7942AD9}"/>
                  </a:ext>
                </a:extLst>
              </p:cNvPr>
              <p:cNvSpPr txBox="1"/>
              <p:nvPr/>
            </p:nvSpPr>
            <p:spPr>
              <a:xfrm>
                <a:off x="327704" y="4486775"/>
                <a:ext cx="1523494" cy="564963"/>
              </a:xfrm>
              <a:prstGeom prst="rect">
                <a:avLst/>
              </a:prstGeom>
              <a:noFill/>
            </p:spPr>
            <p:txBody>
              <a:bodyPr wrap="none" rtlCol="0">
                <a:spAutoFit/>
              </a:bodyPr>
              <a:lstStyle/>
              <a:p>
                <a:r>
                  <a:rPr lang="en-US" b="1" dirty="0"/>
                  <a:t>W = </a:t>
                </a:r>
                <a14:m>
                  <m:oMath xmlns:m="http://schemas.openxmlformats.org/officeDocument/2006/math">
                    <m:d>
                      <m:dPr>
                        <m:begChr m:val="⌊"/>
                        <m:endChr m:val="⌋"/>
                        <m:ctrlPr>
                          <a:rPr lang="en-US" b="1" i="1">
                            <a:latin typeface="Cambria Math" panose="02040503050406030204" pitchFamily="18" charset="0"/>
                          </a:rPr>
                        </m:ctrlPr>
                      </m:dPr>
                      <m:e>
                        <m:m>
                          <m:mPr>
                            <m:mcs>
                              <m:mc>
                                <m:mcPr>
                                  <m:count m:val="1"/>
                                  <m:mcJc m:val="center"/>
                                </m:mcPr>
                              </m:mc>
                            </m:mcs>
                            <m:ctrlPr>
                              <a:rPr lang="en-US" b="1" i="1">
                                <a:latin typeface="Cambria Math" panose="02040503050406030204" pitchFamily="18" charset="0"/>
                              </a:rPr>
                            </m:ctrlPr>
                          </m:mPr>
                          <m:mr>
                            <m:e>
                              <m:r>
                                <m:rPr>
                                  <m:nor/>
                                </m:rPr>
                                <a:rPr lang="en-IN" b="1"/>
                                <m:t>0.1025</m:t>
                              </m:r>
                            </m:e>
                          </m:mr>
                          <m:mr>
                            <m:e>
                              <m:r>
                                <a:rPr lang="en-US" b="1" i="1">
                                  <a:latin typeface="Cambria Math" panose="02040503050406030204" pitchFamily="18" charset="0"/>
                                </a:rPr>
                                <m:t>𝟎</m:t>
                              </m:r>
                              <m:r>
                                <a:rPr lang="en-US" b="1" i="1">
                                  <a:latin typeface="Cambria Math" panose="02040503050406030204" pitchFamily="18" charset="0"/>
                                </a:rPr>
                                <m:t>.</m:t>
                              </m:r>
                              <m:r>
                                <a:rPr lang="en-US" b="1" i="1">
                                  <a:latin typeface="Cambria Math" panose="02040503050406030204" pitchFamily="18" charset="0"/>
                                </a:rPr>
                                <m:t>𝟎𝟒𝟎𝟕</m:t>
                              </m:r>
                            </m:e>
                          </m:mr>
                        </m:m>
                      </m:e>
                    </m:d>
                  </m:oMath>
                </a14:m>
                <a:endParaRPr lang="en-US" b="1" dirty="0"/>
              </a:p>
            </p:txBody>
          </p:sp>
        </mc:Choice>
        <mc:Fallback xmlns="">
          <p:sp>
            <p:nvSpPr>
              <p:cNvPr id="9" name="TextBox 8">
                <a:extLst>
                  <a:ext uri="{FF2B5EF4-FFF2-40B4-BE49-F238E27FC236}">
                    <a16:creationId xmlns:a16="http://schemas.microsoft.com/office/drawing/2014/main" id="{91592C35-D87E-F52E-CB10-E907C7942AD9}"/>
                  </a:ext>
                </a:extLst>
              </p:cNvPr>
              <p:cNvSpPr txBox="1">
                <a:spLocks noRot="1" noChangeAspect="1" noMove="1" noResize="1" noEditPoints="1" noAdjustHandles="1" noChangeArrowheads="1" noChangeShapeType="1" noTextEdit="1"/>
              </p:cNvSpPr>
              <p:nvPr/>
            </p:nvSpPr>
            <p:spPr>
              <a:xfrm>
                <a:off x="327704" y="4486775"/>
                <a:ext cx="1523494" cy="564963"/>
              </a:xfrm>
              <a:prstGeom prst="rect">
                <a:avLst/>
              </a:prstGeom>
              <a:blipFill>
                <a:blip r:embed="rId6"/>
                <a:stretch>
                  <a:fillRect l="-3306" b="-4444"/>
                </a:stretch>
              </a:blipFill>
            </p:spPr>
            <p:txBody>
              <a:bodyPr/>
              <a:lstStyle/>
              <a:p>
                <a:r>
                  <a:rPr lang="en-US">
                    <a:noFill/>
                  </a:rPr>
                  <a:t> </a:t>
                </a:r>
              </a:p>
            </p:txBody>
          </p:sp>
        </mc:Fallback>
      </mc:AlternateContent>
    </p:spTree>
    <p:extLst>
      <p:ext uri="{BB962C8B-B14F-4D97-AF65-F5344CB8AC3E}">
        <p14:creationId xmlns:p14="http://schemas.microsoft.com/office/powerpoint/2010/main" val="391541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5400" dirty="0"/>
              <a:t>Thank You</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4142149695"/>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17450</TotalTime>
  <Words>7189</Words>
  <Application>Microsoft Office PowerPoint</Application>
  <PresentationFormat>Widescreen</PresentationFormat>
  <Paragraphs>1679</Paragraphs>
  <Slides>98</Slides>
  <Notes>1</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98</vt:i4>
      </vt:variant>
    </vt:vector>
  </HeadingPairs>
  <TitlesOfParts>
    <vt:vector size="117" baseType="lpstr">
      <vt:lpstr>SimSun</vt:lpstr>
      <vt:lpstr>Arial</vt:lpstr>
      <vt:lpstr>Calibri</vt:lpstr>
      <vt:lpstr>Cambria Math</vt:lpstr>
      <vt:lpstr>Consolas</vt:lpstr>
      <vt:lpstr>Helvetica</vt:lpstr>
      <vt:lpstr>Menlo</vt:lpstr>
      <vt:lpstr>Roboto Condensed</vt:lpstr>
      <vt:lpstr>Roboto Condensed Light</vt:lpstr>
      <vt:lpstr>Segoe UI Black</vt:lpstr>
      <vt:lpstr>Symbol</vt:lpstr>
      <vt:lpstr>Tahoma</vt:lpstr>
      <vt:lpstr>Times New Roman</vt:lpstr>
      <vt:lpstr>Webdings</vt:lpstr>
      <vt:lpstr>-webkit-standard</vt:lpstr>
      <vt:lpstr>Wingdings</vt:lpstr>
      <vt:lpstr>Wingdings 2</vt:lpstr>
      <vt:lpstr>Wingdings 3</vt:lpstr>
      <vt:lpstr>Office Theme</vt:lpstr>
      <vt:lpstr>Unit-04  Clustering </vt:lpstr>
      <vt:lpstr>PowerPoint Presentation</vt:lpstr>
      <vt:lpstr>Clustering (Grouping)</vt:lpstr>
      <vt:lpstr>Clustering</vt:lpstr>
      <vt:lpstr>Clustering</vt:lpstr>
      <vt:lpstr>Applications of Clustering</vt:lpstr>
      <vt:lpstr>Good clustering Algorithm</vt:lpstr>
      <vt:lpstr>Overview of Basic Clustering Methods : Partitioning methods  </vt:lpstr>
      <vt:lpstr>Hierarchical methods  </vt:lpstr>
      <vt:lpstr>Hierarchical methods </vt:lpstr>
      <vt:lpstr>Density-based methods </vt:lpstr>
      <vt:lpstr>Grid-based methods</vt:lpstr>
      <vt:lpstr>Partitioning Methods: k-Means : A Centroid-Based Technique   </vt:lpstr>
      <vt:lpstr>k-Means : Algorithm</vt:lpstr>
      <vt:lpstr>k-Means : Algorithm Cont.. </vt:lpstr>
      <vt:lpstr>Clustering</vt:lpstr>
      <vt:lpstr>K-Mean Example</vt:lpstr>
      <vt:lpstr>K-Mean Example</vt:lpstr>
      <vt:lpstr>K-Mean Example</vt:lpstr>
      <vt:lpstr>K-Mean Example</vt:lpstr>
      <vt:lpstr>K-Means Example</vt:lpstr>
      <vt:lpstr>K-Mean Example</vt:lpstr>
      <vt:lpstr>k-Medoids: A Representative Object-Based Technique </vt:lpstr>
      <vt:lpstr>k-medoids : Algorithm</vt:lpstr>
      <vt:lpstr>K-Medoids Clustering Algorithm - Example</vt:lpstr>
      <vt:lpstr>K-Medoids Clustering Algorithm – Example Cont..</vt:lpstr>
      <vt:lpstr>K-Medoids Clustering Algorithm – Example Cont..</vt:lpstr>
      <vt:lpstr>K-Medoids Clustering Algorithm – Example Cont..</vt:lpstr>
      <vt:lpstr>K-Medoids Clustering Algorithm – Example Cont..</vt:lpstr>
      <vt:lpstr>K-Medoids Example</vt:lpstr>
      <vt:lpstr>K-Medoids Example</vt:lpstr>
      <vt:lpstr>Hierarchical methods  </vt:lpstr>
      <vt:lpstr>Agglomerative approach vs Divisive approach</vt:lpstr>
      <vt:lpstr>Dendrogram: Shows How Clusters are Merged</vt:lpstr>
      <vt:lpstr>Distance Measures in Algorithmic Methods </vt:lpstr>
      <vt:lpstr>Distance Measures in Algorithmic Methods </vt:lpstr>
      <vt:lpstr>Example</vt:lpstr>
      <vt:lpstr>Example</vt:lpstr>
      <vt:lpstr>Weakness of agglomerative clustering methods</vt:lpstr>
      <vt:lpstr>BIRCH (Balanced Iterative Reducing and Clustering Using Hierarchies)</vt:lpstr>
      <vt:lpstr>Clustering Feature Vector in BIRCH</vt:lpstr>
      <vt:lpstr>CF Tree structure</vt:lpstr>
      <vt:lpstr>The CF Tree Structure</vt:lpstr>
      <vt:lpstr>Centroid, Radius and Diameter of a Cluster</vt:lpstr>
      <vt:lpstr>BIRCH</vt:lpstr>
      <vt:lpstr>CHAMELEON: Hierarchical Clustering Using Dynamic Modeling</vt:lpstr>
      <vt:lpstr>CHAMELEON: Hierarchical Clustering Using Dynamic Modeling</vt:lpstr>
      <vt:lpstr>Density-Based Clustering Methods</vt:lpstr>
      <vt:lpstr>DBSCAN</vt:lpstr>
      <vt:lpstr>DBSCAN</vt:lpstr>
      <vt:lpstr>DBSCAN</vt:lpstr>
      <vt:lpstr>DBSCAN</vt:lpstr>
      <vt:lpstr>DBSCAN</vt:lpstr>
      <vt:lpstr>DBSCAN Example</vt:lpstr>
      <vt:lpstr>What Are Outliers ?</vt:lpstr>
      <vt:lpstr>What Are Outliers ?</vt:lpstr>
      <vt:lpstr>Types of Outliers</vt:lpstr>
      <vt:lpstr>Types of Outliers</vt:lpstr>
      <vt:lpstr>Types of Outliers</vt:lpstr>
      <vt:lpstr>Challenges of Outlier Detection</vt:lpstr>
      <vt:lpstr>Outlier Detection Methods</vt:lpstr>
      <vt:lpstr>Outlier Detection Methods</vt:lpstr>
      <vt:lpstr>Outlier Detection Methods</vt:lpstr>
      <vt:lpstr>Outlier Detection Methods</vt:lpstr>
      <vt:lpstr>Outlier Detection Methods</vt:lpstr>
      <vt:lpstr>Outlier Detection Methods</vt:lpstr>
      <vt:lpstr>Feature Selection, Extraction and Engineering</vt:lpstr>
      <vt:lpstr>Feature Selection</vt:lpstr>
      <vt:lpstr>Feature Selection Methods</vt:lpstr>
      <vt:lpstr>Filter Methods</vt:lpstr>
      <vt:lpstr>Filter Methods - Techniques</vt:lpstr>
      <vt:lpstr>Filter Methods - Techniques</vt:lpstr>
      <vt:lpstr>Chi-Square Test(X^2) - Example</vt:lpstr>
      <vt:lpstr>Chi-Square Test(X^2) - Example</vt:lpstr>
      <vt:lpstr>Chi-Square Test(X^2) - Example</vt:lpstr>
      <vt:lpstr>Chi-Square Test(X^2) - Example</vt:lpstr>
      <vt:lpstr>Chi-Square Test(X^2) - Example</vt:lpstr>
      <vt:lpstr>Wrapper Method</vt:lpstr>
      <vt:lpstr>Wrapper Methods - Techniques</vt:lpstr>
      <vt:lpstr>Wrapper Methods - Techniques</vt:lpstr>
      <vt:lpstr>Embedded Methods</vt:lpstr>
      <vt:lpstr>Filter vs Wrapper vs Embedded</vt:lpstr>
      <vt:lpstr>Feature Extraction</vt:lpstr>
      <vt:lpstr>Curse of Dimensionality</vt:lpstr>
      <vt:lpstr>Dimensionality Reduction Techniques - PCA</vt:lpstr>
      <vt:lpstr>Steps in PCA</vt:lpstr>
      <vt:lpstr>Steps in PCA</vt:lpstr>
      <vt:lpstr>PCA Example</vt:lpstr>
      <vt:lpstr>PCA Example</vt:lpstr>
      <vt:lpstr>PCA Example</vt:lpstr>
      <vt:lpstr>PCA Example</vt:lpstr>
      <vt:lpstr>PCA Example</vt:lpstr>
      <vt:lpstr>LDA(Linear Discriminant Analysis)</vt:lpstr>
      <vt:lpstr>LDA(Linear Discriminant Analysis)</vt:lpstr>
      <vt:lpstr>LDA - Example</vt:lpstr>
      <vt:lpstr>LDA - Example</vt:lpstr>
      <vt:lpstr>LDA - Example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1447</cp:revision>
  <dcterms:created xsi:type="dcterms:W3CDTF">2020-05-01T05:09:15Z</dcterms:created>
  <dcterms:modified xsi:type="dcterms:W3CDTF">2025-03-14T17:44:44Z</dcterms:modified>
</cp:coreProperties>
</file>